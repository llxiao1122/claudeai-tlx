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93" r:id="rId3"/>
    <p:sldId id="397" r:id="rId4"/>
    <p:sldId id="418" r:id="rId6"/>
    <p:sldId id="371" r:id="rId7"/>
    <p:sldId id="372" r:id="rId8"/>
    <p:sldId id="433" r:id="rId9"/>
    <p:sldId id="436" r:id="rId10"/>
    <p:sldId id="437" r:id="rId11"/>
    <p:sldId id="435" r:id="rId12"/>
    <p:sldId id="428" r:id="rId13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577927922" name="邱颖豪" initials="邱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4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目前</a:t>
            </a:r>
            <a:r>
              <a:rPr lang="zh-CN" altLang="zh-CN" dirty="0" smtClean="0">
                <a:sym typeface="+mn-ea"/>
              </a:rPr>
              <a:t>公司</a:t>
            </a:r>
            <a:r>
              <a:rPr lang="zh-CN" altLang="zh-CN" dirty="0">
                <a:sym typeface="+mn-ea"/>
              </a:rPr>
              <a:t>已经建设完成</a:t>
            </a:r>
            <a:r>
              <a:rPr lang="zh-CN" altLang="zh-CN" dirty="0" smtClean="0">
                <a:sym typeface="+mn-ea"/>
              </a:rPr>
              <a:t>了</a:t>
            </a:r>
            <a:r>
              <a:rPr lang="zh-CN" altLang="en-US" dirty="0" smtClean="0">
                <a:sym typeface="+mn-ea"/>
              </a:rPr>
              <a:t>一体化信息平台，其中包括了</a:t>
            </a:r>
            <a:r>
              <a:rPr lang="zh-CN" altLang="zh-CN" dirty="0" smtClean="0">
                <a:sym typeface="+mn-ea"/>
              </a:rPr>
              <a:t>物资管理</a:t>
            </a:r>
            <a:r>
              <a:rPr lang="zh-CN" altLang="zh-CN" dirty="0">
                <a:sym typeface="+mn-ea"/>
              </a:rPr>
              <a:t>系统（</a:t>
            </a:r>
            <a:r>
              <a:rPr lang="en-US" altLang="zh-CN" dirty="0">
                <a:sym typeface="+mn-ea"/>
              </a:rPr>
              <a:t>SCM</a:t>
            </a:r>
            <a:r>
              <a:rPr lang="zh-CN" altLang="zh-CN" dirty="0">
                <a:sym typeface="+mn-ea"/>
              </a:rPr>
              <a:t>）以及资产管理系统（</a:t>
            </a:r>
            <a:r>
              <a:rPr lang="en-US" altLang="zh-CN" dirty="0">
                <a:sym typeface="+mn-ea"/>
              </a:rPr>
              <a:t>EAM</a:t>
            </a:r>
            <a:r>
              <a:rPr lang="zh-CN" altLang="zh-CN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,</a:t>
            </a:r>
            <a:r>
              <a:rPr lang="zh-CN" altLang="zh-CN" dirty="0">
                <a:sym typeface="+mn-ea"/>
              </a:rPr>
              <a:t>但在这两个系统里，针对仓储管理模块，目前只实现了对物资结果状态的监控，对于物资如何验收、如何入库上架、如何出库、如何配货，如何对货架进行有效管理等依然是采用线下人工记录的方式，物资在库区的存储、上架、拣货一概依赖人工判断存放区域、拣货区域，对作业人员的依赖性强，仓库管理的整体效率低下。同时系统缺少仓库作业的统计分析以及实时动态监控，库存管理智能化水平较低，管理成本比较高。</a:t>
            </a:r>
            <a:endParaRPr lang="zh-CN" altLang="zh-CN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目前</a:t>
            </a:r>
            <a:r>
              <a:rPr lang="zh-CN" altLang="zh-CN" dirty="0" smtClean="0">
                <a:sym typeface="+mn-ea"/>
              </a:rPr>
              <a:t>公司</a:t>
            </a:r>
            <a:r>
              <a:rPr lang="zh-CN" altLang="zh-CN" dirty="0">
                <a:sym typeface="+mn-ea"/>
              </a:rPr>
              <a:t>已经建设完成</a:t>
            </a:r>
            <a:r>
              <a:rPr lang="zh-CN" altLang="zh-CN" dirty="0" smtClean="0">
                <a:sym typeface="+mn-ea"/>
              </a:rPr>
              <a:t>了</a:t>
            </a:r>
            <a:r>
              <a:rPr lang="zh-CN" altLang="en-US" dirty="0" smtClean="0">
                <a:sym typeface="+mn-ea"/>
              </a:rPr>
              <a:t>一体化信息平台，其中包括了</a:t>
            </a:r>
            <a:r>
              <a:rPr lang="zh-CN" altLang="zh-CN" dirty="0" smtClean="0">
                <a:sym typeface="+mn-ea"/>
              </a:rPr>
              <a:t>物资管理</a:t>
            </a:r>
            <a:r>
              <a:rPr lang="zh-CN" altLang="zh-CN" dirty="0">
                <a:sym typeface="+mn-ea"/>
              </a:rPr>
              <a:t>系统（</a:t>
            </a:r>
            <a:r>
              <a:rPr lang="en-US" altLang="zh-CN" dirty="0">
                <a:sym typeface="+mn-ea"/>
              </a:rPr>
              <a:t>SCM</a:t>
            </a:r>
            <a:r>
              <a:rPr lang="zh-CN" altLang="zh-CN" dirty="0">
                <a:sym typeface="+mn-ea"/>
              </a:rPr>
              <a:t>）以及资产管理系统（</a:t>
            </a:r>
            <a:r>
              <a:rPr lang="en-US" altLang="zh-CN" dirty="0">
                <a:sym typeface="+mn-ea"/>
              </a:rPr>
              <a:t>EAM</a:t>
            </a:r>
            <a:r>
              <a:rPr lang="zh-CN" altLang="zh-CN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,</a:t>
            </a:r>
            <a:r>
              <a:rPr lang="zh-CN" altLang="zh-CN" dirty="0">
                <a:sym typeface="+mn-ea"/>
              </a:rPr>
              <a:t>但在这两个系统里，针对仓储管理模块，目前只实现了对物资结果状态的监控，对于物资如何验收、如何入库上架、如何出库、如何配货，如何对货架进行有效管理等依然是采用线下人工记录的方式，物资在库区的存储、上架、拣货一概依赖人工判断存放区域、拣货区域，对作业人员的依赖性强，仓库管理的整体效率低下。同时系统缺少仓库作业的统计分析以及实时动态监控，库存管理智能化水平较低，管理成本比较高。</a:t>
            </a:r>
            <a:endParaRPr lang="zh-CN" altLang="zh-CN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"/>
            <a:ext cx="12192000" cy="127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431371" y="6597352"/>
            <a:ext cx="10300512" cy="0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C:\Users\101566\Desktop\微信图片_20180919155818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2715" y="5925278"/>
            <a:ext cx="914507" cy="73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.png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23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jpe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3" name="组合 3"/>
          <p:cNvGrpSpPr/>
          <p:nvPr/>
        </p:nvGrpSpPr>
        <p:grpSpPr>
          <a:xfrm>
            <a:off x="1165187" y="1845242"/>
            <a:ext cx="9906000" cy="2474803"/>
            <a:chOff x="1958" y="2177866"/>
            <a:chExt cx="9144002" cy="1886742"/>
          </a:xfrm>
        </p:grpSpPr>
        <p:sp>
          <p:nvSpPr>
            <p:cNvPr id="21" name="矩形 20"/>
            <p:cNvSpPr/>
            <p:nvPr/>
          </p:nvSpPr>
          <p:spPr>
            <a:xfrm>
              <a:off x="1958" y="2177866"/>
              <a:ext cx="9144002" cy="165645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anchor="ctr"/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noProof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958" y="3842265"/>
              <a:ext cx="9144002" cy="222343"/>
            </a:xfrm>
            <a:prstGeom prst="rect">
              <a:avLst/>
            </a:prstGeom>
            <a:solidFill>
              <a:srgbClr val="97D2FF">
                <a:alpha val="9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1" tIns="45715" rIns="91431" bIns="45715" anchor="ctr"/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noProof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2" name="TextBox 1"/>
          <p:cNvSpPr txBox="1"/>
          <p:nvPr/>
        </p:nvSpPr>
        <p:spPr>
          <a:xfrm>
            <a:off x="4515147" y="2380969"/>
            <a:ext cx="6202496" cy="741045"/>
          </a:xfrm>
          <a:prstGeom prst="rect">
            <a:avLst/>
          </a:prstGeom>
          <a:noFill/>
        </p:spPr>
        <p:txBody>
          <a:bodyPr wrap="square" lIns="95552" tIns="47776" rIns="95552" bIns="47776" rtlCol="0">
            <a:spAutoFit/>
          </a:bodyPr>
          <a:p>
            <a:pPr algn="ctr"/>
            <a:r>
              <a:rPr lang="zh-CN" sz="4200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仓储管理系统</a:t>
            </a:r>
            <a:r>
              <a:rPr lang="en-US" altLang="zh-CN" sz="4200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-</a:t>
            </a:r>
            <a:r>
              <a:rPr lang="zh-CN" altLang="en-US" sz="4200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批次管理</a:t>
            </a:r>
            <a:endParaRPr lang="zh-CN" altLang="en-US" sz="4200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3" name="TextBox 3"/>
          <p:cNvSpPr txBox="1"/>
          <p:nvPr/>
        </p:nvSpPr>
        <p:spPr>
          <a:xfrm>
            <a:off x="5510890" y="4364933"/>
            <a:ext cx="4681129" cy="1280160"/>
          </a:xfrm>
          <a:prstGeom prst="rect">
            <a:avLst/>
          </a:prstGeom>
          <a:noFill/>
        </p:spPr>
        <p:txBody>
          <a:bodyPr wrap="square" lIns="80267" tIns="40133" rIns="80267" bIns="40133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2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     		    </a:t>
            </a:r>
            <a:endParaRPr lang="zh-CN" altLang="en-US" sz="26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216" y="1341303"/>
            <a:ext cx="2524675" cy="20793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  <a:headEnd/>
            <a:tailEnd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4912" y="21703"/>
            <a:ext cx="1929403" cy="952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8" rIns="91434" bIns="45718" rtlCol="0" anchor="ctr"/>
          <a:lstStyle/>
          <a:p>
            <a:pPr defTabSz="913765"/>
            <a:endParaRPr lang="zh-CN" altLang="en-US" sz="3200" dirty="0">
              <a:solidFill>
                <a:prstClr val="white"/>
              </a:solidFill>
              <a:effectLst>
                <a:outerShdw dist="38100" dir="2700000" algn="tl">
                  <a:srgbClr val="000000">
                    <a:alpha val="25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haroni" panose="02010803020104030203" pitchFamily="2" charset="-79"/>
            </a:endParaRPr>
          </a:p>
        </p:txBody>
      </p:sp>
      <p:sp>
        <p:nvSpPr>
          <p:cNvPr id="142" name="标题 1"/>
          <p:cNvSpPr txBox="1"/>
          <p:nvPr/>
        </p:nvSpPr>
        <p:spPr>
          <a:xfrm>
            <a:off x="306031" y="169873"/>
            <a:ext cx="4397774" cy="533524"/>
          </a:xfrm>
          <a:prstGeom prst="rect">
            <a:avLst/>
          </a:prstGeom>
        </p:spPr>
        <p:txBody>
          <a:bodyPr vert="horz" lIns="108850" tIns="54425" rIns="108850" bIns="54425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zh-CN" altLang="en-US" sz="2400" b="1" dirty="0" smtClean="0">
                <a:ln w="0"/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经典综艺体简" panose="02010609000101010101" pitchFamily="49" charset="-122"/>
              </a:rPr>
              <a:t>一、批次管理</a:t>
            </a:r>
            <a:r>
              <a:rPr lang="zh-CN" altLang="en-US" sz="2400" b="1" dirty="0" smtClean="0">
                <a:ln w="0"/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经典综艺体简" panose="02010609000101010101" pitchFamily="49" charset="-122"/>
              </a:rPr>
              <a:t>现状</a:t>
            </a:r>
            <a:endParaRPr lang="zh-CN" altLang="en-US" sz="2400" b="1" dirty="0" smtClean="0">
              <a:ln w="0"/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经典综艺体简" panose="02010609000101010101" pitchFamily="49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42595" y="2508250"/>
            <a:ext cx="11137900" cy="368300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p>
            <a:pPr algn="l" defTabSz="1088390">
              <a:buClrTx/>
              <a:buSzTx/>
              <a:buFont typeface="Arial" panose="020B0604020202020204" pitchFamily="34" charset="0"/>
              <a:defRPr/>
            </a:pPr>
            <a:r>
              <a:rPr lang="zh-CN" altLang="en-US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同一物料因存在不同的管理方式及业务属性，批次需要进行细分的管理。</a:t>
            </a:r>
            <a:endParaRPr lang="zh-CN" altLang="en-US" dirty="0">
              <a:solidFill>
                <a:srgbClr val="4454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2595" y="2924175"/>
            <a:ext cx="11137265" cy="350075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noAutofit/>
          </a:bodyPr>
          <a:p>
            <a:pPr lvl="0" indent="0" defTabSz="1088390"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基本信息</a:t>
            </a:r>
            <a:endParaRPr lang="zh-CN" altLang="en-US" dirty="0">
              <a:solidFill>
                <a:srgbClr val="4454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 algn="l" defTabSz="108839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批次编码：</a:t>
            </a:r>
            <a:r>
              <a:rPr lang="zh-CN" altLang="en-US" sz="1600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物料编码+9位流水号；</a:t>
            </a:r>
            <a:endParaRPr lang="zh-CN" altLang="en-US" sz="1600" dirty="0">
              <a:solidFill>
                <a:srgbClr val="4454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 algn="l" defTabSz="108839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物资编码：</a:t>
            </a:r>
            <a:r>
              <a:rPr lang="zh-CN" altLang="en-US" sz="1600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11位物资采购码;</a:t>
            </a:r>
            <a:endParaRPr lang="zh-CN" altLang="en-US" sz="1600" dirty="0">
              <a:solidFill>
                <a:srgbClr val="4454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 defTabSz="1088390"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物资说明：</a:t>
            </a:r>
            <a:r>
              <a:rPr lang="zh-CN" altLang="en-US" sz="1600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物资信息描述以及规格型号等信息；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algn="l" defTabSz="1088390"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600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物料来源</a:t>
            </a:r>
            <a:endParaRPr lang="zh-CN" altLang="en-US" sz="1600" dirty="0">
              <a:solidFill>
                <a:srgbClr val="4454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defTabSz="1088390"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物料来源类型：运营自购、建设移交、捐赠等，反应物资的物资来源；</a:t>
            </a:r>
            <a:endParaRPr lang="zh-CN" altLang="en-US" sz="1600" dirty="0">
              <a:solidFill>
                <a:srgbClr val="4454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 defTabSz="1088390"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资产分类</a:t>
            </a:r>
            <a:endParaRPr lang="zh-CN" altLang="en-US" dirty="0">
              <a:solidFill>
                <a:srgbClr val="4454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2" indent="-285750" defTabSz="1088390"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验收类型：资产、存货、低值易耗。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algn="l" defTabSz="1088390"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效期管理</a:t>
            </a:r>
            <a:endParaRPr lang="zh-CN" altLang="en-US" dirty="0">
              <a:solidFill>
                <a:srgbClr val="4454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defTabSz="1088390"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生产日期：反应物资生产日期，验收入库时验收员填写；</a:t>
            </a:r>
            <a:endParaRPr lang="zh-CN" altLang="en-US" sz="1600" dirty="0">
              <a:solidFill>
                <a:srgbClr val="4454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 defTabSz="1088390"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失效日期：</a:t>
            </a:r>
            <a:r>
              <a:rPr lang="zh-CN" altLang="en-US" sz="1600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反应物资失效日期，验收入库时验收员填写；</a:t>
            </a:r>
            <a:endParaRPr lang="zh-CN" altLang="en-US" sz="1600" dirty="0">
              <a:solidFill>
                <a:srgbClr val="4454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algn="l" defTabSz="1088390"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资产管理</a:t>
            </a:r>
            <a:endParaRPr lang="zh-CN" altLang="en-US" sz="1800" dirty="0">
              <a:solidFill>
                <a:srgbClr val="4454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 defTabSz="1088390"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资产编码：和批次绑定，取自于</a:t>
            </a:r>
            <a:r>
              <a:rPr lang="en-US" altLang="zh-CN" sz="1600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EAM</a:t>
            </a:r>
            <a:r>
              <a:rPr lang="zh-CN" altLang="en-US" sz="1600" dirty="0">
                <a:solidFill>
                  <a:srgbClr val="4454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系统，用于管理固定资产；</a:t>
            </a:r>
            <a:endParaRPr lang="zh-CN" altLang="en-US" sz="1600" dirty="0">
              <a:solidFill>
                <a:srgbClr val="4454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defTabSz="1088390">
              <a:buFont typeface="Arial" panose="020B0604020202020204" pitchFamily="34" charset="0"/>
              <a:buChar char="•"/>
              <a:defRPr/>
            </a:pPr>
            <a:endParaRPr lang="zh-CN" altLang="en-US" dirty="0">
              <a:solidFill>
                <a:srgbClr val="445469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 defTabSz="1088390">
              <a:buFont typeface="Arial" panose="020B0604020202020204" pitchFamily="34" charset="0"/>
              <a:buChar char="•"/>
              <a:defRPr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 defTabSz="1088390">
              <a:buFont typeface="Wingdings" panose="05000000000000000000" charset="0"/>
              <a:buChar char="Ø"/>
              <a:defRPr/>
            </a:pPr>
            <a:endParaRPr lang="en-US" altLang="zh-CN" dirty="0">
              <a:solidFill>
                <a:srgbClr val="445469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595" y="1041400"/>
            <a:ext cx="11137265" cy="1381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4912" y="21703"/>
            <a:ext cx="1929403" cy="952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8" rIns="91434" bIns="45718" rtlCol="0" anchor="ctr"/>
          <a:lstStyle/>
          <a:p>
            <a:pPr defTabSz="913765"/>
            <a:endParaRPr lang="zh-CN" altLang="en-US" sz="3200" dirty="0">
              <a:solidFill>
                <a:prstClr val="white"/>
              </a:solidFill>
              <a:effectLst>
                <a:outerShdw dist="38100" dir="2700000" algn="tl">
                  <a:srgbClr val="000000">
                    <a:alpha val="25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haroni" panose="02010803020104030203" pitchFamily="2" charset="-79"/>
            </a:endParaRPr>
          </a:p>
        </p:txBody>
      </p:sp>
      <p:sp>
        <p:nvSpPr>
          <p:cNvPr id="142" name="标题 1"/>
          <p:cNvSpPr txBox="1"/>
          <p:nvPr/>
        </p:nvSpPr>
        <p:spPr>
          <a:xfrm>
            <a:off x="306031" y="169873"/>
            <a:ext cx="4397774" cy="533524"/>
          </a:xfrm>
          <a:prstGeom prst="rect">
            <a:avLst/>
          </a:prstGeom>
        </p:spPr>
        <p:txBody>
          <a:bodyPr vert="horz" lIns="108850" tIns="54425" rIns="108850" bIns="54425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Tx/>
              <a:buSzTx/>
              <a:buFontTx/>
            </a:pPr>
            <a:r>
              <a:rPr lang="zh-CN" altLang="en-US" sz="2400" b="1" dirty="0" smtClean="0">
                <a:ln w="0"/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经典综艺体简" panose="02010609000101010101" pitchFamily="49" charset="-122"/>
                <a:sym typeface="+mn-ea"/>
              </a:rPr>
              <a:t>二、批次生成规则</a:t>
            </a:r>
            <a:endParaRPr lang="zh-CN" altLang="en-US" sz="2400" b="1" dirty="0" smtClean="0">
              <a:ln w="0"/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经典综艺体简" panose="0201060900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4390" y="908050"/>
            <a:ext cx="93687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根据来源类型、验收类型、是否效期物资、品牌型号生成不同的批次编码。</a:t>
            </a:r>
            <a:endParaRPr lang="zh-CN" altLang="en-US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4390" y="1299845"/>
            <a:ext cx="8019415" cy="5269230"/>
          </a:xfrm>
          <a:prstGeom prst="rect">
            <a:avLst/>
          </a:prstGeom>
        </p:spPr>
      </p:pic>
      <p:sp>
        <p:nvSpPr>
          <p:cNvPr id="2" name="右箭头 1"/>
          <p:cNvSpPr/>
          <p:nvPr/>
        </p:nvSpPr>
        <p:spPr>
          <a:xfrm>
            <a:off x="8221980" y="2973705"/>
            <a:ext cx="115125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>
            <a:off x="8221980" y="3797935"/>
            <a:ext cx="115125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右箭头 4"/>
          <p:cNvSpPr/>
          <p:nvPr/>
        </p:nvSpPr>
        <p:spPr>
          <a:xfrm>
            <a:off x="8232140" y="4789805"/>
            <a:ext cx="115125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8221980" y="5242560"/>
            <a:ext cx="1151255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535795" y="2813685"/>
            <a:ext cx="2433320" cy="33718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p>
            <a:r>
              <a:rPr lang="en-US" altLang="zh-CN" sz="1600"/>
              <a:t>T0600000209-251014002</a:t>
            </a:r>
            <a:endParaRPr lang="en-US" altLang="zh-CN" sz="1600"/>
          </a:p>
        </p:txBody>
      </p:sp>
      <p:sp>
        <p:nvSpPr>
          <p:cNvPr id="11" name="文本框 10"/>
          <p:cNvSpPr txBox="1"/>
          <p:nvPr/>
        </p:nvSpPr>
        <p:spPr>
          <a:xfrm>
            <a:off x="9545320" y="3553460"/>
            <a:ext cx="2433320" cy="900430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T0600000209</a:t>
            </a:r>
            <a:r>
              <a:rPr lang="en-US" altLang="zh-CN" sz="1600"/>
              <a:t>-000000001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>
                <a:sym typeface="+mn-ea"/>
              </a:rPr>
              <a:t>T0600000209</a:t>
            </a:r>
            <a:r>
              <a:rPr lang="en-US" altLang="zh-CN" sz="1600">
                <a:sym typeface="+mn-ea"/>
              </a:rPr>
              <a:t>-000000001</a:t>
            </a:r>
            <a:endParaRPr lang="en-US" altLang="zh-CN" sz="1600"/>
          </a:p>
          <a:p>
            <a:endParaRPr lang="en-US" altLang="zh-CN" sz="1600"/>
          </a:p>
        </p:txBody>
      </p:sp>
      <p:sp>
        <p:nvSpPr>
          <p:cNvPr id="12" name="文本框 11"/>
          <p:cNvSpPr txBox="1"/>
          <p:nvPr/>
        </p:nvSpPr>
        <p:spPr>
          <a:xfrm>
            <a:off x="9554210" y="4622165"/>
            <a:ext cx="2433320" cy="33718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p>
            <a:r>
              <a:rPr lang="en-US" altLang="zh-CN" sz="1600">
                <a:sym typeface="+mn-ea"/>
              </a:rPr>
              <a:t>T0600000209</a:t>
            </a:r>
            <a:r>
              <a:rPr lang="en-US" altLang="zh-CN" sz="1600"/>
              <a:t>-</a:t>
            </a:r>
            <a:r>
              <a:rPr lang="en-US" altLang="zh-CN" sz="1600">
                <a:sym typeface="+mn-ea"/>
              </a:rPr>
              <a:t>1111111</a:t>
            </a:r>
            <a:r>
              <a:rPr lang="en-US" altLang="zh-CN" sz="1600">
                <a:sym typeface="+mn-ea"/>
              </a:rPr>
              <a:t>01</a:t>
            </a:r>
            <a:endParaRPr lang="en-US" altLang="zh-CN" sz="160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573260" y="5127625"/>
            <a:ext cx="2433320" cy="337185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p>
            <a:r>
              <a:rPr lang="en-US" altLang="zh-CN" sz="1600"/>
              <a:t>G0900036000-250916001</a:t>
            </a:r>
            <a:endParaRPr lang="en-US" altLang="zh-CN" sz="1600"/>
          </a:p>
        </p:txBody>
      </p:sp>
      <p:sp>
        <p:nvSpPr>
          <p:cNvPr id="16" name="文本框 15"/>
          <p:cNvSpPr txBox="1"/>
          <p:nvPr/>
        </p:nvSpPr>
        <p:spPr>
          <a:xfrm>
            <a:off x="8327390" y="2675890"/>
            <a:ext cx="12458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highlight>
                  <a:srgbClr val="FFFF00"/>
                </a:highlight>
              </a:rPr>
              <a:t>效期物资</a:t>
            </a:r>
            <a:endParaRPr lang="zh-CN" altLang="en-US" sz="1600">
              <a:highlight>
                <a:srgbClr val="FFFF00"/>
              </a:highlight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368665" y="3460750"/>
            <a:ext cx="12458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highlight>
                  <a:srgbClr val="FFFF00"/>
                </a:highlight>
              </a:rPr>
              <a:t>运营</a:t>
            </a:r>
            <a:r>
              <a:rPr lang="zh-CN" altLang="en-US" sz="1600">
                <a:highlight>
                  <a:srgbClr val="FFFF00"/>
                </a:highlight>
              </a:rPr>
              <a:t>自购</a:t>
            </a:r>
            <a:endParaRPr lang="zh-CN" altLang="en-US" sz="1600">
              <a:highlight>
                <a:srgbClr val="FFFF00"/>
              </a:highlight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383905" y="4412615"/>
            <a:ext cx="12458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highlight>
                  <a:srgbClr val="FFFF00"/>
                </a:highlight>
              </a:rPr>
              <a:t>建设</a:t>
            </a:r>
            <a:r>
              <a:rPr lang="zh-CN" altLang="en-US" sz="1600">
                <a:highlight>
                  <a:srgbClr val="FFFF00"/>
                </a:highlight>
              </a:rPr>
              <a:t>移交</a:t>
            </a:r>
            <a:endParaRPr lang="zh-CN" altLang="en-US" sz="1600">
              <a:highlight>
                <a:srgbClr val="FFFF00"/>
              </a:highlight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383905" y="4905375"/>
            <a:ext cx="12458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highlight>
                  <a:srgbClr val="FFFF00"/>
                </a:highlight>
              </a:rPr>
              <a:t>固定</a:t>
            </a:r>
            <a:r>
              <a:rPr lang="zh-CN" altLang="en-US" sz="1600">
                <a:highlight>
                  <a:srgbClr val="FFFF00"/>
                </a:highlight>
              </a:rPr>
              <a:t>资产</a:t>
            </a:r>
            <a:endParaRPr lang="zh-CN" altLang="en-US" sz="160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4912" y="21703"/>
            <a:ext cx="1929403" cy="952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8" rIns="91434" bIns="45718" rtlCol="0" anchor="ctr"/>
          <a:lstStyle/>
          <a:p>
            <a:pPr defTabSz="913765"/>
            <a:endParaRPr lang="zh-CN" altLang="en-US" sz="3200" dirty="0">
              <a:solidFill>
                <a:prstClr val="white"/>
              </a:solidFill>
              <a:effectLst>
                <a:outerShdw dist="38100" dir="2700000" algn="tl">
                  <a:srgbClr val="000000">
                    <a:alpha val="25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haroni" panose="02010803020104030203" pitchFamily="2" charset="-79"/>
            </a:endParaRPr>
          </a:p>
        </p:txBody>
      </p:sp>
      <p:sp>
        <p:nvSpPr>
          <p:cNvPr id="142" name="标题 1"/>
          <p:cNvSpPr txBox="1"/>
          <p:nvPr/>
        </p:nvSpPr>
        <p:spPr>
          <a:xfrm>
            <a:off x="306031" y="169873"/>
            <a:ext cx="4397774" cy="533524"/>
          </a:xfrm>
          <a:prstGeom prst="rect">
            <a:avLst/>
          </a:prstGeom>
        </p:spPr>
        <p:txBody>
          <a:bodyPr vert="horz" lIns="108850" tIns="54425" rIns="108850" bIns="54425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zh-CN" altLang="en-US" sz="2400" b="1" dirty="0" smtClean="0">
                <a:ln w="0"/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经典综艺体简" panose="02010609000101010101" pitchFamily="49" charset="-122"/>
              </a:rPr>
              <a:t>三、批次全生命周期</a:t>
            </a:r>
            <a:r>
              <a:rPr lang="zh-CN" altLang="en-US" sz="2400" b="1" dirty="0" smtClean="0">
                <a:ln w="0"/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经典综艺体简" panose="02010609000101010101" pitchFamily="49" charset="-122"/>
              </a:rPr>
              <a:t>管理</a:t>
            </a:r>
            <a:endParaRPr lang="zh-CN" altLang="en-US" sz="2400" b="1" dirty="0" smtClean="0">
              <a:ln w="0"/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经典综艺体简" panose="0201060900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60400" y="1130300"/>
            <a:ext cx="10871200" cy="3681278"/>
            <a:chOff x="660400" y="1130300"/>
            <a:chExt cx="10871200" cy="3681278"/>
          </a:xfrm>
        </p:grpSpPr>
        <p:grpSp>
          <p:nvGrpSpPr>
            <p:cNvPr id="7" name="组合 6"/>
            <p:cNvGrpSpPr/>
            <p:nvPr/>
          </p:nvGrpSpPr>
          <p:grpSpPr>
            <a:xfrm>
              <a:off x="660400" y="3429000"/>
              <a:ext cx="10871200" cy="1382578"/>
              <a:chOff x="660400" y="3325401"/>
              <a:chExt cx="10871200" cy="138257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660400" y="3325401"/>
                <a:ext cx="2835216" cy="1382578"/>
                <a:chOff x="660400" y="3325401"/>
                <a:chExt cx="2835216" cy="1382578"/>
              </a:xfrm>
            </p:grpSpPr>
            <p:sp>
              <p:nvSpPr>
                <p:cNvPr id="35" name="圆角矩形 34"/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969857" y="3855259"/>
                  <a:ext cx="2525759" cy="852720"/>
                </a:xfrm>
                <a:prstGeom prst="roundRect">
                  <a:avLst/>
                </a:prstGeom>
                <a:solidFill>
                  <a:schemeClr val="accent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zh-CN" altLang="en-US" sz="1200" dirty="0">
                      <a:solidFill>
                        <a:schemeClr val="tx1"/>
                      </a:solidFill>
                    </a:rPr>
                    <a:t>验收节点通过单据信息或人员填写，记录各类属性以便后续业务节点使用</a:t>
                  </a:r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圆角矩形 35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660400" y="3325401"/>
                  <a:ext cx="1718854" cy="653682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1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accent1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 defTabSz="914400"/>
                  <a:r>
                    <a:rPr lang="en-US" altLang="zh-CN" sz="2000" b="1" dirty="0">
                      <a:solidFill>
                        <a:srgbClr val="FFFFFF"/>
                      </a:solidFill>
                    </a:rPr>
                    <a:t>Step 1</a:t>
                  </a:r>
                  <a:endParaRPr lang="zh-CN" altLang="en-US" sz="2000" b="1" dirty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37" name="右箭头 36"/>
              <p:cNvSpPr/>
              <p:nvPr>
                <p:custDataLst>
                  <p:tags r:id="rId3"/>
                </p:custDataLst>
              </p:nvPr>
            </p:nvSpPr>
            <p:spPr>
              <a:xfrm>
                <a:off x="3855339" y="3788836"/>
                <a:ext cx="463329" cy="455709"/>
              </a:xfrm>
              <a:prstGeom prst="rightArrow">
                <a:avLst/>
              </a:prstGeom>
              <a:solidFill>
                <a:schemeClr val="tx1">
                  <a:lumMod val="50000"/>
                  <a:lumOff val="5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3765"/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>
                <a:off x="4678392" y="3325401"/>
                <a:ext cx="2835216" cy="1382578"/>
                <a:chOff x="660400" y="3325401"/>
                <a:chExt cx="2835216" cy="1382578"/>
              </a:xfrm>
            </p:grpSpPr>
            <p:sp>
              <p:nvSpPr>
                <p:cNvPr id="39" name="圆角矩形 38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969857" y="3855259"/>
                  <a:ext cx="2525759" cy="852720"/>
                </a:xfrm>
                <a:prstGeom prst="roundRect">
                  <a:avLst/>
                </a:prstGeom>
                <a:solidFill>
                  <a:schemeClr val="accent2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zh-CN" altLang="en-US" sz="1200" dirty="0">
                      <a:solidFill>
                        <a:schemeClr val="tx1"/>
                      </a:solidFill>
                    </a:rPr>
                    <a:t>在库物资通过批次属性实现各类报表统计查询，如库存查询、效期报表、库存事务记录等</a:t>
                  </a:r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圆角矩形 39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660400" y="3325401"/>
                  <a:ext cx="1718854" cy="653682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2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accent2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 defTabSz="914400"/>
                  <a:r>
                    <a:rPr lang="en-US" altLang="zh-CN" sz="2000" b="1" dirty="0">
                      <a:solidFill>
                        <a:srgbClr val="FFFFFF"/>
                      </a:solidFill>
                    </a:rPr>
                    <a:t>Step 2</a:t>
                  </a:r>
                  <a:endParaRPr lang="zh-CN" altLang="en-US" sz="2000" b="1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41" name="组合 40"/>
              <p:cNvGrpSpPr/>
              <p:nvPr/>
            </p:nvGrpSpPr>
            <p:grpSpPr>
              <a:xfrm>
                <a:off x="8696384" y="3325401"/>
                <a:ext cx="2835216" cy="1382578"/>
                <a:chOff x="660400" y="3325401"/>
                <a:chExt cx="2835216" cy="1382578"/>
              </a:xfrm>
            </p:grpSpPr>
            <p:sp>
              <p:nvSpPr>
                <p:cNvPr id="42" name="圆角矩形 41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969857" y="3855259"/>
                  <a:ext cx="2525759" cy="852720"/>
                </a:xfrm>
                <a:prstGeom prst="roundRect">
                  <a:avLst/>
                </a:prstGeom>
                <a:solidFill>
                  <a:schemeClr val="accent3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zh-CN" altLang="en-US" sz="1200" dirty="0">
                      <a:solidFill>
                        <a:schemeClr val="tx1"/>
                      </a:solidFill>
                    </a:rPr>
                    <a:t>出库或调拨时，根据批次属性如来源类型、失效日期等信息完成库存分配及数据校验</a:t>
                  </a:r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圆角矩形 42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660400" y="3325401"/>
                  <a:ext cx="1718854" cy="653682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 w="12700" cap="rnd">
                  <a:noFill/>
                  <a:prstDash val="solid"/>
                  <a:round/>
                </a:ln>
                <a:effectLst>
                  <a:outerShdw blurRad="254000" dist="127000" algn="ctr" rotWithShape="0">
                    <a:schemeClr val="accent3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 defTabSz="914400"/>
                  <a:r>
                    <a:rPr lang="en-US" altLang="zh-CN" sz="2000" b="1">
                      <a:solidFill>
                        <a:srgbClr val="FFFFFF"/>
                      </a:solidFill>
                    </a:rPr>
                    <a:t>Step </a:t>
                  </a:r>
                  <a:r>
                    <a:rPr lang="en-US" altLang="zh-CN" sz="2000" b="1" dirty="0">
                      <a:solidFill>
                        <a:srgbClr val="FFFFFF"/>
                      </a:solidFill>
                    </a:rPr>
                    <a:t>3</a:t>
                  </a:r>
                  <a:endParaRPr lang="zh-CN" altLang="en-US" sz="2000" b="1" dirty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44" name="右箭头 43"/>
              <p:cNvSpPr/>
              <p:nvPr>
                <p:custDataLst>
                  <p:tags r:id="rId8"/>
                </p:custDataLst>
              </p:nvPr>
            </p:nvSpPr>
            <p:spPr>
              <a:xfrm>
                <a:off x="7873331" y="3788836"/>
                <a:ext cx="463329" cy="455709"/>
              </a:xfrm>
              <a:prstGeom prst="rightArrow">
                <a:avLst/>
              </a:prstGeom>
              <a:solidFill>
                <a:schemeClr val="tx1">
                  <a:lumMod val="50000"/>
                  <a:lumOff val="5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913765"/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660400" y="1130300"/>
              <a:ext cx="10858500" cy="1184819"/>
              <a:chOff x="660400" y="1130300"/>
              <a:chExt cx="10858500" cy="1184819"/>
            </a:xfrm>
          </p:grpSpPr>
          <p:sp>
            <p:nvSpPr>
              <p:cNvPr id="45" name="矩形 44"/>
              <p:cNvSpPr/>
              <p:nvPr>
                <p:custDataLst>
                  <p:tags r:id="rId9"/>
                </p:custDataLst>
              </p:nvPr>
            </p:nvSpPr>
            <p:spPr>
              <a:xfrm>
                <a:off x="660400" y="1130300"/>
                <a:ext cx="10858500" cy="787400"/>
              </a:xfrm>
              <a:prstGeom prst="rect">
                <a:avLst/>
              </a:prstGeom>
            </p:spPr>
            <p:txBody>
              <a:bodyPr wrap="square" anchor="b" anchorCtr="0">
                <a:noAutofit/>
              </a:bodyPr>
              <a:lstStyle/>
              <a:p>
                <a:pPr algn="ctr">
                  <a:buSzPct val="25000"/>
                </a:pPr>
                <a:endParaRPr lang="en-US" altLang="zh-CN" sz="2800" b="1" dirty="0"/>
              </a:p>
              <a:p>
                <a:pPr algn="ctr">
                  <a:buSzPct val="25000"/>
                </a:pPr>
                <a:r>
                  <a:rPr lang="zh-CN" altLang="en-US" sz="2800" b="1" dirty="0"/>
                  <a:t>从入库接收开始，到领用消耗，覆盖物资业务全流程</a:t>
                </a:r>
                <a:endParaRPr lang="zh-CN" altLang="en-US" sz="2800" b="1" dirty="0"/>
              </a:p>
            </p:txBody>
          </p:sp>
          <p:sp>
            <p:nvSpPr>
              <p:cNvPr id="48" name="文本框 4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73100" y="1932214"/>
                <a:ext cx="10845800" cy="382905"/>
              </a:xfrm>
              <a:prstGeom prst="rect">
                <a:avLst/>
              </a:prstGeom>
              <a:noFill/>
            </p:spPr>
            <p:txBody>
              <a:bodyPr wrap="square" lIns="90000" tIns="72000" rIns="90000" bIns="72000" rtlCol="0">
                <a:sp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根据批次中的不同属性，完成不同类型的业务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流程，以实现不同业务场景的使用需求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4912" y="21703"/>
            <a:ext cx="1929403" cy="952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8" rIns="91434" bIns="45718" rtlCol="0" anchor="ctr"/>
          <a:lstStyle/>
          <a:p>
            <a:pPr defTabSz="913765"/>
            <a:endParaRPr lang="zh-CN" altLang="en-US" sz="3200" dirty="0">
              <a:solidFill>
                <a:prstClr val="white"/>
              </a:solidFill>
              <a:effectLst>
                <a:outerShdw dist="38100" dir="2700000" algn="tl">
                  <a:srgbClr val="000000">
                    <a:alpha val="25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haroni" panose="02010803020104030203" pitchFamily="2" charset="-79"/>
            </a:endParaRPr>
          </a:p>
        </p:txBody>
      </p:sp>
      <p:sp>
        <p:nvSpPr>
          <p:cNvPr id="142" name="标题 1"/>
          <p:cNvSpPr txBox="1"/>
          <p:nvPr/>
        </p:nvSpPr>
        <p:spPr>
          <a:xfrm>
            <a:off x="205066" y="230833"/>
            <a:ext cx="4397774" cy="533524"/>
          </a:xfrm>
          <a:prstGeom prst="rect">
            <a:avLst/>
          </a:prstGeom>
        </p:spPr>
        <p:txBody>
          <a:bodyPr vert="horz" lIns="108850" tIns="54425" rIns="108850" bIns="54425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zh-CN" altLang="en-US" sz="2400" b="1" dirty="0" smtClean="0">
                <a:ln w="0"/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经典综艺体简" panose="02010609000101010101" pitchFamily="49" charset="-122"/>
              </a:rPr>
              <a:t>四、批次应用</a:t>
            </a:r>
            <a:r>
              <a:rPr lang="zh-CN" altLang="en-US" sz="2400" b="1" dirty="0" smtClean="0">
                <a:ln w="0"/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经典综艺体简" panose="02010609000101010101" pitchFamily="49" charset="-122"/>
              </a:rPr>
              <a:t>亮点</a:t>
            </a:r>
            <a:endParaRPr lang="zh-CN" altLang="en-US" sz="2400" b="1" dirty="0" smtClean="0">
              <a:ln w="0"/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经典综艺体简" panose="02010609000101010101" pitchFamily="49" charset="-122"/>
            </a:endParaRPr>
          </a:p>
        </p:txBody>
      </p:sp>
      <p:sp>
        <p:nvSpPr>
          <p:cNvPr id="27" name="圆角矩形 3"/>
          <p:cNvSpPr/>
          <p:nvPr>
            <p:custDataLst>
              <p:tags r:id="rId1"/>
            </p:custDataLst>
          </p:nvPr>
        </p:nvSpPr>
        <p:spPr>
          <a:xfrm>
            <a:off x="375028" y="886726"/>
            <a:ext cx="11440510" cy="2082259"/>
          </a:xfrm>
          <a:prstGeom prst="roundRect">
            <a:avLst/>
          </a:prstGeom>
          <a:noFill/>
          <a:ln w="19050"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1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1" algn="l"/>
            <a:r>
              <a:rPr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应用背景</a:t>
            </a:r>
            <a:r>
              <a:rPr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/>
            <a:r>
              <a:rPr 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目前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SCM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中对于建设移交与运营自购管理是存放在不同子库存中，但对于实际仓库来说，会统一存放在总库中，甚至是同一货位；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algn="l"/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WMS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因涉及到扫码等线下工作，为实现不让仓管员在执行不同来源类型物资任务时重复扫码、分开扫码，设计将来源类型属性字段放置在批次中，并设置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运营自购库与建设移交库映射关系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75577" y="3369434"/>
            <a:ext cx="10437495" cy="2290796"/>
            <a:chOff x="1030743" y="2779519"/>
            <a:chExt cx="10437495" cy="2290796"/>
          </a:xfrm>
        </p:grpSpPr>
        <p:sp>
          <p:nvSpPr>
            <p:cNvPr id="15" name="TextBox 13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184075" y="3632968"/>
              <a:ext cx="1884529" cy="922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Font typeface="Times" pitchFamily="18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Font typeface="Times" pitchFamily="18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2"/>
                </a:buClr>
                <a:buFont typeface="Times" pitchFamily="18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bg2"/>
                </a:buClr>
                <a:buFont typeface="Times" pitchFamily="18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Font typeface="Times" pitchFamily="18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Times" pitchFamily="18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Times" pitchFamily="18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Times" pitchFamily="18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Times" pitchFamily="18" charset="0"/>
                <a:buChar char="•"/>
                <a:defRPr sz="20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9pPr>
            </a:lstStyle>
            <a:p>
              <a:pPr algn="ctr" defTabSz="914400" eaLnBrk="1" hangingPunct="1">
                <a:spcBef>
                  <a:spcPct val="0"/>
                </a:spcBef>
                <a:buClr>
                  <a:srgbClr val="4F81BD"/>
                </a:buClr>
                <a:buNone/>
                <a:defRPr/>
              </a:pPr>
              <a:r>
                <a:rPr lang="zh-CN" altLang="en-US" sz="1800" b="1" kern="0" dirty="0">
                  <a:solidFill>
                    <a:schemeClr val="tx1"/>
                  </a:solidFill>
                </a:rPr>
                <a:t>保证前后端系统业务顺畅及账务准确</a:t>
              </a:r>
              <a:endParaRPr lang="zh-CN" altLang="en-US" sz="1800" b="1" kern="0" dirty="0">
                <a:solidFill>
                  <a:schemeClr val="tx1"/>
                </a:solidFill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3"/>
              </p:custDataLst>
            </p:nvPr>
          </p:nvSpPr>
          <p:spPr>
            <a:xfrm>
              <a:off x="1184628" y="3023694"/>
              <a:ext cx="3547809" cy="337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将来源类型记录在批次档案中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7767458" y="3023994"/>
              <a:ext cx="3700780" cy="337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r>
                <a:rPr lang="zh-CN" altLang="en-US" sz="1600" b="1" dirty="0">
                  <a:solidFill>
                    <a:schemeClr val="tx1"/>
                  </a:solidFill>
                </a:rPr>
                <a:t>建立运营自购库与建设移交库映射关系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矩形 20"/>
            <p:cNvSpPr/>
            <p:nvPr>
              <p:custDataLst>
                <p:tags r:id="rId5"/>
              </p:custDataLst>
            </p:nvPr>
          </p:nvSpPr>
          <p:spPr>
            <a:xfrm>
              <a:off x="1184628" y="3416288"/>
              <a:ext cx="3387471" cy="147637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indent="0" algn="l" fontAlgn="auto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sym typeface="+mn-ea"/>
                </a:rPr>
                <a:t>根据批次编码生成规则，即便其他所有属性相同，保证不同来源类型有不同批次编码</a:t>
              </a:r>
              <a:r>
                <a:rPr lang="zh-CN" altLang="en-US" sz="1200" dirty="0">
                  <a:solidFill>
                    <a:schemeClr val="tx1"/>
                  </a:solidFill>
                  <a:sym typeface="+mn-ea"/>
                </a:rPr>
                <a:t>；</a:t>
              </a:r>
              <a:endParaRPr lang="zh-CN" altLang="en-US" sz="1200" dirty="0">
                <a:solidFill>
                  <a:schemeClr val="tx1"/>
                </a:solidFill>
                <a:sym typeface="+mn-ea"/>
              </a:endParaRPr>
            </a:p>
            <a:p>
              <a:pPr lvl="0" indent="0" algn="l" fontAlgn="auto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sym typeface="+mn-ea"/>
                </a:rPr>
                <a:t>入库后所有物资统一存放在</a:t>
              </a:r>
              <a:r>
                <a:rPr lang="en-US" altLang="zh-CN" sz="1200" dirty="0">
                  <a:solidFill>
                    <a:schemeClr val="tx1"/>
                  </a:solidFill>
                  <a:sym typeface="+mn-ea"/>
                </a:rPr>
                <a:t>1</a:t>
              </a:r>
              <a:r>
                <a:rPr lang="zh-CN" altLang="en-US" sz="1200" dirty="0">
                  <a:solidFill>
                    <a:schemeClr val="tx1"/>
                  </a:solidFill>
                  <a:sym typeface="+mn-ea"/>
                </a:rPr>
                <a:t>个总库子库存，通过库存事务处理记录每次作业物资的来源类型；</a:t>
              </a:r>
              <a:endParaRPr lang="zh-CN" altLang="en-US" sz="1200" dirty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6"/>
              </p:custDataLst>
            </p:nvPr>
          </p:nvSpPr>
          <p:spPr>
            <a:xfrm>
              <a:off x="7767458" y="3361179"/>
              <a:ext cx="3539490" cy="165481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indent="0" algn="l" fontAlgn="auto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sym typeface="+mn-ea"/>
                </a:rPr>
                <a:t>根据实体仓情况，通过子库存编码建立</a:t>
              </a:r>
              <a:r>
                <a:rPr lang="zh-CN" altLang="en-US" sz="1200" dirty="0">
                  <a:solidFill>
                    <a:schemeClr val="tx1"/>
                  </a:solidFill>
                  <a:sym typeface="+mn-ea"/>
                </a:rPr>
                <a:t>运营自购库与建设移交库映射关系；</a:t>
              </a:r>
              <a:endParaRPr lang="zh-CN" altLang="en-US" sz="1200" dirty="0">
                <a:solidFill>
                  <a:schemeClr val="tx1"/>
                </a:solidFill>
                <a:sym typeface="+mn-ea"/>
              </a:endParaRPr>
            </a:p>
            <a:p>
              <a:pPr lvl="0" indent="0" algn="l" fontAlgn="auto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 dirty="0">
                  <a:solidFill>
                    <a:schemeClr val="tx1"/>
                  </a:solidFill>
                  <a:sym typeface="+mn-ea"/>
                </a:rPr>
                <a:t>在事务回传</a:t>
              </a:r>
              <a:r>
                <a:rPr lang="en-US" altLang="zh-CN" sz="1200" dirty="0">
                  <a:solidFill>
                    <a:schemeClr val="tx1"/>
                  </a:solidFill>
                  <a:sym typeface="+mn-ea"/>
                </a:rPr>
                <a:t>SCM</a:t>
              </a:r>
              <a:r>
                <a:rPr lang="zh-CN" altLang="en-US" sz="1200" dirty="0">
                  <a:solidFill>
                    <a:schemeClr val="tx1"/>
                  </a:solidFill>
                  <a:sym typeface="+mn-ea"/>
                </a:rPr>
                <a:t>时，判断批次编码来源类型属性与事务发生子库存属性对比，若相同即用该子库存信息回传</a:t>
              </a:r>
              <a:r>
                <a:rPr lang="en-US" altLang="zh-CN" sz="1200" dirty="0">
                  <a:solidFill>
                    <a:schemeClr val="tx1"/>
                  </a:solidFill>
                  <a:sym typeface="+mn-ea"/>
                </a:rPr>
                <a:t>SCM</a:t>
              </a:r>
              <a:r>
                <a:rPr lang="zh-CN" altLang="en-US" sz="1200" dirty="0">
                  <a:solidFill>
                    <a:schemeClr val="tx1"/>
                  </a:solidFill>
                  <a:sym typeface="+mn-ea"/>
                </a:rPr>
                <a:t>；若不相同，则找该子库存映射的建设移交子库编码，完成</a:t>
              </a:r>
              <a:r>
                <a:rPr lang="en-US" altLang="zh-CN" sz="1200" dirty="0">
                  <a:solidFill>
                    <a:schemeClr val="tx1"/>
                  </a:solidFill>
                  <a:sym typeface="+mn-ea"/>
                </a:rPr>
                <a:t>SCM</a:t>
              </a:r>
              <a:r>
                <a:rPr lang="zh-CN" altLang="en-US" sz="1200" dirty="0">
                  <a:solidFill>
                    <a:schemeClr val="tx1"/>
                  </a:solidFill>
                  <a:sym typeface="+mn-ea"/>
                </a:rPr>
                <a:t>账务产生</a:t>
              </a:r>
              <a:endParaRPr lang="zh-CN" altLang="en-US" sz="1200" dirty="0">
                <a:solidFill>
                  <a:schemeClr val="tx1"/>
                </a:solidFill>
                <a:sym typeface="+mn-ea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076825" y="2878077"/>
              <a:ext cx="2099028" cy="2091413"/>
              <a:chOff x="4504866" y="2019980"/>
              <a:chExt cx="3116652" cy="3105346"/>
            </a:xfrm>
          </p:grpSpPr>
          <p:sp>
            <p:nvSpPr>
              <p:cNvPr id="24" name="任意多边形: 形状 20"/>
              <p:cNvSpPr/>
              <p:nvPr>
                <p:custDataLst>
                  <p:tags r:id="rId7"/>
                </p:custDataLst>
              </p:nvPr>
            </p:nvSpPr>
            <p:spPr>
              <a:xfrm>
                <a:off x="4504866" y="2019980"/>
                <a:ext cx="3116652" cy="3105346"/>
              </a:xfrm>
              <a:custGeom>
                <a:avLst/>
                <a:gdLst>
                  <a:gd name="connsiteX0" fmla="*/ 2578032 w 5156064"/>
                  <a:gd name="connsiteY0" fmla="*/ 0 h 5137358"/>
                  <a:gd name="connsiteX1" fmla="*/ 5156064 w 5156064"/>
                  <a:gd name="connsiteY1" fmla="*/ 2568679 h 5137358"/>
                  <a:gd name="connsiteX2" fmla="*/ 2578032 w 5156064"/>
                  <a:gd name="connsiteY2" fmla="*/ 5137358 h 5137358"/>
                  <a:gd name="connsiteX3" fmla="*/ 0 w 5156064"/>
                  <a:gd name="connsiteY3" fmla="*/ 2568679 h 5137358"/>
                  <a:gd name="connsiteX4" fmla="*/ 2578032 w 5156064"/>
                  <a:gd name="connsiteY4" fmla="*/ 0 h 5137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56064" h="5137358">
                    <a:moveTo>
                      <a:pt x="2578032" y="0"/>
                    </a:moveTo>
                    <a:cubicBezTo>
                      <a:pt x="4001840" y="0"/>
                      <a:pt x="5156064" y="1150037"/>
                      <a:pt x="5156064" y="2568679"/>
                    </a:cubicBezTo>
                    <a:cubicBezTo>
                      <a:pt x="5156064" y="3987321"/>
                      <a:pt x="4001840" y="5137358"/>
                      <a:pt x="2578032" y="5137358"/>
                    </a:cubicBezTo>
                    <a:cubicBezTo>
                      <a:pt x="1154224" y="5137358"/>
                      <a:pt x="0" y="3987321"/>
                      <a:pt x="0" y="2568679"/>
                    </a:cubicBezTo>
                    <a:cubicBezTo>
                      <a:pt x="0" y="1150037"/>
                      <a:pt x="1154224" y="0"/>
                      <a:pt x="2578032" y="0"/>
                    </a:cubicBezTo>
                    <a:close/>
                  </a:path>
                </a:pathLst>
              </a:custGeom>
              <a:noFill/>
              <a:ln w="28575">
                <a:solidFill>
                  <a:srgbClr val="E5F0F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椭圆 24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6925149" y="2218874"/>
                <a:ext cx="548648" cy="550497"/>
              </a:xfrm>
              <a:prstGeom prst="ellipse">
                <a:avLst/>
              </a:prstGeom>
              <a:solidFill>
                <a:srgbClr val="E5F0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椭圆 25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4826493" y="4595205"/>
                <a:ext cx="368695" cy="369937"/>
              </a:xfrm>
              <a:prstGeom prst="ellipse">
                <a:avLst/>
              </a:prstGeom>
              <a:solidFill>
                <a:srgbClr val="E5F0F9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C000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" name="AutoShape 5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030743" y="2779519"/>
              <a:ext cx="3701693" cy="2290796"/>
            </a:xfrm>
            <a:prstGeom prst="roundRect">
              <a:avLst>
                <a:gd name="adj" fmla="val 13322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087755">
                <a:spcBef>
                  <a:spcPts val="600"/>
                </a:spcBef>
                <a:buClr>
                  <a:srgbClr val="FF0000"/>
                </a:buClr>
                <a:buSzPct val="80000"/>
                <a:defRPr/>
              </a:pPr>
              <a:endPara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8"/>
              </a:endParaRPr>
            </a:p>
          </p:txBody>
        </p:sp>
        <p:sp>
          <p:nvSpPr>
            <p:cNvPr id="29" name="AutoShape 5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604037" y="2779519"/>
              <a:ext cx="3701693" cy="2290796"/>
            </a:xfrm>
            <a:prstGeom prst="roundRect">
              <a:avLst>
                <a:gd name="adj" fmla="val 13322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087755">
                <a:spcBef>
                  <a:spcPts val="600"/>
                </a:spcBef>
                <a:buClr>
                  <a:srgbClr val="FF0000"/>
                </a:buClr>
                <a:buSzPct val="80000"/>
                <a:defRPr/>
              </a:pPr>
              <a:endParaRPr lang="en-US" altLang="zh-CN" sz="14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8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4912" y="21703"/>
            <a:ext cx="1929403" cy="952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8" rIns="91434" bIns="45718" rtlCol="0" anchor="ctr"/>
          <a:lstStyle/>
          <a:p>
            <a:pPr defTabSz="913765"/>
            <a:endParaRPr lang="zh-CN" altLang="en-US" sz="3200" dirty="0">
              <a:solidFill>
                <a:prstClr val="white"/>
              </a:solidFill>
              <a:effectLst>
                <a:outerShdw dist="38100" dir="2700000" algn="tl">
                  <a:srgbClr val="000000">
                    <a:alpha val="25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haroni" panose="02010803020104030203" pitchFamily="2" charset="-79"/>
            </a:endParaRPr>
          </a:p>
        </p:txBody>
      </p:sp>
      <p:sp>
        <p:nvSpPr>
          <p:cNvPr id="142" name="标题 1"/>
          <p:cNvSpPr txBox="1"/>
          <p:nvPr/>
        </p:nvSpPr>
        <p:spPr>
          <a:xfrm>
            <a:off x="205066" y="230833"/>
            <a:ext cx="4397774" cy="533524"/>
          </a:xfrm>
          <a:prstGeom prst="rect">
            <a:avLst/>
          </a:prstGeom>
        </p:spPr>
        <p:txBody>
          <a:bodyPr vert="horz" lIns="108850" tIns="54425" rIns="108850" bIns="54425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Tx/>
              <a:buSzTx/>
              <a:buFontTx/>
            </a:pPr>
            <a:r>
              <a:rPr lang="zh-CN" altLang="en-US" sz="2400" b="1" dirty="0" smtClean="0">
                <a:ln w="0"/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经典综艺体简" panose="02010609000101010101" pitchFamily="49" charset="-122"/>
              </a:rPr>
              <a:t>四、</a:t>
            </a:r>
            <a:r>
              <a:rPr lang="zh-CN" altLang="en-US" sz="2400" b="1" dirty="0" smtClean="0">
                <a:ln w="0"/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经典综艺体简" panose="02010609000101010101" pitchFamily="49" charset="-122"/>
                <a:sym typeface="+mn-ea"/>
              </a:rPr>
              <a:t>批次应用亮点</a:t>
            </a:r>
            <a:endParaRPr lang="zh-CN" altLang="en-US" sz="2400" b="1" dirty="0" smtClean="0">
              <a:ln w="0"/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经典综艺体简" panose="02010609000101010101" pitchFamily="49" charset="-122"/>
            </a:endParaRPr>
          </a:p>
        </p:txBody>
      </p:sp>
      <p:sp>
        <p:nvSpPr>
          <p:cNvPr id="27" name="圆角矩形 3"/>
          <p:cNvSpPr/>
          <p:nvPr>
            <p:custDataLst>
              <p:tags r:id="rId1"/>
            </p:custDataLst>
          </p:nvPr>
        </p:nvSpPr>
        <p:spPr>
          <a:xfrm>
            <a:off x="375285" y="886460"/>
            <a:ext cx="11440795" cy="1517650"/>
          </a:xfrm>
          <a:prstGeom prst="roundRect">
            <a:avLst/>
          </a:prstGeom>
          <a:noFill/>
          <a:ln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1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1" algn="l"/>
            <a:endParaRPr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78205" y="1160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应用背景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78205" y="1574800"/>
            <a:ext cx="93738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建设移交平台入库物资、建设移交杂项入库价值匹配物资均变成运营自购物资，不能反应其真实来源，无法掌握建设移交物资消耗</a:t>
            </a:r>
            <a:r>
              <a:rPr lang="zh-CN" altLang="en-US"/>
              <a:t>情况。</a:t>
            </a:r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539622" y="3428824"/>
            <a:ext cx="3547809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</a:rPr>
              <a:t>在批次档案中增加物料来源属性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539622" y="4324973"/>
            <a:ext cx="3387471" cy="147637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根据批次编码生成规则，</a:t>
            </a: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建设移交平台入库物资、建设移交杂项入库价值匹配物资批次属性物料来源</a:t>
            </a: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标记为建设移交，来源类型为运营自购</a:t>
            </a: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；</a:t>
            </a:r>
            <a:endParaRPr lang="zh-CN" altLang="en-US" sz="1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任意多边形: 形状 20"/>
          <p:cNvSpPr/>
          <p:nvPr>
            <p:custDataLst>
              <p:tags r:id="rId4"/>
            </p:custDataLst>
          </p:nvPr>
        </p:nvSpPr>
        <p:spPr>
          <a:xfrm>
            <a:off x="4515639" y="4148712"/>
            <a:ext cx="2099028" cy="2091413"/>
          </a:xfrm>
          <a:custGeom>
            <a:avLst/>
            <a:gdLst>
              <a:gd name="connsiteX0" fmla="*/ 2578032 w 5156064"/>
              <a:gd name="connsiteY0" fmla="*/ 0 h 5137358"/>
              <a:gd name="connsiteX1" fmla="*/ 5156064 w 5156064"/>
              <a:gd name="connsiteY1" fmla="*/ 2568679 h 5137358"/>
              <a:gd name="connsiteX2" fmla="*/ 2578032 w 5156064"/>
              <a:gd name="connsiteY2" fmla="*/ 5137358 h 5137358"/>
              <a:gd name="connsiteX3" fmla="*/ 0 w 5156064"/>
              <a:gd name="connsiteY3" fmla="*/ 2568679 h 5137358"/>
              <a:gd name="connsiteX4" fmla="*/ 2578032 w 5156064"/>
              <a:gd name="connsiteY4" fmla="*/ 0 h 5137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6064" h="5137358">
                <a:moveTo>
                  <a:pt x="2578032" y="0"/>
                </a:moveTo>
                <a:cubicBezTo>
                  <a:pt x="4001840" y="0"/>
                  <a:pt x="5156064" y="1150037"/>
                  <a:pt x="5156064" y="2568679"/>
                </a:cubicBezTo>
                <a:cubicBezTo>
                  <a:pt x="5156064" y="3987321"/>
                  <a:pt x="4001840" y="5137358"/>
                  <a:pt x="2578032" y="5137358"/>
                </a:cubicBezTo>
                <a:cubicBezTo>
                  <a:pt x="1154224" y="5137358"/>
                  <a:pt x="0" y="3987321"/>
                  <a:pt x="0" y="2568679"/>
                </a:cubicBezTo>
                <a:cubicBezTo>
                  <a:pt x="0" y="1150037"/>
                  <a:pt x="1154224" y="0"/>
                  <a:pt x="2578032" y="0"/>
                </a:cubicBezTo>
                <a:close/>
              </a:path>
            </a:pathLst>
          </a:custGeom>
          <a:noFill/>
          <a:ln w="28575">
            <a:solidFill>
              <a:srgbClr val="E5F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p>
            <a:pPr algn="ctr"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7120890" y="3482975"/>
            <a:ext cx="405257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</a:rPr>
              <a:t>应用</a:t>
            </a:r>
            <a:r>
              <a:rPr lang="zh-CN" altLang="en-US" sz="1800" dirty="0">
                <a:solidFill>
                  <a:schemeClr val="tx1"/>
                </a:solidFill>
              </a:rPr>
              <a:t>成效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7203440" y="4372610"/>
            <a:ext cx="3700780" cy="15462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能够反应物资的真实来源类型，实现建设移交类物资的消耗</a:t>
            </a:r>
            <a:r>
              <a:rPr lang="zh-CN" altLang="en-US" sz="1200" dirty="0">
                <a:solidFill>
                  <a:schemeClr val="tx1"/>
                </a:solidFill>
                <a:sym typeface="+mn-ea"/>
              </a:rPr>
              <a:t>情况。</a:t>
            </a:r>
            <a:endParaRPr lang="zh-CN" altLang="en-US" sz="1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603115" y="4897755"/>
            <a:ext cx="2054860" cy="973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物料来源追踪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243" t="3727"/>
          <a:stretch>
            <a:fillRect/>
          </a:stretch>
        </p:blipFill>
        <p:spPr>
          <a:xfrm>
            <a:off x="539750" y="2526030"/>
            <a:ext cx="9664065" cy="1525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2735" y="17018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spcBef>
                <a:spcPts val="0"/>
              </a:spcBef>
              <a:buClrTx/>
              <a:buSzTx/>
              <a:buFontTx/>
            </a:pPr>
            <a:r>
              <a:rPr lang="zh-CN" altLang="en-US" sz="2400" b="1" dirty="0" smtClean="0">
                <a:ln w="0"/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经典综艺体简" panose="02010609000101010101" pitchFamily="49" charset="-122"/>
                <a:sym typeface="+mn-ea"/>
              </a:rPr>
              <a:t>五、批次管理发展</a:t>
            </a:r>
            <a:r>
              <a:rPr lang="zh-CN" altLang="en-US" sz="2400" b="1" dirty="0" smtClean="0">
                <a:ln w="0"/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经典综艺体简" panose="02010609000101010101" pitchFamily="49" charset="-122"/>
                <a:sym typeface="+mn-ea"/>
              </a:rPr>
              <a:t>趋势</a:t>
            </a:r>
            <a:endParaRPr lang="zh-CN" altLang="en-US" sz="2400" b="1" dirty="0" smtClean="0">
              <a:ln w="0"/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经典综艺体简" panose="02010609000101010101" pitchFamily="49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38200" y="1953895"/>
            <a:ext cx="1372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</a:rPr>
              <a:t>条码技术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747010" y="1706245"/>
            <a:ext cx="51219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条码技术是批次管理中最为常见的手段之一，它通过为每个批次分配独特的条码，实现对货物的快速识别和追踪。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838200" y="3194050"/>
            <a:ext cx="1372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FFFF00"/>
                </a:highlight>
                <a:sym typeface="+mn-ea"/>
              </a:rPr>
              <a:t>RFID</a:t>
            </a:r>
            <a:r>
              <a:rPr lang="zh-CN" altLang="en-US">
                <a:highlight>
                  <a:srgbClr val="FFFF00"/>
                </a:highlight>
              </a:rPr>
              <a:t>技术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777490" y="2988945"/>
            <a:ext cx="48583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RFID(</a:t>
            </a:r>
            <a:r>
              <a:rPr lang="zh-CN" altLang="en-US"/>
              <a:t>无线射频识别</a:t>
            </a:r>
            <a:r>
              <a:rPr lang="en-US" altLang="zh-CN"/>
              <a:t>)</a:t>
            </a:r>
            <a:r>
              <a:rPr lang="zh-CN" altLang="en-US"/>
              <a:t>技术是另一种重要的批次管理工具，它能够实现非接触式识别，适用于各种环境下的货物追踪。</a:t>
            </a:r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838200" y="4458970"/>
            <a:ext cx="12928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  <a:sym typeface="+mn-ea"/>
              </a:rPr>
              <a:t>物联网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(IoT)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技术</a:t>
            </a:r>
            <a:endParaRPr lang="zh-CN" altLang="en-US">
              <a:highlight>
                <a:srgbClr val="FFFF00"/>
              </a:highlight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36850" y="4271645"/>
            <a:ext cx="50399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物联网</a:t>
            </a:r>
            <a:r>
              <a:rPr lang="en-US" altLang="zh-CN"/>
              <a:t>(IoT)</a:t>
            </a:r>
            <a:r>
              <a:rPr lang="zh-CN" altLang="en-US"/>
              <a:t>技术在批次管理中的应用也日益增多。通过将传感器、</a:t>
            </a:r>
            <a:r>
              <a:rPr lang="en-US" altLang="zh-CN"/>
              <a:t>RFID</a:t>
            </a:r>
            <a:r>
              <a:rPr lang="zh-CN" altLang="en-US"/>
              <a:t>、</a:t>
            </a:r>
            <a:r>
              <a:rPr lang="en-US" altLang="zh-CN"/>
              <a:t>GPS</a:t>
            </a:r>
            <a:r>
              <a:rPr lang="zh-CN" altLang="en-US"/>
              <a:t>等技术集成，物联网系统能够实时监测货物的位置、状态和环境参数。例如，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494395" y="1820545"/>
            <a:ext cx="233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目前</a:t>
            </a:r>
            <a:r>
              <a:rPr lang="en-US" altLang="zh-CN"/>
              <a:t>WMS</a:t>
            </a:r>
            <a:r>
              <a:rPr lang="zh-CN" altLang="en-US"/>
              <a:t>采用该</a:t>
            </a:r>
            <a:r>
              <a:rPr lang="zh-CN" altLang="en-US"/>
              <a:t>技术。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494395" y="4411980"/>
            <a:ext cx="233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621395" y="4538980"/>
            <a:ext cx="233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748395" y="4665980"/>
            <a:ext cx="233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875395" y="4792980"/>
            <a:ext cx="2332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18845" y="998855"/>
            <a:ext cx="2414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批次管理主要</a:t>
            </a:r>
            <a:r>
              <a:rPr lang="zh-CN" altLang="en-US"/>
              <a:t>技术</a:t>
            </a:r>
            <a:endParaRPr lang="zh-CN" altLang="en-US"/>
          </a:p>
        </p:txBody>
      </p:sp>
      <p:sp>
        <p:nvSpPr>
          <p:cNvPr id="23" name="右箭头 22"/>
          <p:cNvSpPr/>
          <p:nvPr/>
        </p:nvSpPr>
        <p:spPr>
          <a:xfrm>
            <a:off x="2322830" y="2044700"/>
            <a:ext cx="373380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右箭头 23"/>
          <p:cNvSpPr/>
          <p:nvPr/>
        </p:nvSpPr>
        <p:spPr>
          <a:xfrm>
            <a:off x="7995285" y="1953895"/>
            <a:ext cx="373380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右箭头 24"/>
          <p:cNvSpPr/>
          <p:nvPr/>
        </p:nvSpPr>
        <p:spPr>
          <a:xfrm>
            <a:off x="2307590" y="3340735"/>
            <a:ext cx="373380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/>
        </p:nvSpPr>
        <p:spPr>
          <a:xfrm>
            <a:off x="7995285" y="3340735"/>
            <a:ext cx="373380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右箭头 26"/>
          <p:cNvSpPr/>
          <p:nvPr/>
        </p:nvSpPr>
        <p:spPr>
          <a:xfrm>
            <a:off x="2307590" y="4565650"/>
            <a:ext cx="373380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右箭头 28"/>
          <p:cNvSpPr/>
          <p:nvPr/>
        </p:nvSpPr>
        <p:spPr>
          <a:xfrm>
            <a:off x="7995285" y="4565650"/>
            <a:ext cx="373380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8575040" y="3150235"/>
            <a:ext cx="2333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实现无人值守</a:t>
            </a:r>
            <a:r>
              <a:rPr lang="zh-CN" altLang="en-US"/>
              <a:t>仓库。</a:t>
            </a:r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8644890" y="4441825"/>
            <a:ext cx="2333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加强危化品库等的</a:t>
            </a:r>
            <a:r>
              <a:rPr lang="zh-CN" altLang="en-US"/>
              <a:t>管理。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2735" y="17018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spcBef>
                <a:spcPts val="0"/>
              </a:spcBef>
              <a:buClrTx/>
              <a:buSzTx/>
              <a:buFontTx/>
            </a:pPr>
            <a:r>
              <a:rPr lang="zh-CN" altLang="en-US" sz="2400" b="1" dirty="0" smtClean="0">
                <a:ln w="0"/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经典综艺体简" panose="02010609000101010101" pitchFamily="49" charset="-122"/>
                <a:sym typeface="+mn-ea"/>
              </a:rPr>
              <a:t>五、批次管理发展</a:t>
            </a:r>
            <a:r>
              <a:rPr lang="zh-CN" altLang="en-US" sz="2400" b="1" dirty="0" smtClean="0">
                <a:ln w="0"/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经典综艺体简" panose="02010609000101010101" pitchFamily="49" charset="-122"/>
                <a:sym typeface="+mn-ea"/>
              </a:rPr>
              <a:t>趋势</a:t>
            </a:r>
            <a:endParaRPr lang="zh-CN" altLang="en-US" sz="2400" b="1" dirty="0" smtClean="0">
              <a:ln w="0"/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经典综艺体简" panose="0201060900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90295" y="4342130"/>
            <a:ext cx="91516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无人值守仓库管理系统通过运用电子门禁、无线射频、</a:t>
            </a:r>
            <a:r>
              <a:rPr lang="en-US" altLang="zh-CN"/>
              <a:t>RFID</a:t>
            </a:r>
            <a:r>
              <a:rPr lang="zh-CN" altLang="en-US"/>
              <a:t>等物联网技术，仓库内的生产物资、办公物品实现非接触、穿透式、自动识别，自动记录物资入库、存储、出库、</a:t>
            </a:r>
            <a:r>
              <a:rPr lang="en-US" altLang="zh-CN"/>
              <a:t>(</a:t>
            </a:r>
            <a:r>
              <a:rPr lang="zh-CN" altLang="en-US"/>
              <a:t>盘点</a:t>
            </a:r>
            <a:r>
              <a:rPr lang="en-US" altLang="zh-CN"/>
              <a:t>)</a:t>
            </a:r>
            <a:r>
              <a:rPr lang="zh-CN" altLang="en-US"/>
              <a:t>等各环节物流信息，大大提高了仓储管理的信息自动化水平，彻底解决了仓库货物堆积，货物不清，货物多拿漏拿等情况的发生。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60" y="1554480"/>
            <a:ext cx="9963150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2735" y="17018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spcBef>
                <a:spcPts val="0"/>
              </a:spcBef>
              <a:buClrTx/>
              <a:buSzTx/>
              <a:buFontTx/>
            </a:pPr>
            <a:r>
              <a:rPr lang="zh-CN" altLang="en-US" sz="2400" b="1" dirty="0" smtClean="0">
                <a:ln w="0"/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经典综艺体简" panose="02010609000101010101" pitchFamily="49" charset="-122"/>
                <a:sym typeface="+mn-ea"/>
              </a:rPr>
              <a:t>五、未来发展</a:t>
            </a:r>
            <a:r>
              <a:rPr lang="zh-CN" altLang="en-US" sz="2400" b="1" dirty="0" smtClean="0">
                <a:ln w="0"/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经典综艺体简" panose="02010609000101010101" pitchFamily="49" charset="-122"/>
                <a:sym typeface="+mn-ea"/>
              </a:rPr>
              <a:t>趋势</a:t>
            </a:r>
            <a:endParaRPr lang="zh-CN" altLang="en-US" sz="2400" b="1" dirty="0" smtClean="0">
              <a:ln w="0"/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经典综艺体简" panose="0201060900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68045" y="1696085"/>
            <a:ext cx="2919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人工智能技术的应用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868045" y="3130550"/>
            <a:ext cx="2919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数据分析的加强</a:t>
            </a:r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68045" y="4648200"/>
            <a:ext cx="2919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自动化设备的普及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4342765" y="1352550"/>
            <a:ext cx="71418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人工智能技术在智能批次管理中的应用前景广阔。通过机器学习和深度学习等技术，</a:t>
            </a:r>
            <a:r>
              <a:rPr lang="en-US" altLang="zh-CN"/>
              <a:t>WMS</a:t>
            </a:r>
            <a:r>
              <a:rPr lang="zh-CN" altLang="en-US"/>
              <a:t>系统可以自动识别货物属性等工作。同时，人工智能可以对大数据进行分析，优化仓储布局和流程，并根据实时需求做出智能调配，提高仓库的利用率和运作效率。</a:t>
            </a:r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4251960" y="3019425"/>
            <a:ext cx="69697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数据是智能批次管理的基础。未来的</a:t>
            </a:r>
            <a:r>
              <a:rPr lang="en-US" altLang="zh-CN"/>
              <a:t>WMS</a:t>
            </a:r>
            <a:r>
              <a:rPr lang="zh-CN" altLang="en-US"/>
              <a:t>系统将更加注重数据的收集、整合和分析，通过对历史数据和实时数据的比对，可以更准确地掌握仓库库存情况。数据分析可以帮助预测</a:t>
            </a:r>
            <a:r>
              <a:rPr lang="zh-CN" altLang="en-US"/>
              <a:t>库存趋势，并提供优化仓储策略的建议，为企业决策提供科学依据。</a:t>
            </a:r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4201795" y="4514215"/>
            <a:ext cx="69799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自动化设备在仓储管理中的应用越来越广泛。未来的</a:t>
            </a:r>
            <a:r>
              <a:rPr lang="en-US" altLang="zh-CN"/>
              <a:t>WMS</a:t>
            </a:r>
            <a:r>
              <a:rPr lang="zh-CN" altLang="en-US"/>
              <a:t>系统将与自动化设备进行深度融合，如机器人拣货、自动输送线等，实现从接收货物到出库的全程自动化操作。自动化设备的普及将大幅度提高仓库的工作效率和准确性，并减少人为因素导致的错误和延误。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259"/>
          <p:cNvSpPr>
            <a:spLocks noChangeArrowheads="1"/>
          </p:cNvSpPr>
          <p:nvPr/>
        </p:nvSpPr>
        <p:spPr bwMode="auto">
          <a:xfrm>
            <a:off x="2582898" y="2626450"/>
            <a:ext cx="7026204" cy="1400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91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  <a:endParaRPr lang="en-US" altLang="zh-CN" sz="91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259"/>
          <p:cNvSpPr>
            <a:spLocks noChangeArrowheads="1"/>
          </p:cNvSpPr>
          <p:nvPr/>
        </p:nvSpPr>
        <p:spPr bwMode="auto">
          <a:xfrm>
            <a:off x="4232279" y="4113716"/>
            <a:ext cx="3727442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rPr>
              <a:t>感谢聆听，批评指导</a:t>
            </a:r>
            <a:endParaRPr lang="zh-CN" altLang="en-US" dirty="0">
              <a:solidFill>
                <a:schemeClr val="bg1">
                  <a:lumMod val="6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6" name="Freeform 6"/>
          <p:cNvSpPr/>
          <p:nvPr/>
        </p:nvSpPr>
        <p:spPr bwMode="auto">
          <a:xfrm>
            <a:off x="3220344" y="493729"/>
            <a:ext cx="1356172" cy="1604615"/>
          </a:xfrm>
          <a:custGeom>
            <a:avLst/>
            <a:gdLst>
              <a:gd name="T0" fmla="*/ 901 w 901"/>
              <a:gd name="T1" fmla="*/ 804 h 1066"/>
              <a:gd name="T2" fmla="*/ 460 w 901"/>
              <a:gd name="T3" fmla="*/ 1066 h 1066"/>
              <a:gd name="T4" fmla="*/ 0 w 901"/>
              <a:gd name="T5" fmla="*/ 804 h 1066"/>
              <a:gd name="T6" fmla="*/ 0 w 901"/>
              <a:gd name="T7" fmla="*/ 261 h 1066"/>
              <a:gd name="T8" fmla="*/ 460 w 901"/>
              <a:gd name="T9" fmla="*/ 0 h 1066"/>
              <a:gd name="T10" fmla="*/ 901 w 901"/>
              <a:gd name="T11" fmla="*/ 261 h 1066"/>
              <a:gd name="T12" fmla="*/ 901 w 901"/>
              <a:gd name="T13" fmla="*/ 804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01" h="1066">
                <a:moveTo>
                  <a:pt x="901" y="804"/>
                </a:moveTo>
                <a:lnTo>
                  <a:pt x="460" y="1066"/>
                </a:lnTo>
                <a:lnTo>
                  <a:pt x="0" y="804"/>
                </a:lnTo>
                <a:lnTo>
                  <a:pt x="0" y="261"/>
                </a:lnTo>
                <a:lnTo>
                  <a:pt x="460" y="0"/>
                </a:lnTo>
                <a:lnTo>
                  <a:pt x="901" y="261"/>
                </a:lnTo>
                <a:lnTo>
                  <a:pt x="901" y="804"/>
                </a:lnTo>
                <a:close/>
              </a:path>
            </a:pathLst>
          </a:cu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txBody>
          <a:bodyPr vert="horz" wrap="square" lIns="86694" tIns="43347" rIns="86694" bIns="43347" numCol="1" anchor="t" anchorCtr="0" compatLnSpc="1"/>
          <a:lstStyle/>
          <a:p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7" name="Freeform 7"/>
          <p:cNvSpPr/>
          <p:nvPr/>
        </p:nvSpPr>
        <p:spPr bwMode="auto">
          <a:xfrm>
            <a:off x="4666827" y="493729"/>
            <a:ext cx="1384770" cy="1604615"/>
          </a:xfrm>
          <a:custGeom>
            <a:avLst/>
            <a:gdLst>
              <a:gd name="T0" fmla="*/ 920 w 920"/>
              <a:gd name="T1" fmla="*/ 804 h 1066"/>
              <a:gd name="T2" fmla="*/ 460 w 920"/>
              <a:gd name="T3" fmla="*/ 1066 h 1066"/>
              <a:gd name="T4" fmla="*/ 0 w 920"/>
              <a:gd name="T5" fmla="*/ 804 h 1066"/>
              <a:gd name="T6" fmla="*/ 0 w 920"/>
              <a:gd name="T7" fmla="*/ 261 h 1066"/>
              <a:gd name="T8" fmla="*/ 460 w 920"/>
              <a:gd name="T9" fmla="*/ 0 h 1066"/>
              <a:gd name="T10" fmla="*/ 920 w 920"/>
              <a:gd name="T11" fmla="*/ 261 h 1066"/>
              <a:gd name="T12" fmla="*/ 920 w 920"/>
              <a:gd name="T13" fmla="*/ 804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20" h="1066">
                <a:moveTo>
                  <a:pt x="920" y="804"/>
                </a:moveTo>
                <a:lnTo>
                  <a:pt x="460" y="1066"/>
                </a:lnTo>
                <a:lnTo>
                  <a:pt x="0" y="804"/>
                </a:lnTo>
                <a:lnTo>
                  <a:pt x="0" y="261"/>
                </a:lnTo>
                <a:lnTo>
                  <a:pt x="460" y="0"/>
                </a:lnTo>
                <a:lnTo>
                  <a:pt x="920" y="261"/>
                </a:lnTo>
                <a:lnTo>
                  <a:pt x="920" y="804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vert="horz" wrap="square" lIns="86694" tIns="43347" rIns="86694" bIns="43347" numCol="1" anchor="t" anchorCtr="0" compatLnSpc="1"/>
          <a:lstStyle/>
          <a:p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8" name="Freeform 8"/>
          <p:cNvSpPr/>
          <p:nvPr/>
        </p:nvSpPr>
        <p:spPr bwMode="auto">
          <a:xfrm>
            <a:off x="6141909" y="493729"/>
            <a:ext cx="1384770" cy="1604615"/>
          </a:xfrm>
          <a:custGeom>
            <a:avLst/>
            <a:gdLst>
              <a:gd name="T0" fmla="*/ 920 w 920"/>
              <a:gd name="T1" fmla="*/ 804 h 1066"/>
              <a:gd name="T2" fmla="*/ 460 w 920"/>
              <a:gd name="T3" fmla="*/ 1066 h 1066"/>
              <a:gd name="T4" fmla="*/ 0 w 920"/>
              <a:gd name="T5" fmla="*/ 804 h 1066"/>
              <a:gd name="T6" fmla="*/ 0 w 920"/>
              <a:gd name="T7" fmla="*/ 261 h 1066"/>
              <a:gd name="T8" fmla="*/ 460 w 920"/>
              <a:gd name="T9" fmla="*/ 0 h 1066"/>
              <a:gd name="T10" fmla="*/ 920 w 920"/>
              <a:gd name="T11" fmla="*/ 261 h 1066"/>
              <a:gd name="T12" fmla="*/ 920 w 920"/>
              <a:gd name="T13" fmla="*/ 804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20" h="1066">
                <a:moveTo>
                  <a:pt x="920" y="804"/>
                </a:moveTo>
                <a:lnTo>
                  <a:pt x="460" y="1066"/>
                </a:lnTo>
                <a:lnTo>
                  <a:pt x="0" y="804"/>
                </a:lnTo>
                <a:lnTo>
                  <a:pt x="0" y="261"/>
                </a:lnTo>
                <a:lnTo>
                  <a:pt x="460" y="0"/>
                </a:lnTo>
                <a:lnTo>
                  <a:pt x="920" y="261"/>
                </a:lnTo>
                <a:lnTo>
                  <a:pt x="920" y="804"/>
                </a:lnTo>
                <a:close/>
              </a:path>
            </a:pathLst>
          </a:cu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 vert="horz" wrap="square" lIns="86694" tIns="43347" rIns="86694" bIns="43347" numCol="1" anchor="t" anchorCtr="0" compatLnSpc="1"/>
          <a:lstStyle/>
          <a:p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9" name="Freeform 9"/>
          <p:cNvSpPr/>
          <p:nvPr/>
        </p:nvSpPr>
        <p:spPr bwMode="auto">
          <a:xfrm>
            <a:off x="7616990" y="493729"/>
            <a:ext cx="1354667" cy="1604615"/>
          </a:xfrm>
          <a:custGeom>
            <a:avLst/>
            <a:gdLst>
              <a:gd name="T0" fmla="*/ 900 w 900"/>
              <a:gd name="T1" fmla="*/ 804 h 1066"/>
              <a:gd name="T2" fmla="*/ 440 w 900"/>
              <a:gd name="T3" fmla="*/ 1066 h 1066"/>
              <a:gd name="T4" fmla="*/ 0 w 900"/>
              <a:gd name="T5" fmla="*/ 804 h 1066"/>
              <a:gd name="T6" fmla="*/ 0 w 900"/>
              <a:gd name="T7" fmla="*/ 261 h 1066"/>
              <a:gd name="T8" fmla="*/ 440 w 900"/>
              <a:gd name="T9" fmla="*/ 0 h 1066"/>
              <a:gd name="T10" fmla="*/ 900 w 900"/>
              <a:gd name="T11" fmla="*/ 261 h 1066"/>
              <a:gd name="T12" fmla="*/ 900 w 900"/>
              <a:gd name="T13" fmla="*/ 804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00" h="1066">
                <a:moveTo>
                  <a:pt x="900" y="804"/>
                </a:moveTo>
                <a:lnTo>
                  <a:pt x="440" y="1066"/>
                </a:lnTo>
                <a:lnTo>
                  <a:pt x="0" y="804"/>
                </a:lnTo>
                <a:lnTo>
                  <a:pt x="0" y="261"/>
                </a:lnTo>
                <a:lnTo>
                  <a:pt x="440" y="0"/>
                </a:lnTo>
                <a:lnTo>
                  <a:pt x="900" y="261"/>
                </a:lnTo>
                <a:lnTo>
                  <a:pt x="900" y="804"/>
                </a:lnTo>
                <a:close/>
              </a:path>
            </a:pathLst>
          </a:cu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txBody>
          <a:bodyPr vert="horz" wrap="square" lIns="86694" tIns="43347" rIns="86694" bIns="43347" numCol="1" anchor="t" anchorCtr="0" compatLnSpc="1"/>
          <a:lstStyle/>
          <a:p>
            <a:endParaRPr lang="zh-CN" altLang="en-US">
              <a:solidFill>
                <a:schemeClr val="accent1"/>
              </a:solidFill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3942833" y="-51180"/>
            <a:ext cx="4306335" cy="877572"/>
            <a:chOff x="4157662" y="-53976"/>
            <a:chExt cx="4541838" cy="925513"/>
          </a:xfrm>
          <a:solidFill>
            <a:schemeClr val="accent2"/>
          </a:solidFill>
        </p:grpSpPr>
        <p:sp>
          <p:nvSpPr>
            <p:cNvPr id="30" name="Freeform 10"/>
            <p:cNvSpPr/>
            <p:nvPr/>
          </p:nvSpPr>
          <p:spPr bwMode="auto">
            <a:xfrm>
              <a:off x="4157662" y="-53976"/>
              <a:ext cx="1462088" cy="925513"/>
            </a:xfrm>
            <a:custGeom>
              <a:avLst/>
              <a:gdLst>
                <a:gd name="T0" fmla="*/ 921 w 921"/>
                <a:gd name="T1" fmla="*/ 322 h 583"/>
                <a:gd name="T2" fmla="*/ 461 w 921"/>
                <a:gd name="T3" fmla="*/ 583 h 583"/>
                <a:gd name="T4" fmla="*/ 0 w 921"/>
                <a:gd name="T5" fmla="*/ 322 h 583"/>
                <a:gd name="T6" fmla="*/ 0 w 921"/>
                <a:gd name="T7" fmla="*/ 0 h 583"/>
                <a:gd name="T8" fmla="*/ 921 w 921"/>
                <a:gd name="T9" fmla="*/ 0 h 583"/>
                <a:gd name="T10" fmla="*/ 921 w 921"/>
                <a:gd name="T11" fmla="*/ 322 h 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1" h="583">
                  <a:moveTo>
                    <a:pt x="921" y="322"/>
                  </a:moveTo>
                  <a:lnTo>
                    <a:pt x="461" y="583"/>
                  </a:lnTo>
                  <a:lnTo>
                    <a:pt x="0" y="322"/>
                  </a:lnTo>
                  <a:lnTo>
                    <a:pt x="0" y="0"/>
                  </a:lnTo>
                  <a:lnTo>
                    <a:pt x="921" y="0"/>
                  </a:lnTo>
                  <a:lnTo>
                    <a:pt x="921" y="3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1"/>
                </a:solidFill>
              </a:endParaRPr>
            </a:p>
          </p:txBody>
        </p:sp>
        <p:sp>
          <p:nvSpPr>
            <p:cNvPr id="31" name="Freeform 11"/>
            <p:cNvSpPr/>
            <p:nvPr/>
          </p:nvSpPr>
          <p:spPr bwMode="auto">
            <a:xfrm>
              <a:off x="5715000" y="-53976"/>
              <a:ext cx="1428750" cy="925513"/>
            </a:xfrm>
            <a:custGeom>
              <a:avLst/>
              <a:gdLst>
                <a:gd name="T0" fmla="*/ 900 w 900"/>
                <a:gd name="T1" fmla="*/ 322 h 583"/>
                <a:gd name="T2" fmla="*/ 460 w 900"/>
                <a:gd name="T3" fmla="*/ 583 h 583"/>
                <a:gd name="T4" fmla="*/ 0 w 900"/>
                <a:gd name="T5" fmla="*/ 322 h 583"/>
                <a:gd name="T6" fmla="*/ 0 w 900"/>
                <a:gd name="T7" fmla="*/ 0 h 583"/>
                <a:gd name="T8" fmla="*/ 900 w 900"/>
                <a:gd name="T9" fmla="*/ 0 h 583"/>
                <a:gd name="T10" fmla="*/ 900 w 900"/>
                <a:gd name="T11" fmla="*/ 322 h 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0" h="583">
                  <a:moveTo>
                    <a:pt x="900" y="322"/>
                  </a:moveTo>
                  <a:lnTo>
                    <a:pt x="460" y="583"/>
                  </a:lnTo>
                  <a:lnTo>
                    <a:pt x="0" y="322"/>
                  </a:lnTo>
                  <a:lnTo>
                    <a:pt x="0" y="0"/>
                  </a:lnTo>
                  <a:lnTo>
                    <a:pt x="900" y="0"/>
                  </a:lnTo>
                  <a:lnTo>
                    <a:pt x="900" y="3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1"/>
                </a:solidFill>
              </a:endParaRPr>
            </a:p>
          </p:txBody>
        </p:sp>
        <p:sp>
          <p:nvSpPr>
            <p:cNvPr id="32" name="Freeform 12"/>
            <p:cNvSpPr/>
            <p:nvPr/>
          </p:nvSpPr>
          <p:spPr bwMode="auto">
            <a:xfrm>
              <a:off x="7239000" y="-53976"/>
              <a:ext cx="1460500" cy="925513"/>
            </a:xfrm>
            <a:custGeom>
              <a:avLst/>
              <a:gdLst>
                <a:gd name="T0" fmla="*/ 920 w 920"/>
                <a:gd name="T1" fmla="*/ 322 h 583"/>
                <a:gd name="T2" fmla="*/ 460 w 920"/>
                <a:gd name="T3" fmla="*/ 583 h 583"/>
                <a:gd name="T4" fmla="*/ 0 w 920"/>
                <a:gd name="T5" fmla="*/ 322 h 583"/>
                <a:gd name="T6" fmla="*/ 0 w 920"/>
                <a:gd name="T7" fmla="*/ 0 h 583"/>
                <a:gd name="T8" fmla="*/ 920 w 920"/>
                <a:gd name="T9" fmla="*/ 0 h 583"/>
                <a:gd name="T10" fmla="*/ 920 w 920"/>
                <a:gd name="T11" fmla="*/ 322 h 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0" h="583">
                  <a:moveTo>
                    <a:pt x="920" y="322"/>
                  </a:moveTo>
                  <a:lnTo>
                    <a:pt x="460" y="583"/>
                  </a:lnTo>
                  <a:lnTo>
                    <a:pt x="0" y="322"/>
                  </a:lnTo>
                  <a:lnTo>
                    <a:pt x="0" y="0"/>
                  </a:lnTo>
                  <a:lnTo>
                    <a:pt x="920" y="0"/>
                  </a:lnTo>
                  <a:lnTo>
                    <a:pt x="920" y="3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1"/>
                </a:solidFill>
              </a:endParaRPr>
            </a:p>
          </p:txBody>
        </p:sp>
      </p:grpSp>
      <p:sp>
        <p:nvSpPr>
          <p:cNvPr id="38" name="任意多边形 37"/>
          <p:cNvSpPr/>
          <p:nvPr/>
        </p:nvSpPr>
        <p:spPr>
          <a:xfrm>
            <a:off x="0" y="5545618"/>
            <a:ext cx="12192000" cy="1312382"/>
          </a:xfrm>
          <a:custGeom>
            <a:avLst/>
            <a:gdLst>
              <a:gd name="connsiteX0" fmla="*/ 251147 w 12858750"/>
              <a:gd name="connsiteY0" fmla="*/ 1060724 h 1456085"/>
              <a:gd name="connsiteX1" fmla="*/ 246905 w 12858750"/>
              <a:gd name="connsiteY1" fmla="*/ 1070639 h 1456085"/>
              <a:gd name="connsiteX2" fmla="*/ 246366 w 12858750"/>
              <a:gd name="connsiteY2" fmla="*/ 1070367 h 1456085"/>
              <a:gd name="connsiteX3" fmla="*/ 251147 w 12858750"/>
              <a:gd name="connsiteY3" fmla="*/ 1060724 h 1456085"/>
              <a:gd name="connsiteX4" fmla="*/ 1140454 w 12858750"/>
              <a:gd name="connsiteY4" fmla="*/ 1007688 h 1456085"/>
              <a:gd name="connsiteX5" fmla="*/ 1173923 w 12858750"/>
              <a:gd name="connsiteY5" fmla="*/ 1026974 h 1456085"/>
              <a:gd name="connsiteX6" fmla="*/ 1164360 w 12858750"/>
              <a:gd name="connsiteY6" fmla="*/ 1041438 h 1456085"/>
              <a:gd name="connsiteX7" fmla="*/ 1164360 w 12858750"/>
              <a:gd name="connsiteY7" fmla="*/ 1047465 h 1456085"/>
              <a:gd name="connsiteX8" fmla="*/ 1164360 w 12858750"/>
              <a:gd name="connsiteY8" fmla="*/ 1055903 h 1456085"/>
              <a:gd name="connsiteX9" fmla="*/ 1121329 w 12858750"/>
              <a:gd name="connsiteY9" fmla="*/ 1041438 h 1456085"/>
              <a:gd name="connsiteX10" fmla="*/ 1140454 w 12858750"/>
              <a:gd name="connsiteY10" fmla="*/ 1007688 h 1456085"/>
              <a:gd name="connsiteX11" fmla="*/ 6744046 w 12858750"/>
              <a:gd name="connsiteY11" fmla="*/ 0 h 1456085"/>
              <a:gd name="connsiteX12" fmla="*/ 6834890 w 12858750"/>
              <a:gd name="connsiteY12" fmla="*/ 19286 h 1456085"/>
              <a:gd name="connsiteX13" fmla="*/ 6825327 w 12858750"/>
              <a:gd name="connsiteY13" fmla="*/ 28929 h 1456085"/>
              <a:gd name="connsiteX14" fmla="*/ 6834890 w 12858750"/>
              <a:gd name="connsiteY14" fmla="*/ 28929 h 1456085"/>
              <a:gd name="connsiteX15" fmla="*/ 6882702 w 12858750"/>
              <a:gd name="connsiteY15" fmla="*/ 33751 h 1456085"/>
              <a:gd name="connsiteX16" fmla="*/ 6877921 w 12858750"/>
              <a:gd name="connsiteY16" fmla="*/ 274824 h 1456085"/>
              <a:gd name="connsiteX17" fmla="*/ 6877921 w 12858750"/>
              <a:gd name="connsiteY17" fmla="*/ 395361 h 1456085"/>
              <a:gd name="connsiteX18" fmla="*/ 6930514 w 12858750"/>
              <a:gd name="connsiteY18" fmla="*/ 515898 h 1456085"/>
              <a:gd name="connsiteX19" fmla="*/ 6930514 w 12858750"/>
              <a:gd name="connsiteY19" fmla="*/ 342325 h 1456085"/>
              <a:gd name="connsiteX20" fmla="*/ 6992670 w 12858750"/>
              <a:gd name="connsiteY20" fmla="*/ 294110 h 1456085"/>
              <a:gd name="connsiteX21" fmla="*/ 7035701 w 12858750"/>
              <a:gd name="connsiteY21" fmla="*/ 207324 h 1456085"/>
              <a:gd name="connsiteX22" fmla="*/ 7078732 w 12858750"/>
              <a:gd name="connsiteY22" fmla="*/ 260360 h 1456085"/>
              <a:gd name="connsiteX23" fmla="*/ 7136107 w 12858750"/>
              <a:gd name="connsiteY23" fmla="*/ 332682 h 1456085"/>
              <a:gd name="connsiteX24" fmla="*/ 7136107 w 12858750"/>
              <a:gd name="connsiteY24" fmla="*/ 679828 h 1456085"/>
              <a:gd name="connsiteX25" fmla="*/ 7169575 w 12858750"/>
              <a:gd name="connsiteY25" fmla="*/ 689471 h 1456085"/>
              <a:gd name="connsiteX26" fmla="*/ 7236512 w 12858750"/>
              <a:gd name="connsiteY26" fmla="*/ 597863 h 1456085"/>
              <a:gd name="connsiteX27" fmla="*/ 7236512 w 12858750"/>
              <a:gd name="connsiteY27" fmla="*/ 564113 h 1456085"/>
              <a:gd name="connsiteX28" fmla="*/ 7236512 w 12858750"/>
              <a:gd name="connsiteY28" fmla="*/ 530362 h 1456085"/>
              <a:gd name="connsiteX29" fmla="*/ 7236512 w 12858750"/>
              <a:gd name="connsiteY29" fmla="*/ 496612 h 1456085"/>
              <a:gd name="connsiteX30" fmla="*/ 7231731 w 12858750"/>
              <a:gd name="connsiteY30" fmla="*/ 462862 h 1456085"/>
              <a:gd name="connsiteX31" fmla="*/ 7250856 w 12858750"/>
              <a:gd name="connsiteY31" fmla="*/ 332682 h 1456085"/>
              <a:gd name="connsiteX32" fmla="*/ 7413417 w 12858750"/>
              <a:gd name="connsiteY32" fmla="*/ 351968 h 1456085"/>
              <a:gd name="connsiteX33" fmla="*/ 7485135 w 12858750"/>
              <a:gd name="connsiteY33" fmla="*/ 361611 h 1456085"/>
              <a:gd name="connsiteX34" fmla="*/ 7556854 w 12858750"/>
              <a:gd name="connsiteY34" fmla="*/ 400183 h 1456085"/>
              <a:gd name="connsiteX35" fmla="*/ 7552073 w 12858750"/>
              <a:gd name="connsiteY35" fmla="*/ 409825 h 1456085"/>
              <a:gd name="connsiteX36" fmla="*/ 7566416 w 12858750"/>
              <a:gd name="connsiteY36" fmla="*/ 419468 h 1456085"/>
              <a:gd name="connsiteX37" fmla="*/ 7580760 w 12858750"/>
              <a:gd name="connsiteY37" fmla="*/ 448397 h 1456085"/>
              <a:gd name="connsiteX38" fmla="*/ 7580760 w 12858750"/>
              <a:gd name="connsiteY38" fmla="*/ 549648 h 1456085"/>
              <a:gd name="connsiteX39" fmla="*/ 7676384 w 12858750"/>
              <a:gd name="connsiteY39" fmla="*/ 636435 h 1456085"/>
              <a:gd name="connsiteX40" fmla="*/ 7676384 w 12858750"/>
              <a:gd name="connsiteY40" fmla="*/ 646078 h 1456085"/>
              <a:gd name="connsiteX41" fmla="*/ 7676384 w 12858750"/>
              <a:gd name="connsiteY41" fmla="*/ 679828 h 1456085"/>
              <a:gd name="connsiteX42" fmla="*/ 7728978 w 12858750"/>
              <a:gd name="connsiteY42" fmla="*/ 776257 h 1456085"/>
              <a:gd name="connsiteX43" fmla="*/ 7748103 w 12858750"/>
              <a:gd name="connsiteY43" fmla="*/ 891973 h 1456085"/>
              <a:gd name="connsiteX44" fmla="*/ 7752884 w 12858750"/>
              <a:gd name="connsiteY44" fmla="*/ 877508 h 1456085"/>
              <a:gd name="connsiteX45" fmla="*/ 7791134 w 12858750"/>
              <a:gd name="connsiteY45" fmla="*/ 891973 h 1456085"/>
              <a:gd name="connsiteX46" fmla="*/ 7800696 w 12858750"/>
              <a:gd name="connsiteY46" fmla="*/ 891973 h 1456085"/>
              <a:gd name="connsiteX47" fmla="*/ 7824602 w 12858750"/>
              <a:gd name="connsiteY47" fmla="*/ 867865 h 1456085"/>
              <a:gd name="connsiteX48" fmla="*/ 7824602 w 12858750"/>
              <a:gd name="connsiteY48" fmla="*/ 549648 h 1456085"/>
              <a:gd name="connsiteX49" fmla="*/ 7834165 w 12858750"/>
              <a:gd name="connsiteY49" fmla="*/ 549648 h 1456085"/>
              <a:gd name="connsiteX50" fmla="*/ 7867633 w 12858750"/>
              <a:gd name="connsiteY50" fmla="*/ 458040 h 1456085"/>
              <a:gd name="connsiteX51" fmla="*/ 7867633 w 12858750"/>
              <a:gd name="connsiteY51" fmla="*/ 400183 h 1456085"/>
              <a:gd name="connsiteX52" fmla="*/ 7929789 w 12858750"/>
              <a:gd name="connsiteY52" fmla="*/ 361611 h 1456085"/>
              <a:gd name="connsiteX53" fmla="*/ 7958476 w 12858750"/>
              <a:gd name="connsiteY53" fmla="*/ 414647 h 1456085"/>
              <a:gd name="connsiteX54" fmla="*/ 8078007 w 12858750"/>
              <a:gd name="connsiteY54" fmla="*/ 506255 h 1456085"/>
              <a:gd name="connsiteX55" fmla="*/ 8068445 w 12858750"/>
              <a:gd name="connsiteY55" fmla="*/ 530362 h 1456085"/>
              <a:gd name="connsiteX56" fmla="*/ 8101913 w 12858750"/>
              <a:gd name="connsiteY56" fmla="*/ 549648 h 1456085"/>
              <a:gd name="connsiteX57" fmla="*/ 8154506 w 12858750"/>
              <a:gd name="connsiteY57" fmla="*/ 549648 h 1456085"/>
              <a:gd name="connsiteX58" fmla="*/ 8178412 w 12858750"/>
              <a:gd name="connsiteY58" fmla="*/ 583399 h 1456085"/>
              <a:gd name="connsiteX59" fmla="*/ 8187975 w 12858750"/>
              <a:gd name="connsiteY59" fmla="*/ 578577 h 1456085"/>
              <a:gd name="connsiteX60" fmla="*/ 8187975 w 12858750"/>
              <a:gd name="connsiteY60" fmla="*/ 588220 h 1456085"/>
              <a:gd name="connsiteX61" fmla="*/ 8187975 w 12858750"/>
              <a:gd name="connsiteY61" fmla="*/ 621970 h 1456085"/>
              <a:gd name="connsiteX62" fmla="*/ 8187975 w 12858750"/>
              <a:gd name="connsiteY62" fmla="*/ 689471 h 1456085"/>
              <a:gd name="connsiteX63" fmla="*/ 8187975 w 12858750"/>
              <a:gd name="connsiteY63" fmla="*/ 752150 h 1456085"/>
              <a:gd name="connsiteX64" fmla="*/ 8192756 w 12858750"/>
              <a:gd name="connsiteY64" fmla="*/ 785900 h 1456085"/>
              <a:gd name="connsiteX65" fmla="*/ 8202318 w 12858750"/>
              <a:gd name="connsiteY65" fmla="*/ 785900 h 1456085"/>
              <a:gd name="connsiteX66" fmla="*/ 8183194 w 12858750"/>
              <a:gd name="connsiteY66" fmla="*/ 810008 h 1456085"/>
              <a:gd name="connsiteX67" fmla="*/ 8216662 w 12858750"/>
              <a:gd name="connsiteY67" fmla="*/ 959473 h 1456085"/>
              <a:gd name="connsiteX68" fmla="*/ 8250131 w 12858750"/>
              <a:gd name="connsiteY68" fmla="*/ 891973 h 1456085"/>
              <a:gd name="connsiteX69" fmla="*/ 8250131 w 12858750"/>
              <a:gd name="connsiteY69" fmla="*/ 863044 h 1456085"/>
              <a:gd name="connsiteX70" fmla="*/ 8250131 w 12858750"/>
              <a:gd name="connsiteY70" fmla="*/ 829294 h 1456085"/>
              <a:gd name="connsiteX71" fmla="*/ 8250131 w 12858750"/>
              <a:gd name="connsiteY71" fmla="*/ 795543 h 1456085"/>
              <a:gd name="connsiteX72" fmla="*/ 8250131 w 12858750"/>
              <a:gd name="connsiteY72" fmla="*/ 761793 h 1456085"/>
              <a:gd name="connsiteX73" fmla="*/ 8250131 w 12858750"/>
              <a:gd name="connsiteY73" fmla="*/ 728043 h 1456085"/>
              <a:gd name="connsiteX74" fmla="*/ 8250131 w 12858750"/>
              <a:gd name="connsiteY74" fmla="*/ 694292 h 1456085"/>
              <a:gd name="connsiteX75" fmla="*/ 8240568 w 12858750"/>
              <a:gd name="connsiteY75" fmla="*/ 612327 h 1456085"/>
              <a:gd name="connsiteX76" fmla="*/ 8317068 w 12858750"/>
              <a:gd name="connsiteY76" fmla="*/ 597863 h 1456085"/>
              <a:gd name="connsiteX77" fmla="*/ 8336193 w 12858750"/>
              <a:gd name="connsiteY77" fmla="*/ 597863 h 1456085"/>
              <a:gd name="connsiteX78" fmla="*/ 8350536 w 12858750"/>
              <a:gd name="connsiteY78" fmla="*/ 515898 h 1456085"/>
              <a:gd name="connsiteX79" fmla="*/ 8388786 w 12858750"/>
              <a:gd name="connsiteY79" fmla="*/ 448397 h 1456085"/>
              <a:gd name="connsiteX80" fmla="*/ 8489192 w 12858750"/>
              <a:gd name="connsiteY80" fmla="*/ 472505 h 1456085"/>
              <a:gd name="connsiteX81" fmla="*/ 8537004 w 12858750"/>
              <a:gd name="connsiteY81" fmla="*/ 573756 h 1456085"/>
              <a:gd name="connsiteX82" fmla="*/ 8537004 w 12858750"/>
              <a:gd name="connsiteY82" fmla="*/ 607506 h 1456085"/>
              <a:gd name="connsiteX83" fmla="*/ 8527442 w 12858750"/>
              <a:gd name="connsiteY83" fmla="*/ 631613 h 1456085"/>
              <a:gd name="connsiteX84" fmla="*/ 8570473 w 12858750"/>
              <a:gd name="connsiteY84" fmla="*/ 607506 h 1456085"/>
              <a:gd name="connsiteX85" fmla="*/ 8752159 w 12858750"/>
              <a:gd name="connsiteY85" fmla="*/ 540005 h 1456085"/>
              <a:gd name="connsiteX86" fmla="*/ 8747378 w 12858750"/>
              <a:gd name="connsiteY86" fmla="*/ 621970 h 1456085"/>
              <a:gd name="connsiteX87" fmla="*/ 8790409 w 12858750"/>
              <a:gd name="connsiteY87" fmla="*/ 597863 h 1456085"/>
              <a:gd name="connsiteX88" fmla="*/ 8799971 w 12858750"/>
              <a:gd name="connsiteY88" fmla="*/ 597863 h 1456085"/>
              <a:gd name="connsiteX89" fmla="*/ 8823877 w 12858750"/>
              <a:gd name="connsiteY89" fmla="*/ 626792 h 1456085"/>
              <a:gd name="connsiteX90" fmla="*/ 8871690 w 12858750"/>
              <a:gd name="connsiteY90" fmla="*/ 636435 h 1456085"/>
              <a:gd name="connsiteX91" fmla="*/ 8919502 w 12858750"/>
              <a:gd name="connsiteY91" fmla="*/ 564113 h 1456085"/>
              <a:gd name="connsiteX92" fmla="*/ 8986439 w 12858750"/>
              <a:gd name="connsiteY92" fmla="*/ 578577 h 1456085"/>
              <a:gd name="connsiteX93" fmla="*/ 9058157 w 12858750"/>
              <a:gd name="connsiteY93" fmla="*/ 530362 h 1456085"/>
              <a:gd name="connsiteX94" fmla="*/ 9091626 w 12858750"/>
              <a:gd name="connsiteY94" fmla="*/ 530362 h 1456085"/>
              <a:gd name="connsiteX95" fmla="*/ 9086845 w 12858750"/>
              <a:gd name="connsiteY95" fmla="*/ 544827 h 1456085"/>
              <a:gd name="connsiteX96" fmla="*/ 9120313 w 12858750"/>
              <a:gd name="connsiteY96" fmla="*/ 549648 h 1456085"/>
              <a:gd name="connsiteX97" fmla="*/ 9115532 w 12858750"/>
              <a:gd name="connsiteY97" fmla="*/ 559291 h 1456085"/>
              <a:gd name="connsiteX98" fmla="*/ 9125094 w 12858750"/>
              <a:gd name="connsiteY98" fmla="*/ 564113 h 1456085"/>
              <a:gd name="connsiteX99" fmla="*/ 9144219 w 12858750"/>
              <a:gd name="connsiteY99" fmla="*/ 631613 h 1456085"/>
              <a:gd name="connsiteX100" fmla="*/ 9172907 w 12858750"/>
              <a:gd name="connsiteY100" fmla="*/ 723221 h 1456085"/>
              <a:gd name="connsiteX101" fmla="*/ 9215938 w 12858750"/>
              <a:gd name="connsiteY101" fmla="*/ 694292 h 1456085"/>
              <a:gd name="connsiteX102" fmla="*/ 9239844 w 12858750"/>
              <a:gd name="connsiteY102" fmla="*/ 694292 h 1456085"/>
              <a:gd name="connsiteX103" fmla="*/ 9297218 w 12858750"/>
              <a:gd name="connsiteY103" fmla="*/ 713578 h 1456085"/>
              <a:gd name="connsiteX104" fmla="*/ 9378499 w 12858750"/>
              <a:gd name="connsiteY104" fmla="*/ 626792 h 1456085"/>
              <a:gd name="connsiteX105" fmla="*/ 9517154 w 12858750"/>
              <a:gd name="connsiteY105" fmla="*/ 631613 h 1456085"/>
              <a:gd name="connsiteX106" fmla="*/ 9512373 w 12858750"/>
              <a:gd name="connsiteY106" fmla="*/ 646078 h 1456085"/>
              <a:gd name="connsiteX107" fmla="*/ 9541061 w 12858750"/>
              <a:gd name="connsiteY107" fmla="*/ 646078 h 1456085"/>
              <a:gd name="connsiteX108" fmla="*/ 9560185 w 12858750"/>
              <a:gd name="connsiteY108" fmla="*/ 670185 h 1456085"/>
              <a:gd name="connsiteX109" fmla="*/ 9550623 w 12858750"/>
              <a:gd name="connsiteY109" fmla="*/ 689471 h 1456085"/>
              <a:gd name="connsiteX110" fmla="*/ 9550623 w 12858750"/>
              <a:gd name="connsiteY110" fmla="*/ 723221 h 1456085"/>
              <a:gd name="connsiteX111" fmla="*/ 9555404 w 12858750"/>
              <a:gd name="connsiteY111" fmla="*/ 752150 h 1456085"/>
              <a:gd name="connsiteX112" fmla="*/ 9550623 w 12858750"/>
              <a:gd name="connsiteY112" fmla="*/ 795543 h 1456085"/>
              <a:gd name="connsiteX113" fmla="*/ 9617560 w 12858750"/>
              <a:gd name="connsiteY113" fmla="*/ 863044 h 1456085"/>
              <a:gd name="connsiteX114" fmla="*/ 9641466 w 12858750"/>
              <a:gd name="connsiteY114" fmla="*/ 891973 h 1456085"/>
              <a:gd name="connsiteX115" fmla="*/ 9641550 w 12858750"/>
              <a:gd name="connsiteY115" fmla="*/ 891859 h 1456085"/>
              <a:gd name="connsiteX116" fmla="*/ 9642139 w 12858750"/>
              <a:gd name="connsiteY116" fmla="*/ 894007 h 1456085"/>
              <a:gd name="connsiteX117" fmla="*/ 9646761 w 12858750"/>
              <a:gd name="connsiteY117" fmla="*/ 884825 h 1456085"/>
              <a:gd name="connsiteX118" fmla="*/ 9641550 w 12858750"/>
              <a:gd name="connsiteY118" fmla="*/ 891859 h 1456085"/>
              <a:gd name="connsiteX119" fmla="*/ 9640878 w 12858750"/>
              <a:gd name="connsiteY119" fmla="*/ 889402 h 1456085"/>
              <a:gd name="connsiteX120" fmla="*/ 9641466 w 12858750"/>
              <a:gd name="connsiteY120" fmla="*/ 877508 h 1456085"/>
              <a:gd name="connsiteX121" fmla="*/ 9641466 w 12858750"/>
              <a:gd name="connsiteY121" fmla="*/ 843758 h 1456085"/>
              <a:gd name="connsiteX122" fmla="*/ 9641466 w 12858750"/>
              <a:gd name="connsiteY122" fmla="*/ 810008 h 1456085"/>
              <a:gd name="connsiteX123" fmla="*/ 9651029 w 12858750"/>
              <a:gd name="connsiteY123" fmla="*/ 737686 h 1456085"/>
              <a:gd name="connsiteX124" fmla="*/ 9641466 w 12858750"/>
              <a:gd name="connsiteY124" fmla="*/ 713578 h 1456085"/>
              <a:gd name="connsiteX125" fmla="*/ 9698841 w 12858750"/>
              <a:gd name="connsiteY125" fmla="*/ 665364 h 1456085"/>
              <a:gd name="connsiteX126" fmla="*/ 9847059 w 12858750"/>
              <a:gd name="connsiteY126" fmla="*/ 646078 h 1456085"/>
              <a:gd name="connsiteX127" fmla="*/ 9890090 w 12858750"/>
              <a:gd name="connsiteY127" fmla="*/ 800365 h 1456085"/>
              <a:gd name="connsiteX128" fmla="*/ 9909215 w 12858750"/>
              <a:gd name="connsiteY128" fmla="*/ 829294 h 1456085"/>
              <a:gd name="connsiteX129" fmla="*/ 9995277 w 12858750"/>
              <a:gd name="connsiteY129" fmla="*/ 694292 h 1456085"/>
              <a:gd name="connsiteX130" fmla="*/ 9980933 w 12858750"/>
              <a:gd name="connsiteY130" fmla="*/ 670185 h 1456085"/>
              <a:gd name="connsiteX131" fmla="*/ 9985714 w 12858750"/>
              <a:gd name="connsiteY131" fmla="*/ 646078 h 1456085"/>
              <a:gd name="connsiteX132" fmla="*/ 10033526 w 12858750"/>
              <a:gd name="connsiteY132" fmla="*/ 646078 h 1456085"/>
              <a:gd name="connsiteX133" fmla="*/ 10100464 w 12858750"/>
              <a:gd name="connsiteY133" fmla="*/ 713578 h 1456085"/>
              <a:gd name="connsiteX134" fmla="*/ 10124370 w 12858750"/>
              <a:gd name="connsiteY134" fmla="*/ 549648 h 1456085"/>
              <a:gd name="connsiteX135" fmla="*/ 10100464 w 12858750"/>
              <a:gd name="connsiteY135" fmla="*/ 496612 h 1456085"/>
              <a:gd name="connsiteX136" fmla="*/ 10124370 w 12858750"/>
              <a:gd name="connsiteY136" fmla="*/ 496612 h 1456085"/>
              <a:gd name="connsiteX137" fmla="*/ 10114807 w 12858750"/>
              <a:gd name="connsiteY137" fmla="*/ 486969 h 1456085"/>
              <a:gd name="connsiteX138" fmla="*/ 10124370 w 12858750"/>
              <a:gd name="connsiteY138" fmla="*/ 486969 h 1456085"/>
              <a:gd name="connsiteX139" fmla="*/ 10191307 w 12858750"/>
              <a:gd name="connsiteY139" fmla="*/ 448397 h 1456085"/>
              <a:gd name="connsiteX140" fmla="*/ 10267806 w 12858750"/>
              <a:gd name="connsiteY140" fmla="*/ 506255 h 1456085"/>
              <a:gd name="connsiteX141" fmla="*/ 10267806 w 12858750"/>
              <a:gd name="connsiteY141" fmla="*/ 573756 h 1456085"/>
              <a:gd name="connsiteX142" fmla="*/ 10267806 w 12858750"/>
              <a:gd name="connsiteY142" fmla="*/ 607506 h 1456085"/>
              <a:gd name="connsiteX143" fmla="*/ 10267806 w 12858750"/>
              <a:gd name="connsiteY143" fmla="*/ 636435 h 1456085"/>
              <a:gd name="connsiteX144" fmla="*/ 10267806 w 12858750"/>
              <a:gd name="connsiteY144" fmla="*/ 670185 h 1456085"/>
              <a:gd name="connsiteX145" fmla="*/ 10267806 w 12858750"/>
              <a:gd name="connsiteY145" fmla="*/ 703935 h 1456085"/>
              <a:gd name="connsiteX146" fmla="*/ 10267806 w 12858750"/>
              <a:gd name="connsiteY146" fmla="*/ 737686 h 1456085"/>
              <a:gd name="connsiteX147" fmla="*/ 10267806 w 12858750"/>
              <a:gd name="connsiteY147" fmla="*/ 771436 h 1456085"/>
              <a:gd name="connsiteX148" fmla="*/ 10267806 w 12858750"/>
              <a:gd name="connsiteY148" fmla="*/ 805186 h 1456085"/>
              <a:gd name="connsiteX149" fmla="*/ 10267806 w 12858750"/>
              <a:gd name="connsiteY149" fmla="*/ 834115 h 1456085"/>
              <a:gd name="connsiteX150" fmla="*/ 10267806 w 12858750"/>
              <a:gd name="connsiteY150" fmla="*/ 867865 h 1456085"/>
              <a:gd name="connsiteX151" fmla="*/ 10267806 w 12858750"/>
              <a:gd name="connsiteY151" fmla="*/ 901616 h 1456085"/>
              <a:gd name="connsiteX152" fmla="*/ 10267806 w 12858750"/>
              <a:gd name="connsiteY152" fmla="*/ 935366 h 1456085"/>
              <a:gd name="connsiteX153" fmla="*/ 10272588 w 12858750"/>
              <a:gd name="connsiteY153" fmla="*/ 969116 h 1456085"/>
              <a:gd name="connsiteX154" fmla="*/ 10263025 w 12858750"/>
              <a:gd name="connsiteY154" fmla="*/ 993224 h 1456085"/>
              <a:gd name="connsiteX155" fmla="*/ 10286931 w 12858750"/>
              <a:gd name="connsiteY155" fmla="*/ 1012510 h 1456085"/>
              <a:gd name="connsiteX156" fmla="*/ 10310837 w 12858750"/>
              <a:gd name="connsiteY156" fmla="*/ 945009 h 1456085"/>
              <a:gd name="connsiteX157" fmla="*/ 10353868 w 12858750"/>
              <a:gd name="connsiteY157" fmla="*/ 959473 h 1456085"/>
              <a:gd name="connsiteX158" fmla="*/ 10353868 w 12858750"/>
              <a:gd name="connsiteY158" fmla="*/ 930545 h 1456085"/>
              <a:gd name="connsiteX159" fmla="*/ 10406462 w 12858750"/>
              <a:gd name="connsiteY159" fmla="*/ 959473 h 1456085"/>
              <a:gd name="connsiteX160" fmla="*/ 10411243 w 12858750"/>
              <a:gd name="connsiteY160" fmla="*/ 752150 h 1456085"/>
              <a:gd name="connsiteX161" fmla="*/ 10435149 w 12858750"/>
              <a:gd name="connsiteY161" fmla="*/ 679828 h 1456085"/>
              <a:gd name="connsiteX162" fmla="*/ 10506867 w 12858750"/>
              <a:gd name="connsiteY162" fmla="*/ 650899 h 1456085"/>
              <a:gd name="connsiteX163" fmla="*/ 10564242 w 12858750"/>
              <a:gd name="connsiteY163" fmla="*/ 612327 h 1456085"/>
              <a:gd name="connsiteX164" fmla="*/ 10655085 w 12858750"/>
              <a:gd name="connsiteY164" fmla="*/ 578577 h 1456085"/>
              <a:gd name="connsiteX165" fmla="*/ 10674210 w 12858750"/>
              <a:gd name="connsiteY165" fmla="*/ 588220 h 1456085"/>
              <a:gd name="connsiteX166" fmla="*/ 10745928 w 12858750"/>
              <a:gd name="connsiteY166" fmla="*/ 631613 h 1456085"/>
              <a:gd name="connsiteX167" fmla="*/ 10755491 w 12858750"/>
              <a:gd name="connsiteY167" fmla="*/ 732864 h 1456085"/>
              <a:gd name="connsiteX168" fmla="*/ 10760272 w 12858750"/>
              <a:gd name="connsiteY168" fmla="*/ 805186 h 1456085"/>
              <a:gd name="connsiteX169" fmla="*/ 10803303 w 12858750"/>
              <a:gd name="connsiteY169" fmla="*/ 858223 h 1456085"/>
              <a:gd name="connsiteX170" fmla="*/ 10827209 w 12858750"/>
              <a:gd name="connsiteY170" fmla="*/ 978759 h 1456085"/>
              <a:gd name="connsiteX171" fmla="*/ 10851115 w 12858750"/>
              <a:gd name="connsiteY171" fmla="*/ 945009 h 1456085"/>
              <a:gd name="connsiteX172" fmla="*/ 10851115 w 12858750"/>
              <a:gd name="connsiteY172" fmla="*/ 911259 h 1456085"/>
              <a:gd name="connsiteX173" fmla="*/ 10851115 w 12858750"/>
              <a:gd name="connsiteY173" fmla="*/ 877508 h 1456085"/>
              <a:gd name="connsiteX174" fmla="*/ 10846334 w 12858750"/>
              <a:gd name="connsiteY174" fmla="*/ 853401 h 1456085"/>
              <a:gd name="connsiteX175" fmla="*/ 10941959 w 12858750"/>
              <a:gd name="connsiteY175" fmla="*/ 795543 h 1456085"/>
              <a:gd name="connsiteX176" fmla="*/ 10980208 w 12858750"/>
              <a:gd name="connsiteY176" fmla="*/ 747329 h 1456085"/>
              <a:gd name="connsiteX177" fmla="*/ 10999333 w 12858750"/>
              <a:gd name="connsiteY177" fmla="*/ 679828 h 1456085"/>
              <a:gd name="connsiteX178" fmla="*/ 11047145 w 12858750"/>
              <a:gd name="connsiteY178" fmla="*/ 679828 h 1456085"/>
              <a:gd name="connsiteX179" fmla="*/ 11071052 w 12858750"/>
              <a:gd name="connsiteY179" fmla="*/ 665364 h 1456085"/>
              <a:gd name="connsiteX180" fmla="*/ 11099739 w 12858750"/>
              <a:gd name="connsiteY180" fmla="*/ 713578 h 1456085"/>
              <a:gd name="connsiteX181" fmla="*/ 11157114 w 12858750"/>
              <a:gd name="connsiteY181" fmla="*/ 747329 h 1456085"/>
              <a:gd name="connsiteX182" fmla="*/ 11161895 w 12858750"/>
              <a:gd name="connsiteY182" fmla="*/ 805186 h 1456085"/>
              <a:gd name="connsiteX183" fmla="*/ 11161895 w 12858750"/>
              <a:gd name="connsiteY183" fmla="*/ 959473 h 1456085"/>
              <a:gd name="connsiteX184" fmla="*/ 11171457 w 12858750"/>
              <a:gd name="connsiteY184" fmla="*/ 954652 h 1456085"/>
              <a:gd name="connsiteX185" fmla="*/ 11181020 w 12858750"/>
              <a:gd name="connsiteY185" fmla="*/ 993224 h 1456085"/>
              <a:gd name="connsiteX186" fmla="*/ 11262300 w 12858750"/>
              <a:gd name="connsiteY186" fmla="*/ 945009 h 1456085"/>
              <a:gd name="connsiteX187" fmla="*/ 11300550 w 12858750"/>
              <a:gd name="connsiteY187" fmla="*/ 1002867 h 1456085"/>
              <a:gd name="connsiteX188" fmla="*/ 11357925 w 12858750"/>
              <a:gd name="connsiteY188" fmla="*/ 901616 h 1456085"/>
              <a:gd name="connsiteX189" fmla="*/ 11357925 w 12858750"/>
              <a:gd name="connsiteY189" fmla="*/ 761793 h 1456085"/>
              <a:gd name="connsiteX190" fmla="*/ 11487018 w 12858750"/>
              <a:gd name="connsiteY190" fmla="*/ 713578 h 1456085"/>
              <a:gd name="connsiteX191" fmla="*/ 11525268 w 12858750"/>
              <a:gd name="connsiteY191" fmla="*/ 747329 h 1456085"/>
              <a:gd name="connsiteX192" fmla="*/ 11553955 w 12858750"/>
              <a:gd name="connsiteY192" fmla="*/ 785900 h 1456085"/>
              <a:gd name="connsiteX193" fmla="*/ 11630455 w 12858750"/>
              <a:gd name="connsiteY193" fmla="*/ 689471 h 1456085"/>
              <a:gd name="connsiteX194" fmla="*/ 11668704 w 12858750"/>
              <a:gd name="connsiteY194" fmla="*/ 679828 h 1456085"/>
              <a:gd name="connsiteX195" fmla="*/ 11706954 w 12858750"/>
              <a:gd name="connsiteY195" fmla="*/ 723221 h 1456085"/>
              <a:gd name="connsiteX196" fmla="*/ 11749985 w 12858750"/>
              <a:gd name="connsiteY196" fmla="*/ 776257 h 1456085"/>
              <a:gd name="connsiteX197" fmla="*/ 11749985 w 12858750"/>
              <a:gd name="connsiteY197" fmla="*/ 887151 h 1456085"/>
              <a:gd name="connsiteX198" fmla="*/ 11759548 w 12858750"/>
              <a:gd name="connsiteY198" fmla="*/ 896794 h 1456085"/>
              <a:gd name="connsiteX199" fmla="*/ 11764329 w 12858750"/>
              <a:gd name="connsiteY199" fmla="*/ 887151 h 1456085"/>
              <a:gd name="connsiteX200" fmla="*/ 11874297 w 12858750"/>
              <a:gd name="connsiteY200" fmla="*/ 930545 h 1456085"/>
              <a:gd name="connsiteX201" fmla="*/ 11859953 w 12858750"/>
              <a:gd name="connsiteY201" fmla="*/ 949831 h 1456085"/>
              <a:gd name="connsiteX202" fmla="*/ 11869516 w 12858750"/>
              <a:gd name="connsiteY202" fmla="*/ 978759 h 1456085"/>
              <a:gd name="connsiteX203" fmla="*/ 11869516 w 12858750"/>
              <a:gd name="connsiteY203" fmla="*/ 1007688 h 1456085"/>
              <a:gd name="connsiteX204" fmla="*/ 11869516 w 12858750"/>
              <a:gd name="connsiteY204" fmla="*/ 1041438 h 1456085"/>
              <a:gd name="connsiteX205" fmla="*/ 11864734 w 12858750"/>
              <a:gd name="connsiteY205" fmla="*/ 1094475 h 1456085"/>
              <a:gd name="connsiteX206" fmla="*/ 11898203 w 12858750"/>
              <a:gd name="connsiteY206" fmla="*/ 1007688 h 1456085"/>
              <a:gd name="connsiteX207" fmla="*/ 11898203 w 12858750"/>
              <a:gd name="connsiteY207" fmla="*/ 978759 h 1456085"/>
              <a:gd name="connsiteX208" fmla="*/ 11969921 w 12858750"/>
              <a:gd name="connsiteY208" fmla="*/ 829294 h 1456085"/>
              <a:gd name="connsiteX209" fmla="*/ 11998609 w 12858750"/>
              <a:gd name="connsiteY209" fmla="*/ 863044 h 1456085"/>
              <a:gd name="connsiteX210" fmla="*/ 12022515 w 12858750"/>
              <a:gd name="connsiteY210" fmla="*/ 863044 h 1456085"/>
              <a:gd name="connsiteX211" fmla="*/ 12113358 w 12858750"/>
              <a:gd name="connsiteY211" fmla="*/ 920902 h 1456085"/>
              <a:gd name="connsiteX212" fmla="*/ 12118139 w 12858750"/>
              <a:gd name="connsiteY212" fmla="*/ 863044 h 1456085"/>
              <a:gd name="connsiteX213" fmla="*/ 12161170 w 12858750"/>
              <a:gd name="connsiteY213" fmla="*/ 795543 h 1456085"/>
              <a:gd name="connsiteX214" fmla="*/ 12194639 w 12858750"/>
              <a:gd name="connsiteY214" fmla="*/ 761793 h 1456085"/>
              <a:gd name="connsiteX215" fmla="*/ 12232888 w 12858750"/>
              <a:gd name="connsiteY215" fmla="*/ 761793 h 1456085"/>
              <a:gd name="connsiteX216" fmla="*/ 12295044 w 12858750"/>
              <a:gd name="connsiteY216" fmla="*/ 795543 h 1456085"/>
              <a:gd name="connsiteX217" fmla="*/ 12299826 w 12858750"/>
              <a:gd name="connsiteY217" fmla="*/ 805186 h 1456085"/>
              <a:gd name="connsiteX218" fmla="*/ 12333294 w 12858750"/>
              <a:gd name="connsiteY218" fmla="*/ 819651 h 1456085"/>
              <a:gd name="connsiteX219" fmla="*/ 12390669 w 12858750"/>
              <a:gd name="connsiteY219" fmla="*/ 810008 h 1456085"/>
              <a:gd name="connsiteX220" fmla="*/ 12381106 w 12858750"/>
              <a:gd name="connsiteY220" fmla="*/ 785900 h 1456085"/>
              <a:gd name="connsiteX221" fmla="*/ 12381106 w 12858750"/>
              <a:gd name="connsiteY221" fmla="*/ 761793 h 1456085"/>
              <a:gd name="connsiteX222" fmla="*/ 12514981 w 12858750"/>
              <a:gd name="connsiteY222" fmla="*/ 761793 h 1456085"/>
              <a:gd name="connsiteX223" fmla="*/ 12543668 w 12858750"/>
              <a:gd name="connsiteY223" fmla="*/ 814829 h 1456085"/>
              <a:gd name="connsiteX224" fmla="*/ 12596261 w 12858750"/>
              <a:gd name="connsiteY224" fmla="*/ 829294 h 1456085"/>
              <a:gd name="connsiteX225" fmla="*/ 12667980 w 12858750"/>
              <a:gd name="connsiteY225" fmla="*/ 761793 h 1456085"/>
              <a:gd name="connsiteX226" fmla="*/ 12744479 w 12858750"/>
              <a:gd name="connsiteY226" fmla="*/ 761793 h 1456085"/>
              <a:gd name="connsiteX227" fmla="*/ 12734917 w 12858750"/>
              <a:gd name="connsiteY227" fmla="*/ 766615 h 1456085"/>
              <a:gd name="connsiteX228" fmla="*/ 12806635 w 12858750"/>
              <a:gd name="connsiteY228" fmla="*/ 867865 h 1456085"/>
              <a:gd name="connsiteX229" fmla="*/ 12816198 w 12858750"/>
              <a:gd name="connsiteY229" fmla="*/ 858223 h 1456085"/>
              <a:gd name="connsiteX230" fmla="*/ 12820979 w 12858750"/>
              <a:gd name="connsiteY230" fmla="*/ 867865 h 1456085"/>
              <a:gd name="connsiteX231" fmla="*/ 12825760 w 12858750"/>
              <a:gd name="connsiteY231" fmla="*/ 896794 h 1456085"/>
              <a:gd name="connsiteX232" fmla="*/ 12849666 w 12858750"/>
              <a:gd name="connsiteY232" fmla="*/ 901616 h 1456085"/>
              <a:gd name="connsiteX233" fmla="*/ 12858750 w 12858750"/>
              <a:gd name="connsiteY233" fmla="*/ 901616 h 1456085"/>
              <a:gd name="connsiteX234" fmla="*/ 12858750 w 12858750"/>
              <a:gd name="connsiteY234" fmla="*/ 1456085 h 1456085"/>
              <a:gd name="connsiteX235" fmla="*/ 12300487 w 12858750"/>
              <a:gd name="connsiteY235" fmla="*/ 1456085 h 1456085"/>
              <a:gd name="connsiteX236" fmla="*/ 11292958 w 12858750"/>
              <a:gd name="connsiteY236" fmla="*/ 1456085 h 1456085"/>
              <a:gd name="connsiteX237" fmla="*/ 10062359 w 12858750"/>
              <a:gd name="connsiteY237" fmla="*/ 1456085 h 1456085"/>
              <a:gd name="connsiteX238" fmla="*/ 8586385 w 12858750"/>
              <a:gd name="connsiteY238" fmla="*/ 1456085 h 1456085"/>
              <a:gd name="connsiteX239" fmla="*/ 7749411 w 12858750"/>
              <a:gd name="connsiteY239" fmla="*/ 1456085 h 1456085"/>
              <a:gd name="connsiteX240" fmla="*/ 6842728 w 12858750"/>
              <a:gd name="connsiteY240" fmla="*/ 1456085 h 1456085"/>
              <a:gd name="connsiteX241" fmla="*/ 5863547 w 12858750"/>
              <a:gd name="connsiteY241" fmla="*/ 1456085 h 1456085"/>
              <a:gd name="connsiteX242" fmla="*/ 4809080 w 12858750"/>
              <a:gd name="connsiteY242" fmla="*/ 1456085 h 1456085"/>
              <a:gd name="connsiteX243" fmla="*/ 3676539 w 12858750"/>
              <a:gd name="connsiteY243" fmla="*/ 1456085 h 1456085"/>
              <a:gd name="connsiteX244" fmla="*/ 2463136 w 12858750"/>
              <a:gd name="connsiteY244" fmla="*/ 1456085 h 1456085"/>
              <a:gd name="connsiteX245" fmla="*/ 1166081 w 12858750"/>
              <a:gd name="connsiteY245" fmla="*/ 1456085 h 1456085"/>
              <a:gd name="connsiteX246" fmla="*/ 0 w 12858750"/>
              <a:gd name="connsiteY246" fmla="*/ 1456085 h 1456085"/>
              <a:gd name="connsiteX247" fmla="*/ 0 w 12858750"/>
              <a:gd name="connsiteY247" fmla="*/ 1248762 h 1456085"/>
              <a:gd name="connsiteX248" fmla="*/ 50335 w 12858750"/>
              <a:gd name="connsiteY248" fmla="*/ 1248762 h 1456085"/>
              <a:gd name="connsiteX249" fmla="*/ 117273 w 12858750"/>
              <a:gd name="connsiteY249" fmla="*/ 1248762 h 1456085"/>
              <a:gd name="connsiteX250" fmla="*/ 193772 w 12858750"/>
              <a:gd name="connsiteY250" fmla="*/ 1263226 h 1456085"/>
              <a:gd name="connsiteX251" fmla="*/ 236803 w 12858750"/>
              <a:gd name="connsiteY251" fmla="*/ 1210190 h 1456085"/>
              <a:gd name="connsiteX252" fmla="*/ 236803 w 12858750"/>
              <a:gd name="connsiteY252" fmla="*/ 1094249 h 1456085"/>
              <a:gd name="connsiteX253" fmla="*/ 246905 w 12858750"/>
              <a:gd name="connsiteY253" fmla="*/ 1070639 h 1456085"/>
              <a:gd name="connsiteX254" fmla="*/ 255928 w 12858750"/>
              <a:gd name="connsiteY254" fmla="*/ 1075189 h 1456085"/>
              <a:gd name="connsiteX255" fmla="*/ 260709 w 12858750"/>
              <a:gd name="connsiteY255" fmla="*/ 1070367 h 1456085"/>
              <a:gd name="connsiteX256" fmla="*/ 279834 w 12858750"/>
              <a:gd name="connsiteY256" fmla="*/ 1084832 h 1456085"/>
              <a:gd name="connsiteX257" fmla="*/ 346771 w 12858750"/>
              <a:gd name="connsiteY257" fmla="*/ 1099296 h 1456085"/>
              <a:gd name="connsiteX258" fmla="*/ 346771 w 12858750"/>
              <a:gd name="connsiteY258" fmla="*/ 1181261 h 1456085"/>
              <a:gd name="connsiteX259" fmla="*/ 341990 w 12858750"/>
              <a:gd name="connsiteY259" fmla="*/ 1210190 h 1456085"/>
              <a:gd name="connsiteX260" fmla="*/ 346771 w 12858750"/>
              <a:gd name="connsiteY260" fmla="*/ 1258405 h 1456085"/>
              <a:gd name="connsiteX261" fmla="*/ 418490 w 12858750"/>
              <a:gd name="connsiteY261" fmla="*/ 1215012 h 1456085"/>
              <a:gd name="connsiteX262" fmla="*/ 408927 w 12858750"/>
              <a:gd name="connsiteY262" fmla="*/ 1215012 h 1456085"/>
              <a:gd name="connsiteX263" fmla="*/ 413708 w 12858750"/>
              <a:gd name="connsiteY263" fmla="*/ 1060724 h 1456085"/>
              <a:gd name="connsiteX264" fmla="*/ 437614 w 12858750"/>
              <a:gd name="connsiteY264" fmla="*/ 1060724 h 1456085"/>
              <a:gd name="connsiteX265" fmla="*/ 456739 w 12858750"/>
              <a:gd name="connsiteY265" fmla="*/ 1099296 h 1456085"/>
              <a:gd name="connsiteX266" fmla="*/ 428052 w 12858750"/>
              <a:gd name="connsiteY266" fmla="*/ 1210190 h 1456085"/>
              <a:gd name="connsiteX267" fmla="*/ 466302 w 12858750"/>
              <a:gd name="connsiteY267" fmla="*/ 1171618 h 1456085"/>
              <a:gd name="connsiteX268" fmla="*/ 514114 w 12858750"/>
              <a:gd name="connsiteY268" fmla="*/ 1176440 h 1456085"/>
              <a:gd name="connsiteX269" fmla="*/ 528458 w 12858750"/>
              <a:gd name="connsiteY269" fmla="*/ 1210190 h 1456085"/>
              <a:gd name="connsiteX270" fmla="*/ 576270 w 12858750"/>
              <a:gd name="connsiteY270" fmla="*/ 1157154 h 1456085"/>
              <a:gd name="connsiteX271" fmla="*/ 600176 w 12858750"/>
              <a:gd name="connsiteY271" fmla="*/ 1176440 h 1456085"/>
              <a:gd name="connsiteX272" fmla="*/ 638426 w 12858750"/>
              <a:gd name="connsiteY272" fmla="*/ 1157154 h 1456085"/>
              <a:gd name="connsiteX273" fmla="*/ 633645 w 12858750"/>
              <a:gd name="connsiteY273" fmla="*/ 1243940 h 1456085"/>
              <a:gd name="connsiteX274" fmla="*/ 624082 w 12858750"/>
              <a:gd name="connsiteY274" fmla="*/ 1248762 h 1456085"/>
              <a:gd name="connsiteX275" fmla="*/ 609738 w 12858750"/>
              <a:gd name="connsiteY275" fmla="*/ 1210190 h 1456085"/>
              <a:gd name="connsiteX276" fmla="*/ 581051 w 12858750"/>
              <a:gd name="connsiteY276" fmla="*/ 1215012 h 1456085"/>
              <a:gd name="connsiteX277" fmla="*/ 576270 w 12858750"/>
              <a:gd name="connsiteY277" fmla="*/ 1258405 h 1456085"/>
              <a:gd name="connsiteX278" fmla="*/ 633645 w 12858750"/>
              <a:gd name="connsiteY278" fmla="*/ 1268048 h 1456085"/>
              <a:gd name="connsiteX279" fmla="*/ 638426 w 12858750"/>
              <a:gd name="connsiteY279" fmla="*/ 1268048 h 1456085"/>
              <a:gd name="connsiteX280" fmla="*/ 695800 w 12858750"/>
              <a:gd name="connsiteY280" fmla="*/ 1200547 h 1456085"/>
              <a:gd name="connsiteX281" fmla="*/ 695800 w 12858750"/>
              <a:gd name="connsiteY281" fmla="*/ 1166797 h 1456085"/>
              <a:gd name="connsiteX282" fmla="*/ 695800 w 12858750"/>
              <a:gd name="connsiteY282" fmla="*/ 1133046 h 1456085"/>
              <a:gd name="connsiteX283" fmla="*/ 695800 w 12858750"/>
              <a:gd name="connsiteY283" fmla="*/ 1099296 h 1456085"/>
              <a:gd name="connsiteX284" fmla="*/ 695800 w 12858750"/>
              <a:gd name="connsiteY284" fmla="*/ 1041438 h 1456085"/>
              <a:gd name="connsiteX285" fmla="*/ 743613 w 12858750"/>
              <a:gd name="connsiteY285" fmla="*/ 1070367 h 1456085"/>
              <a:gd name="connsiteX286" fmla="*/ 772300 w 12858750"/>
              <a:gd name="connsiteY286" fmla="*/ 1055903 h 1456085"/>
              <a:gd name="connsiteX287" fmla="*/ 805769 w 12858750"/>
              <a:gd name="connsiteY287" fmla="*/ 1022153 h 1456085"/>
              <a:gd name="connsiteX288" fmla="*/ 810550 w 12858750"/>
              <a:gd name="connsiteY288" fmla="*/ 1026974 h 1456085"/>
              <a:gd name="connsiteX289" fmla="*/ 820112 w 12858750"/>
              <a:gd name="connsiteY289" fmla="*/ 1002867 h 1456085"/>
              <a:gd name="connsiteX290" fmla="*/ 834456 w 12858750"/>
              <a:gd name="connsiteY290" fmla="*/ 1026974 h 1456085"/>
              <a:gd name="connsiteX291" fmla="*/ 887049 w 12858750"/>
              <a:gd name="connsiteY291" fmla="*/ 1118582 h 1456085"/>
              <a:gd name="connsiteX292" fmla="*/ 887049 w 12858750"/>
              <a:gd name="connsiteY292" fmla="*/ 1123404 h 1456085"/>
              <a:gd name="connsiteX293" fmla="*/ 887049 w 12858750"/>
              <a:gd name="connsiteY293" fmla="*/ 1157154 h 1456085"/>
              <a:gd name="connsiteX294" fmla="*/ 901393 w 12858750"/>
              <a:gd name="connsiteY294" fmla="*/ 1224654 h 1456085"/>
              <a:gd name="connsiteX295" fmla="*/ 1006580 w 12858750"/>
              <a:gd name="connsiteY295" fmla="*/ 1234297 h 1456085"/>
              <a:gd name="connsiteX296" fmla="*/ 1035267 w 12858750"/>
              <a:gd name="connsiteY296" fmla="*/ 1234297 h 1456085"/>
              <a:gd name="connsiteX297" fmla="*/ 1073517 w 12858750"/>
              <a:gd name="connsiteY297" fmla="*/ 1234297 h 1456085"/>
              <a:gd name="connsiteX298" fmla="*/ 1097423 w 12858750"/>
              <a:gd name="connsiteY298" fmla="*/ 1239119 h 1456085"/>
              <a:gd name="connsiteX299" fmla="*/ 1154798 w 12858750"/>
              <a:gd name="connsiteY299" fmla="*/ 1224654 h 1456085"/>
              <a:gd name="connsiteX300" fmla="*/ 1164360 w 12858750"/>
              <a:gd name="connsiteY300" fmla="*/ 1055903 h 1456085"/>
              <a:gd name="connsiteX301" fmla="*/ 1164360 w 12858750"/>
              <a:gd name="connsiteY301" fmla="*/ 1061779 h 1456085"/>
              <a:gd name="connsiteX302" fmla="*/ 1164360 w 12858750"/>
              <a:gd name="connsiteY302" fmla="*/ 1089653 h 1456085"/>
              <a:gd name="connsiteX303" fmla="*/ 1207391 w 12858750"/>
              <a:gd name="connsiteY303" fmla="*/ 1002867 h 1456085"/>
              <a:gd name="connsiteX304" fmla="*/ 1288672 w 12858750"/>
              <a:gd name="connsiteY304" fmla="*/ 964295 h 1456085"/>
              <a:gd name="connsiteX305" fmla="*/ 1384296 w 12858750"/>
              <a:gd name="connsiteY305" fmla="*/ 1002867 h 1456085"/>
              <a:gd name="connsiteX306" fmla="*/ 1408202 w 12858750"/>
              <a:gd name="connsiteY306" fmla="*/ 877508 h 1456085"/>
              <a:gd name="connsiteX307" fmla="*/ 1432109 w 12858750"/>
              <a:gd name="connsiteY307" fmla="*/ 877508 h 1456085"/>
              <a:gd name="connsiteX308" fmla="*/ 1432109 w 12858750"/>
              <a:gd name="connsiteY308" fmla="*/ 795543 h 1456085"/>
              <a:gd name="connsiteX309" fmla="*/ 1475140 w 12858750"/>
              <a:gd name="connsiteY309" fmla="*/ 723221 h 1456085"/>
              <a:gd name="connsiteX310" fmla="*/ 1484702 w 12858750"/>
              <a:gd name="connsiteY310" fmla="*/ 670185 h 1456085"/>
              <a:gd name="connsiteX311" fmla="*/ 1518171 w 12858750"/>
              <a:gd name="connsiteY311" fmla="*/ 679828 h 1456085"/>
              <a:gd name="connsiteX312" fmla="*/ 1647264 w 12858750"/>
              <a:gd name="connsiteY312" fmla="*/ 723221 h 1456085"/>
              <a:gd name="connsiteX313" fmla="*/ 1704638 w 12858750"/>
              <a:gd name="connsiteY313" fmla="*/ 530362 h 1456085"/>
              <a:gd name="connsiteX314" fmla="*/ 1723763 w 12858750"/>
              <a:gd name="connsiteY314" fmla="*/ 530362 h 1456085"/>
              <a:gd name="connsiteX315" fmla="*/ 1762013 w 12858750"/>
              <a:gd name="connsiteY315" fmla="*/ 482148 h 1456085"/>
              <a:gd name="connsiteX316" fmla="*/ 1876762 w 12858750"/>
              <a:gd name="connsiteY316" fmla="*/ 506255 h 1456085"/>
              <a:gd name="connsiteX317" fmla="*/ 1924574 w 12858750"/>
              <a:gd name="connsiteY317" fmla="*/ 530362 h 1456085"/>
              <a:gd name="connsiteX318" fmla="*/ 1942258 w 12858750"/>
              <a:gd name="connsiteY318" fmla="*/ 535712 h 1456085"/>
              <a:gd name="connsiteX319" fmla="*/ 1940711 w 12858750"/>
              <a:gd name="connsiteY319" fmla="*/ 536464 h 1456085"/>
              <a:gd name="connsiteX320" fmla="*/ 1942504 w 12858750"/>
              <a:gd name="connsiteY320" fmla="*/ 535786 h 1456085"/>
              <a:gd name="connsiteX321" fmla="*/ 1942258 w 12858750"/>
              <a:gd name="connsiteY321" fmla="*/ 535712 h 1456085"/>
              <a:gd name="connsiteX322" fmla="*/ 1953262 w 12858750"/>
              <a:gd name="connsiteY322" fmla="*/ 530362 h 1456085"/>
              <a:gd name="connsiteX323" fmla="*/ 1953262 w 12858750"/>
              <a:gd name="connsiteY323" fmla="*/ 544827 h 1456085"/>
              <a:gd name="connsiteX324" fmla="*/ 1962824 w 12858750"/>
              <a:gd name="connsiteY324" fmla="*/ 564113 h 1456085"/>
              <a:gd name="connsiteX325" fmla="*/ 1962824 w 12858750"/>
              <a:gd name="connsiteY325" fmla="*/ 597863 h 1456085"/>
              <a:gd name="connsiteX326" fmla="*/ 1962824 w 12858750"/>
              <a:gd name="connsiteY326" fmla="*/ 631613 h 1456085"/>
              <a:gd name="connsiteX327" fmla="*/ 1962824 w 12858750"/>
              <a:gd name="connsiteY327" fmla="*/ 665364 h 1456085"/>
              <a:gd name="connsiteX328" fmla="*/ 1962824 w 12858750"/>
              <a:gd name="connsiteY328" fmla="*/ 694292 h 1456085"/>
              <a:gd name="connsiteX329" fmla="*/ 1962824 w 12858750"/>
              <a:gd name="connsiteY329" fmla="*/ 728043 h 1456085"/>
              <a:gd name="connsiteX330" fmla="*/ 1962824 w 12858750"/>
              <a:gd name="connsiteY330" fmla="*/ 761793 h 1456085"/>
              <a:gd name="connsiteX331" fmla="*/ 1962824 w 12858750"/>
              <a:gd name="connsiteY331" fmla="*/ 795543 h 1456085"/>
              <a:gd name="connsiteX332" fmla="*/ 1962824 w 12858750"/>
              <a:gd name="connsiteY332" fmla="*/ 829294 h 1456085"/>
              <a:gd name="connsiteX333" fmla="*/ 1962824 w 12858750"/>
              <a:gd name="connsiteY333" fmla="*/ 863044 h 1456085"/>
              <a:gd name="connsiteX334" fmla="*/ 1962824 w 12858750"/>
              <a:gd name="connsiteY334" fmla="*/ 891973 h 1456085"/>
              <a:gd name="connsiteX335" fmla="*/ 1962824 w 12858750"/>
              <a:gd name="connsiteY335" fmla="*/ 925723 h 1456085"/>
              <a:gd name="connsiteX336" fmla="*/ 1967606 w 12858750"/>
              <a:gd name="connsiteY336" fmla="*/ 959473 h 1456085"/>
              <a:gd name="connsiteX337" fmla="*/ 2029762 w 12858750"/>
              <a:gd name="connsiteY337" fmla="*/ 1017331 h 1456085"/>
              <a:gd name="connsiteX338" fmla="*/ 2029762 w 12858750"/>
              <a:gd name="connsiteY338" fmla="*/ 949831 h 1456085"/>
              <a:gd name="connsiteX339" fmla="*/ 2034543 w 12858750"/>
              <a:gd name="connsiteY339" fmla="*/ 925723 h 1456085"/>
              <a:gd name="connsiteX340" fmla="*/ 2029762 w 12858750"/>
              <a:gd name="connsiteY340" fmla="*/ 887151 h 1456085"/>
              <a:gd name="connsiteX341" fmla="*/ 2034543 w 12858750"/>
              <a:gd name="connsiteY341" fmla="*/ 863044 h 1456085"/>
              <a:gd name="connsiteX342" fmla="*/ 2029762 w 12858750"/>
              <a:gd name="connsiteY342" fmla="*/ 819651 h 1456085"/>
              <a:gd name="connsiteX343" fmla="*/ 2034543 w 12858750"/>
              <a:gd name="connsiteY343" fmla="*/ 795543 h 1456085"/>
              <a:gd name="connsiteX344" fmla="*/ 2029762 w 12858750"/>
              <a:gd name="connsiteY344" fmla="*/ 752150 h 1456085"/>
              <a:gd name="connsiteX345" fmla="*/ 2029762 w 12858750"/>
              <a:gd name="connsiteY345" fmla="*/ 728043 h 1456085"/>
              <a:gd name="connsiteX346" fmla="*/ 2039324 w 12858750"/>
              <a:gd name="connsiteY346" fmla="*/ 694292 h 1456085"/>
              <a:gd name="connsiteX347" fmla="*/ 2173198 w 12858750"/>
              <a:gd name="connsiteY347" fmla="*/ 679828 h 1456085"/>
              <a:gd name="connsiteX348" fmla="*/ 2120605 w 12858750"/>
              <a:gd name="connsiteY348" fmla="*/ 573756 h 1456085"/>
              <a:gd name="connsiteX349" fmla="*/ 2206667 w 12858750"/>
              <a:gd name="connsiteY349" fmla="*/ 511076 h 1456085"/>
              <a:gd name="connsiteX350" fmla="*/ 2311854 w 12858750"/>
              <a:gd name="connsiteY350" fmla="*/ 573756 h 1456085"/>
              <a:gd name="connsiteX351" fmla="*/ 2264041 w 12858750"/>
              <a:gd name="connsiteY351" fmla="*/ 636435 h 1456085"/>
              <a:gd name="connsiteX352" fmla="*/ 2259260 w 12858750"/>
              <a:gd name="connsiteY352" fmla="*/ 665364 h 1456085"/>
              <a:gd name="connsiteX353" fmla="*/ 2278385 w 12858750"/>
              <a:gd name="connsiteY353" fmla="*/ 747329 h 1456085"/>
              <a:gd name="connsiteX354" fmla="*/ 2340541 w 12858750"/>
              <a:gd name="connsiteY354" fmla="*/ 747329 h 1456085"/>
              <a:gd name="connsiteX355" fmla="*/ 2340541 w 12858750"/>
              <a:gd name="connsiteY355" fmla="*/ 795543 h 1456085"/>
              <a:gd name="connsiteX356" fmla="*/ 2383572 w 12858750"/>
              <a:gd name="connsiteY356" fmla="*/ 795543 h 1456085"/>
              <a:gd name="connsiteX357" fmla="*/ 2407478 w 12858750"/>
              <a:gd name="connsiteY357" fmla="*/ 795543 h 1456085"/>
              <a:gd name="connsiteX358" fmla="*/ 2417040 w 12858750"/>
              <a:gd name="connsiteY358" fmla="*/ 805186 h 1456085"/>
              <a:gd name="connsiteX359" fmla="*/ 2474415 w 12858750"/>
              <a:gd name="connsiteY359" fmla="*/ 877508 h 1456085"/>
              <a:gd name="connsiteX360" fmla="*/ 2503102 w 12858750"/>
              <a:gd name="connsiteY360" fmla="*/ 872687 h 1456085"/>
              <a:gd name="connsiteX361" fmla="*/ 2536571 w 12858750"/>
              <a:gd name="connsiteY361" fmla="*/ 843758 h 1456085"/>
              <a:gd name="connsiteX362" fmla="*/ 2555696 w 12858750"/>
              <a:gd name="connsiteY362" fmla="*/ 863044 h 1456085"/>
              <a:gd name="connsiteX363" fmla="*/ 2589164 w 12858750"/>
              <a:gd name="connsiteY363" fmla="*/ 911259 h 1456085"/>
              <a:gd name="connsiteX364" fmla="*/ 2593946 w 12858750"/>
              <a:gd name="connsiteY364" fmla="*/ 1026974 h 1456085"/>
              <a:gd name="connsiteX365" fmla="*/ 2646539 w 12858750"/>
              <a:gd name="connsiteY365" fmla="*/ 993224 h 1456085"/>
              <a:gd name="connsiteX366" fmla="*/ 2636977 w 12858750"/>
              <a:gd name="connsiteY366" fmla="*/ 993224 h 1456085"/>
              <a:gd name="connsiteX367" fmla="*/ 2636977 w 12858750"/>
              <a:gd name="connsiteY367" fmla="*/ 925723 h 1456085"/>
              <a:gd name="connsiteX368" fmla="*/ 2646539 w 12858750"/>
              <a:gd name="connsiteY368" fmla="*/ 925723 h 1456085"/>
              <a:gd name="connsiteX369" fmla="*/ 2627414 w 12858750"/>
              <a:gd name="connsiteY369" fmla="*/ 911259 h 1456085"/>
              <a:gd name="connsiteX370" fmla="*/ 2646539 w 12858750"/>
              <a:gd name="connsiteY370" fmla="*/ 887151 h 1456085"/>
              <a:gd name="connsiteX371" fmla="*/ 2636977 w 12858750"/>
              <a:gd name="connsiteY371" fmla="*/ 887151 h 1456085"/>
              <a:gd name="connsiteX372" fmla="*/ 2636977 w 12858750"/>
              <a:gd name="connsiteY372" fmla="*/ 819651 h 1456085"/>
              <a:gd name="connsiteX373" fmla="*/ 2646539 w 12858750"/>
              <a:gd name="connsiteY373" fmla="*/ 819651 h 1456085"/>
              <a:gd name="connsiteX374" fmla="*/ 2641758 w 12858750"/>
              <a:gd name="connsiteY374" fmla="*/ 747329 h 1456085"/>
              <a:gd name="connsiteX375" fmla="*/ 2636977 w 12858750"/>
              <a:gd name="connsiteY375" fmla="*/ 694292 h 1456085"/>
              <a:gd name="connsiteX376" fmla="*/ 2713476 w 12858750"/>
              <a:gd name="connsiteY376" fmla="*/ 675007 h 1456085"/>
              <a:gd name="connsiteX377" fmla="*/ 2794757 w 12858750"/>
              <a:gd name="connsiteY377" fmla="*/ 646078 h 1456085"/>
              <a:gd name="connsiteX378" fmla="*/ 2876038 w 12858750"/>
              <a:gd name="connsiteY378" fmla="*/ 655721 h 1456085"/>
              <a:gd name="connsiteX379" fmla="*/ 2933412 w 12858750"/>
              <a:gd name="connsiteY379" fmla="*/ 655721 h 1456085"/>
              <a:gd name="connsiteX380" fmla="*/ 3048162 w 12858750"/>
              <a:gd name="connsiteY380" fmla="*/ 621970 h 1456085"/>
              <a:gd name="connsiteX381" fmla="*/ 3076849 w 12858750"/>
              <a:gd name="connsiteY381" fmla="*/ 621970 h 1456085"/>
              <a:gd name="connsiteX382" fmla="*/ 3129443 w 12858750"/>
              <a:gd name="connsiteY382" fmla="*/ 621970 h 1456085"/>
              <a:gd name="connsiteX383" fmla="*/ 3148567 w 12858750"/>
              <a:gd name="connsiteY383" fmla="*/ 732864 h 1456085"/>
              <a:gd name="connsiteX384" fmla="*/ 3167692 w 12858750"/>
              <a:gd name="connsiteY384" fmla="*/ 781079 h 1456085"/>
              <a:gd name="connsiteX385" fmla="*/ 3225067 w 12858750"/>
              <a:gd name="connsiteY385" fmla="*/ 737686 h 1456085"/>
              <a:gd name="connsiteX386" fmla="*/ 3349379 w 12858750"/>
              <a:gd name="connsiteY386" fmla="*/ 694292 h 1456085"/>
              <a:gd name="connsiteX387" fmla="*/ 3339816 w 12858750"/>
              <a:gd name="connsiteY387" fmla="*/ 699114 h 1456085"/>
              <a:gd name="connsiteX388" fmla="*/ 3373285 w 12858750"/>
              <a:gd name="connsiteY388" fmla="*/ 742507 h 1456085"/>
              <a:gd name="connsiteX389" fmla="*/ 3406753 w 12858750"/>
              <a:gd name="connsiteY389" fmla="*/ 737686 h 1456085"/>
              <a:gd name="connsiteX390" fmla="*/ 3454566 w 12858750"/>
              <a:gd name="connsiteY390" fmla="*/ 805186 h 1456085"/>
              <a:gd name="connsiteX391" fmla="*/ 3445003 w 12858750"/>
              <a:gd name="connsiteY391" fmla="*/ 810008 h 1456085"/>
              <a:gd name="connsiteX392" fmla="*/ 3650596 w 12858750"/>
              <a:gd name="connsiteY392" fmla="*/ 834115 h 1456085"/>
              <a:gd name="connsiteX393" fmla="*/ 3655377 w 12858750"/>
              <a:gd name="connsiteY393" fmla="*/ 781079 h 1456085"/>
              <a:gd name="connsiteX394" fmla="*/ 3698408 w 12858750"/>
              <a:gd name="connsiteY394" fmla="*/ 713578 h 1456085"/>
              <a:gd name="connsiteX395" fmla="*/ 3736658 w 12858750"/>
              <a:gd name="connsiteY395" fmla="*/ 679828 h 1456085"/>
              <a:gd name="connsiteX396" fmla="*/ 3774907 w 12858750"/>
              <a:gd name="connsiteY396" fmla="*/ 612327 h 1456085"/>
              <a:gd name="connsiteX397" fmla="*/ 3798814 w 12858750"/>
              <a:gd name="connsiteY397" fmla="*/ 612327 h 1456085"/>
              <a:gd name="connsiteX398" fmla="*/ 3880094 w 12858750"/>
              <a:gd name="connsiteY398" fmla="*/ 713578 h 1456085"/>
              <a:gd name="connsiteX399" fmla="*/ 3918344 w 12858750"/>
              <a:gd name="connsiteY399" fmla="*/ 564113 h 1456085"/>
              <a:gd name="connsiteX400" fmla="*/ 3918344 w 12858750"/>
              <a:gd name="connsiteY400" fmla="*/ 409825 h 1456085"/>
              <a:gd name="connsiteX401" fmla="*/ 3980500 w 12858750"/>
              <a:gd name="connsiteY401" fmla="*/ 101251 h 1456085"/>
              <a:gd name="connsiteX402" fmla="*/ 4037875 w 12858750"/>
              <a:gd name="connsiteY402" fmla="*/ 101251 h 1456085"/>
              <a:gd name="connsiteX403" fmla="*/ 4095249 w 12858750"/>
              <a:gd name="connsiteY403" fmla="*/ 125359 h 1456085"/>
              <a:gd name="connsiteX404" fmla="*/ 4162186 w 12858750"/>
              <a:gd name="connsiteY404" fmla="*/ 149466 h 1456085"/>
              <a:gd name="connsiteX405" fmla="*/ 4166968 w 12858750"/>
              <a:gd name="connsiteY405" fmla="*/ 216967 h 1456085"/>
              <a:gd name="connsiteX406" fmla="*/ 4195655 w 12858750"/>
              <a:gd name="connsiteY406" fmla="*/ 289289 h 1456085"/>
              <a:gd name="connsiteX407" fmla="*/ 4195655 w 12858750"/>
              <a:gd name="connsiteY407" fmla="*/ 356789 h 1456085"/>
              <a:gd name="connsiteX408" fmla="*/ 4195655 w 12858750"/>
              <a:gd name="connsiteY408" fmla="*/ 424290 h 1456085"/>
              <a:gd name="connsiteX409" fmla="*/ 4200436 w 12858750"/>
              <a:gd name="connsiteY409" fmla="*/ 491791 h 1456085"/>
              <a:gd name="connsiteX410" fmla="*/ 4190874 w 12858750"/>
              <a:gd name="connsiteY410" fmla="*/ 530362 h 1456085"/>
              <a:gd name="connsiteX411" fmla="*/ 4291280 w 12858750"/>
              <a:gd name="connsiteY411" fmla="*/ 390540 h 1456085"/>
              <a:gd name="connsiteX412" fmla="*/ 4501653 w 12858750"/>
              <a:gd name="connsiteY412" fmla="*/ 395361 h 1456085"/>
              <a:gd name="connsiteX413" fmla="*/ 4568591 w 12858750"/>
              <a:gd name="connsiteY413" fmla="*/ 554470 h 1456085"/>
              <a:gd name="connsiteX414" fmla="*/ 4668996 w 12858750"/>
              <a:gd name="connsiteY414" fmla="*/ 530362 h 1456085"/>
              <a:gd name="connsiteX415" fmla="*/ 4664215 w 12858750"/>
              <a:gd name="connsiteY415" fmla="*/ 433933 h 1456085"/>
              <a:gd name="connsiteX416" fmla="*/ 4764620 w 12858750"/>
              <a:gd name="connsiteY416" fmla="*/ 414647 h 1456085"/>
              <a:gd name="connsiteX417" fmla="*/ 4821995 w 12858750"/>
              <a:gd name="connsiteY417" fmla="*/ 419468 h 1456085"/>
              <a:gd name="connsiteX418" fmla="*/ 4860245 w 12858750"/>
              <a:gd name="connsiteY418" fmla="*/ 414647 h 1456085"/>
              <a:gd name="connsiteX419" fmla="*/ 4917619 w 12858750"/>
              <a:gd name="connsiteY419" fmla="*/ 486969 h 1456085"/>
              <a:gd name="connsiteX420" fmla="*/ 4917619 w 12858750"/>
              <a:gd name="connsiteY420" fmla="*/ 583399 h 1456085"/>
              <a:gd name="connsiteX421" fmla="*/ 4970213 w 12858750"/>
              <a:gd name="connsiteY421" fmla="*/ 593041 h 1456085"/>
              <a:gd name="connsiteX422" fmla="*/ 4974994 w 12858750"/>
              <a:gd name="connsiteY422" fmla="*/ 597863 h 1456085"/>
              <a:gd name="connsiteX423" fmla="*/ 4974994 w 12858750"/>
              <a:gd name="connsiteY423" fmla="*/ 496612 h 1456085"/>
              <a:gd name="connsiteX424" fmla="*/ 5099306 w 12858750"/>
              <a:gd name="connsiteY424" fmla="*/ 467683 h 1456085"/>
              <a:gd name="connsiteX425" fmla="*/ 5199711 w 12858750"/>
              <a:gd name="connsiteY425" fmla="*/ 390540 h 1456085"/>
              <a:gd name="connsiteX426" fmla="*/ 5304899 w 12858750"/>
              <a:gd name="connsiteY426" fmla="*/ 433933 h 1456085"/>
              <a:gd name="connsiteX427" fmla="*/ 5333586 w 12858750"/>
              <a:gd name="connsiteY427" fmla="*/ 496612 h 1456085"/>
              <a:gd name="connsiteX428" fmla="*/ 5352711 w 12858750"/>
              <a:gd name="connsiteY428" fmla="*/ 597863 h 1456085"/>
              <a:gd name="connsiteX429" fmla="*/ 5419648 w 12858750"/>
              <a:gd name="connsiteY429" fmla="*/ 433933 h 1456085"/>
              <a:gd name="connsiteX430" fmla="*/ 5429211 w 12858750"/>
              <a:gd name="connsiteY430" fmla="*/ 400183 h 1456085"/>
              <a:gd name="connsiteX431" fmla="*/ 5606116 w 12858750"/>
              <a:gd name="connsiteY431" fmla="*/ 448397 h 1456085"/>
              <a:gd name="connsiteX432" fmla="*/ 5615678 w 12858750"/>
              <a:gd name="connsiteY432" fmla="*/ 380897 h 1456085"/>
              <a:gd name="connsiteX433" fmla="*/ 5630022 w 12858750"/>
              <a:gd name="connsiteY433" fmla="*/ 318217 h 1456085"/>
              <a:gd name="connsiteX434" fmla="*/ 5816489 w 12858750"/>
              <a:gd name="connsiteY434" fmla="*/ 294110 h 1456085"/>
              <a:gd name="connsiteX435" fmla="*/ 5998175 w 12858750"/>
              <a:gd name="connsiteY435" fmla="*/ 366432 h 1456085"/>
              <a:gd name="connsiteX436" fmla="*/ 6031644 w 12858750"/>
              <a:gd name="connsiteY436" fmla="*/ 453219 h 1456085"/>
              <a:gd name="connsiteX437" fmla="*/ 6079457 w 12858750"/>
              <a:gd name="connsiteY437" fmla="*/ 448397 h 1456085"/>
              <a:gd name="connsiteX438" fmla="*/ 6089019 w 12858750"/>
              <a:gd name="connsiteY438" fmla="*/ 405004 h 1456085"/>
              <a:gd name="connsiteX439" fmla="*/ 6098582 w 12858750"/>
              <a:gd name="connsiteY439" fmla="*/ 400183 h 1456085"/>
              <a:gd name="connsiteX440" fmla="*/ 6103363 w 12858750"/>
              <a:gd name="connsiteY440" fmla="*/ 400183 h 1456085"/>
              <a:gd name="connsiteX441" fmla="*/ 6112925 w 12858750"/>
              <a:gd name="connsiteY441" fmla="*/ 400183 h 1456085"/>
              <a:gd name="connsiteX442" fmla="*/ 6170299 w 12858750"/>
              <a:gd name="connsiteY442" fmla="*/ 400183 h 1456085"/>
              <a:gd name="connsiteX443" fmla="*/ 6179862 w 12858750"/>
              <a:gd name="connsiteY443" fmla="*/ 400183 h 1456085"/>
              <a:gd name="connsiteX444" fmla="*/ 6270705 w 12858750"/>
              <a:gd name="connsiteY444" fmla="*/ 443576 h 1456085"/>
              <a:gd name="connsiteX445" fmla="*/ 6337643 w 12858750"/>
              <a:gd name="connsiteY445" fmla="*/ 515898 h 1456085"/>
              <a:gd name="connsiteX446" fmla="*/ 6337643 w 12858750"/>
              <a:gd name="connsiteY446" fmla="*/ 578577 h 1456085"/>
              <a:gd name="connsiteX447" fmla="*/ 6337643 w 12858750"/>
              <a:gd name="connsiteY447" fmla="*/ 646078 h 1456085"/>
              <a:gd name="connsiteX448" fmla="*/ 6347205 w 12858750"/>
              <a:gd name="connsiteY448" fmla="*/ 732864 h 1456085"/>
              <a:gd name="connsiteX449" fmla="*/ 6390236 w 12858750"/>
              <a:gd name="connsiteY449" fmla="*/ 800365 h 1456085"/>
              <a:gd name="connsiteX450" fmla="*/ 6423704 w 12858750"/>
              <a:gd name="connsiteY450" fmla="*/ 795543 h 1456085"/>
              <a:gd name="connsiteX451" fmla="*/ 6452392 w 12858750"/>
              <a:gd name="connsiteY451" fmla="*/ 728043 h 1456085"/>
              <a:gd name="connsiteX452" fmla="*/ 6452392 w 12858750"/>
              <a:gd name="connsiteY452" fmla="*/ 665364 h 1456085"/>
              <a:gd name="connsiteX453" fmla="*/ 6452392 w 12858750"/>
              <a:gd name="connsiteY453" fmla="*/ 602684 h 1456085"/>
              <a:gd name="connsiteX454" fmla="*/ 6481079 w 12858750"/>
              <a:gd name="connsiteY454" fmla="*/ 530362 h 1456085"/>
              <a:gd name="connsiteX455" fmla="*/ 6538454 w 12858750"/>
              <a:gd name="connsiteY455" fmla="*/ 530362 h 1456085"/>
              <a:gd name="connsiteX456" fmla="*/ 6571922 w 12858750"/>
              <a:gd name="connsiteY456" fmla="*/ 515898 h 1456085"/>
              <a:gd name="connsiteX457" fmla="*/ 6638860 w 12858750"/>
              <a:gd name="connsiteY457" fmla="*/ 530362 h 1456085"/>
              <a:gd name="connsiteX458" fmla="*/ 6634078 w 12858750"/>
              <a:gd name="connsiteY458" fmla="*/ 544827 h 1456085"/>
              <a:gd name="connsiteX459" fmla="*/ 6638860 w 12858750"/>
              <a:gd name="connsiteY459" fmla="*/ 549648 h 1456085"/>
              <a:gd name="connsiteX460" fmla="*/ 6657985 w 12858750"/>
              <a:gd name="connsiteY460" fmla="*/ 535184 h 1456085"/>
              <a:gd name="connsiteX461" fmla="*/ 6653203 w 12858750"/>
              <a:gd name="connsiteY461" fmla="*/ 530362 h 1456085"/>
              <a:gd name="connsiteX462" fmla="*/ 6662765 w 12858750"/>
              <a:gd name="connsiteY462" fmla="*/ 520719 h 1456085"/>
              <a:gd name="connsiteX463" fmla="*/ 6663150 w 12858750"/>
              <a:gd name="connsiteY463" fmla="*/ 522140 h 1456085"/>
              <a:gd name="connsiteX464" fmla="*/ 6663438 w 12858750"/>
              <a:gd name="connsiteY464" fmla="*/ 526821 h 1456085"/>
              <a:gd name="connsiteX465" fmla="*/ 6664559 w 12858750"/>
              <a:gd name="connsiteY465" fmla="*/ 527349 h 1456085"/>
              <a:gd name="connsiteX466" fmla="*/ 6663150 w 12858750"/>
              <a:gd name="connsiteY466" fmla="*/ 522140 h 1456085"/>
              <a:gd name="connsiteX467" fmla="*/ 6662765 w 12858750"/>
              <a:gd name="connsiteY467" fmla="*/ 515898 h 1456085"/>
              <a:gd name="connsiteX468" fmla="*/ 6662765 w 12858750"/>
              <a:gd name="connsiteY468" fmla="*/ 482148 h 1456085"/>
              <a:gd name="connsiteX469" fmla="*/ 6662765 w 12858750"/>
              <a:gd name="connsiteY469" fmla="*/ 448397 h 1456085"/>
              <a:gd name="connsiteX470" fmla="*/ 6662765 w 12858750"/>
              <a:gd name="connsiteY470" fmla="*/ 414647 h 1456085"/>
              <a:gd name="connsiteX471" fmla="*/ 6662765 w 12858750"/>
              <a:gd name="connsiteY471" fmla="*/ 380897 h 1456085"/>
              <a:gd name="connsiteX472" fmla="*/ 6648422 w 12858750"/>
              <a:gd name="connsiteY472" fmla="*/ 303753 h 1456085"/>
              <a:gd name="connsiteX473" fmla="*/ 6648422 w 12858750"/>
              <a:gd name="connsiteY473" fmla="*/ 245895 h 1456085"/>
              <a:gd name="connsiteX474" fmla="*/ 6662765 w 12858750"/>
              <a:gd name="connsiteY474" fmla="*/ 120537 h 1456085"/>
              <a:gd name="connsiteX475" fmla="*/ 6662765 w 12858750"/>
              <a:gd name="connsiteY475" fmla="*/ 86787 h 1456085"/>
              <a:gd name="connsiteX476" fmla="*/ 6662765 w 12858750"/>
              <a:gd name="connsiteY476" fmla="*/ 53036 h 1456085"/>
              <a:gd name="connsiteX477" fmla="*/ 6744046 w 12858750"/>
              <a:gd name="connsiteY477" fmla="*/ 0 h 145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</a:cxnLst>
            <a:rect l="l" t="t" r="r" b="b"/>
            <a:pathLst>
              <a:path w="12858750" h="1456085">
                <a:moveTo>
                  <a:pt x="251147" y="1060724"/>
                </a:moveTo>
                <a:lnTo>
                  <a:pt x="246905" y="1070639"/>
                </a:lnTo>
                <a:lnTo>
                  <a:pt x="246366" y="1070367"/>
                </a:lnTo>
                <a:cubicBezTo>
                  <a:pt x="251147" y="1060724"/>
                  <a:pt x="251147" y="1060724"/>
                  <a:pt x="251147" y="1060724"/>
                </a:cubicBezTo>
                <a:close/>
                <a:moveTo>
                  <a:pt x="1140454" y="1007688"/>
                </a:moveTo>
                <a:cubicBezTo>
                  <a:pt x="1140454" y="1007688"/>
                  <a:pt x="1140454" y="1007688"/>
                  <a:pt x="1173923" y="1026974"/>
                </a:cubicBezTo>
                <a:cubicBezTo>
                  <a:pt x="1173923" y="1026974"/>
                  <a:pt x="1164360" y="1041438"/>
                  <a:pt x="1164360" y="1041438"/>
                </a:cubicBezTo>
                <a:cubicBezTo>
                  <a:pt x="1164360" y="1041438"/>
                  <a:pt x="1164360" y="1041438"/>
                  <a:pt x="1164360" y="1047465"/>
                </a:cubicBezTo>
                <a:lnTo>
                  <a:pt x="1164360" y="1055903"/>
                </a:lnTo>
                <a:cubicBezTo>
                  <a:pt x="1164360" y="1055903"/>
                  <a:pt x="1164360" y="1055903"/>
                  <a:pt x="1121329" y="1041438"/>
                </a:cubicBezTo>
                <a:cubicBezTo>
                  <a:pt x="1121329" y="1041438"/>
                  <a:pt x="1121329" y="1041438"/>
                  <a:pt x="1140454" y="1007688"/>
                </a:cubicBezTo>
                <a:close/>
                <a:moveTo>
                  <a:pt x="6744046" y="0"/>
                </a:moveTo>
                <a:cubicBezTo>
                  <a:pt x="6744046" y="0"/>
                  <a:pt x="6744046" y="0"/>
                  <a:pt x="6834890" y="19286"/>
                </a:cubicBezTo>
                <a:cubicBezTo>
                  <a:pt x="6834890" y="19286"/>
                  <a:pt x="6834890" y="19286"/>
                  <a:pt x="6825327" y="28929"/>
                </a:cubicBezTo>
                <a:cubicBezTo>
                  <a:pt x="6825327" y="28929"/>
                  <a:pt x="6825327" y="28929"/>
                  <a:pt x="6834890" y="28929"/>
                </a:cubicBezTo>
                <a:cubicBezTo>
                  <a:pt x="6834890" y="28929"/>
                  <a:pt x="6834890" y="28929"/>
                  <a:pt x="6882702" y="33751"/>
                </a:cubicBezTo>
                <a:cubicBezTo>
                  <a:pt x="6873140" y="57858"/>
                  <a:pt x="6877921" y="236252"/>
                  <a:pt x="6877921" y="274824"/>
                </a:cubicBezTo>
                <a:cubicBezTo>
                  <a:pt x="6877921" y="318217"/>
                  <a:pt x="6877921" y="356789"/>
                  <a:pt x="6877921" y="395361"/>
                </a:cubicBezTo>
                <a:cubicBezTo>
                  <a:pt x="6877921" y="429111"/>
                  <a:pt x="6858796" y="496612"/>
                  <a:pt x="6930514" y="515898"/>
                </a:cubicBezTo>
                <a:cubicBezTo>
                  <a:pt x="6930514" y="515898"/>
                  <a:pt x="6930514" y="515898"/>
                  <a:pt x="6930514" y="342325"/>
                </a:cubicBezTo>
                <a:cubicBezTo>
                  <a:pt x="6954420" y="323039"/>
                  <a:pt x="6978326" y="337503"/>
                  <a:pt x="6992670" y="294110"/>
                </a:cubicBezTo>
                <a:cubicBezTo>
                  <a:pt x="7002232" y="270003"/>
                  <a:pt x="7030919" y="231431"/>
                  <a:pt x="7035701" y="207324"/>
                </a:cubicBezTo>
                <a:cubicBezTo>
                  <a:pt x="7035701" y="207324"/>
                  <a:pt x="7035701" y="207324"/>
                  <a:pt x="7078732" y="260360"/>
                </a:cubicBezTo>
                <a:cubicBezTo>
                  <a:pt x="7078732" y="260360"/>
                  <a:pt x="7078732" y="260360"/>
                  <a:pt x="7136107" y="332682"/>
                </a:cubicBezTo>
                <a:cubicBezTo>
                  <a:pt x="7136107" y="332682"/>
                  <a:pt x="7136107" y="332682"/>
                  <a:pt x="7136107" y="679828"/>
                </a:cubicBezTo>
                <a:cubicBezTo>
                  <a:pt x="7136107" y="679828"/>
                  <a:pt x="7136107" y="679828"/>
                  <a:pt x="7169575" y="689471"/>
                </a:cubicBezTo>
                <a:cubicBezTo>
                  <a:pt x="7198262" y="650899"/>
                  <a:pt x="7188700" y="607506"/>
                  <a:pt x="7236512" y="597863"/>
                </a:cubicBezTo>
                <a:cubicBezTo>
                  <a:pt x="7236512" y="597863"/>
                  <a:pt x="7236512" y="597863"/>
                  <a:pt x="7236512" y="564113"/>
                </a:cubicBezTo>
                <a:cubicBezTo>
                  <a:pt x="7236512" y="564113"/>
                  <a:pt x="7236512" y="564113"/>
                  <a:pt x="7236512" y="530362"/>
                </a:cubicBezTo>
                <a:cubicBezTo>
                  <a:pt x="7236512" y="530362"/>
                  <a:pt x="7236512" y="530362"/>
                  <a:pt x="7236512" y="496612"/>
                </a:cubicBezTo>
                <a:cubicBezTo>
                  <a:pt x="7236512" y="496612"/>
                  <a:pt x="7236512" y="496612"/>
                  <a:pt x="7231731" y="462862"/>
                </a:cubicBezTo>
                <a:cubicBezTo>
                  <a:pt x="7231731" y="462862"/>
                  <a:pt x="7231731" y="462862"/>
                  <a:pt x="7250856" y="332682"/>
                </a:cubicBezTo>
                <a:cubicBezTo>
                  <a:pt x="7346480" y="332682"/>
                  <a:pt x="7356043" y="327860"/>
                  <a:pt x="7413417" y="351968"/>
                </a:cubicBezTo>
                <a:cubicBezTo>
                  <a:pt x="7461229" y="371254"/>
                  <a:pt x="7451667" y="351968"/>
                  <a:pt x="7485135" y="361611"/>
                </a:cubicBezTo>
                <a:cubicBezTo>
                  <a:pt x="7532948" y="376075"/>
                  <a:pt x="7504260" y="395361"/>
                  <a:pt x="7556854" y="400183"/>
                </a:cubicBezTo>
                <a:cubicBezTo>
                  <a:pt x="7556854" y="400183"/>
                  <a:pt x="7556854" y="400183"/>
                  <a:pt x="7552073" y="409825"/>
                </a:cubicBezTo>
                <a:cubicBezTo>
                  <a:pt x="7552073" y="409825"/>
                  <a:pt x="7552073" y="409825"/>
                  <a:pt x="7566416" y="419468"/>
                </a:cubicBezTo>
                <a:cubicBezTo>
                  <a:pt x="7566416" y="419468"/>
                  <a:pt x="7566416" y="419468"/>
                  <a:pt x="7580760" y="448397"/>
                </a:cubicBezTo>
                <a:cubicBezTo>
                  <a:pt x="7580760" y="448397"/>
                  <a:pt x="7580760" y="448397"/>
                  <a:pt x="7580760" y="549648"/>
                </a:cubicBezTo>
                <a:cubicBezTo>
                  <a:pt x="7633353" y="593041"/>
                  <a:pt x="7676384" y="544827"/>
                  <a:pt x="7676384" y="636435"/>
                </a:cubicBezTo>
                <a:cubicBezTo>
                  <a:pt x="7676384" y="636435"/>
                  <a:pt x="7676384" y="636435"/>
                  <a:pt x="7676384" y="646078"/>
                </a:cubicBezTo>
                <a:cubicBezTo>
                  <a:pt x="7676384" y="646078"/>
                  <a:pt x="7676384" y="646078"/>
                  <a:pt x="7676384" y="679828"/>
                </a:cubicBezTo>
                <a:cubicBezTo>
                  <a:pt x="7752884" y="684649"/>
                  <a:pt x="7728978" y="732864"/>
                  <a:pt x="7728978" y="776257"/>
                </a:cubicBezTo>
                <a:cubicBezTo>
                  <a:pt x="7728978" y="814829"/>
                  <a:pt x="7719415" y="858223"/>
                  <a:pt x="7748103" y="891973"/>
                </a:cubicBezTo>
                <a:cubicBezTo>
                  <a:pt x="7748103" y="891973"/>
                  <a:pt x="7748103" y="891973"/>
                  <a:pt x="7752884" y="877508"/>
                </a:cubicBezTo>
                <a:cubicBezTo>
                  <a:pt x="7786352" y="887151"/>
                  <a:pt x="7767228" y="891973"/>
                  <a:pt x="7791134" y="891973"/>
                </a:cubicBezTo>
                <a:cubicBezTo>
                  <a:pt x="7791134" y="891973"/>
                  <a:pt x="7791134" y="891973"/>
                  <a:pt x="7800696" y="891973"/>
                </a:cubicBezTo>
                <a:cubicBezTo>
                  <a:pt x="7819821" y="891973"/>
                  <a:pt x="7824602" y="887151"/>
                  <a:pt x="7824602" y="867865"/>
                </a:cubicBezTo>
                <a:cubicBezTo>
                  <a:pt x="7824602" y="867865"/>
                  <a:pt x="7824602" y="867865"/>
                  <a:pt x="7824602" y="549648"/>
                </a:cubicBezTo>
                <a:cubicBezTo>
                  <a:pt x="7824602" y="549648"/>
                  <a:pt x="7824602" y="549648"/>
                  <a:pt x="7834165" y="549648"/>
                </a:cubicBezTo>
                <a:cubicBezTo>
                  <a:pt x="7834165" y="549648"/>
                  <a:pt x="7834165" y="549648"/>
                  <a:pt x="7867633" y="458040"/>
                </a:cubicBezTo>
                <a:cubicBezTo>
                  <a:pt x="7867633" y="458040"/>
                  <a:pt x="7867633" y="458040"/>
                  <a:pt x="7867633" y="400183"/>
                </a:cubicBezTo>
                <a:cubicBezTo>
                  <a:pt x="7881977" y="371254"/>
                  <a:pt x="7905883" y="356789"/>
                  <a:pt x="7929789" y="361611"/>
                </a:cubicBezTo>
                <a:cubicBezTo>
                  <a:pt x="7968039" y="366432"/>
                  <a:pt x="7958476" y="405004"/>
                  <a:pt x="7958476" y="414647"/>
                </a:cubicBezTo>
                <a:cubicBezTo>
                  <a:pt x="7968039" y="448397"/>
                  <a:pt x="8078007" y="443576"/>
                  <a:pt x="8078007" y="506255"/>
                </a:cubicBezTo>
                <a:cubicBezTo>
                  <a:pt x="8078007" y="540005"/>
                  <a:pt x="8082788" y="511076"/>
                  <a:pt x="8068445" y="530362"/>
                </a:cubicBezTo>
                <a:cubicBezTo>
                  <a:pt x="8082788" y="540005"/>
                  <a:pt x="8082788" y="549648"/>
                  <a:pt x="8101913" y="549648"/>
                </a:cubicBezTo>
                <a:cubicBezTo>
                  <a:pt x="8101913" y="549648"/>
                  <a:pt x="8101913" y="549648"/>
                  <a:pt x="8154506" y="549648"/>
                </a:cubicBezTo>
                <a:cubicBezTo>
                  <a:pt x="8154506" y="549648"/>
                  <a:pt x="8154506" y="549648"/>
                  <a:pt x="8178412" y="583399"/>
                </a:cubicBezTo>
                <a:cubicBezTo>
                  <a:pt x="8178412" y="583399"/>
                  <a:pt x="8178412" y="583399"/>
                  <a:pt x="8187975" y="578577"/>
                </a:cubicBezTo>
                <a:cubicBezTo>
                  <a:pt x="8187975" y="578577"/>
                  <a:pt x="8187975" y="578577"/>
                  <a:pt x="8187975" y="588220"/>
                </a:cubicBezTo>
                <a:cubicBezTo>
                  <a:pt x="8187975" y="588220"/>
                  <a:pt x="8187975" y="588220"/>
                  <a:pt x="8187975" y="621970"/>
                </a:cubicBezTo>
                <a:cubicBezTo>
                  <a:pt x="8187975" y="621970"/>
                  <a:pt x="8187975" y="621970"/>
                  <a:pt x="8187975" y="689471"/>
                </a:cubicBezTo>
                <a:cubicBezTo>
                  <a:pt x="8187975" y="689471"/>
                  <a:pt x="8187975" y="689471"/>
                  <a:pt x="8187975" y="752150"/>
                </a:cubicBezTo>
                <a:cubicBezTo>
                  <a:pt x="8187975" y="752150"/>
                  <a:pt x="8187975" y="752150"/>
                  <a:pt x="8192756" y="785900"/>
                </a:cubicBezTo>
                <a:cubicBezTo>
                  <a:pt x="8192756" y="785900"/>
                  <a:pt x="8192756" y="785900"/>
                  <a:pt x="8202318" y="785900"/>
                </a:cubicBezTo>
                <a:cubicBezTo>
                  <a:pt x="8202318" y="785900"/>
                  <a:pt x="8202318" y="785900"/>
                  <a:pt x="8183194" y="810008"/>
                </a:cubicBezTo>
                <a:cubicBezTo>
                  <a:pt x="8226225" y="843758"/>
                  <a:pt x="8187975" y="901616"/>
                  <a:pt x="8216662" y="959473"/>
                </a:cubicBezTo>
                <a:cubicBezTo>
                  <a:pt x="8221443" y="949831"/>
                  <a:pt x="8250131" y="911259"/>
                  <a:pt x="8250131" y="891973"/>
                </a:cubicBezTo>
                <a:cubicBezTo>
                  <a:pt x="8250131" y="891973"/>
                  <a:pt x="8250131" y="891973"/>
                  <a:pt x="8250131" y="863044"/>
                </a:cubicBezTo>
                <a:cubicBezTo>
                  <a:pt x="8250131" y="863044"/>
                  <a:pt x="8250131" y="863044"/>
                  <a:pt x="8250131" y="829294"/>
                </a:cubicBezTo>
                <a:cubicBezTo>
                  <a:pt x="8250131" y="829294"/>
                  <a:pt x="8250131" y="829294"/>
                  <a:pt x="8250131" y="795543"/>
                </a:cubicBezTo>
                <a:cubicBezTo>
                  <a:pt x="8250131" y="795543"/>
                  <a:pt x="8250131" y="795543"/>
                  <a:pt x="8250131" y="761793"/>
                </a:cubicBezTo>
                <a:cubicBezTo>
                  <a:pt x="8250131" y="761793"/>
                  <a:pt x="8250131" y="761793"/>
                  <a:pt x="8250131" y="728043"/>
                </a:cubicBezTo>
                <a:cubicBezTo>
                  <a:pt x="8250131" y="728043"/>
                  <a:pt x="8250131" y="728043"/>
                  <a:pt x="8250131" y="694292"/>
                </a:cubicBezTo>
                <a:cubicBezTo>
                  <a:pt x="8250131" y="694292"/>
                  <a:pt x="8250131" y="694292"/>
                  <a:pt x="8240568" y="612327"/>
                </a:cubicBezTo>
                <a:cubicBezTo>
                  <a:pt x="8254912" y="607506"/>
                  <a:pt x="8288380" y="597863"/>
                  <a:pt x="8317068" y="597863"/>
                </a:cubicBezTo>
                <a:cubicBezTo>
                  <a:pt x="8317068" y="597863"/>
                  <a:pt x="8317068" y="597863"/>
                  <a:pt x="8336193" y="597863"/>
                </a:cubicBezTo>
                <a:cubicBezTo>
                  <a:pt x="8336193" y="597863"/>
                  <a:pt x="8336193" y="597863"/>
                  <a:pt x="8350536" y="515898"/>
                </a:cubicBezTo>
                <a:cubicBezTo>
                  <a:pt x="8388786" y="506255"/>
                  <a:pt x="8384005" y="496612"/>
                  <a:pt x="8388786" y="448397"/>
                </a:cubicBezTo>
                <a:cubicBezTo>
                  <a:pt x="8388786" y="448397"/>
                  <a:pt x="8388786" y="448397"/>
                  <a:pt x="8489192" y="472505"/>
                </a:cubicBezTo>
                <a:cubicBezTo>
                  <a:pt x="8498754" y="482148"/>
                  <a:pt x="8537004" y="549648"/>
                  <a:pt x="8537004" y="573756"/>
                </a:cubicBezTo>
                <a:cubicBezTo>
                  <a:pt x="8537004" y="573756"/>
                  <a:pt x="8537004" y="573756"/>
                  <a:pt x="8537004" y="607506"/>
                </a:cubicBezTo>
                <a:cubicBezTo>
                  <a:pt x="8532223" y="641256"/>
                  <a:pt x="8541785" y="607506"/>
                  <a:pt x="8527442" y="631613"/>
                </a:cubicBezTo>
                <a:cubicBezTo>
                  <a:pt x="8594379" y="631613"/>
                  <a:pt x="8570473" y="631613"/>
                  <a:pt x="8570473" y="607506"/>
                </a:cubicBezTo>
                <a:cubicBezTo>
                  <a:pt x="8570473" y="486969"/>
                  <a:pt x="8680441" y="501433"/>
                  <a:pt x="8752159" y="540005"/>
                </a:cubicBezTo>
                <a:cubicBezTo>
                  <a:pt x="8752159" y="540005"/>
                  <a:pt x="8752159" y="540005"/>
                  <a:pt x="8747378" y="621970"/>
                </a:cubicBezTo>
                <a:cubicBezTo>
                  <a:pt x="8766503" y="612327"/>
                  <a:pt x="8771284" y="597863"/>
                  <a:pt x="8790409" y="597863"/>
                </a:cubicBezTo>
                <a:cubicBezTo>
                  <a:pt x="8790409" y="597863"/>
                  <a:pt x="8790409" y="597863"/>
                  <a:pt x="8799971" y="597863"/>
                </a:cubicBezTo>
                <a:cubicBezTo>
                  <a:pt x="8828659" y="597863"/>
                  <a:pt x="8828659" y="612327"/>
                  <a:pt x="8823877" y="626792"/>
                </a:cubicBezTo>
                <a:cubicBezTo>
                  <a:pt x="8823877" y="626792"/>
                  <a:pt x="8823877" y="626792"/>
                  <a:pt x="8871690" y="636435"/>
                </a:cubicBezTo>
                <a:cubicBezTo>
                  <a:pt x="8871690" y="636435"/>
                  <a:pt x="8871690" y="636435"/>
                  <a:pt x="8919502" y="564113"/>
                </a:cubicBezTo>
                <a:cubicBezTo>
                  <a:pt x="8919502" y="564113"/>
                  <a:pt x="8919502" y="564113"/>
                  <a:pt x="8986439" y="578577"/>
                </a:cubicBezTo>
                <a:cubicBezTo>
                  <a:pt x="9015126" y="525541"/>
                  <a:pt x="8996001" y="573756"/>
                  <a:pt x="9058157" y="530362"/>
                </a:cubicBezTo>
                <a:cubicBezTo>
                  <a:pt x="9058157" y="530362"/>
                  <a:pt x="9058157" y="530362"/>
                  <a:pt x="9091626" y="530362"/>
                </a:cubicBezTo>
                <a:cubicBezTo>
                  <a:pt x="9091626" y="530362"/>
                  <a:pt x="9091626" y="530362"/>
                  <a:pt x="9086845" y="544827"/>
                </a:cubicBezTo>
                <a:cubicBezTo>
                  <a:pt x="9086845" y="544827"/>
                  <a:pt x="9086845" y="544827"/>
                  <a:pt x="9120313" y="549648"/>
                </a:cubicBezTo>
                <a:cubicBezTo>
                  <a:pt x="9120313" y="549648"/>
                  <a:pt x="9120313" y="549648"/>
                  <a:pt x="9115532" y="559291"/>
                </a:cubicBezTo>
                <a:cubicBezTo>
                  <a:pt x="9115532" y="559291"/>
                  <a:pt x="9115532" y="559291"/>
                  <a:pt x="9125094" y="564113"/>
                </a:cubicBezTo>
                <a:cubicBezTo>
                  <a:pt x="9153782" y="593041"/>
                  <a:pt x="9144219" y="578577"/>
                  <a:pt x="9144219" y="631613"/>
                </a:cubicBezTo>
                <a:cubicBezTo>
                  <a:pt x="9144219" y="660542"/>
                  <a:pt x="9163344" y="689471"/>
                  <a:pt x="9172907" y="723221"/>
                </a:cubicBezTo>
                <a:cubicBezTo>
                  <a:pt x="9192031" y="708757"/>
                  <a:pt x="9196813" y="694292"/>
                  <a:pt x="9215938" y="694292"/>
                </a:cubicBezTo>
                <a:cubicBezTo>
                  <a:pt x="9215938" y="694292"/>
                  <a:pt x="9215938" y="694292"/>
                  <a:pt x="9239844" y="694292"/>
                </a:cubicBezTo>
                <a:cubicBezTo>
                  <a:pt x="9239844" y="694292"/>
                  <a:pt x="9282875" y="708757"/>
                  <a:pt x="9297218" y="713578"/>
                </a:cubicBezTo>
                <a:cubicBezTo>
                  <a:pt x="9306781" y="670185"/>
                  <a:pt x="9335468" y="621970"/>
                  <a:pt x="9378499" y="626792"/>
                </a:cubicBezTo>
                <a:cubicBezTo>
                  <a:pt x="9411968" y="626792"/>
                  <a:pt x="9454999" y="626792"/>
                  <a:pt x="9517154" y="631613"/>
                </a:cubicBezTo>
                <a:cubicBezTo>
                  <a:pt x="9517154" y="631613"/>
                  <a:pt x="9517154" y="631613"/>
                  <a:pt x="9512373" y="646078"/>
                </a:cubicBezTo>
                <a:cubicBezTo>
                  <a:pt x="9512373" y="646078"/>
                  <a:pt x="9512373" y="646078"/>
                  <a:pt x="9541061" y="646078"/>
                </a:cubicBezTo>
                <a:cubicBezTo>
                  <a:pt x="9541061" y="646078"/>
                  <a:pt x="9541061" y="646078"/>
                  <a:pt x="9560185" y="670185"/>
                </a:cubicBezTo>
                <a:cubicBezTo>
                  <a:pt x="9560185" y="670185"/>
                  <a:pt x="9550623" y="684649"/>
                  <a:pt x="9550623" y="689471"/>
                </a:cubicBezTo>
                <a:cubicBezTo>
                  <a:pt x="9550623" y="689471"/>
                  <a:pt x="9550623" y="689471"/>
                  <a:pt x="9550623" y="723221"/>
                </a:cubicBezTo>
                <a:cubicBezTo>
                  <a:pt x="9550623" y="723221"/>
                  <a:pt x="9550623" y="723221"/>
                  <a:pt x="9555404" y="752150"/>
                </a:cubicBezTo>
                <a:cubicBezTo>
                  <a:pt x="9555404" y="752150"/>
                  <a:pt x="9555404" y="752150"/>
                  <a:pt x="9550623" y="795543"/>
                </a:cubicBezTo>
                <a:cubicBezTo>
                  <a:pt x="9574529" y="829294"/>
                  <a:pt x="9569748" y="848580"/>
                  <a:pt x="9617560" y="863044"/>
                </a:cubicBezTo>
                <a:cubicBezTo>
                  <a:pt x="9593654" y="906437"/>
                  <a:pt x="9622341" y="906437"/>
                  <a:pt x="9641466" y="891973"/>
                </a:cubicBezTo>
                <a:lnTo>
                  <a:pt x="9641550" y="891859"/>
                </a:lnTo>
                <a:lnTo>
                  <a:pt x="9642139" y="894007"/>
                </a:lnTo>
                <a:cubicBezTo>
                  <a:pt x="9645314" y="896832"/>
                  <a:pt x="9652691" y="878469"/>
                  <a:pt x="9646761" y="884825"/>
                </a:cubicBezTo>
                <a:lnTo>
                  <a:pt x="9641550" y="891859"/>
                </a:lnTo>
                <a:lnTo>
                  <a:pt x="9640878" y="889402"/>
                </a:lnTo>
                <a:cubicBezTo>
                  <a:pt x="9640719" y="886775"/>
                  <a:pt x="9640868" y="882932"/>
                  <a:pt x="9641466" y="877508"/>
                </a:cubicBezTo>
                <a:cubicBezTo>
                  <a:pt x="9641466" y="877508"/>
                  <a:pt x="9641466" y="877508"/>
                  <a:pt x="9641466" y="843758"/>
                </a:cubicBezTo>
                <a:cubicBezTo>
                  <a:pt x="9641466" y="843758"/>
                  <a:pt x="9641466" y="843758"/>
                  <a:pt x="9641466" y="810008"/>
                </a:cubicBezTo>
                <a:cubicBezTo>
                  <a:pt x="9641466" y="810008"/>
                  <a:pt x="9641466" y="810008"/>
                  <a:pt x="9651029" y="737686"/>
                </a:cubicBezTo>
                <a:cubicBezTo>
                  <a:pt x="9651029" y="708757"/>
                  <a:pt x="9651029" y="732864"/>
                  <a:pt x="9641466" y="713578"/>
                </a:cubicBezTo>
                <a:cubicBezTo>
                  <a:pt x="9684497" y="684649"/>
                  <a:pt x="9636685" y="670185"/>
                  <a:pt x="9698841" y="665364"/>
                </a:cubicBezTo>
                <a:cubicBezTo>
                  <a:pt x="9703622" y="583399"/>
                  <a:pt x="9823153" y="631613"/>
                  <a:pt x="9847059" y="646078"/>
                </a:cubicBezTo>
                <a:cubicBezTo>
                  <a:pt x="9880527" y="670185"/>
                  <a:pt x="9823153" y="790722"/>
                  <a:pt x="9890090" y="800365"/>
                </a:cubicBezTo>
                <a:cubicBezTo>
                  <a:pt x="9890090" y="800365"/>
                  <a:pt x="9890090" y="800365"/>
                  <a:pt x="9909215" y="829294"/>
                </a:cubicBezTo>
                <a:cubicBezTo>
                  <a:pt x="9952246" y="766615"/>
                  <a:pt x="9933121" y="737686"/>
                  <a:pt x="9995277" y="694292"/>
                </a:cubicBezTo>
                <a:cubicBezTo>
                  <a:pt x="9995277" y="694292"/>
                  <a:pt x="9995277" y="694292"/>
                  <a:pt x="9980933" y="670185"/>
                </a:cubicBezTo>
                <a:cubicBezTo>
                  <a:pt x="9980933" y="670185"/>
                  <a:pt x="9980933" y="670185"/>
                  <a:pt x="9985714" y="646078"/>
                </a:cubicBezTo>
                <a:cubicBezTo>
                  <a:pt x="9985714" y="646078"/>
                  <a:pt x="9985714" y="646078"/>
                  <a:pt x="10033526" y="646078"/>
                </a:cubicBezTo>
                <a:cubicBezTo>
                  <a:pt x="10043089" y="694292"/>
                  <a:pt x="10066995" y="728043"/>
                  <a:pt x="10100464" y="713578"/>
                </a:cubicBezTo>
                <a:cubicBezTo>
                  <a:pt x="10119588" y="675007"/>
                  <a:pt x="10076557" y="578577"/>
                  <a:pt x="10124370" y="549648"/>
                </a:cubicBezTo>
                <a:cubicBezTo>
                  <a:pt x="10124370" y="549648"/>
                  <a:pt x="10124370" y="549648"/>
                  <a:pt x="10100464" y="496612"/>
                </a:cubicBezTo>
                <a:cubicBezTo>
                  <a:pt x="10100464" y="496612"/>
                  <a:pt x="10100464" y="496612"/>
                  <a:pt x="10124370" y="496612"/>
                </a:cubicBezTo>
                <a:cubicBezTo>
                  <a:pt x="10124370" y="496612"/>
                  <a:pt x="10124370" y="496612"/>
                  <a:pt x="10114807" y="486969"/>
                </a:cubicBezTo>
                <a:cubicBezTo>
                  <a:pt x="10114807" y="486969"/>
                  <a:pt x="10114807" y="486969"/>
                  <a:pt x="10124370" y="486969"/>
                </a:cubicBezTo>
                <a:cubicBezTo>
                  <a:pt x="10124370" y="486969"/>
                  <a:pt x="10124370" y="486969"/>
                  <a:pt x="10191307" y="448397"/>
                </a:cubicBezTo>
                <a:cubicBezTo>
                  <a:pt x="10191307" y="448397"/>
                  <a:pt x="10191307" y="448397"/>
                  <a:pt x="10267806" y="506255"/>
                </a:cubicBezTo>
                <a:cubicBezTo>
                  <a:pt x="10267806" y="506255"/>
                  <a:pt x="10267806" y="506255"/>
                  <a:pt x="10267806" y="573756"/>
                </a:cubicBezTo>
                <a:cubicBezTo>
                  <a:pt x="10267806" y="573756"/>
                  <a:pt x="10267806" y="573756"/>
                  <a:pt x="10267806" y="607506"/>
                </a:cubicBezTo>
                <a:cubicBezTo>
                  <a:pt x="10267806" y="607506"/>
                  <a:pt x="10267806" y="607506"/>
                  <a:pt x="10267806" y="636435"/>
                </a:cubicBezTo>
                <a:cubicBezTo>
                  <a:pt x="10267806" y="636435"/>
                  <a:pt x="10267806" y="636435"/>
                  <a:pt x="10267806" y="670185"/>
                </a:cubicBezTo>
                <a:cubicBezTo>
                  <a:pt x="10267806" y="670185"/>
                  <a:pt x="10267806" y="670185"/>
                  <a:pt x="10267806" y="703935"/>
                </a:cubicBezTo>
                <a:cubicBezTo>
                  <a:pt x="10267806" y="703935"/>
                  <a:pt x="10267806" y="703935"/>
                  <a:pt x="10267806" y="737686"/>
                </a:cubicBezTo>
                <a:cubicBezTo>
                  <a:pt x="10267806" y="737686"/>
                  <a:pt x="10267806" y="737686"/>
                  <a:pt x="10267806" y="771436"/>
                </a:cubicBezTo>
                <a:cubicBezTo>
                  <a:pt x="10267806" y="771436"/>
                  <a:pt x="10267806" y="771436"/>
                  <a:pt x="10267806" y="805186"/>
                </a:cubicBezTo>
                <a:cubicBezTo>
                  <a:pt x="10267806" y="805186"/>
                  <a:pt x="10267806" y="805186"/>
                  <a:pt x="10267806" y="834115"/>
                </a:cubicBezTo>
                <a:cubicBezTo>
                  <a:pt x="10267806" y="834115"/>
                  <a:pt x="10267806" y="834115"/>
                  <a:pt x="10267806" y="867865"/>
                </a:cubicBezTo>
                <a:cubicBezTo>
                  <a:pt x="10267806" y="867865"/>
                  <a:pt x="10267806" y="867865"/>
                  <a:pt x="10267806" y="901616"/>
                </a:cubicBezTo>
                <a:cubicBezTo>
                  <a:pt x="10267806" y="901616"/>
                  <a:pt x="10267806" y="901616"/>
                  <a:pt x="10267806" y="935366"/>
                </a:cubicBezTo>
                <a:cubicBezTo>
                  <a:pt x="10267806" y="935366"/>
                  <a:pt x="10267806" y="935366"/>
                  <a:pt x="10272588" y="969116"/>
                </a:cubicBezTo>
                <a:cubicBezTo>
                  <a:pt x="10267806" y="1002867"/>
                  <a:pt x="10277369" y="969116"/>
                  <a:pt x="10263025" y="993224"/>
                </a:cubicBezTo>
                <a:cubicBezTo>
                  <a:pt x="10263025" y="993224"/>
                  <a:pt x="10263025" y="993224"/>
                  <a:pt x="10286931" y="1012510"/>
                </a:cubicBezTo>
                <a:cubicBezTo>
                  <a:pt x="10286931" y="1012510"/>
                  <a:pt x="10286931" y="1012510"/>
                  <a:pt x="10310837" y="945009"/>
                </a:cubicBezTo>
                <a:cubicBezTo>
                  <a:pt x="10310837" y="945009"/>
                  <a:pt x="10310837" y="945009"/>
                  <a:pt x="10353868" y="959473"/>
                </a:cubicBezTo>
                <a:cubicBezTo>
                  <a:pt x="10353868" y="959473"/>
                  <a:pt x="10353868" y="959473"/>
                  <a:pt x="10353868" y="930545"/>
                </a:cubicBezTo>
                <a:cubicBezTo>
                  <a:pt x="10353868" y="930545"/>
                  <a:pt x="10353868" y="930545"/>
                  <a:pt x="10406462" y="959473"/>
                </a:cubicBezTo>
                <a:cubicBezTo>
                  <a:pt x="10406462" y="959473"/>
                  <a:pt x="10406462" y="959473"/>
                  <a:pt x="10411243" y="752150"/>
                </a:cubicBezTo>
                <a:cubicBezTo>
                  <a:pt x="10449493" y="694292"/>
                  <a:pt x="10416024" y="718400"/>
                  <a:pt x="10435149" y="679828"/>
                </a:cubicBezTo>
                <a:cubicBezTo>
                  <a:pt x="10444712" y="655721"/>
                  <a:pt x="10492524" y="670185"/>
                  <a:pt x="10506867" y="650899"/>
                </a:cubicBezTo>
                <a:cubicBezTo>
                  <a:pt x="10540336" y="621970"/>
                  <a:pt x="10473399" y="636435"/>
                  <a:pt x="10564242" y="612327"/>
                </a:cubicBezTo>
                <a:cubicBezTo>
                  <a:pt x="10626398" y="597863"/>
                  <a:pt x="10573804" y="578577"/>
                  <a:pt x="10655085" y="578577"/>
                </a:cubicBezTo>
                <a:cubicBezTo>
                  <a:pt x="10655085" y="578577"/>
                  <a:pt x="10655085" y="578577"/>
                  <a:pt x="10674210" y="588220"/>
                </a:cubicBezTo>
                <a:cubicBezTo>
                  <a:pt x="10674210" y="588220"/>
                  <a:pt x="10674210" y="588220"/>
                  <a:pt x="10745928" y="631613"/>
                </a:cubicBezTo>
                <a:cubicBezTo>
                  <a:pt x="10745928" y="684649"/>
                  <a:pt x="10760272" y="694292"/>
                  <a:pt x="10755491" y="732864"/>
                </a:cubicBezTo>
                <a:cubicBezTo>
                  <a:pt x="10755491" y="756972"/>
                  <a:pt x="10760272" y="776257"/>
                  <a:pt x="10760272" y="805186"/>
                </a:cubicBezTo>
                <a:cubicBezTo>
                  <a:pt x="10755491" y="887151"/>
                  <a:pt x="10769835" y="834115"/>
                  <a:pt x="10803303" y="858223"/>
                </a:cubicBezTo>
                <a:cubicBezTo>
                  <a:pt x="10827209" y="877508"/>
                  <a:pt x="10788959" y="978759"/>
                  <a:pt x="10827209" y="978759"/>
                </a:cubicBezTo>
                <a:cubicBezTo>
                  <a:pt x="10851115" y="978759"/>
                  <a:pt x="10851115" y="954652"/>
                  <a:pt x="10851115" y="945009"/>
                </a:cubicBezTo>
                <a:cubicBezTo>
                  <a:pt x="10851115" y="945009"/>
                  <a:pt x="10851115" y="945009"/>
                  <a:pt x="10851115" y="911259"/>
                </a:cubicBezTo>
                <a:cubicBezTo>
                  <a:pt x="10851115" y="911259"/>
                  <a:pt x="10851115" y="911259"/>
                  <a:pt x="10851115" y="877508"/>
                </a:cubicBezTo>
                <a:cubicBezTo>
                  <a:pt x="10851115" y="843758"/>
                  <a:pt x="10855897" y="877508"/>
                  <a:pt x="10846334" y="853401"/>
                </a:cubicBezTo>
                <a:cubicBezTo>
                  <a:pt x="10846334" y="853401"/>
                  <a:pt x="10846334" y="853401"/>
                  <a:pt x="10941959" y="795543"/>
                </a:cubicBezTo>
                <a:cubicBezTo>
                  <a:pt x="10932396" y="776257"/>
                  <a:pt x="10937177" y="747329"/>
                  <a:pt x="10980208" y="747329"/>
                </a:cubicBezTo>
                <a:cubicBezTo>
                  <a:pt x="10980208" y="747329"/>
                  <a:pt x="10980208" y="747329"/>
                  <a:pt x="10999333" y="679828"/>
                </a:cubicBezTo>
                <a:cubicBezTo>
                  <a:pt x="10999333" y="679828"/>
                  <a:pt x="10999333" y="679828"/>
                  <a:pt x="11047145" y="679828"/>
                </a:cubicBezTo>
                <a:cubicBezTo>
                  <a:pt x="11047145" y="679828"/>
                  <a:pt x="11047145" y="679828"/>
                  <a:pt x="11071052" y="665364"/>
                </a:cubicBezTo>
                <a:cubicBezTo>
                  <a:pt x="11094958" y="699114"/>
                  <a:pt x="11099739" y="675007"/>
                  <a:pt x="11099739" y="713578"/>
                </a:cubicBezTo>
                <a:cubicBezTo>
                  <a:pt x="11099739" y="737686"/>
                  <a:pt x="11114083" y="742507"/>
                  <a:pt x="11157114" y="747329"/>
                </a:cubicBezTo>
                <a:cubicBezTo>
                  <a:pt x="11157114" y="771436"/>
                  <a:pt x="11161895" y="776257"/>
                  <a:pt x="11161895" y="805186"/>
                </a:cubicBezTo>
                <a:cubicBezTo>
                  <a:pt x="11161895" y="805186"/>
                  <a:pt x="11161895" y="805186"/>
                  <a:pt x="11161895" y="959473"/>
                </a:cubicBezTo>
                <a:cubicBezTo>
                  <a:pt x="11161895" y="959473"/>
                  <a:pt x="11161895" y="959473"/>
                  <a:pt x="11171457" y="954652"/>
                </a:cubicBezTo>
                <a:cubicBezTo>
                  <a:pt x="11171457" y="954652"/>
                  <a:pt x="11171457" y="954652"/>
                  <a:pt x="11181020" y="993224"/>
                </a:cubicBezTo>
                <a:cubicBezTo>
                  <a:pt x="11243176" y="998045"/>
                  <a:pt x="11252738" y="1017331"/>
                  <a:pt x="11262300" y="945009"/>
                </a:cubicBezTo>
                <a:cubicBezTo>
                  <a:pt x="11290988" y="945009"/>
                  <a:pt x="11281425" y="969116"/>
                  <a:pt x="11300550" y="1002867"/>
                </a:cubicBezTo>
                <a:cubicBezTo>
                  <a:pt x="11367487" y="969116"/>
                  <a:pt x="11357925" y="1026974"/>
                  <a:pt x="11357925" y="901616"/>
                </a:cubicBezTo>
                <a:cubicBezTo>
                  <a:pt x="11357925" y="858223"/>
                  <a:pt x="11367487" y="781079"/>
                  <a:pt x="11357925" y="761793"/>
                </a:cubicBezTo>
                <a:cubicBezTo>
                  <a:pt x="11434424" y="756972"/>
                  <a:pt x="11434424" y="679828"/>
                  <a:pt x="11487018" y="713578"/>
                </a:cubicBezTo>
                <a:cubicBezTo>
                  <a:pt x="11487018" y="713578"/>
                  <a:pt x="11487018" y="713578"/>
                  <a:pt x="11525268" y="747329"/>
                </a:cubicBezTo>
                <a:cubicBezTo>
                  <a:pt x="11525268" y="747329"/>
                  <a:pt x="11525268" y="747329"/>
                  <a:pt x="11553955" y="785900"/>
                </a:cubicBezTo>
                <a:cubicBezTo>
                  <a:pt x="11601767" y="689471"/>
                  <a:pt x="11496580" y="689471"/>
                  <a:pt x="11630455" y="689471"/>
                </a:cubicBezTo>
                <a:cubicBezTo>
                  <a:pt x="11649579" y="689471"/>
                  <a:pt x="11649579" y="684649"/>
                  <a:pt x="11668704" y="679828"/>
                </a:cubicBezTo>
                <a:cubicBezTo>
                  <a:pt x="11726079" y="708757"/>
                  <a:pt x="11659142" y="694292"/>
                  <a:pt x="11706954" y="723221"/>
                </a:cubicBezTo>
                <a:cubicBezTo>
                  <a:pt x="11740423" y="737686"/>
                  <a:pt x="11740423" y="742507"/>
                  <a:pt x="11749985" y="776257"/>
                </a:cubicBezTo>
                <a:cubicBezTo>
                  <a:pt x="11754766" y="824472"/>
                  <a:pt x="11764329" y="858223"/>
                  <a:pt x="11749985" y="887151"/>
                </a:cubicBezTo>
                <a:cubicBezTo>
                  <a:pt x="11749985" y="887151"/>
                  <a:pt x="11749985" y="887151"/>
                  <a:pt x="11759548" y="896794"/>
                </a:cubicBezTo>
                <a:cubicBezTo>
                  <a:pt x="11759548" y="896794"/>
                  <a:pt x="11759548" y="896794"/>
                  <a:pt x="11764329" y="887151"/>
                </a:cubicBezTo>
                <a:cubicBezTo>
                  <a:pt x="11764329" y="887151"/>
                  <a:pt x="11764329" y="887151"/>
                  <a:pt x="11874297" y="930545"/>
                </a:cubicBezTo>
                <a:cubicBezTo>
                  <a:pt x="11874297" y="930545"/>
                  <a:pt x="11874297" y="930545"/>
                  <a:pt x="11859953" y="949831"/>
                </a:cubicBezTo>
                <a:cubicBezTo>
                  <a:pt x="11898203" y="978759"/>
                  <a:pt x="11864734" y="954652"/>
                  <a:pt x="11869516" y="978759"/>
                </a:cubicBezTo>
                <a:cubicBezTo>
                  <a:pt x="11869516" y="978759"/>
                  <a:pt x="11869516" y="978759"/>
                  <a:pt x="11869516" y="1007688"/>
                </a:cubicBezTo>
                <a:cubicBezTo>
                  <a:pt x="11869516" y="1007688"/>
                  <a:pt x="11869516" y="1007688"/>
                  <a:pt x="11869516" y="1041438"/>
                </a:cubicBezTo>
                <a:cubicBezTo>
                  <a:pt x="11869516" y="1041438"/>
                  <a:pt x="11869516" y="1041438"/>
                  <a:pt x="11864734" y="1094475"/>
                </a:cubicBezTo>
                <a:cubicBezTo>
                  <a:pt x="11931671" y="1089653"/>
                  <a:pt x="11898203" y="1031796"/>
                  <a:pt x="11898203" y="1007688"/>
                </a:cubicBezTo>
                <a:cubicBezTo>
                  <a:pt x="11898203" y="1007688"/>
                  <a:pt x="11898203" y="1007688"/>
                  <a:pt x="11898203" y="978759"/>
                </a:cubicBezTo>
                <a:cubicBezTo>
                  <a:pt x="11902984" y="920902"/>
                  <a:pt x="11893422" y="867865"/>
                  <a:pt x="11969921" y="829294"/>
                </a:cubicBezTo>
                <a:cubicBezTo>
                  <a:pt x="11969921" y="829294"/>
                  <a:pt x="11969921" y="829294"/>
                  <a:pt x="11998609" y="863044"/>
                </a:cubicBezTo>
                <a:cubicBezTo>
                  <a:pt x="11998609" y="863044"/>
                  <a:pt x="11998609" y="863044"/>
                  <a:pt x="12022515" y="863044"/>
                </a:cubicBezTo>
                <a:cubicBezTo>
                  <a:pt x="12051202" y="863044"/>
                  <a:pt x="12094233" y="906437"/>
                  <a:pt x="12113358" y="920902"/>
                </a:cubicBezTo>
                <a:cubicBezTo>
                  <a:pt x="12122920" y="896794"/>
                  <a:pt x="12113358" y="877508"/>
                  <a:pt x="12118139" y="863044"/>
                </a:cubicBezTo>
                <a:cubicBezTo>
                  <a:pt x="12127702" y="834115"/>
                  <a:pt x="12151608" y="848580"/>
                  <a:pt x="12161170" y="795543"/>
                </a:cubicBezTo>
                <a:cubicBezTo>
                  <a:pt x="12185076" y="810008"/>
                  <a:pt x="12189857" y="795543"/>
                  <a:pt x="12194639" y="761793"/>
                </a:cubicBezTo>
                <a:cubicBezTo>
                  <a:pt x="12194639" y="761793"/>
                  <a:pt x="12194639" y="761793"/>
                  <a:pt x="12232888" y="761793"/>
                </a:cubicBezTo>
                <a:cubicBezTo>
                  <a:pt x="12271138" y="761793"/>
                  <a:pt x="12266357" y="805186"/>
                  <a:pt x="12295044" y="795543"/>
                </a:cubicBezTo>
                <a:cubicBezTo>
                  <a:pt x="12295044" y="795543"/>
                  <a:pt x="12295044" y="795543"/>
                  <a:pt x="12299826" y="805186"/>
                </a:cubicBezTo>
                <a:cubicBezTo>
                  <a:pt x="12309388" y="810008"/>
                  <a:pt x="12304607" y="829294"/>
                  <a:pt x="12333294" y="819651"/>
                </a:cubicBezTo>
                <a:cubicBezTo>
                  <a:pt x="12361981" y="810008"/>
                  <a:pt x="12352419" y="819651"/>
                  <a:pt x="12390669" y="810008"/>
                </a:cubicBezTo>
                <a:cubicBezTo>
                  <a:pt x="12385888" y="800365"/>
                  <a:pt x="12381106" y="805186"/>
                  <a:pt x="12381106" y="785900"/>
                </a:cubicBezTo>
                <a:cubicBezTo>
                  <a:pt x="12381106" y="785900"/>
                  <a:pt x="12381106" y="785900"/>
                  <a:pt x="12381106" y="761793"/>
                </a:cubicBezTo>
                <a:cubicBezTo>
                  <a:pt x="12381106" y="761793"/>
                  <a:pt x="12381106" y="761793"/>
                  <a:pt x="12514981" y="761793"/>
                </a:cubicBezTo>
                <a:cubicBezTo>
                  <a:pt x="12514981" y="805186"/>
                  <a:pt x="12519762" y="814829"/>
                  <a:pt x="12543668" y="814829"/>
                </a:cubicBezTo>
                <a:cubicBezTo>
                  <a:pt x="12567574" y="819651"/>
                  <a:pt x="12596261" y="829294"/>
                  <a:pt x="12596261" y="829294"/>
                </a:cubicBezTo>
                <a:cubicBezTo>
                  <a:pt x="12615386" y="829294"/>
                  <a:pt x="12663198" y="790722"/>
                  <a:pt x="12667980" y="761793"/>
                </a:cubicBezTo>
                <a:cubicBezTo>
                  <a:pt x="12667980" y="761793"/>
                  <a:pt x="12667980" y="761793"/>
                  <a:pt x="12744479" y="761793"/>
                </a:cubicBezTo>
                <a:cubicBezTo>
                  <a:pt x="12744479" y="761793"/>
                  <a:pt x="12744479" y="761793"/>
                  <a:pt x="12734917" y="766615"/>
                </a:cubicBezTo>
                <a:cubicBezTo>
                  <a:pt x="12734917" y="766615"/>
                  <a:pt x="12734917" y="766615"/>
                  <a:pt x="12806635" y="867865"/>
                </a:cubicBezTo>
                <a:cubicBezTo>
                  <a:pt x="12806635" y="867865"/>
                  <a:pt x="12806635" y="867865"/>
                  <a:pt x="12816198" y="858223"/>
                </a:cubicBezTo>
                <a:cubicBezTo>
                  <a:pt x="12816198" y="858223"/>
                  <a:pt x="12816198" y="858223"/>
                  <a:pt x="12820979" y="867865"/>
                </a:cubicBezTo>
                <a:cubicBezTo>
                  <a:pt x="12820979" y="867865"/>
                  <a:pt x="12820979" y="867865"/>
                  <a:pt x="12825760" y="896794"/>
                </a:cubicBezTo>
                <a:cubicBezTo>
                  <a:pt x="12825760" y="896794"/>
                  <a:pt x="12825760" y="896794"/>
                  <a:pt x="12849666" y="901616"/>
                </a:cubicBezTo>
                <a:lnTo>
                  <a:pt x="12858750" y="901616"/>
                </a:lnTo>
                <a:lnTo>
                  <a:pt x="12858750" y="1456085"/>
                </a:lnTo>
                <a:lnTo>
                  <a:pt x="12300487" y="1456085"/>
                </a:lnTo>
                <a:lnTo>
                  <a:pt x="11292958" y="1456085"/>
                </a:lnTo>
                <a:lnTo>
                  <a:pt x="10062359" y="1456085"/>
                </a:lnTo>
                <a:lnTo>
                  <a:pt x="8586385" y="1456085"/>
                </a:lnTo>
                <a:lnTo>
                  <a:pt x="7749411" y="1456085"/>
                </a:lnTo>
                <a:lnTo>
                  <a:pt x="6842728" y="1456085"/>
                </a:lnTo>
                <a:lnTo>
                  <a:pt x="5863547" y="1456085"/>
                </a:lnTo>
                <a:lnTo>
                  <a:pt x="4809080" y="1456085"/>
                </a:lnTo>
                <a:lnTo>
                  <a:pt x="3676539" y="1456085"/>
                </a:lnTo>
                <a:lnTo>
                  <a:pt x="2463136" y="1456085"/>
                </a:lnTo>
                <a:lnTo>
                  <a:pt x="1166081" y="1456085"/>
                </a:lnTo>
                <a:lnTo>
                  <a:pt x="0" y="1456085"/>
                </a:lnTo>
                <a:lnTo>
                  <a:pt x="0" y="1248762"/>
                </a:lnTo>
                <a:lnTo>
                  <a:pt x="50335" y="1248762"/>
                </a:lnTo>
                <a:cubicBezTo>
                  <a:pt x="50335" y="1248762"/>
                  <a:pt x="50335" y="1248762"/>
                  <a:pt x="117273" y="1248762"/>
                </a:cubicBezTo>
                <a:cubicBezTo>
                  <a:pt x="193772" y="1248762"/>
                  <a:pt x="141179" y="1258405"/>
                  <a:pt x="193772" y="1263226"/>
                </a:cubicBezTo>
                <a:cubicBezTo>
                  <a:pt x="251147" y="1272869"/>
                  <a:pt x="236803" y="1239119"/>
                  <a:pt x="236803" y="1210190"/>
                </a:cubicBezTo>
                <a:cubicBezTo>
                  <a:pt x="236803" y="1177645"/>
                  <a:pt x="228735" y="1131540"/>
                  <a:pt x="236803" y="1094249"/>
                </a:cubicBezTo>
                <a:lnTo>
                  <a:pt x="246905" y="1070639"/>
                </a:lnTo>
                <a:lnTo>
                  <a:pt x="255928" y="1075189"/>
                </a:lnTo>
                <a:cubicBezTo>
                  <a:pt x="255928" y="1075189"/>
                  <a:pt x="255928" y="1075189"/>
                  <a:pt x="260709" y="1070367"/>
                </a:cubicBezTo>
                <a:cubicBezTo>
                  <a:pt x="260709" y="1070367"/>
                  <a:pt x="260709" y="1070367"/>
                  <a:pt x="279834" y="1084832"/>
                </a:cubicBezTo>
                <a:cubicBezTo>
                  <a:pt x="279834" y="1084832"/>
                  <a:pt x="279834" y="1084832"/>
                  <a:pt x="346771" y="1099296"/>
                </a:cubicBezTo>
                <a:cubicBezTo>
                  <a:pt x="346771" y="1099296"/>
                  <a:pt x="346771" y="1099296"/>
                  <a:pt x="346771" y="1181261"/>
                </a:cubicBezTo>
                <a:cubicBezTo>
                  <a:pt x="346771" y="1181261"/>
                  <a:pt x="346771" y="1181261"/>
                  <a:pt x="341990" y="1210190"/>
                </a:cubicBezTo>
                <a:cubicBezTo>
                  <a:pt x="341990" y="1210190"/>
                  <a:pt x="341990" y="1210190"/>
                  <a:pt x="346771" y="1258405"/>
                </a:cubicBezTo>
                <a:cubicBezTo>
                  <a:pt x="423271" y="1263226"/>
                  <a:pt x="389802" y="1258405"/>
                  <a:pt x="418490" y="1215012"/>
                </a:cubicBezTo>
                <a:cubicBezTo>
                  <a:pt x="418490" y="1215012"/>
                  <a:pt x="418490" y="1215012"/>
                  <a:pt x="408927" y="1215012"/>
                </a:cubicBezTo>
                <a:cubicBezTo>
                  <a:pt x="408927" y="1215012"/>
                  <a:pt x="408927" y="1215012"/>
                  <a:pt x="413708" y="1060724"/>
                </a:cubicBezTo>
                <a:cubicBezTo>
                  <a:pt x="413708" y="1060724"/>
                  <a:pt x="413708" y="1060724"/>
                  <a:pt x="437614" y="1060724"/>
                </a:cubicBezTo>
                <a:cubicBezTo>
                  <a:pt x="466302" y="1060724"/>
                  <a:pt x="456739" y="1075189"/>
                  <a:pt x="456739" y="1099296"/>
                </a:cubicBezTo>
                <a:cubicBezTo>
                  <a:pt x="456739" y="1099296"/>
                  <a:pt x="456739" y="1099296"/>
                  <a:pt x="428052" y="1210190"/>
                </a:cubicBezTo>
                <a:cubicBezTo>
                  <a:pt x="428052" y="1210190"/>
                  <a:pt x="428052" y="1210190"/>
                  <a:pt x="466302" y="1171618"/>
                </a:cubicBezTo>
                <a:cubicBezTo>
                  <a:pt x="466302" y="1171618"/>
                  <a:pt x="466302" y="1171618"/>
                  <a:pt x="514114" y="1176440"/>
                </a:cubicBezTo>
                <a:cubicBezTo>
                  <a:pt x="514114" y="1176440"/>
                  <a:pt x="514114" y="1176440"/>
                  <a:pt x="528458" y="1210190"/>
                </a:cubicBezTo>
                <a:cubicBezTo>
                  <a:pt x="528458" y="1210190"/>
                  <a:pt x="528458" y="1210190"/>
                  <a:pt x="576270" y="1157154"/>
                </a:cubicBezTo>
                <a:cubicBezTo>
                  <a:pt x="581051" y="1161975"/>
                  <a:pt x="595395" y="1176440"/>
                  <a:pt x="600176" y="1176440"/>
                </a:cubicBezTo>
                <a:cubicBezTo>
                  <a:pt x="619301" y="1176440"/>
                  <a:pt x="619301" y="1166797"/>
                  <a:pt x="638426" y="1157154"/>
                </a:cubicBezTo>
                <a:cubicBezTo>
                  <a:pt x="638426" y="1157154"/>
                  <a:pt x="638426" y="1157154"/>
                  <a:pt x="633645" y="1243940"/>
                </a:cubicBezTo>
                <a:cubicBezTo>
                  <a:pt x="633645" y="1243940"/>
                  <a:pt x="633645" y="1243940"/>
                  <a:pt x="624082" y="1248762"/>
                </a:cubicBezTo>
                <a:cubicBezTo>
                  <a:pt x="624082" y="1248762"/>
                  <a:pt x="624082" y="1248762"/>
                  <a:pt x="609738" y="1210190"/>
                </a:cubicBezTo>
                <a:cubicBezTo>
                  <a:pt x="609738" y="1210190"/>
                  <a:pt x="609738" y="1210190"/>
                  <a:pt x="581051" y="1215012"/>
                </a:cubicBezTo>
                <a:cubicBezTo>
                  <a:pt x="581051" y="1215012"/>
                  <a:pt x="581051" y="1215012"/>
                  <a:pt x="576270" y="1258405"/>
                </a:cubicBezTo>
                <a:cubicBezTo>
                  <a:pt x="576270" y="1258405"/>
                  <a:pt x="576270" y="1258405"/>
                  <a:pt x="633645" y="1268048"/>
                </a:cubicBezTo>
                <a:cubicBezTo>
                  <a:pt x="633645" y="1268048"/>
                  <a:pt x="633645" y="1268048"/>
                  <a:pt x="638426" y="1268048"/>
                </a:cubicBezTo>
                <a:cubicBezTo>
                  <a:pt x="686238" y="1268048"/>
                  <a:pt x="700582" y="1234297"/>
                  <a:pt x="695800" y="1200547"/>
                </a:cubicBezTo>
                <a:cubicBezTo>
                  <a:pt x="695800" y="1200547"/>
                  <a:pt x="695800" y="1200547"/>
                  <a:pt x="695800" y="1166797"/>
                </a:cubicBezTo>
                <a:cubicBezTo>
                  <a:pt x="695800" y="1166797"/>
                  <a:pt x="695800" y="1166797"/>
                  <a:pt x="695800" y="1133046"/>
                </a:cubicBezTo>
                <a:cubicBezTo>
                  <a:pt x="695800" y="1133046"/>
                  <a:pt x="695800" y="1133046"/>
                  <a:pt x="695800" y="1099296"/>
                </a:cubicBezTo>
                <a:cubicBezTo>
                  <a:pt x="695800" y="1099296"/>
                  <a:pt x="695800" y="1099296"/>
                  <a:pt x="695800" y="1041438"/>
                </a:cubicBezTo>
                <a:cubicBezTo>
                  <a:pt x="695800" y="1041438"/>
                  <a:pt x="695800" y="1041438"/>
                  <a:pt x="743613" y="1070367"/>
                </a:cubicBezTo>
                <a:cubicBezTo>
                  <a:pt x="743613" y="1070367"/>
                  <a:pt x="743613" y="1070367"/>
                  <a:pt x="772300" y="1055903"/>
                </a:cubicBezTo>
                <a:cubicBezTo>
                  <a:pt x="772300" y="1055903"/>
                  <a:pt x="772300" y="1055903"/>
                  <a:pt x="805769" y="1022153"/>
                </a:cubicBezTo>
                <a:cubicBezTo>
                  <a:pt x="805769" y="1022153"/>
                  <a:pt x="805769" y="1022153"/>
                  <a:pt x="810550" y="1026974"/>
                </a:cubicBezTo>
                <a:cubicBezTo>
                  <a:pt x="810550" y="1017331"/>
                  <a:pt x="800987" y="1002867"/>
                  <a:pt x="820112" y="1002867"/>
                </a:cubicBezTo>
                <a:cubicBezTo>
                  <a:pt x="848800" y="1002867"/>
                  <a:pt x="844018" y="1012510"/>
                  <a:pt x="834456" y="1026974"/>
                </a:cubicBezTo>
                <a:cubicBezTo>
                  <a:pt x="887049" y="1031796"/>
                  <a:pt x="887049" y="1080010"/>
                  <a:pt x="887049" y="1118582"/>
                </a:cubicBezTo>
                <a:cubicBezTo>
                  <a:pt x="887049" y="1118582"/>
                  <a:pt x="887049" y="1118582"/>
                  <a:pt x="887049" y="1123404"/>
                </a:cubicBezTo>
                <a:cubicBezTo>
                  <a:pt x="887049" y="1123404"/>
                  <a:pt x="887049" y="1123404"/>
                  <a:pt x="887049" y="1157154"/>
                </a:cubicBezTo>
                <a:cubicBezTo>
                  <a:pt x="887049" y="1200547"/>
                  <a:pt x="901393" y="1186083"/>
                  <a:pt x="901393" y="1224654"/>
                </a:cubicBezTo>
                <a:cubicBezTo>
                  <a:pt x="901393" y="1224654"/>
                  <a:pt x="901393" y="1224654"/>
                  <a:pt x="1006580" y="1234297"/>
                </a:cubicBezTo>
                <a:cubicBezTo>
                  <a:pt x="1006580" y="1234297"/>
                  <a:pt x="1006580" y="1234297"/>
                  <a:pt x="1035267" y="1234297"/>
                </a:cubicBezTo>
                <a:cubicBezTo>
                  <a:pt x="1035267" y="1234297"/>
                  <a:pt x="1035267" y="1234297"/>
                  <a:pt x="1073517" y="1234297"/>
                </a:cubicBezTo>
                <a:cubicBezTo>
                  <a:pt x="1073517" y="1234297"/>
                  <a:pt x="1073517" y="1234297"/>
                  <a:pt x="1097423" y="1239119"/>
                </a:cubicBezTo>
                <a:cubicBezTo>
                  <a:pt x="1097423" y="1239119"/>
                  <a:pt x="1097423" y="1239119"/>
                  <a:pt x="1154798" y="1224654"/>
                </a:cubicBezTo>
                <a:cubicBezTo>
                  <a:pt x="1154798" y="1224654"/>
                  <a:pt x="1154798" y="1224654"/>
                  <a:pt x="1164360" y="1055903"/>
                </a:cubicBezTo>
                <a:lnTo>
                  <a:pt x="1164360" y="1061779"/>
                </a:lnTo>
                <a:cubicBezTo>
                  <a:pt x="1164360" y="1068559"/>
                  <a:pt x="1164360" y="1077600"/>
                  <a:pt x="1164360" y="1089653"/>
                </a:cubicBezTo>
                <a:cubicBezTo>
                  <a:pt x="1164360" y="1089653"/>
                  <a:pt x="1164360" y="1089653"/>
                  <a:pt x="1207391" y="1002867"/>
                </a:cubicBezTo>
                <a:cubicBezTo>
                  <a:pt x="1207391" y="969116"/>
                  <a:pt x="1269547" y="964295"/>
                  <a:pt x="1288672" y="964295"/>
                </a:cubicBezTo>
                <a:cubicBezTo>
                  <a:pt x="1341266" y="959473"/>
                  <a:pt x="1331703" y="969116"/>
                  <a:pt x="1384296" y="1002867"/>
                </a:cubicBezTo>
                <a:cubicBezTo>
                  <a:pt x="1384296" y="1002867"/>
                  <a:pt x="1384296" y="1002867"/>
                  <a:pt x="1408202" y="877508"/>
                </a:cubicBezTo>
                <a:cubicBezTo>
                  <a:pt x="1408202" y="877508"/>
                  <a:pt x="1408202" y="877508"/>
                  <a:pt x="1432109" y="877508"/>
                </a:cubicBezTo>
                <a:cubicBezTo>
                  <a:pt x="1427327" y="853401"/>
                  <a:pt x="1432109" y="819651"/>
                  <a:pt x="1432109" y="795543"/>
                </a:cubicBezTo>
                <a:cubicBezTo>
                  <a:pt x="1432109" y="732864"/>
                  <a:pt x="1417765" y="747329"/>
                  <a:pt x="1475140" y="723221"/>
                </a:cubicBezTo>
                <a:cubicBezTo>
                  <a:pt x="1475140" y="723221"/>
                  <a:pt x="1475140" y="723221"/>
                  <a:pt x="1484702" y="670185"/>
                </a:cubicBezTo>
                <a:cubicBezTo>
                  <a:pt x="1484702" y="670185"/>
                  <a:pt x="1484702" y="670185"/>
                  <a:pt x="1518171" y="679828"/>
                </a:cubicBezTo>
                <a:cubicBezTo>
                  <a:pt x="1522952" y="747329"/>
                  <a:pt x="1628139" y="728043"/>
                  <a:pt x="1647264" y="723221"/>
                </a:cubicBezTo>
                <a:cubicBezTo>
                  <a:pt x="1690295" y="689471"/>
                  <a:pt x="1609014" y="530362"/>
                  <a:pt x="1704638" y="530362"/>
                </a:cubicBezTo>
                <a:cubicBezTo>
                  <a:pt x="1704638" y="530362"/>
                  <a:pt x="1704638" y="530362"/>
                  <a:pt x="1723763" y="530362"/>
                </a:cubicBezTo>
                <a:cubicBezTo>
                  <a:pt x="1723763" y="530362"/>
                  <a:pt x="1723763" y="530362"/>
                  <a:pt x="1762013" y="482148"/>
                </a:cubicBezTo>
                <a:cubicBezTo>
                  <a:pt x="1762013" y="482148"/>
                  <a:pt x="1762013" y="482148"/>
                  <a:pt x="1876762" y="506255"/>
                </a:cubicBezTo>
                <a:cubicBezTo>
                  <a:pt x="1900668" y="549648"/>
                  <a:pt x="1891106" y="530362"/>
                  <a:pt x="1924574" y="530362"/>
                </a:cubicBezTo>
                <a:lnTo>
                  <a:pt x="1942258" y="535712"/>
                </a:lnTo>
                <a:lnTo>
                  <a:pt x="1940711" y="536464"/>
                </a:lnTo>
                <a:cubicBezTo>
                  <a:pt x="1939815" y="537143"/>
                  <a:pt x="1941309" y="536690"/>
                  <a:pt x="1942504" y="535786"/>
                </a:cubicBezTo>
                <a:lnTo>
                  <a:pt x="1942258" y="535712"/>
                </a:lnTo>
                <a:lnTo>
                  <a:pt x="1953262" y="530362"/>
                </a:lnTo>
                <a:cubicBezTo>
                  <a:pt x="1953262" y="530362"/>
                  <a:pt x="1953262" y="530362"/>
                  <a:pt x="1953262" y="544827"/>
                </a:cubicBezTo>
                <a:cubicBezTo>
                  <a:pt x="1953262" y="544827"/>
                  <a:pt x="1953262" y="544827"/>
                  <a:pt x="1962824" y="564113"/>
                </a:cubicBezTo>
                <a:cubicBezTo>
                  <a:pt x="1962824" y="564113"/>
                  <a:pt x="1962824" y="564113"/>
                  <a:pt x="1962824" y="597863"/>
                </a:cubicBezTo>
                <a:cubicBezTo>
                  <a:pt x="1962824" y="597863"/>
                  <a:pt x="1962824" y="597863"/>
                  <a:pt x="1962824" y="631613"/>
                </a:cubicBezTo>
                <a:cubicBezTo>
                  <a:pt x="1962824" y="631613"/>
                  <a:pt x="1962824" y="631613"/>
                  <a:pt x="1962824" y="665364"/>
                </a:cubicBezTo>
                <a:cubicBezTo>
                  <a:pt x="1962824" y="665364"/>
                  <a:pt x="1962824" y="665364"/>
                  <a:pt x="1962824" y="694292"/>
                </a:cubicBezTo>
                <a:cubicBezTo>
                  <a:pt x="1962824" y="694292"/>
                  <a:pt x="1962824" y="694292"/>
                  <a:pt x="1962824" y="728043"/>
                </a:cubicBezTo>
                <a:cubicBezTo>
                  <a:pt x="1962824" y="728043"/>
                  <a:pt x="1962824" y="728043"/>
                  <a:pt x="1962824" y="761793"/>
                </a:cubicBezTo>
                <a:cubicBezTo>
                  <a:pt x="1962824" y="761793"/>
                  <a:pt x="1962824" y="761793"/>
                  <a:pt x="1962824" y="795543"/>
                </a:cubicBezTo>
                <a:cubicBezTo>
                  <a:pt x="1962824" y="795543"/>
                  <a:pt x="1962824" y="795543"/>
                  <a:pt x="1962824" y="829294"/>
                </a:cubicBezTo>
                <a:cubicBezTo>
                  <a:pt x="1962824" y="829294"/>
                  <a:pt x="1962824" y="829294"/>
                  <a:pt x="1962824" y="863044"/>
                </a:cubicBezTo>
                <a:cubicBezTo>
                  <a:pt x="1962824" y="863044"/>
                  <a:pt x="1962824" y="863044"/>
                  <a:pt x="1962824" y="891973"/>
                </a:cubicBezTo>
                <a:cubicBezTo>
                  <a:pt x="1962824" y="891973"/>
                  <a:pt x="1962824" y="891973"/>
                  <a:pt x="1962824" y="925723"/>
                </a:cubicBezTo>
                <a:cubicBezTo>
                  <a:pt x="1962824" y="925723"/>
                  <a:pt x="1962824" y="925723"/>
                  <a:pt x="1967606" y="959473"/>
                </a:cubicBezTo>
                <a:cubicBezTo>
                  <a:pt x="1958043" y="1051081"/>
                  <a:pt x="1986731" y="998045"/>
                  <a:pt x="2029762" y="1017331"/>
                </a:cubicBezTo>
                <a:cubicBezTo>
                  <a:pt x="2029762" y="1017331"/>
                  <a:pt x="2029762" y="1017331"/>
                  <a:pt x="2029762" y="949831"/>
                </a:cubicBezTo>
                <a:cubicBezTo>
                  <a:pt x="2029762" y="949831"/>
                  <a:pt x="2029762" y="949831"/>
                  <a:pt x="2034543" y="925723"/>
                </a:cubicBezTo>
                <a:cubicBezTo>
                  <a:pt x="2034543" y="925723"/>
                  <a:pt x="2034543" y="925723"/>
                  <a:pt x="2029762" y="887151"/>
                </a:cubicBezTo>
                <a:cubicBezTo>
                  <a:pt x="2029762" y="887151"/>
                  <a:pt x="2029762" y="887151"/>
                  <a:pt x="2034543" y="863044"/>
                </a:cubicBezTo>
                <a:cubicBezTo>
                  <a:pt x="2034543" y="863044"/>
                  <a:pt x="2034543" y="863044"/>
                  <a:pt x="2029762" y="819651"/>
                </a:cubicBezTo>
                <a:cubicBezTo>
                  <a:pt x="2029762" y="819651"/>
                  <a:pt x="2029762" y="819651"/>
                  <a:pt x="2034543" y="795543"/>
                </a:cubicBezTo>
                <a:cubicBezTo>
                  <a:pt x="2034543" y="795543"/>
                  <a:pt x="2034543" y="795543"/>
                  <a:pt x="2029762" y="752150"/>
                </a:cubicBezTo>
                <a:cubicBezTo>
                  <a:pt x="2029762" y="752150"/>
                  <a:pt x="2029762" y="752150"/>
                  <a:pt x="2029762" y="728043"/>
                </a:cubicBezTo>
                <a:cubicBezTo>
                  <a:pt x="2029762" y="728043"/>
                  <a:pt x="2029762" y="728043"/>
                  <a:pt x="2039324" y="694292"/>
                </a:cubicBezTo>
                <a:cubicBezTo>
                  <a:pt x="2039324" y="694292"/>
                  <a:pt x="2039324" y="694292"/>
                  <a:pt x="2173198" y="679828"/>
                </a:cubicBezTo>
                <a:cubicBezTo>
                  <a:pt x="2173198" y="679828"/>
                  <a:pt x="2173198" y="679828"/>
                  <a:pt x="2120605" y="573756"/>
                </a:cubicBezTo>
                <a:cubicBezTo>
                  <a:pt x="2192323" y="540005"/>
                  <a:pt x="2154073" y="515898"/>
                  <a:pt x="2206667" y="511076"/>
                </a:cubicBezTo>
                <a:cubicBezTo>
                  <a:pt x="2292729" y="496612"/>
                  <a:pt x="2230573" y="564113"/>
                  <a:pt x="2311854" y="573756"/>
                </a:cubicBezTo>
                <a:cubicBezTo>
                  <a:pt x="2292729" y="607506"/>
                  <a:pt x="2292729" y="636435"/>
                  <a:pt x="2264041" y="636435"/>
                </a:cubicBezTo>
                <a:cubicBezTo>
                  <a:pt x="2264041" y="636435"/>
                  <a:pt x="2264041" y="636435"/>
                  <a:pt x="2259260" y="665364"/>
                </a:cubicBezTo>
                <a:cubicBezTo>
                  <a:pt x="2259260" y="699114"/>
                  <a:pt x="2287947" y="713578"/>
                  <a:pt x="2278385" y="747329"/>
                </a:cubicBezTo>
                <a:cubicBezTo>
                  <a:pt x="2278385" y="747329"/>
                  <a:pt x="2278385" y="747329"/>
                  <a:pt x="2340541" y="747329"/>
                </a:cubicBezTo>
                <a:cubicBezTo>
                  <a:pt x="2340541" y="747329"/>
                  <a:pt x="2340541" y="747329"/>
                  <a:pt x="2340541" y="795543"/>
                </a:cubicBezTo>
                <a:cubicBezTo>
                  <a:pt x="2340541" y="795543"/>
                  <a:pt x="2340541" y="795543"/>
                  <a:pt x="2383572" y="795543"/>
                </a:cubicBezTo>
                <a:cubicBezTo>
                  <a:pt x="2383572" y="795543"/>
                  <a:pt x="2383572" y="795543"/>
                  <a:pt x="2407478" y="795543"/>
                </a:cubicBezTo>
                <a:cubicBezTo>
                  <a:pt x="2407478" y="795543"/>
                  <a:pt x="2407478" y="795543"/>
                  <a:pt x="2417040" y="805186"/>
                </a:cubicBezTo>
                <a:cubicBezTo>
                  <a:pt x="2431384" y="819651"/>
                  <a:pt x="2369228" y="877508"/>
                  <a:pt x="2474415" y="877508"/>
                </a:cubicBezTo>
                <a:cubicBezTo>
                  <a:pt x="2474415" y="877508"/>
                  <a:pt x="2474415" y="877508"/>
                  <a:pt x="2503102" y="872687"/>
                </a:cubicBezTo>
                <a:cubicBezTo>
                  <a:pt x="2503102" y="872687"/>
                  <a:pt x="2503102" y="872687"/>
                  <a:pt x="2536571" y="843758"/>
                </a:cubicBezTo>
                <a:cubicBezTo>
                  <a:pt x="2536571" y="843758"/>
                  <a:pt x="2536571" y="843758"/>
                  <a:pt x="2555696" y="863044"/>
                </a:cubicBezTo>
                <a:cubicBezTo>
                  <a:pt x="2555696" y="863044"/>
                  <a:pt x="2555696" y="863044"/>
                  <a:pt x="2589164" y="911259"/>
                </a:cubicBezTo>
                <a:cubicBezTo>
                  <a:pt x="2589164" y="940188"/>
                  <a:pt x="2579602" y="1007688"/>
                  <a:pt x="2593946" y="1026974"/>
                </a:cubicBezTo>
                <a:cubicBezTo>
                  <a:pt x="2617852" y="1055903"/>
                  <a:pt x="2632195" y="1002867"/>
                  <a:pt x="2646539" y="993224"/>
                </a:cubicBezTo>
                <a:cubicBezTo>
                  <a:pt x="2646539" y="993224"/>
                  <a:pt x="2646539" y="993224"/>
                  <a:pt x="2636977" y="993224"/>
                </a:cubicBezTo>
                <a:cubicBezTo>
                  <a:pt x="2636977" y="993224"/>
                  <a:pt x="2636977" y="993224"/>
                  <a:pt x="2636977" y="925723"/>
                </a:cubicBezTo>
                <a:cubicBezTo>
                  <a:pt x="2636977" y="925723"/>
                  <a:pt x="2636977" y="925723"/>
                  <a:pt x="2646539" y="925723"/>
                </a:cubicBezTo>
                <a:cubicBezTo>
                  <a:pt x="2646539" y="925723"/>
                  <a:pt x="2646539" y="925723"/>
                  <a:pt x="2627414" y="911259"/>
                </a:cubicBezTo>
                <a:cubicBezTo>
                  <a:pt x="2627414" y="911259"/>
                  <a:pt x="2627414" y="911259"/>
                  <a:pt x="2646539" y="887151"/>
                </a:cubicBezTo>
                <a:cubicBezTo>
                  <a:pt x="2646539" y="887151"/>
                  <a:pt x="2646539" y="887151"/>
                  <a:pt x="2636977" y="887151"/>
                </a:cubicBezTo>
                <a:cubicBezTo>
                  <a:pt x="2636977" y="887151"/>
                  <a:pt x="2636977" y="887151"/>
                  <a:pt x="2636977" y="819651"/>
                </a:cubicBezTo>
                <a:cubicBezTo>
                  <a:pt x="2636977" y="819651"/>
                  <a:pt x="2636977" y="819651"/>
                  <a:pt x="2646539" y="819651"/>
                </a:cubicBezTo>
                <a:cubicBezTo>
                  <a:pt x="2617852" y="800365"/>
                  <a:pt x="2636977" y="776257"/>
                  <a:pt x="2641758" y="747329"/>
                </a:cubicBezTo>
                <a:cubicBezTo>
                  <a:pt x="2641758" y="747329"/>
                  <a:pt x="2641758" y="747329"/>
                  <a:pt x="2636977" y="694292"/>
                </a:cubicBezTo>
                <a:cubicBezTo>
                  <a:pt x="2689570" y="689471"/>
                  <a:pt x="2680008" y="699114"/>
                  <a:pt x="2713476" y="675007"/>
                </a:cubicBezTo>
                <a:cubicBezTo>
                  <a:pt x="2732601" y="655721"/>
                  <a:pt x="2742164" y="679828"/>
                  <a:pt x="2794757" y="646078"/>
                </a:cubicBezTo>
                <a:cubicBezTo>
                  <a:pt x="2794757" y="646078"/>
                  <a:pt x="2794757" y="646078"/>
                  <a:pt x="2876038" y="655721"/>
                </a:cubicBezTo>
                <a:cubicBezTo>
                  <a:pt x="2876038" y="655721"/>
                  <a:pt x="2876038" y="655721"/>
                  <a:pt x="2933412" y="655721"/>
                </a:cubicBezTo>
                <a:cubicBezTo>
                  <a:pt x="2942975" y="655721"/>
                  <a:pt x="3029037" y="621970"/>
                  <a:pt x="3048162" y="621970"/>
                </a:cubicBezTo>
                <a:cubicBezTo>
                  <a:pt x="3048162" y="621970"/>
                  <a:pt x="3048162" y="621970"/>
                  <a:pt x="3076849" y="621970"/>
                </a:cubicBezTo>
                <a:cubicBezTo>
                  <a:pt x="3076849" y="621970"/>
                  <a:pt x="3076849" y="621970"/>
                  <a:pt x="3129443" y="621970"/>
                </a:cubicBezTo>
                <a:cubicBezTo>
                  <a:pt x="3153349" y="665364"/>
                  <a:pt x="3153349" y="699114"/>
                  <a:pt x="3148567" y="732864"/>
                </a:cubicBezTo>
                <a:cubicBezTo>
                  <a:pt x="3148567" y="742507"/>
                  <a:pt x="3139005" y="810008"/>
                  <a:pt x="3167692" y="781079"/>
                </a:cubicBezTo>
                <a:cubicBezTo>
                  <a:pt x="3196380" y="752150"/>
                  <a:pt x="3153349" y="737686"/>
                  <a:pt x="3225067" y="737686"/>
                </a:cubicBezTo>
                <a:cubicBezTo>
                  <a:pt x="3268098" y="675007"/>
                  <a:pt x="3287223" y="689471"/>
                  <a:pt x="3349379" y="694292"/>
                </a:cubicBezTo>
                <a:cubicBezTo>
                  <a:pt x="3349379" y="694292"/>
                  <a:pt x="3349379" y="694292"/>
                  <a:pt x="3339816" y="699114"/>
                </a:cubicBezTo>
                <a:cubicBezTo>
                  <a:pt x="3339816" y="699114"/>
                  <a:pt x="3339816" y="699114"/>
                  <a:pt x="3373285" y="742507"/>
                </a:cubicBezTo>
                <a:cubicBezTo>
                  <a:pt x="3373285" y="742507"/>
                  <a:pt x="3373285" y="742507"/>
                  <a:pt x="3406753" y="737686"/>
                </a:cubicBezTo>
                <a:cubicBezTo>
                  <a:pt x="3406753" y="737686"/>
                  <a:pt x="3406753" y="737686"/>
                  <a:pt x="3454566" y="805186"/>
                </a:cubicBezTo>
                <a:cubicBezTo>
                  <a:pt x="3454566" y="805186"/>
                  <a:pt x="3454566" y="805186"/>
                  <a:pt x="3445003" y="810008"/>
                </a:cubicBezTo>
                <a:cubicBezTo>
                  <a:pt x="3531065" y="829294"/>
                  <a:pt x="3559752" y="795543"/>
                  <a:pt x="3650596" y="834115"/>
                </a:cubicBezTo>
                <a:cubicBezTo>
                  <a:pt x="3660158" y="810008"/>
                  <a:pt x="3650596" y="795543"/>
                  <a:pt x="3655377" y="781079"/>
                </a:cubicBezTo>
                <a:cubicBezTo>
                  <a:pt x="3669721" y="752150"/>
                  <a:pt x="3688845" y="766615"/>
                  <a:pt x="3698408" y="713578"/>
                </a:cubicBezTo>
                <a:cubicBezTo>
                  <a:pt x="3731876" y="723221"/>
                  <a:pt x="3736658" y="699114"/>
                  <a:pt x="3736658" y="679828"/>
                </a:cubicBezTo>
                <a:cubicBezTo>
                  <a:pt x="3736658" y="641256"/>
                  <a:pt x="3760564" y="660542"/>
                  <a:pt x="3774907" y="612327"/>
                </a:cubicBezTo>
                <a:cubicBezTo>
                  <a:pt x="3774907" y="612327"/>
                  <a:pt x="3774907" y="612327"/>
                  <a:pt x="3798814" y="612327"/>
                </a:cubicBezTo>
                <a:cubicBezTo>
                  <a:pt x="3808376" y="641256"/>
                  <a:pt x="3851407" y="703935"/>
                  <a:pt x="3880094" y="713578"/>
                </a:cubicBezTo>
                <a:cubicBezTo>
                  <a:pt x="3927907" y="626792"/>
                  <a:pt x="3918344" y="650899"/>
                  <a:pt x="3918344" y="564113"/>
                </a:cubicBezTo>
                <a:cubicBezTo>
                  <a:pt x="3918344" y="511076"/>
                  <a:pt x="3918344" y="462862"/>
                  <a:pt x="3918344" y="409825"/>
                </a:cubicBezTo>
                <a:cubicBezTo>
                  <a:pt x="3918344" y="380897"/>
                  <a:pt x="3894438" y="101251"/>
                  <a:pt x="3980500" y="101251"/>
                </a:cubicBezTo>
                <a:cubicBezTo>
                  <a:pt x="3980500" y="101251"/>
                  <a:pt x="3980500" y="101251"/>
                  <a:pt x="4037875" y="101251"/>
                </a:cubicBezTo>
                <a:cubicBezTo>
                  <a:pt x="4047437" y="130180"/>
                  <a:pt x="4076124" y="125359"/>
                  <a:pt x="4095249" y="125359"/>
                </a:cubicBezTo>
                <a:cubicBezTo>
                  <a:pt x="4114374" y="125359"/>
                  <a:pt x="4143061" y="130180"/>
                  <a:pt x="4162186" y="149466"/>
                </a:cubicBezTo>
                <a:cubicBezTo>
                  <a:pt x="4162186" y="149466"/>
                  <a:pt x="4162186" y="149466"/>
                  <a:pt x="4166968" y="216967"/>
                </a:cubicBezTo>
                <a:cubicBezTo>
                  <a:pt x="4190874" y="250717"/>
                  <a:pt x="4200436" y="245895"/>
                  <a:pt x="4195655" y="289289"/>
                </a:cubicBezTo>
                <a:cubicBezTo>
                  <a:pt x="4195655" y="289289"/>
                  <a:pt x="4195655" y="289289"/>
                  <a:pt x="4195655" y="356789"/>
                </a:cubicBezTo>
                <a:cubicBezTo>
                  <a:pt x="4195655" y="356789"/>
                  <a:pt x="4195655" y="356789"/>
                  <a:pt x="4195655" y="424290"/>
                </a:cubicBezTo>
                <a:cubicBezTo>
                  <a:pt x="4195655" y="424290"/>
                  <a:pt x="4195655" y="424290"/>
                  <a:pt x="4200436" y="491791"/>
                </a:cubicBezTo>
                <a:cubicBezTo>
                  <a:pt x="4200436" y="491791"/>
                  <a:pt x="4200436" y="491791"/>
                  <a:pt x="4190874" y="530362"/>
                </a:cubicBezTo>
                <a:cubicBezTo>
                  <a:pt x="4358217" y="568934"/>
                  <a:pt x="4253030" y="458040"/>
                  <a:pt x="4291280" y="390540"/>
                </a:cubicBezTo>
                <a:cubicBezTo>
                  <a:pt x="4305623" y="366432"/>
                  <a:pt x="4449060" y="380897"/>
                  <a:pt x="4501653" y="395361"/>
                </a:cubicBezTo>
                <a:cubicBezTo>
                  <a:pt x="4597278" y="419468"/>
                  <a:pt x="4530341" y="482148"/>
                  <a:pt x="4568591" y="554470"/>
                </a:cubicBezTo>
                <a:cubicBezTo>
                  <a:pt x="4568591" y="554470"/>
                  <a:pt x="4568591" y="554470"/>
                  <a:pt x="4668996" y="530362"/>
                </a:cubicBezTo>
                <a:cubicBezTo>
                  <a:pt x="4668996" y="530362"/>
                  <a:pt x="4668996" y="530362"/>
                  <a:pt x="4664215" y="433933"/>
                </a:cubicBezTo>
                <a:cubicBezTo>
                  <a:pt x="4707246" y="429111"/>
                  <a:pt x="4726370" y="414647"/>
                  <a:pt x="4764620" y="414647"/>
                </a:cubicBezTo>
                <a:cubicBezTo>
                  <a:pt x="4764620" y="414647"/>
                  <a:pt x="4764620" y="414647"/>
                  <a:pt x="4821995" y="419468"/>
                </a:cubicBezTo>
                <a:cubicBezTo>
                  <a:pt x="4821995" y="419468"/>
                  <a:pt x="4821995" y="419468"/>
                  <a:pt x="4860245" y="414647"/>
                </a:cubicBezTo>
                <a:cubicBezTo>
                  <a:pt x="4912839" y="448397"/>
                  <a:pt x="4917619" y="414647"/>
                  <a:pt x="4917619" y="486969"/>
                </a:cubicBezTo>
                <a:cubicBezTo>
                  <a:pt x="4917619" y="515898"/>
                  <a:pt x="4908057" y="559291"/>
                  <a:pt x="4917619" y="583399"/>
                </a:cubicBezTo>
                <a:cubicBezTo>
                  <a:pt x="4917619" y="583399"/>
                  <a:pt x="4917619" y="583399"/>
                  <a:pt x="4970213" y="593041"/>
                </a:cubicBezTo>
                <a:cubicBezTo>
                  <a:pt x="4970213" y="593041"/>
                  <a:pt x="4970213" y="593041"/>
                  <a:pt x="4974994" y="597863"/>
                </a:cubicBezTo>
                <a:cubicBezTo>
                  <a:pt x="4974994" y="597863"/>
                  <a:pt x="4974994" y="597863"/>
                  <a:pt x="4974994" y="496612"/>
                </a:cubicBezTo>
                <a:cubicBezTo>
                  <a:pt x="5013244" y="496612"/>
                  <a:pt x="5070619" y="477326"/>
                  <a:pt x="5099306" y="467683"/>
                </a:cubicBezTo>
                <a:cubicBezTo>
                  <a:pt x="5175805" y="453219"/>
                  <a:pt x="5147119" y="467683"/>
                  <a:pt x="5199711" y="390540"/>
                </a:cubicBezTo>
                <a:cubicBezTo>
                  <a:pt x="5233180" y="395361"/>
                  <a:pt x="5280992" y="395361"/>
                  <a:pt x="5304899" y="433933"/>
                </a:cubicBezTo>
                <a:cubicBezTo>
                  <a:pt x="5304899" y="433933"/>
                  <a:pt x="5304899" y="433933"/>
                  <a:pt x="5333586" y="496612"/>
                </a:cubicBezTo>
                <a:cubicBezTo>
                  <a:pt x="5333586" y="496612"/>
                  <a:pt x="5333586" y="496612"/>
                  <a:pt x="5352711" y="597863"/>
                </a:cubicBezTo>
                <a:cubicBezTo>
                  <a:pt x="5429211" y="544827"/>
                  <a:pt x="5328805" y="482148"/>
                  <a:pt x="5419648" y="433933"/>
                </a:cubicBezTo>
                <a:cubicBezTo>
                  <a:pt x="5419648" y="433933"/>
                  <a:pt x="5419648" y="433933"/>
                  <a:pt x="5429211" y="400183"/>
                </a:cubicBezTo>
                <a:cubicBezTo>
                  <a:pt x="5553522" y="371254"/>
                  <a:pt x="5515272" y="438754"/>
                  <a:pt x="5606116" y="448397"/>
                </a:cubicBezTo>
                <a:cubicBezTo>
                  <a:pt x="5606116" y="448397"/>
                  <a:pt x="5606116" y="448397"/>
                  <a:pt x="5615678" y="380897"/>
                </a:cubicBezTo>
                <a:cubicBezTo>
                  <a:pt x="5620459" y="347146"/>
                  <a:pt x="5596553" y="366432"/>
                  <a:pt x="5630022" y="318217"/>
                </a:cubicBezTo>
                <a:cubicBezTo>
                  <a:pt x="5706521" y="318217"/>
                  <a:pt x="5754333" y="294110"/>
                  <a:pt x="5816489" y="294110"/>
                </a:cubicBezTo>
                <a:cubicBezTo>
                  <a:pt x="5912113" y="298932"/>
                  <a:pt x="5940801" y="342325"/>
                  <a:pt x="5998175" y="366432"/>
                </a:cubicBezTo>
                <a:cubicBezTo>
                  <a:pt x="5998175" y="424290"/>
                  <a:pt x="5998175" y="448397"/>
                  <a:pt x="6031644" y="453219"/>
                </a:cubicBezTo>
                <a:cubicBezTo>
                  <a:pt x="6031644" y="453219"/>
                  <a:pt x="6031644" y="453219"/>
                  <a:pt x="6079457" y="448397"/>
                </a:cubicBezTo>
                <a:cubicBezTo>
                  <a:pt x="6079457" y="448397"/>
                  <a:pt x="6079457" y="448397"/>
                  <a:pt x="6089019" y="405004"/>
                </a:cubicBezTo>
                <a:cubicBezTo>
                  <a:pt x="6089019" y="405004"/>
                  <a:pt x="6089019" y="405004"/>
                  <a:pt x="6098582" y="400183"/>
                </a:cubicBezTo>
                <a:cubicBezTo>
                  <a:pt x="6098582" y="395361"/>
                  <a:pt x="6103363" y="400183"/>
                  <a:pt x="6103363" y="400183"/>
                </a:cubicBezTo>
                <a:cubicBezTo>
                  <a:pt x="6108144" y="400183"/>
                  <a:pt x="6112925" y="400183"/>
                  <a:pt x="6112925" y="400183"/>
                </a:cubicBezTo>
                <a:cubicBezTo>
                  <a:pt x="6112925" y="400183"/>
                  <a:pt x="6112925" y="400183"/>
                  <a:pt x="6170299" y="400183"/>
                </a:cubicBezTo>
                <a:cubicBezTo>
                  <a:pt x="6170299" y="400183"/>
                  <a:pt x="6170299" y="400183"/>
                  <a:pt x="6179862" y="400183"/>
                </a:cubicBezTo>
                <a:cubicBezTo>
                  <a:pt x="6232455" y="400183"/>
                  <a:pt x="6227674" y="429111"/>
                  <a:pt x="6270705" y="443576"/>
                </a:cubicBezTo>
                <a:cubicBezTo>
                  <a:pt x="6342424" y="462862"/>
                  <a:pt x="6332861" y="462862"/>
                  <a:pt x="6337643" y="515898"/>
                </a:cubicBezTo>
                <a:cubicBezTo>
                  <a:pt x="6337643" y="515898"/>
                  <a:pt x="6337643" y="515898"/>
                  <a:pt x="6337643" y="578577"/>
                </a:cubicBezTo>
                <a:cubicBezTo>
                  <a:pt x="6337643" y="578577"/>
                  <a:pt x="6337643" y="578577"/>
                  <a:pt x="6337643" y="646078"/>
                </a:cubicBezTo>
                <a:cubicBezTo>
                  <a:pt x="6337643" y="646078"/>
                  <a:pt x="6337643" y="646078"/>
                  <a:pt x="6347205" y="732864"/>
                </a:cubicBezTo>
                <a:cubicBezTo>
                  <a:pt x="6347205" y="732864"/>
                  <a:pt x="6347205" y="732864"/>
                  <a:pt x="6390236" y="800365"/>
                </a:cubicBezTo>
                <a:cubicBezTo>
                  <a:pt x="6390236" y="800365"/>
                  <a:pt x="6390236" y="800365"/>
                  <a:pt x="6423704" y="795543"/>
                </a:cubicBezTo>
                <a:cubicBezTo>
                  <a:pt x="6428485" y="737686"/>
                  <a:pt x="6452392" y="776257"/>
                  <a:pt x="6452392" y="728043"/>
                </a:cubicBezTo>
                <a:cubicBezTo>
                  <a:pt x="6452392" y="703935"/>
                  <a:pt x="6452392" y="689471"/>
                  <a:pt x="6452392" y="665364"/>
                </a:cubicBezTo>
                <a:cubicBezTo>
                  <a:pt x="6452392" y="641256"/>
                  <a:pt x="6452392" y="626792"/>
                  <a:pt x="6452392" y="602684"/>
                </a:cubicBezTo>
                <a:cubicBezTo>
                  <a:pt x="6452392" y="559291"/>
                  <a:pt x="6471516" y="588220"/>
                  <a:pt x="6481079" y="530362"/>
                </a:cubicBezTo>
                <a:cubicBezTo>
                  <a:pt x="6481079" y="530362"/>
                  <a:pt x="6481079" y="530362"/>
                  <a:pt x="6538454" y="530362"/>
                </a:cubicBezTo>
                <a:cubicBezTo>
                  <a:pt x="6567141" y="530362"/>
                  <a:pt x="6557579" y="515898"/>
                  <a:pt x="6571922" y="515898"/>
                </a:cubicBezTo>
                <a:cubicBezTo>
                  <a:pt x="6586266" y="515898"/>
                  <a:pt x="6595829" y="525541"/>
                  <a:pt x="6638860" y="530362"/>
                </a:cubicBezTo>
                <a:cubicBezTo>
                  <a:pt x="6638860" y="530362"/>
                  <a:pt x="6638860" y="530362"/>
                  <a:pt x="6634078" y="544827"/>
                </a:cubicBezTo>
                <a:cubicBezTo>
                  <a:pt x="6634078" y="544827"/>
                  <a:pt x="6634078" y="544827"/>
                  <a:pt x="6638860" y="549648"/>
                </a:cubicBezTo>
                <a:cubicBezTo>
                  <a:pt x="6638860" y="549648"/>
                  <a:pt x="6638860" y="549648"/>
                  <a:pt x="6657985" y="535184"/>
                </a:cubicBezTo>
                <a:cubicBezTo>
                  <a:pt x="6657985" y="535184"/>
                  <a:pt x="6657985" y="535184"/>
                  <a:pt x="6653203" y="530362"/>
                </a:cubicBezTo>
                <a:cubicBezTo>
                  <a:pt x="6653203" y="530362"/>
                  <a:pt x="6653203" y="530362"/>
                  <a:pt x="6662765" y="520719"/>
                </a:cubicBezTo>
                <a:lnTo>
                  <a:pt x="6663150" y="522140"/>
                </a:lnTo>
                <a:lnTo>
                  <a:pt x="6663438" y="526821"/>
                </a:lnTo>
                <a:cubicBezTo>
                  <a:pt x="6663811" y="528404"/>
                  <a:pt x="6664260" y="528253"/>
                  <a:pt x="6664559" y="527349"/>
                </a:cubicBezTo>
                <a:lnTo>
                  <a:pt x="6663150" y="522140"/>
                </a:lnTo>
                <a:lnTo>
                  <a:pt x="6662765" y="515898"/>
                </a:lnTo>
                <a:cubicBezTo>
                  <a:pt x="6662765" y="515898"/>
                  <a:pt x="6662765" y="515898"/>
                  <a:pt x="6662765" y="482148"/>
                </a:cubicBezTo>
                <a:cubicBezTo>
                  <a:pt x="6662765" y="482148"/>
                  <a:pt x="6662765" y="482148"/>
                  <a:pt x="6662765" y="448397"/>
                </a:cubicBezTo>
                <a:cubicBezTo>
                  <a:pt x="6662765" y="448397"/>
                  <a:pt x="6662765" y="448397"/>
                  <a:pt x="6662765" y="414647"/>
                </a:cubicBezTo>
                <a:cubicBezTo>
                  <a:pt x="6662765" y="414647"/>
                  <a:pt x="6662765" y="414647"/>
                  <a:pt x="6662765" y="380897"/>
                </a:cubicBezTo>
                <a:cubicBezTo>
                  <a:pt x="6667547" y="323039"/>
                  <a:pt x="6648422" y="342325"/>
                  <a:pt x="6648422" y="303753"/>
                </a:cubicBezTo>
                <a:cubicBezTo>
                  <a:pt x="6648422" y="284467"/>
                  <a:pt x="6648422" y="265181"/>
                  <a:pt x="6648422" y="245895"/>
                </a:cubicBezTo>
                <a:cubicBezTo>
                  <a:pt x="6648422" y="202502"/>
                  <a:pt x="6657985" y="163930"/>
                  <a:pt x="6662765" y="120537"/>
                </a:cubicBezTo>
                <a:cubicBezTo>
                  <a:pt x="6662765" y="120537"/>
                  <a:pt x="6662765" y="120537"/>
                  <a:pt x="6662765" y="86787"/>
                </a:cubicBezTo>
                <a:cubicBezTo>
                  <a:pt x="6662765" y="86787"/>
                  <a:pt x="6662765" y="86787"/>
                  <a:pt x="6662765" y="53036"/>
                </a:cubicBezTo>
                <a:cubicBezTo>
                  <a:pt x="6739265" y="43394"/>
                  <a:pt x="6715359" y="57858"/>
                  <a:pt x="6744046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694" tIns="43347" rIns="86694" bIns="43347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DIAGRAM_VIRTUALLY_FRAME" val="{&quot;height&quot;:173.6,&quot;left&quot;:66,&quot;top&quot;:134.35,&quot;width&quot;:805.7}"/>
</p:tagLst>
</file>

<file path=ppt/tags/tag31.xml><?xml version="1.0" encoding="utf-8"?>
<p:tagLst xmlns:p="http://schemas.openxmlformats.org/presentationml/2006/main">
  <p:tag name="KSO_WM_DIAGRAM_VIRTUALLY_FRAME" val="{&quot;height&quot;:173.6,&quot;left&quot;:66,&quot;top&quot;:134.35,&quot;width&quot;:805.7}"/>
</p:tagLst>
</file>

<file path=ppt/tags/tag32.xml><?xml version="1.0" encoding="utf-8"?>
<p:tagLst xmlns:p="http://schemas.openxmlformats.org/presentationml/2006/main">
  <p:tag name="KSO_WM_DIAGRAM_VIRTUALLY_FRAME" val="{&quot;height&quot;:173.6,&quot;left&quot;:66,&quot;top&quot;:134.35,&quot;width&quot;:805.7}"/>
</p:tagLst>
</file>

<file path=ppt/tags/tag33.xml><?xml version="1.0" encoding="utf-8"?>
<p:tagLst xmlns:p="http://schemas.openxmlformats.org/presentationml/2006/main">
  <p:tag name="KSO_WM_DIAGRAM_VIRTUALLY_FRAME" val="{&quot;height&quot;:173.6,&quot;left&quot;:66,&quot;top&quot;:134.35,&quot;width&quot;:805.7}"/>
</p:tagLst>
</file>

<file path=ppt/tags/tag34.xml><?xml version="1.0" encoding="utf-8"?>
<p:tagLst xmlns:p="http://schemas.openxmlformats.org/presentationml/2006/main">
  <p:tag name="KSO_WM_DIAGRAM_VIRTUALLY_FRAME" val="{&quot;height&quot;:151.8,&quot;left&quot;:66,&quot;top&quot;:134.35,&quot;width&quot;:805.7}"/>
</p:tagLst>
</file>

<file path=ppt/tags/tag35.xml><?xml version="1.0" encoding="utf-8"?>
<p:tagLst xmlns:p="http://schemas.openxmlformats.org/presentationml/2006/main">
  <p:tag name="KSO_WM_DIAGRAM_VIRTUALLY_FRAME" val="{&quot;height&quot;:343.35,&quot;left&quot;:68.35,&quot;top&quot;:106.5,&quot;width&quot;:835.95}"/>
</p:tagLst>
</file>

<file path=ppt/tags/tag36.xml><?xml version="1.0" encoding="utf-8"?>
<p:tagLst xmlns:p="http://schemas.openxmlformats.org/presentationml/2006/main">
  <p:tag name="KSO_WM_DIAGRAM_VIRTUALLY_FRAME" val="{&quot;height&quot;:343.35,&quot;left&quot;:68.35,&quot;top&quot;:106.5,&quot;width&quot;:835.95}"/>
</p:tagLst>
</file>

<file path=ppt/tags/tag37.xml><?xml version="1.0" encoding="utf-8"?>
<p:tagLst xmlns:p="http://schemas.openxmlformats.org/presentationml/2006/main">
  <p:tag name="KSO_WM_DIAGRAM_VIRTUALLY_FRAME" val="{&quot;height&quot;:343.35,&quot;left&quot;:68.35,&quot;top&quot;:106.5,&quot;width&quot;:835.95}"/>
</p:tagLst>
</file>

<file path=ppt/tags/tag38.xml><?xml version="1.0" encoding="utf-8"?>
<p:tagLst xmlns:p="http://schemas.openxmlformats.org/presentationml/2006/main">
  <p:tag name="KSO_WM_DIAGRAM_VIRTUALLY_FRAME" val="{&quot;height&quot;:343.35,&quot;left&quot;:68.35,&quot;top&quot;:106.5,&quot;width&quot;:835.95}"/>
</p:tagLst>
</file>

<file path=ppt/tags/tag39.xml><?xml version="1.0" encoding="utf-8"?>
<p:tagLst xmlns:p="http://schemas.openxmlformats.org/presentationml/2006/main">
  <p:tag name="KSO_WM_DIAGRAM_VIRTUALLY_FRAME" val="{&quot;height&quot;:343.35,&quot;left&quot;:68.35,&quot;top&quot;:106.5,&quot;width&quot;:835.95}"/>
</p:tagLst>
</file>

<file path=ppt/tags/tag40.xml><?xml version="1.0" encoding="utf-8"?>
<p:tagLst xmlns:p="http://schemas.openxmlformats.org/presentationml/2006/main">
  <p:tag name="KSO_WM_DIAGRAM_VIRTUALLY_FRAME" val="{&quot;height&quot;:343.35,&quot;left&quot;:68.35,&quot;top&quot;:106.5,&quot;width&quot;:835.95}"/>
</p:tagLst>
</file>

<file path=ppt/tags/tag41.xml><?xml version="1.0" encoding="utf-8"?>
<p:tagLst xmlns:p="http://schemas.openxmlformats.org/presentationml/2006/main">
  <p:tag name="KSO_WPP_MARK_KEY" val="e8b65038-8cea-407f-b551-98fa09235bae"/>
  <p:tag name="COMMONDATA" val="eyJoZGlkIjoiNGUxYzU2NjFmZGZhZmIwZGE3M2E4ZTZmYzIzYjhlYz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2026</Words>
  <Application>WPS 演示</Application>
  <PresentationFormat>宽屏</PresentationFormat>
  <Paragraphs>144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华文新魏</vt:lpstr>
      <vt:lpstr>Times New Roman</vt:lpstr>
      <vt:lpstr>华文楷体</vt:lpstr>
      <vt:lpstr>黑体</vt:lpstr>
      <vt:lpstr>Aharoni</vt:lpstr>
      <vt:lpstr>微软雅黑</vt:lpstr>
      <vt:lpstr>经典综艺体简</vt:lpstr>
      <vt:lpstr>Wingdings</vt:lpstr>
      <vt:lpstr>Times</vt:lpstr>
      <vt:lpstr>Arial Unicode MS</vt:lpstr>
      <vt:lpstr>Calibri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谢武强</dc:creator>
  <cp:lastModifiedBy>刘朋</cp:lastModifiedBy>
  <cp:revision>84</cp:revision>
  <dcterms:created xsi:type="dcterms:W3CDTF">2022-02-28T03:31:00Z</dcterms:created>
  <dcterms:modified xsi:type="dcterms:W3CDTF">2026-06-09T18:53:17Z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789EC84BB95B46ED8B2C4CB436F65960_13</vt:lpwstr>
  </property>
  <property fmtid="{D5CDD505-2E9C-101B-9397-08002B2CF9AE}" pid="3" name="KSOProductBuildVer">
    <vt:lpwstr>2052-12.1.0.26895</vt:lpwstr>
  </property>
</Properties>
</file>