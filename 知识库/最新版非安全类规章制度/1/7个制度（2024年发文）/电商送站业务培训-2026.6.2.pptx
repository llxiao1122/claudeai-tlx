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8" r:id="rId4"/>
    <p:sldMasterId id="2147483661" r:id="rId5"/>
    <p:sldMasterId id="2147483664" r:id="rId6"/>
    <p:sldMasterId id="2147483667" r:id="rId7"/>
    <p:sldMasterId id="2147483670" r:id="rId8"/>
    <p:sldMasterId id="2147483672" r:id="rId9"/>
    <p:sldMasterId id="2147483674" r:id="rId10"/>
    <p:sldMasterId id="2147483677" r:id="rId11"/>
    <p:sldMasterId id="2147483679" r:id="rId12"/>
    <p:sldMasterId id="2147483681" r:id="rId13"/>
    <p:sldMasterId id="2147483684" r:id="rId14"/>
    <p:sldMasterId id="2147483687" r:id="rId15"/>
    <p:sldMasterId id="2147483690" r:id="rId16"/>
    <p:sldMasterId id="2147483693" r:id="rId17"/>
    <p:sldMasterId id="2147483696" r:id="rId18"/>
    <p:sldMasterId id="2147483699" r:id="rId19"/>
    <p:sldMasterId id="2147483702" r:id="rId20"/>
    <p:sldMasterId id="2147483705" r:id="rId21"/>
    <p:sldMasterId id="2147483708" r:id="rId22"/>
    <p:sldMasterId id="2147483710" r:id="rId23"/>
    <p:sldMasterId id="2147483712" r:id="rId24"/>
  </p:sldMasterIdLst>
  <p:notesMasterIdLst>
    <p:notesMasterId r:id="rId26"/>
  </p:notesMasterIdLst>
  <p:handoutMasterIdLst>
    <p:handoutMasterId r:id="rId63"/>
  </p:handoutMasterIdLst>
  <p:sldIdLst>
    <p:sldId id="258" r:id="rId25"/>
    <p:sldId id="1021" r:id="rId27"/>
    <p:sldId id="1022" r:id="rId28"/>
    <p:sldId id="1023" r:id="rId29"/>
    <p:sldId id="1026" r:id="rId30"/>
    <p:sldId id="1024" r:id="rId31"/>
    <p:sldId id="1027" r:id="rId32"/>
    <p:sldId id="1025" r:id="rId33"/>
    <p:sldId id="1028" r:id="rId34"/>
    <p:sldId id="1029" r:id="rId35"/>
    <p:sldId id="1031" r:id="rId36"/>
    <p:sldId id="667" r:id="rId37"/>
    <p:sldId id="980" r:id="rId38"/>
    <p:sldId id="981" r:id="rId39"/>
    <p:sldId id="982" r:id="rId40"/>
    <p:sldId id="983" r:id="rId41"/>
    <p:sldId id="984" r:id="rId42"/>
    <p:sldId id="996" r:id="rId43"/>
    <p:sldId id="985" r:id="rId44"/>
    <p:sldId id="986" r:id="rId45"/>
    <p:sldId id="987" r:id="rId46"/>
    <p:sldId id="988" r:id="rId47"/>
    <p:sldId id="989" r:id="rId48"/>
    <p:sldId id="990" r:id="rId49"/>
    <p:sldId id="1009" r:id="rId50"/>
    <p:sldId id="1010" r:id="rId51"/>
    <p:sldId id="1012" r:id="rId52"/>
    <p:sldId id="1011" r:id="rId53"/>
    <p:sldId id="1013" r:id="rId54"/>
    <p:sldId id="1014" r:id="rId55"/>
    <p:sldId id="1015" r:id="rId56"/>
    <p:sldId id="1016" r:id="rId57"/>
    <p:sldId id="1017" r:id="rId58"/>
    <p:sldId id="1018" r:id="rId59"/>
    <p:sldId id="1019" r:id="rId60"/>
    <p:sldId id="1020" r:id="rId61"/>
    <p:sldId id="257" r:id="rId62"/>
  </p:sldIdLst>
  <p:sldSz cx="12190095" cy="6859270"/>
  <p:notesSz cx="6805295" cy="9939020"/>
  <p:custDataLst>
    <p:tags r:id="rId67"/>
  </p:custDataLst>
  <p:defaultTextStyle>
    <a:defPPr>
      <a:defRPr lang="zh-CN"/>
    </a:defPPr>
    <a:lvl1pPr marL="0" algn="l" defTabSz="108775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43560" algn="l" defTabSz="108775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87755" algn="l" defTabSz="108775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31315" algn="l" defTabSz="108775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74875" algn="l" defTabSz="108775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719070" algn="l" defTabSz="108775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2630" algn="l" defTabSz="108775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06190" algn="l" defTabSz="108775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0385" algn="l" defTabSz="108775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1da14ab-820e-4671-83be-28d029a1b70c}">
          <p14:sldIdLst>
            <p14:sldId id="258"/>
            <p14:sldId id="1021"/>
            <p14:sldId id="1022"/>
            <p14:sldId id="1023"/>
            <p14:sldId id="1026"/>
            <p14:sldId id="1024"/>
            <p14:sldId id="1027"/>
            <p14:sldId id="1025"/>
            <p14:sldId id="1028"/>
            <p14:sldId id="1029"/>
            <p14:sldId id="1031"/>
            <p14:sldId id="667"/>
            <p14:sldId id="980"/>
            <p14:sldId id="981"/>
            <p14:sldId id="982"/>
            <p14:sldId id="983"/>
            <p14:sldId id="984"/>
            <p14:sldId id="996"/>
            <p14:sldId id="985"/>
            <p14:sldId id="986"/>
            <p14:sldId id="987"/>
            <p14:sldId id="988"/>
            <p14:sldId id="989"/>
            <p14:sldId id="990"/>
            <p14:sldId id="1009"/>
            <p14:sldId id="1010"/>
            <p14:sldId id="1012"/>
            <p14:sldId id="1011"/>
            <p14:sldId id="1013"/>
            <p14:sldId id="1014"/>
            <p14:sldId id="1015"/>
            <p14:sldId id="1016"/>
            <p14:sldId id="1017"/>
            <p14:sldId id="1018"/>
            <p14:sldId id="1019"/>
            <p14:sldId id="1020"/>
            <p14:sldId id="257"/>
          </p14:sldIdLst>
        </p14:section>
        <p14:section name="无标题节" id="{5356e4b5-566d-43a5-a441-e65fbe743559}">
          <p14:sldIdLst/>
        </p14:section>
        <p14:section name="无标题节" id="{cb606585-e1f4-4880-90a8-6c2fce58ee6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A8D8"/>
    <a:srgbClr val="DDF0F7"/>
    <a:srgbClr val="D9F2FB"/>
    <a:srgbClr val="E0EFF4"/>
    <a:srgbClr val="006EB4"/>
    <a:srgbClr val="2962A7"/>
    <a:srgbClr val="075497"/>
    <a:srgbClr val="558ED5"/>
    <a:srgbClr val="255172"/>
    <a:srgbClr val="348C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4" autoAdjust="0"/>
    <p:restoredTop sz="88801" autoAdjust="0"/>
  </p:normalViewPr>
  <p:slideViewPr>
    <p:cSldViewPr showGuides="1">
      <p:cViewPr varScale="1">
        <p:scale>
          <a:sx n="73" d="100"/>
          <a:sy n="73" d="100"/>
        </p:scale>
        <p:origin x="115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07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4686"/>
    </p:cViewPr>
  </p:sorterViewPr>
  <p:notesViewPr>
    <p:cSldViewPr>
      <p:cViewPr varScale="1">
        <p:scale>
          <a:sx n="59" d="100"/>
          <a:sy n="59" d="100"/>
        </p:scale>
        <p:origin x="255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7" Type="http://schemas.openxmlformats.org/officeDocument/2006/relationships/tags" Target="tags/tag6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37.xml"/><Relationship Id="rId61" Type="http://schemas.openxmlformats.org/officeDocument/2006/relationships/slide" Target="slides/slide36.xml"/><Relationship Id="rId60" Type="http://schemas.openxmlformats.org/officeDocument/2006/relationships/slide" Target="slides/slide3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34.xml"/><Relationship Id="rId58" Type="http://schemas.openxmlformats.org/officeDocument/2006/relationships/slide" Target="slides/slide33.xml"/><Relationship Id="rId57" Type="http://schemas.openxmlformats.org/officeDocument/2006/relationships/slide" Target="slides/slide32.xml"/><Relationship Id="rId56" Type="http://schemas.openxmlformats.org/officeDocument/2006/relationships/slide" Target="slides/slide31.xml"/><Relationship Id="rId55" Type="http://schemas.openxmlformats.org/officeDocument/2006/relationships/slide" Target="slides/slide30.xml"/><Relationship Id="rId54" Type="http://schemas.openxmlformats.org/officeDocument/2006/relationships/slide" Target="slides/slide29.xml"/><Relationship Id="rId53" Type="http://schemas.openxmlformats.org/officeDocument/2006/relationships/slide" Target="slides/slide28.xml"/><Relationship Id="rId52" Type="http://schemas.openxmlformats.org/officeDocument/2006/relationships/slide" Target="slides/slide27.xml"/><Relationship Id="rId51" Type="http://schemas.openxmlformats.org/officeDocument/2006/relationships/slide" Target="slides/slide26.xml"/><Relationship Id="rId50" Type="http://schemas.openxmlformats.org/officeDocument/2006/relationships/slide" Target="slides/slide2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4.xml"/><Relationship Id="rId48" Type="http://schemas.openxmlformats.org/officeDocument/2006/relationships/slide" Target="slides/slide23.xml"/><Relationship Id="rId47" Type="http://schemas.openxmlformats.org/officeDocument/2006/relationships/slide" Target="slides/slide22.xml"/><Relationship Id="rId46" Type="http://schemas.openxmlformats.org/officeDocument/2006/relationships/slide" Target="slides/slide21.xml"/><Relationship Id="rId45" Type="http://schemas.openxmlformats.org/officeDocument/2006/relationships/slide" Target="slides/slide20.xml"/><Relationship Id="rId44" Type="http://schemas.openxmlformats.org/officeDocument/2006/relationships/slide" Target="slides/slide19.xml"/><Relationship Id="rId43" Type="http://schemas.openxmlformats.org/officeDocument/2006/relationships/slide" Target="slides/slide18.xml"/><Relationship Id="rId42" Type="http://schemas.openxmlformats.org/officeDocument/2006/relationships/slide" Target="slides/slide17.xml"/><Relationship Id="rId41" Type="http://schemas.openxmlformats.org/officeDocument/2006/relationships/slide" Target="slides/slide16.xml"/><Relationship Id="rId40" Type="http://schemas.openxmlformats.org/officeDocument/2006/relationships/slide" Target="slides/slide1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4.xml"/><Relationship Id="rId38" Type="http://schemas.openxmlformats.org/officeDocument/2006/relationships/slide" Target="slides/slide13.xml"/><Relationship Id="rId37" Type="http://schemas.openxmlformats.org/officeDocument/2006/relationships/slide" Target="slides/slide12.xml"/><Relationship Id="rId36" Type="http://schemas.openxmlformats.org/officeDocument/2006/relationships/slide" Target="slides/slide11.xml"/><Relationship Id="rId35" Type="http://schemas.openxmlformats.org/officeDocument/2006/relationships/slide" Target="slides/slide10.xml"/><Relationship Id="rId34" Type="http://schemas.openxmlformats.org/officeDocument/2006/relationships/slide" Target="slides/slide9.xml"/><Relationship Id="rId33" Type="http://schemas.openxmlformats.org/officeDocument/2006/relationships/slide" Target="slides/slide8.xml"/><Relationship Id="rId32" Type="http://schemas.openxmlformats.org/officeDocument/2006/relationships/slide" Target="slides/slide7.xml"/><Relationship Id="rId31" Type="http://schemas.openxmlformats.org/officeDocument/2006/relationships/slide" Target="slides/slide6.xml"/><Relationship Id="rId30" Type="http://schemas.openxmlformats.org/officeDocument/2006/relationships/slide" Target="slides/slide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4.xml"/><Relationship Id="rId28" Type="http://schemas.openxmlformats.org/officeDocument/2006/relationships/slide" Target="slides/slide3.xml"/><Relationship Id="rId27" Type="http://schemas.openxmlformats.org/officeDocument/2006/relationships/slide" Target="slides/slide2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1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099" cy="496967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4941" y="1"/>
            <a:ext cx="2949099" cy="496967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DAD75BEB-8599-4C2C-B167-7789A2FAC2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40648"/>
            <a:ext cx="2949099" cy="49696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4941" y="9440648"/>
            <a:ext cx="2949099" cy="49696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FFC2EF47-4B59-4F0F-A3BB-55FB17CADB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099" cy="496967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41" y="1"/>
            <a:ext cx="2949099" cy="496967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B0532E5F-2076-4530-B5DC-439A8C7D9B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1463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6" rIns="91431" bIns="45716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31" tIns="45716" rIns="91431" bIns="45716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440648"/>
            <a:ext cx="2949099" cy="49696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41" y="9440648"/>
            <a:ext cx="2949099" cy="49696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DF6883C7-C05D-4157-967A-96602B7DD2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5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3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689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09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066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86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42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3663" y="746125"/>
            <a:ext cx="6618287" cy="37258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3538438" y="638212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61F12-508A-4E65-945B-B73586D84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3538438" y="638212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61F12-508A-4E65-945B-B73586D84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298" y="836906"/>
            <a:ext cx="10361851" cy="1362390"/>
          </a:xfrm>
          <a:prstGeom prst="rect">
            <a:avLst/>
          </a:prstGeom>
        </p:spPr>
        <p:txBody>
          <a:bodyPr lIns="121629" tIns="60812" rIns="121629" bIns="60812" anchor="t"/>
          <a:lstStyle>
            <a:lvl1pPr algn="l">
              <a:defRPr sz="54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图表占位符 7"/>
          <p:cNvSpPr>
            <a:spLocks noGrp="1"/>
          </p:cNvSpPr>
          <p:nvPr>
            <p:ph type="chart" sz="quarter" idx="13"/>
          </p:nvPr>
        </p:nvSpPr>
        <p:spPr>
          <a:xfrm>
            <a:off x="1007441" y="2661319"/>
            <a:ext cx="3360829" cy="2688789"/>
          </a:xfrm>
          <a:prstGeom prst="rect">
            <a:avLst/>
          </a:prstGeom>
        </p:spPr>
        <p:txBody>
          <a:bodyPr lIns="121629" tIns="60812" rIns="121629" bIns="60812"/>
          <a:lstStyle/>
          <a:p>
            <a:endParaRPr lang="zh-CN" altLang="en-US"/>
          </a:p>
        </p:txBody>
      </p:sp>
      <p:sp>
        <p:nvSpPr>
          <p:cNvPr id="10" name="表格占位符 9"/>
          <p:cNvSpPr>
            <a:spLocks noGrp="1"/>
          </p:cNvSpPr>
          <p:nvPr>
            <p:ph type="tbl" sz="quarter" idx="14"/>
          </p:nvPr>
        </p:nvSpPr>
        <p:spPr>
          <a:xfrm>
            <a:off x="5712179" y="2661268"/>
            <a:ext cx="3358712" cy="2593516"/>
          </a:xfrm>
          <a:prstGeom prst="rect">
            <a:avLst/>
          </a:prstGeom>
        </p:spPr>
        <p:txBody>
          <a:bodyPr lIns="121629" tIns="60812" rIns="121629" bIns="60812"/>
          <a:lstStyle/>
          <a:p>
            <a:endParaRPr lang="zh-CN" altLang="en-US"/>
          </a:p>
        </p:txBody>
      </p:sp>
      <p:sp>
        <p:nvSpPr>
          <p:cNvPr id="9" name="灯片编号占位符 3"/>
          <p:cNvSpPr txBox="1"/>
          <p:nvPr userDrawn="1"/>
        </p:nvSpPr>
        <p:spPr>
          <a:xfrm>
            <a:off x="3538438" y="638212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1087755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3560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7755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1315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5510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9070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2630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6825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0385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D61F12-508A-4E65-945B-B73586D84A5D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298" y="836907"/>
            <a:ext cx="10361851" cy="1362390"/>
          </a:xfrm>
          <a:prstGeom prst="rect">
            <a:avLst/>
          </a:prstGeom>
        </p:spPr>
        <p:txBody>
          <a:bodyPr lIns="91222" tIns="45610" rIns="91222" bIns="45610" anchor="t"/>
          <a:lstStyle>
            <a:lvl1pPr algn="l">
              <a:defRPr sz="54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图表占位符 7"/>
          <p:cNvSpPr>
            <a:spLocks noGrp="1"/>
          </p:cNvSpPr>
          <p:nvPr>
            <p:ph type="chart" sz="quarter" idx="13"/>
          </p:nvPr>
        </p:nvSpPr>
        <p:spPr>
          <a:xfrm>
            <a:off x="1007441" y="2661321"/>
            <a:ext cx="3360829" cy="2688789"/>
          </a:xfrm>
          <a:prstGeom prst="rect">
            <a:avLst/>
          </a:prstGeom>
        </p:spPr>
        <p:txBody>
          <a:bodyPr lIns="91222" tIns="45610" rIns="91222" bIns="45610"/>
          <a:lstStyle/>
          <a:p>
            <a:endParaRPr lang="zh-CN" altLang="en-US"/>
          </a:p>
        </p:txBody>
      </p:sp>
      <p:sp>
        <p:nvSpPr>
          <p:cNvPr id="10" name="表格占位符 9"/>
          <p:cNvSpPr>
            <a:spLocks noGrp="1"/>
          </p:cNvSpPr>
          <p:nvPr>
            <p:ph type="tbl" sz="quarter" idx="14"/>
          </p:nvPr>
        </p:nvSpPr>
        <p:spPr>
          <a:xfrm>
            <a:off x="5712179" y="2661268"/>
            <a:ext cx="3358712" cy="2593516"/>
          </a:xfrm>
          <a:prstGeom prst="rect">
            <a:avLst/>
          </a:prstGeom>
        </p:spPr>
        <p:txBody>
          <a:bodyPr lIns="91222" tIns="45610" rIns="91222" bIns="45610"/>
          <a:lstStyle/>
          <a:p>
            <a:endParaRPr lang="zh-CN" altLang="en-US"/>
          </a:p>
        </p:txBody>
      </p:sp>
      <p:sp>
        <p:nvSpPr>
          <p:cNvPr id="9" name="灯片编号占位符 3"/>
          <p:cNvSpPr txBox="1"/>
          <p:nvPr userDrawn="1"/>
        </p:nvSpPr>
        <p:spPr>
          <a:xfrm>
            <a:off x="3538438" y="638212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1087755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3560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7755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1315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5510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9070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2630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6825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0385" algn="l" defTabSz="108775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D61F12-508A-4E65-945B-B73586D84A5D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3538438" y="638212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61F12-508A-4E65-945B-B73586D84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67F71-DDF4-46AD-98E2-765F1A062C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3.png"/><Relationship Id="rId7" Type="http://schemas.openxmlformats.org/officeDocument/2006/relationships/image" Target="../media/image4.png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7.xml.rels><?xml version="1.0" encoding="UTF-8" standalone="yes"?>
<Relationships xmlns="http://schemas.openxmlformats.org/package/2006/relationships"><Relationship Id="rId5" Type="http://schemas.openxmlformats.org/officeDocument/2006/relationships/theme" Target="../theme/theme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6" Type="http://schemas.openxmlformats.org/officeDocument/2006/relationships/theme" Target="../theme/theme9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6" Type="http://schemas.openxmlformats.org/officeDocument/2006/relationships/theme" Target="../theme/theme12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13.xml.rels><?xml version="1.0" encoding="UTF-8" standalone="yes"?>
<Relationships xmlns="http://schemas.openxmlformats.org/package/2006/relationships"><Relationship Id="rId6" Type="http://schemas.openxmlformats.org/officeDocument/2006/relationships/theme" Target="../theme/theme13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4.xml.rels><?xml version="1.0" encoding="UTF-8" standalone="yes"?>
<Relationships xmlns="http://schemas.openxmlformats.org/package/2006/relationships"><Relationship Id="rId6" Type="http://schemas.openxmlformats.org/officeDocument/2006/relationships/theme" Target="../theme/theme14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15.xml.rels><?xml version="1.0" encoding="UTF-8" standalone="yes"?>
<Relationships xmlns="http://schemas.openxmlformats.org/package/2006/relationships"><Relationship Id="rId6" Type="http://schemas.openxmlformats.org/officeDocument/2006/relationships/theme" Target="../theme/theme15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16.xml.rels><?xml version="1.0" encoding="UTF-8" standalone="yes"?>
<Relationships xmlns="http://schemas.openxmlformats.org/package/2006/relationships"><Relationship Id="rId6" Type="http://schemas.openxmlformats.org/officeDocument/2006/relationships/theme" Target="../theme/theme16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7.xml.rels><?xml version="1.0" encoding="UTF-8" standalone="yes"?>
<Relationships xmlns="http://schemas.openxmlformats.org/package/2006/relationships"><Relationship Id="rId6" Type="http://schemas.openxmlformats.org/officeDocument/2006/relationships/theme" Target="../theme/theme17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18.xml.rels><?xml version="1.0" encoding="UTF-8" standalone="yes"?>
<Relationships xmlns="http://schemas.openxmlformats.org/package/2006/relationships"><Relationship Id="rId6" Type="http://schemas.openxmlformats.org/officeDocument/2006/relationships/theme" Target="../theme/theme18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19.xml.rels><?xml version="1.0" encoding="UTF-8" standalone="yes"?>
<Relationships xmlns="http://schemas.openxmlformats.org/package/2006/relationships"><Relationship Id="rId6" Type="http://schemas.openxmlformats.org/officeDocument/2006/relationships/theme" Target="../theme/theme19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20.xml.rels><?xml version="1.0" encoding="UTF-8" standalone="yes"?>
<Relationships xmlns="http://schemas.openxmlformats.org/package/2006/relationships"><Relationship Id="rId6" Type="http://schemas.openxmlformats.org/officeDocument/2006/relationships/theme" Target="../theme/theme20.xml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21.xml.rels><?xml version="1.0" encoding="UTF-8" standalone="yes"?>
<Relationships xmlns="http://schemas.openxmlformats.org/package/2006/relationships"><Relationship Id="rId5" Type="http://schemas.openxmlformats.org/officeDocument/2006/relationships/theme" Target="../theme/theme2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1.xml"/></Relationships>
</file>

<file path=ppt/slideMasters/_rels/slideMaster2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2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8" y="-26538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 userDrawn="1"/>
        </p:nvCxnSpPr>
        <p:spPr>
          <a:xfrm>
            <a:off x="982679" y="6382122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2"/>
          <a:stretch>
            <a:fillRect/>
          </a:stretch>
        </p:blipFill>
        <p:spPr bwMode="auto">
          <a:xfrm>
            <a:off x="9646103" y="6382122"/>
            <a:ext cx="2281751" cy="398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4" y="5950074"/>
            <a:ext cx="576064" cy="465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356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775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131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487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7670" indent="-40767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3920" indent="-339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5953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309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290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08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441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86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216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75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31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87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907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26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8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03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468"/>
          <a:stretch>
            <a:fillRect/>
          </a:stretch>
        </p:blipFill>
        <p:spPr bwMode="auto">
          <a:xfrm>
            <a:off x="118544" y="6492195"/>
            <a:ext cx="2808313" cy="31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989" y="189486"/>
            <a:ext cx="712865" cy="5760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356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775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131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487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7670" indent="-40767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3920" indent="-339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5953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309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290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08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441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86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216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75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31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87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907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26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8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03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8" y="-26538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 userDrawn="1"/>
        </p:nvCxnSpPr>
        <p:spPr>
          <a:xfrm>
            <a:off x="982679" y="6382122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2"/>
          <a:stretch>
            <a:fillRect/>
          </a:stretch>
        </p:blipFill>
        <p:spPr bwMode="auto">
          <a:xfrm>
            <a:off x="9646103" y="6382122"/>
            <a:ext cx="2281751" cy="398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4" y="5950074"/>
            <a:ext cx="576064" cy="465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356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775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131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487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7670" indent="-40767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3920" indent="-339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5953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309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290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08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441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86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216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75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31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87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907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26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8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03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8" y="-26538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 userDrawn="1"/>
        </p:nvCxnSpPr>
        <p:spPr>
          <a:xfrm>
            <a:off x="982679" y="6382122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2"/>
          <a:stretch>
            <a:fillRect/>
          </a:stretch>
        </p:blipFill>
        <p:spPr bwMode="auto">
          <a:xfrm>
            <a:off x="9646103" y="6382122"/>
            <a:ext cx="2281751" cy="398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4" y="5950074"/>
            <a:ext cx="576064" cy="465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356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775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131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487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7670" indent="-40767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3920" indent="-339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5953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309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290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08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441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86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216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75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31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87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907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26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8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03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8" y="-26538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 userDrawn="1"/>
        </p:nvCxnSpPr>
        <p:spPr>
          <a:xfrm>
            <a:off x="982679" y="6382122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2"/>
          <a:stretch>
            <a:fillRect/>
          </a:stretch>
        </p:blipFill>
        <p:spPr bwMode="auto">
          <a:xfrm>
            <a:off x="9646103" y="6382122"/>
            <a:ext cx="2281751" cy="398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4" y="5950074"/>
            <a:ext cx="576064" cy="465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356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775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131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487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7670" indent="-40767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3920" indent="-339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5953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309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290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08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441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86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216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75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31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87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907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26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8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03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8" y="-26538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 userDrawn="1"/>
        </p:nvCxnSpPr>
        <p:spPr>
          <a:xfrm>
            <a:off x="982679" y="6382122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2"/>
          <a:stretch>
            <a:fillRect/>
          </a:stretch>
        </p:blipFill>
        <p:spPr bwMode="auto">
          <a:xfrm>
            <a:off x="9646103" y="6382122"/>
            <a:ext cx="2281751" cy="398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4" y="5950074"/>
            <a:ext cx="576064" cy="465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356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775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131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487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7670" indent="-40767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3920" indent="-339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5953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309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290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08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441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86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216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75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31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87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907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26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8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03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511030" y="6494659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/>
            <a:fld id="{4D80E0F7-D099-4A3E-8292-3FCE04E14D5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 descr="C:\Users\Administrator\Desktop\ad96503d452ac644c039a4e9ef6caa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6022082"/>
            <a:ext cx="854911" cy="6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Administrator\Desktop\0880a78ea5debcbb49d60dde819045e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446" y="6310114"/>
            <a:ext cx="38957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/>
          <p:nvPr userDrawn="1"/>
        </p:nvCxnSpPr>
        <p:spPr>
          <a:xfrm>
            <a:off x="1054646" y="6310114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-26590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839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258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678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8" y="-26538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 userDrawn="1"/>
        </p:nvCxnSpPr>
        <p:spPr>
          <a:xfrm>
            <a:off x="982679" y="6382122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2"/>
          <a:stretch>
            <a:fillRect/>
          </a:stretch>
        </p:blipFill>
        <p:spPr bwMode="auto">
          <a:xfrm>
            <a:off x="9646103" y="6382122"/>
            <a:ext cx="2281751" cy="398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4" y="5950074"/>
            <a:ext cx="576064" cy="465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356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775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131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487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7670" indent="-40767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3920" indent="-339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5953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309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290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08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441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86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216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75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31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87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907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26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8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03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8" y="-26538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 userDrawn="1"/>
        </p:nvCxnSpPr>
        <p:spPr>
          <a:xfrm>
            <a:off x="982679" y="6382122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2"/>
          <a:stretch>
            <a:fillRect/>
          </a:stretch>
        </p:blipFill>
        <p:spPr bwMode="auto">
          <a:xfrm>
            <a:off x="9646103" y="6382122"/>
            <a:ext cx="2281751" cy="398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4" y="5950074"/>
            <a:ext cx="576064" cy="465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356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775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131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487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7670" indent="-40767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3920" indent="-339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5953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309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290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08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441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86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216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75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31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87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907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26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8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03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8" y="-26538"/>
            <a:ext cx="12190413" cy="100567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 userDrawn="1"/>
        </p:nvCxnSpPr>
        <p:spPr>
          <a:xfrm>
            <a:off x="982679" y="6382122"/>
            <a:ext cx="1089511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2"/>
          <a:stretch>
            <a:fillRect/>
          </a:stretch>
        </p:blipFill>
        <p:spPr bwMode="auto">
          <a:xfrm>
            <a:off x="9646103" y="6382122"/>
            <a:ext cx="2281751" cy="398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4" y="5950074"/>
            <a:ext cx="576064" cy="465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3560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8775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3131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74875" algn="ctr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7670" indent="-40767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3920" indent="-3397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5953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3095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290" indent="-2717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08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441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786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216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356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75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131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87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907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26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8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03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tags" Target="../tags/tag4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3" name="组合 3"/>
          <p:cNvGrpSpPr/>
          <p:nvPr/>
        </p:nvGrpSpPr>
        <p:grpSpPr>
          <a:xfrm>
            <a:off x="27303" y="1845670"/>
            <a:ext cx="12190413" cy="2475376"/>
            <a:chOff x="1958" y="2177866"/>
            <a:chExt cx="9144002" cy="1886742"/>
          </a:xfrm>
        </p:grpSpPr>
        <p:sp>
          <p:nvSpPr>
            <p:cNvPr id="21" name="矩形 20"/>
            <p:cNvSpPr/>
            <p:nvPr/>
          </p:nvSpPr>
          <p:spPr>
            <a:xfrm>
              <a:off x="1958" y="2177866"/>
              <a:ext cx="9144002" cy="165645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850" noProof="1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958" y="3842265"/>
              <a:ext cx="9144002" cy="222343"/>
            </a:xfrm>
            <a:prstGeom prst="rect">
              <a:avLst/>
            </a:prstGeom>
            <a:solidFill>
              <a:srgbClr val="97D2FF">
                <a:alpha val="9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850" noProof="1">
                <a:cs typeface="+mn-ea"/>
                <a:sym typeface="+mn-lt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006781" y="2421292"/>
            <a:ext cx="7955233" cy="600075"/>
          </a:xfrm>
          <a:prstGeom prst="rect">
            <a:avLst/>
          </a:prstGeom>
          <a:noFill/>
        </p:spPr>
        <p:txBody>
          <a:bodyPr wrap="square" lIns="108594" tIns="54297" rIns="108594" bIns="54297" rtlCol="0">
            <a:spAutoFit/>
          </a:bodyPr>
          <a:lstStyle/>
          <a:p>
            <a:pPr algn="ctr"/>
            <a:r>
              <a:rPr lang="zh-CN" sz="3200" b="1" dirty="0">
                <a:solidFill>
                  <a:schemeClr val="bg1"/>
                </a:solidFill>
                <a:cs typeface="+mn-ea"/>
                <a:sym typeface="+mn-lt"/>
              </a:rPr>
              <a:t>电商送站业务流程培训</a:t>
            </a:r>
            <a:endParaRPr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70" y="1341615"/>
            <a:ext cx="3106888" cy="2079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  <a:headEnd/>
            <a:tailEnd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8163560" y="4725670"/>
            <a:ext cx="267144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2800" dirty="0">
                <a:cs typeface="+mn-ea"/>
                <a:sym typeface="+mn-lt"/>
              </a:rPr>
              <a:t> </a:t>
            </a:r>
            <a:r>
              <a:rPr lang="zh-CN" altLang="en-US" sz="2800" dirty="0">
                <a:cs typeface="+mn-ea"/>
                <a:sym typeface="+mn-lt"/>
              </a:rPr>
              <a:t>物资管理中心</a:t>
            </a:r>
            <a:r>
              <a:rPr lang="en-US" altLang="zh-CN" sz="2800" dirty="0">
                <a:cs typeface="+mn-ea"/>
                <a:sym typeface="+mn-lt"/>
              </a:rPr>
              <a:t>         </a:t>
            </a:r>
            <a:endParaRPr lang="en-US" altLang="zh-CN" sz="2800" dirty="0">
              <a:cs typeface="+mn-ea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en-US" altLang="zh-CN" sz="2800" dirty="0">
                <a:cs typeface="+mn-ea"/>
                <a:sym typeface="+mn-lt"/>
              </a:rPr>
              <a:t>2026</a:t>
            </a:r>
            <a:r>
              <a:rPr lang="zh-CN" altLang="en-US" sz="2800" dirty="0">
                <a:cs typeface="+mn-ea"/>
                <a:sym typeface="+mn-lt"/>
              </a:rPr>
              <a:t>年</a:t>
            </a:r>
            <a:r>
              <a:rPr lang="en-US" altLang="zh-CN" sz="2800" dirty="0">
                <a:cs typeface="+mn-ea"/>
                <a:sym typeface="+mn-lt"/>
              </a:rPr>
              <a:t>6</a:t>
            </a:r>
            <a:r>
              <a:rPr lang="zh-CN" altLang="en-US" sz="2800" dirty="0">
                <a:cs typeface="+mn-ea"/>
                <a:sym typeface="+mn-lt"/>
              </a:rPr>
              <a:t>月 </a:t>
            </a:r>
            <a:endParaRPr lang="zh-CN" altLang="en-US" sz="28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923415" y="1125220"/>
            <a:ext cx="406336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目录</a:t>
            </a:r>
            <a:endParaRPr lang="zh-CN" altLang="en-US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918335" y="2277745"/>
            <a:ext cx="4529455" cy="722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tx1"/>
                </a:solidFill>
              </a:rPr>
              <a:t>一、电商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923415" y="3270250"/>
            <a:ext cx="5584825" cy="815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tx1"/>
                </a:solidFill>
              </a:rPr>
              <a:t>二、送站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923415" y="4355465"/>
            <a:ext cx="5584825" cy="815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tx1"/>
                </a:solidFill>
              </a:rPr>
              <a:t>三、相关入库流程</a:t>
            </a:r>
            <a:endParaRPr lang="zh-CN" altLang="en-US" sz="2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86535" y="1197610"/>
            <a:ext cx="7148195" cy="691515"/>
          </a:xfrm>
          <a:prstGeom prst="rect">
            <a:avLst/>
          </a:prstGeom>
        </p:spPr>
        <p:txBody>
          <a:bodyPr>
            <a:noAutofit/>
          </a:bodyPr>
          <a:p>
            <a:pPr marL="0" lvl="1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电商采购定义：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None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是指分公司利用电商平台（如甄云平台）按照一定标准进行采购的模式。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535" y="1989455"/>
            <a:ext cx="9634220" cy="1257935"/>
          </a:xfrm>
          <a:prstGeom prst="rect">
            <a:avLst/>
          </a:prstGeom>
        </p:spPr>
        <p:txBody>
          <a:bodyPr wrap="square">
            <a:spAutoFit/>
          </a:bodyPr>
          <a:p>
            <a:pPr marL="0" lvl="1" indent="0" defTabSz="266700">
              <a:spcBef>
                <a:spcPts val="700"/>
              </a:spcBef>
              <a:spcAft>
                <a:spcPts val="700"/>
              </a:spcAft>
              <a:buFont typeface="黑体" panose="02010609060101010101" charset="-122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商品采购下单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2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AutoNum type="arabicPlain"/>
              <a:tabLst>
                <a:tab pos="0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各中心（部门）采购人登陆电商平台，根据实际需求在商品池查询选择商品。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AutoNum type="arabicPlain"/>
              <a:tabLst>
                <a:tab pos="0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采购人根据多家电商商品的价格，选择同规格、型号的最低价商品放入购物车，登记送货地址和联系人，确定电商送站时间，创建采购订单进行采购。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695" y="3429635"/>
            <a:ext cx="5353050" cy="26435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4690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一、电商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8835" y="1269365"/>
            <a:ext cx="8983345" cy="3201670"/>
          </a:xfrm>
          <a:prstGeom prst="rect">
            <a:avLst/>
          </a:prstGeom>
        </p:spPr>
        <p:txBody>
          <a:bodyPr>
            <a:noAutofit/>
          </a:bodyPr>
          <a:p>
            <a:pPr marL="0" lvl="1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电商配货及验收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None/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AutoNum type="arabicPlain"/>
              <a:tabLst>
                <a:tab pos="0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电商采购物资配送至各线路段场、站点等使用场所，由需求中心（部门）组织验收；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AutoNum type="arabicPlain"/>
              <a:tabLst>
                <a:tab pos="0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现场验收工作须有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人及以上人员参与，且应在到货后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个工作日内完成验收。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AutoNum type="arabicPlain"/>
              <a:tabLst>
                <a:tab pos="0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物资验收不合格或质保期内物资存在质量问题（非人为损坏），由下单人员在电商平台操作申请售后服务，由订单所属电商完成退货、换货、返修服务。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黑体" panose="02010609060101010101" charset="-122"/>
              <a:buAutoNum type="arabicPlain"/>
              <a:tabLst>
                <a:tab pos="0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物资管理部根据电商平台订单接收情况，每月初对账无误后完成物资管理系统采购订单录入，各中心（部门）需在物资管理系统采购订单下达后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个工作日内完成线上物资验收，并对固定资产类物资发起线上资产验收审批。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4690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一、电商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4690" y="837565"/>
            <a:ext cx="9457690" cy="1449705"/>
          </a:xfrm>
          <a:prstGeom prst="rect">
            <a:avLst/>
          </a:prstGeom>
        </p:spPr>
        <p:txBody>
          <a:bodyPr>
            <a:noAutofit/>
          </a:bodyPr>
          <a:p>
            <a:pPr marL="360045" indent="396240" algn="l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采购订单下达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60045" indent="396240" algn="l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自购物资由供应商履约送站的，采购经办人根据需求部门提报到货的时间，分批次下达采购订单。邮件通知供应商厂验流程并提供不含接收人、送站地点等信息的采购清单，供应商因未按要求送货，产生的供货延期等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将承担合同约定的相关违约责任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需签订承诺书。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480" y="2421255"/>
            <a:ext cx="7075170" cy="34969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94690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二、送站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66445" y="765175"/>
            <a:ext cx="10453370" cy="3262630"/>
          </a:xfrm>
          <a:prstGeom prst="rect">
            <a:avLst/>
          </a:prstGeom>
        </p:spPr>
        <p:txBody>
          <a:bodyPr>
            <a:noAutofit/>
          </a:bodyPr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二、供应商预约厂验流程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供应商按照下达采购订单的供货时间备货，备货完毕后根据模板制作需送站物资厂验单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，准备物资样品，对接物资调配室经办人预约厂验。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物资调配室经办人接到供应商预约厂验后，根据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送站物资厂验单的信息在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系统上核对是否为送站的采购订单，具体厂验的方式见下文。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采购经办人每月月底前根据采购订单（供货清单）下达的时间，通过邮件跟催供应商预约厂验以及后续送站事宜。若供应商未经物资管理部私下对接需求部门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中心，未进行厂验直接送站的物资，由供应商对接需求中心重新补签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送站物资厂验单和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送站签收单后可进行后续验收入库的流程。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825" y="4077335"/>
            <a:ext cx="7842885" cy="19704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4690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二、送站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2255" y="909320"/>
            <a:ext cx="10865485" cy="13665835"/>
          </a:xfrm>
          <a:prstGeom prst="rect">
            <a:avLst/>
          </a:prstGeom>
        </p:spPr>
        <p:txBody>
          <a:bodyPr>
            <a:noAutofit/>
          </a:bodyPr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各类型送站物资厂验具体要求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（一）零星小件物资厂验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供应商根据采购经办人提供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送站物资厂验单以及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送站签收单供应商打印纸质版后，提前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个工作日与物资调配室经办人约定送站时间及地点。供应商、物资调配室参与厂验的人员、需求中心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部门汇合进行厂验。共同厂验完成后由需求部门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中心接收人员需在送站物资厂验单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和送站签收单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上签认“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合格、时间、姓名及工号”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，不合格的当场退货，由供应商拉走后根据需求部门的意见修改。物资调配室参与厂验的人员需在验收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人员处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签认“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姓名及工号”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790" y="3502025"/>
            <a:ext cx="10307955" cy="1886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（二）整批大件物资厂验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60045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供应商提供送站物资厂验单，提前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个工作日与物资调配室经办人约定厂验的时间及地点。物资调配室经办人根据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送站物资厂验单表，组织需求部门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中心到就近物资总库或供应商处（涉及本部门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中心多条线路需指派一人参与验收），厂验完成后需求部门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中心接收人员需在送站物资接收单上签认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“合格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不合格、时间、姓名及工号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”，不合格的当场退货，物资调配室参与厂验的人员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验收人员处签认“姓名及工号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4690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二、送站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4690" y="837565"/>
            <a:ext cx="10601960" cy="4602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60045" indent="0" defTabSz="266700" fontAlgn="auto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defTabSz="266700" fontAlgn="auto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（三）紧急送站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defTabSz="266700" fontAlgn="auto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需紧急送站物资，经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个科室主任对接安排后，由采购经办人告知紧急送站物资清单及地点，由物资调配室经办人到达指定送站地点，待需求部门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中心接收人员确定无误后，留存现场验收照片，待采购订单下达后组织需求部门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中心入库。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defTabSz="266700" fontAlgn="auto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396240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（四）物流送站物资厂验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供应商将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送站物资厂验单和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送站签收单纸质版单据随货物流发出，同时告知物资调配室经办人预计到达时间，由物资调配室经办人通知各个相关需求中心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部门汇合至送站物资接收地点处进行厂验，双方共同厂验完成后，由需求部门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中心接收人员需在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送站物资厂验单和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送站签收单上签认：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“合格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不合格、时间、姓名及工号”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，不合格的当场退货，物资调配室参与厂验的人员需签认“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时间姓名及工号”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64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二、送站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4530" y="837565"/>
            <a:ext cx="9821545" cy="26047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9624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厂验结果处理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624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（一）厂验结果不合格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供应商根据需求部门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中心意见修改厂验不合格的物资后重新预约厂验。不合格的物资当场退回至供应商。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（二）厂验结果合格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由供应商在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个工作日内反馈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送站物资厂验单扫描版至采购经办人处，由采购经办人在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个工作日内提供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送站签收单至供应商，由供应商根据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送站签收单信息在规定时间内完成送站。各需求部门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中心根据厂验情况告知现场接收人即将送站的清单、现场照片以及验收注意事项。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680" y="3645535"/>
            <a:ext cx="6036310" cy="22396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4690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二、送站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98880" y="1197610"/>
            <a:ext cx="9361805" cy="7080885"/>
          </a:xfrm>
          <a:prstGeom prst="rect">
            <a:avLst/>
          </a:prstGeom>
        </p:spPr>
        <p:txBody>
          <a:bodyPr>
            <a:noAutofit/>
          </a:bodyPr>
          <a:p>
            <a:pPr marL="0" indent="39624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送站完成后流程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（一）需求部门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624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需求部门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中心参加厂验的人员需留存现场照片，根据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送站物资厂验单表告知收货站点现场接收人员准备接收，并提示确定现场接收人员，在送站物资验收合格无误后再签认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送站签收单。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（二）供应商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供应商在送站完成后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个工作日内将扫描版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送站签收单反馈至物资调配室经办人处，由物资调配室经办人同步抄送至采购经办人处。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（三）采购经办人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根据签认的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送站物资接收单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信息，于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个工作日内在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系统待检验清单中进行送站信息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624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4690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二、送站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14780" y="837565"/>
            <a:ext cx="769810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39624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（四）物资调配室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949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tabLst>
                <a:tab pos="2667635" algn="l"/>
                <a:tab pos="590423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物资调配室经办人根据供应商反馈的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送站签收单，在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WMS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系统待检验清单界面核实采购订单行、数量等信息无误后，手动勾选生成送货单并通知验收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6580" y="2205355"/>
            <a:ext cx="7054850" cy="36436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4690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二、送站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9795" y="1341120"/>
            <a:ext cx="95878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门户首页</a:t>
            </a:r>
            <a:r>
              <a:rPr lang="en-US" altLang="zh-CN" sz="1600"/>
              <a:t>-</a:t>
            </a:r>
            <a:r>
              <a:rPr lang="zh-CN" altLang="en-US" sz="1600"/>
              <a:t>生产辅助系统</a:t>
            </a:r>
            <a:r>
              <a:rPr lang="en-US" altLang="zh-CN" sz="1600"/>
              <a:t>-</a:t>
            </a:r>
            <a:r>
              <a:rPr lang="zh-CN" altLang="en-US" sz="1600"/>
              <a:t>运营仓储管理</a:t>
            </a:r>
            <a:endParaRPr lang="zh-CN" altLang="en-US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490" y="1845310"/>
            <a:ext cx="6154420" cy="3761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734722" y="6381487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1054735" y="1052830"/>
            <a:ext cx="406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入库管理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送货单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635" y="1733550"/>
            <a:ext cx="10029190" cy="43878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735" y="1557020"/>
            <a:ext cx="7535545" cy="40836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2300" y="909320"/>
            <a:ext cx="7807325" cy="490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点击查询</a:t>
            </a:r>
            <a:r>
              <a:rPr lang="en-US" altLang="zh-CN" sz="1600"/>
              <a:t>-</a:t>
            </a:r>
            <a:r>
              <a:rPr lang="zh-CN" altLang="en-US" sz="1600"/>
              <a:t>结束日期</a:t>
            </a:r>
            <a:r>
              <a:rPr lang="en-US" altLang="zh-CN" sz="1600"/>
              <a:t>/</a:t>
            </a:r>
            <a:r>
              <a:rPr lang="zh-CN" altLang="en-US" sz="1600"/>
              <a:t>单据处理状态保持空白</a:t>
            </a:r>
            <a:r>
              <a:rPr lang="en-US" altLang="zh-CN" sz="1600"/>
              <a:t>-</a:t>
            </a:r>
            <a:r>
              <a:rPr lang="zh-CN" altLang="en-US" sz="1600"/>
              <a:t>输入采购订单号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8615045" y="2781300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后面有标注送站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电商的标识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1400" dirty="0"/>
          </a:p>
        </p:txBody>
      </p:sp>
      <p:sp>
        <p:nvSpPr>
          <p:cNvPr id="3" name="文本框 2"/>
          <p:cNvSpPr txBox="1"/>
          <p:nvPr/>
        </p:nvSpPr>
        <p:spPr>
          <a:xfrm>
            <a:off x="1082040" y="800735"/>
            <a:ext cx="406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勾选单据</a:t>
            </a:r>
            <a:r>
              <a:rPr lang="en-US" altLang="zh-CN" sz="1600"/>
              <a:t>-</a:t>
            </a:r>
            <a:r>
              <a:rPr lang="zh-CN" altLang="en-US" sz="1600"/>
              <a:t>点击打印批次</a:t>
            </a:r>
            <a:endParaRPr lang="zh-CN" altLang="en-US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490" y="1269365"/>
            <a:ext cx="9491345" cy="4877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45870" y="953770"/>
            <a:ext cx="4047490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点击</a:t>
            </a:r>
            <a:r>
              <a:rPr lang="en-US" altLang="zh-CN" sz="1600"/>
              <a:t>-</a:t>
            </a:r>
            <a:r>
              <a:rPr lang="zh-CN" altLang="en-US" sz="1600"/>
              <a:t>打印数量</a:t>
            </a:r>
            <a:r>
              <a:rPr lang="en-US" altLang="zh-CN" sz="1600"/>
              <a:t>-</a:t>
            </a:r>
            <a:r>
              <a:rPr lang="zh-CN" altLang="en-US" sz="1600"/>
              <a:t>打印</a:t>
            </a:r>
            <a:endParaRPr lang="zh-CN" altLang="en-US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780" y="1413510"/>
            <a:ext cx="9743440" cy="42754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1016000" y="789940"/>
            <a:ext cx="406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点击</a:t>
            </a:r>
            <a:r>
              <a:rPr lang="en-US" altLang="zh-CN" sz="1600"/>
              <a:t>-</a:t>
            </a:r>
            <a:r>
              <a:rPr lang="zh-CN" altLang="en-US" sz="1600"/>
              <a:t>打印送货单</a:t>
            </a:r>
            <a:endParaRPr lang="zh-CN" altLang="en-US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57020"/>
            <a:ext cx="10840720" cy="4508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735357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1400" dirty="0"/>
          </a:p>
        </p:txBody>
      </p:sp>
      <p:sp>
        <p:nvSpPr>
          <p:cNvPr id="3" name="文本框 2"/>
          <p:cNvSpPr txBox="1"/>
          <p:nvPr/>
        </p:nvSpPr>
        <p:spPr>
          <a:xfrm>
            <a:off x="1283335" y="1021080"/>
            <a:ext cx="9915525" cy="1289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rgbClr val="FF0000"/>
                </a:solidFill>
              </a:rPr>
              <a:t>注意事项：（</a:t>
            </a:r>
            <a:r>
              <a:rPr lang="en-US" altLang="zh-CN" sz="1600">
                <a:solidFill>
                  <a:srgbClr val="FF0000"/>
                </a:solidFill>
              </a:rPr>
              <a:t>1</a:t>
            </a:r>
            <a:r>
              <a:rPr lang="zh-CN" altLang="en-US" sz="1600">
                <a:solidFill>
                  <a:srgbClr val="FF0000"/>
                </a:solidFill>
              </a:rPr>
              <a:t>）固定资产按照订单数量</a:t>
            </a:r>
            <a:r>
              <a:rPr lang="en-US" altLang="zh-CN" sz="1600">
                <a:solidFill>
                  <a:srgbClr val="FF0000"/>
                </a:solidFill>
              </a:rPr>
              <a:t>-</a:t>
            </a:r>
            <a:r>
              <a:rPr lang="zh-CN" altLang="en-US" sz="1600">
                <a:solidFill>
                  <a:srgbClr val="FF0000"/>
                </a:solidFill>
              </a:rPr>
              <a:t>选择对应打印数量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en-US" altLang="zh-CN" sz="1600">
                <a:solidFill>
                  <a:srgbClr val="FF0000"/>
                </a:solidFill>
              </a:rPr>
              <a:t>                  </a:t>
            </a:r>
            <a:r>
              <a:rPr lang="zh-CN" altLang="en-US" sz="1600">
                <a:solidFill>
                  <a:srgbClr val="FF0000"/>
                </a:solidFill>
              </a:rPr>
              <a:t>（</a:t>
            </a:r>
            <a:r>
              <a:rPr lang="en-US" altLang="zh-CN" sz="1600">
                <a:solidFill>
                  <a:srgbClr val="FF0000"/>
                </a:solidFill>
              </a:rPr>
              <a:t>2</a:t>
            </a:r>
            <a:r>
              <a:rPr lang="zh-CN" altLang="en-US" sz="1600">
                <a:solidFill>
                  <a:srgbClr val="FF0000"/>
                </a:solidFill>
              </a:rPr>
              <a:t>）其他打印数量选择</a:t>
            </a:r>
            <a:r>
              <a:rPr lang="en-US" altLang="zh-CN" sz="1600">
                <a:solidFill>
                  <a:srgbClr val="FF0000"/>
                </a:solidFill>
              </a:rPr>
              <a:t>1</a:t>
            </a:r>
            <a:r>
              <a:rPr lang="zh-CN" altLang="en-US" sz="1600">
                <a:solidFill>
                  <a:srgbClr val="FF0000"/>
                </a:solidFill>
              </a:rPr>
              <a:t>即可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en-US" altLang="zh-CN" sz="1600">
                <a:solidFill>
                  <a:srgbClr val="FF0000"/>
                </a:solidFill>
              </a:rPr>
              <a:t>                  </a:t>
            </a:r>
            <a:r>
              <a:rPr lang="zh-CN" altLang="en-US" sz="1600">
                <a:solidFill>
                  <a:srgbClr val="FF0000"/>
                </a:solidFill>
              </a:rPr>
              <a:t>（</a:t>
            </a:r>
            <a:r>
              <a:rPr lang="en-US" altLang="zh-CN" sz="1600">
                <a:solidFill>
                  <a:srgbClr val="FF0000"/>
                </a:solidFill>
              </a:rPr>
              <a:t>3</a:t>
            </a:r>
            <a:r>
              <a:rPr lang="zh-CN" altLang="en-US" sz="1600">
                <a:solidFill>
                  <a:srgbClr val="FF0000"/>
                </a:solidFill>
              </a:rPr>
              <a:t>）客运中心涉及数量在</a:t>
            </a:r>
            <a:r>
              <a:rPr lang="en-US" altLang="zh-CN" sz="1600">
                <a:solidFill>
                  <a:srgbClr val="FF0000"/>
                </a:solidFill>
              </a:rPr>
              <a:t>1</a:t>
            </a:r>
            <a:r>
              <a:rPr lang="zh-CN" altLang="en-US" sz="1600">
                <a:solidFill>
                  <a:srgbClr val="FF0000"/>
                </a:solidFill>
              </a:rPr>
              <a:t>以下的贴纸需要在批次档案</a:t>
            </a:r>
            <a:r>
              <a:rPr lang="en-US" altLang="zh-CN" sz="1600">
                <a:solidFill>
                  <a:srgbClr val="FF0000"/>
                </a:solidFill>
              </a:rPr>
              <a:t>-</a:t>
            </a:r>
            <a:r>
              <a:rPr lang="zh-CN" altLang="en-US" sz="1600">
                <a:solidFill>
                  <a:srgbClr val="FF0000"/>
                </a:solidFill>
              </a:rPr>
              <a:t>选择批次补打</a:t>
            </a:r>
            <a:endParaRPr lang="zh-CN" altLang="en-US" sz="160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690" y="2781935"/>
            <a:ext cx="10723245" cy="31051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59121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1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" y="1773555"/>
            <a:ext cx="7323455" cy="39960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103110" y="2277110"/>
            <a:ext cx="4454525" cy="31870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2255" y="836930"/>
            <a:ext cx="50539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物资系统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入库管理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电商送站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82345" y="1412875"/>
            <a:ext cx="1976755" cy="44094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095" y="1412875"/>
            <a:ext cx="2009775" cy="44342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455" y="1412875"/>
            <a:ext cx="2037080" cy="43916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35" y="2132965"/>
            <a:ext cx="2332355" cy="36042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795" y="2349500"/>
            <a:ext cx="5970270" cy="32575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1030" y="836930"/>
            <a:ext cx="406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扫送货单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1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6580" y="1772920"/>
            <a:ext cx="2369185" cy="36747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740" y="1989455"/>
            <a:ext cx="4455160" cy="32283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8790" y="811530"/>
            <a:ext cx="645223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货位输入</a:t>
            </a:r>
            <a:r>
              <a:rPr lang="en-US" altLang="zh-CN" sz="1600"/>
              <a:t>-SZHW-</a:t>
            </a:r>
            <a:r>
              <a:rPr lang="zh-CN" altLang="en-US" sz="1600"/>
              <a:t>扫物资信息</a:t>
            </a:r>
            <a:r>
              <a:rPr lang="en-US" altLang="zh-CN" sz="1600"/>
              <a:t>-</a:t>
            </a:r>
            <a:r>
              <a:rPr lang="zh-CN" altLang="en-US" sz="1600"/>
              <a:t>扫二级库的货位码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910590" y="5373370"/>
            <a:ext cx="4222115" cy="957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若物资编码的物资属性为备品备件、生产性耗材 ，则需要填写二级库货位，用于自动生成领料移库单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1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35" y="1629410"/>
            <a:ext cx="2632075" cy="45872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130" y="1557020"/>
            <a:ext cx="2682240" cy="44818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10590" y="981075"/>
            <a:ext cx="6971665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固定资产</a:t>
            </a:r>
            <a:r>
              <a:rPr lang="en-US" altLang="zh-CN" sz="1600"/>
              <a:t>-</a:t>
            </a:r>
            <a:r>
              <a:rPr lang="zh-CN" altLang="en-US" sz="1600"/>
              <a:t>填写管理人、使用人、使用地点（数量为</a:t>
            </a:r>
            <a:r>
              <a:rPr lang="en-US" altLang="zh-CN" sz="1600"/>
              <a:t>1</a:t>
            </a:r>
            <a:r>
              <a:rPr lang="zh-CN" altLang="en-US" sz="1600"/>
              <a:t>）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1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90" y="1917065"/>
            <a:ext cx="7574915" cy="40582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13180" y="1144270"/>
            <a:ext cx="406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业务系统</a:t>
            </a:r>
            <a:r>
              <a:rPr lang="en-US" altLang="zh-CN" sz="1600"/>
              <a:t>-</a:t>
            </a:r>
            <a:r>
              <a:rPr lang="zh-CN" altLang="en-US" sz="1600"/>
              <a:t>项目定额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45310"/>
            <a:ext cx="8989060" cy="40944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10360" y="981710"/>
            <a:ext cx="6727190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切换</a:t>
            </a:r>
            <a:r>
              <a:rPr lang="en-US" altLang="zh-CN" sz="1600"/>
              <a:t>EAM-</a:t>
            </a:r>
            <a:r>
              <a:rPr lang="zh-CN" altLang="en-US" sz="1600"/>
              <a:t>资产验收员</a:t>
            </a:r>
            <a:r>
              <a:rPr lang="en-US" altLang="zh-CN" sz="1600"/>
              <a:t>-</a:t>
            </a:r>
            <a:r>
              <a:rPr lang="zh-CN" altLang="en-US" sz="1600"/>
              <a:t>选择资产验收单</a:t>
            </a:r>
            <a:endParaRPr lang="zh-CN" altLang="en-US" sz="1600"/>
          </a:p>
          <a:p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780" y="2277110"/>
            <a:ext cx="7170420" cy="38366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14780" y="970915"/>
            <a:ext cx="6247765" cy="664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验收后自动生成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打开对应单号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15</a:t>
            </a:r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390" y="2132965"/>
            <a:ext cx="8115300" cy="37623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70635" y="1196975"/>
            <a:ext cx="590613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修改资产名称</a:t>
            </a:r>
            <a:r>
              <a:rPr lang="en-US" altLang="zh-CN" sz="1600"/>
              <a:t>-</a:t>
            </a:r>
            <a:r>
              <a:rPr lang="zh-CN" altLang="en-US" sz="1600"/>
              <a:t>规格型号</a:t>
            </a:r>
            <a:r>
              <a:rPr lang="en-US" altLang="zh-CN" sz="1600"/>
              <a:t>-</a:t>
            </a:r>
            <a:r>
              <a:rPr lang="zh-CN" altLang="en-US" sz="1600"/>
              <a:t>打开资产详情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635" y="2205355"/>
            <a:ext cx="8106410" cy="35490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98245" y="1196975"/>
            <a:ext cx="4754245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补充相应资产信息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0200" y="3769360"/>
            <a:ext cx="11303000" cy="2433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3690"/>
            <a:ext cx="9191625" cy="24110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42390" y="1629410"/>
            <a:ext cx="406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资产名称、规格型号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735" y="2637790"/>
            <a:ext cx="10150475" cy="20802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4735" y="1412875"/>
            <a:ext cx="8508365" cy="780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采购部门</a:t>
            </a:r>
            <a:r>
              <a:rPr lang="en-US" altLang="zh-CN" sz="1600"/>
              <a:t>-</a:t>
            </a:r>
            <a:r>
              <a:rPr lang="zh-CN" altLang="en-US" sz="1600"/>
              <a:t>使用部门</a:t>
            </a:r>
            <a:r>
              <a:rPr lang="en-US" altLang="zh-CN" sz="1600"/>
              <a:t>-</a:t>
            </a:r>
            <a:r>
              <a:rPr lang="zh-CN" altLang="en-US" sz="1600"/>
              <a:t>实物归口管理部门（见下页）</a:t>
            </a:r>
            <a:r>
              <a:rPr lang="en-US" altLang="zh-CN" sz="1600"/>
              <a:t>-</a:t>
            </a:r>
            <a:r>
              <a:rPr lang="zh-CN" altLang="en-US" sz="1600"/>
              <a:t>地点代码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8380" y="1269365"/>
            <a:ext cx="4551680" cy="50495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6445" y="765810"/>
            <a:ext cx="406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实物归口对应图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55" y="1629410"/>
            <a:ext cx="10723245" cy="24193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645" y="888365"/>
            <a:ext cx="8038465" cy="567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添加管理人</a:t>
            </a:r>
            <a:r>
              <a:rPr lang="en-US" altLang="zh-CN" sz="1400"/>
              <a:t>-</a:t>
            </a:r>
            <a:r>
              <a:rPr lang="zh-CN" altLang="en-US" sz="1400"/>
              <a:t>使用人</a:t>
            </a:r>
            <a:r>
              <a:rPr lang="en-US" altLang="zh-CN" sz="1400"/>
              <a:t>-</a:t>
            </a:r>
            <a:r>
              <a:rPr lang="zh-CN" altLang="en-US" sz="1400"/>
              <a:t>出厂时间</a:t>
            </a:r>
            <a:r>
              <a:rPr lang="en-US" altLang="zh-CN" sz="1400"/>
              <a:t>-</a:t>
            </a:r>
            <a:r>
              <a:rPr lang="zh-CN" altLang="en-US" sz="1400"/>
              <a:t>购置日期</a:t>
            </a:r>
            <a:r>
              <a:rPr lang="en-US" altLang="zh-CN" sz="1400"/>
              <a:t>-</a:t>
            </a:r>
            <a:r>
              <a:rPr lang="zh-CN" altLang="en-US" sz="1400"/>
              <a:t>使用日期</a:t>
            </a:r>
            <a:r>
              <a:rPr lang="en-US" altLang="zh-CN" sz="1400"/>
              <a:t>-</a:t>
            </a:r>
            <a:r>
              <a:rPr lang="zh-CN" altLang="en-US" sz="1400"/>
              <a:t>货位</a:t>
            </a:r>
            <a:endParaRPr lang="zh-CN" altLang="en-US" sz="1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65" y="4149725"/>
            <a:ext cx="10426065" cy="21596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735" y="2205990"/>
            <a:ext cx="9375140" cy="38703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50010" y="1134745"/>
            <a:ext cx="406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点击提交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61210"/>
            <a:ext cx="9758045" cy="38328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74090" y="981710"/>
            <a:ext cx="9733280" cy="805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审批完成（科室资产管理岗</a:t>
            </a:r>
            <a:r>
              <a:rPr lang="en-US" altLang="zh-CN" sz="1600"/>
              <a:t>-</a:t>
            </a:r>
            <a:r>
              <a:rPr lang="zh-CN" altLang="en-US" sz="1600"/>
              <a:t>中心资产管理岗</a:t>
            </a:r>
            <a:r>
              <a:rPr lang="en-US" altLang="zh-CN" sz="1600"/>
              <a:t>-</a:t>
            </a:r>
            <a:r>
              <a:rPr lang="zh-CN" altLang="en-US" sz="1600"/>
              <a:t>归口部门负责人</a:t>
            </a:r>
            <a:r>
              <a:rPr lang="en-US" altLang="zh-CN" sz="1600"/>
              <a:t>-</a:t>
            </a:r>
            <a:r>
              <a:rPr lang="zh-CN" altLang="en-US" sz="1600"/>
              <a:t>财务资产负责人）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735" y="2133600"/>
            <a:ext cx="7689215" cy="40690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26490" y="1053465"/>
            <a:ext cx="406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已批准状态</a:t>
            </a:r>
            <a:r>
              <a:rPr lang="en-US" altLang="zh-CN" sz="1600"/>
              <a:t>=</a:t>
            </a:r>
            <a:r>
              <a:rPr lang="zh-CN" altLang="en-US" sz="1600"/>
              <a:t>审批完成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5699162" y="6382122"/>
            <a:ext cx="79208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735" y="1917700"/>
            <a:ext cx="9862185" cy="42221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70635" y="1021080"/>
            <a:ext cx="4234815" cy="664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资产详情</a:t>
            </a:r>
            <a:r>
              <a:rPr lang="en-US" altLang="zh-CN" sz="1600"/>
              <a:t>-</a:t>
            </a:r>
            <a:r>
              <a:rPr lang="zh-CN" altLang="en-US" sz="1600"/>
              <a:t>生成资产编号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334645" y="117475"/>
            <a:ext cx="406336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三、相关入库流程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48794" y="2493794"/>
            <a:ext cx="6092825" cy="110680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715"/>
              </a:spcBef>
            </a:pPr>
            <a:r>
              <a:rPr lang="zh-CN" altLang="en-US" sz="6600" b="1" dirty="0">
                <a:solidFill>
                  <a:srgbClr val="0255A0"/>
                </a:solidFill>
                <a:cs typeface="+mn-ea"/>
                <a:sym typeface="+mn-lt"/>
              </a:rPr>
              <a:t>感谢聆听！</a:t>
            </a:r>
            <a:endParaRPr lang="zh-CN" altLang="en-US" sz="6600" b="1" dirty="0">
              <a:solidFill>
                <a:srgbClr val="0255A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6.45,&quot;left&quot;:146.3,&quot;top&quot;:139.9,&quot;width&quot;:486.7}"/>
</p:tagLst>
</file>

<file path=ppt/tags/tag2.xml><?xml version="1.0" encoding="utf-8"?>
<p:tagLst xmlns:p="http://schemas.openxmlformats.org/presentationml/2006/main">
  <p:tag name="KSO_WM_DIAGRAM_VIRTUALLY_FRAME" val="{&quot;height&quot;:306.45,&quot;left&quot;:146.3,&quot;top&quot;:139.9,&quot;width&quot;:486.7}"/>
</p:tagLst>
</file>

<file path=ppt/tags/tag3.xml><?xml version="1.0" encoding="utf-8"?>
<p:tagLst xmlns:p="http://schemas.openxmlformats.org/presentationml/2006/main">
  <p:tag name="KSO_WM_DIAGRAM_VIRTUALLY_FRAME" val="{&quot;height&quot;:306.45,&quot;left&quot;:146.3,&quot;top&quot;:139.9,&quot;width&quot;:486.7}"/>
</p:tagLst>
</file>

<file path=ppt/tags/tag4.xml><?xml version="1.0" encoding="utf-8"?>
<p:tagLst xmlns:p="http://schemas.openxmlformats.org/presentationml/2006/main">
  <p:tag name="KSO_WM_UNIT_PLACING_PICTURE_USER_VIEWPORT" val="{&quot;height&quot;:8445,&quot;width&quot;:11805}"/>
</p:tagLst>
</file>

<file path=ppt/tags/tag5.xml><?xml version="1.0" encoding="utf-8"?>
<p:tagLst xmlns:p="http://schemas.openxmlformats.org/presentationml/2006/main">
  <p:tag name="KSO_WM_UNIT_PLACING_PICTURE_USER_VIEWPORT" val="{&quot;height&quot;:36120,&quot;width&quot;:16200}"/>
</p:tagLst>
</file>

<file path=ppt/tags/tag6.xml><?xml version="1.0" encoding="utf-8"?>
<p:tagLst xmlns:p="http://schemas.openxmlformats.org/presentationml/2006/main">
  <p:tag name="KSO_WPP_MARK_KEY" val="e3e00baf-bcc8-4f35-8cd2-68471336c053"/>
  <p:tag name="COMMONDATA" val="eyJoZGlkIjoiNzM5MzFmMzg2NzkyNGZmZjgzOWFlYmYwOTdhMTFkY2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tn2qlzm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tn2qlzm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5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5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0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3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tn2qlzm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4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tn2qlzm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6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7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tn2qlzm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3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tn2qlzm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4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35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36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37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38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39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7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tn2qlzm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tn2qlzm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tn2qlzm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2818</Words>
  <Application>WPS 演示</Application>
  <PresentationFormat>自定义</PresentationFormat>
  <Paragraphs>194</Paragraphs>
  <Slides>37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23</vt:i4>
      </vt:variant>
      <vt:variant>
        <vt:lpstr>幻灯片标题</vt:lpstr>
      </vt:variant>
      <vt:variant>
        <vt:i4>37</vt:i4>
      </vt:variant>
    </vt:vector>
  </HeadingPairs>
  <TitlesOfParts>
    <vt:vector size="67" baseType="lpstr">
      <vt:lpstr>Arial</vt:lpstr>
      <vt:lpstr>宋体</vt:lpstr>
      <vt:lpstr>Wingdings</vt:lpstr>
      <vt:lpstr>Calibri</vt:lpstr>
      <vt:lpstr>黑体</vt:lpstr>
      <vt:lpstr>微软雅黑</vt:lpstr>
      <vt:lpstr>Arial Unicode MS</vt:lpstr>
      <vt:lpstr>Office 主题​​</vt:lpstr>
      <vt:lpstr>5_Office 主题​​</vt:lpstr>
      <vt:lpstr>15_Office 主题​​</vt:lpstr>
      <vt:lpstr>25_Office 主题​​</vt:lpstr>
      <vt:lpstr>20_Office 主题​​</vt:lpstr>
      <vt:lpstr>21_Office 主题​​</vt:lpstr>
      <vt:lpstr>23_Office 主题​​</vt:lpstr>
      <vt:lpstr>24_Office 主题​​</vt:lpstr>
      <vt:lpstr>26_Office 主题​​</vt:lpstr>
      <vt:lpstr>27_Office 主题​​</vt:lpstr>
      <vt:lpstr>33_Office 主题​​</vt:lpstr>
      <vt:lpstr>34_Office 主题​​</vt:lpstr>
      <vt:lpstr>35_Office 主题​​</vt:lpstr>
      <vt:lpstr>36_Office 主题​​</vt:lpstr>
      <vt:lpstr>37_Office 主题​​</vt:lpstr>
      <vt:lpstr>38_Office 主题​​</vt:lpstr>
      <vt:lpstr>39_Office 主题​​</vt:lpstr>
      <vt:lpstr>16_Office 主题​​</vt:lpstr>
      <vt:lpstr>1_Office 主题​​</vt:lpstr>
      <vt:lpstr>17_Office 主题​​</vt:lpstr>
      <vt:lpstr>2_Office 主题​​</vt:lpstr>
      <vt:lpstr>3_Office 主题​​</vt:lpstr>
      <vt:lpstr>4_Office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郭凯</dc:creator>
  <cp:lastModifiedBy>董文静</cp:lastModifiedBy>
  <cp:revision>3098</cp:revision>
  <cp:lastPrinted>2021-11-16T02:17:00Z</cp:lastPrinted>
  <dcterms:created xsi:type="dcterms:W3CDTF">2017-03-20T05:25:00Z</dcterms:created>
  <dcterms:modified xsi:type="dcterms:W3CDTF">2026-06-05T06:42:05Z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F9368FBA764D469D9A41AEFCDA05F3BC_13</vt:lpwstr>
  </property>
</Properties>
</file>