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7" r:id="rId3"/>
    <p:sldId id="258" r:id="rId4"/>
    <p:sldId id="264" r:id="rId6"/>
    <p:sldId id="270" r:id="rId7"/>
    <p:sldId id="271" r:id="rId8"/>
    <p:sldId id="261" r:id="rId9"/>
    <p:sldId id="259" r:id="rId10"/>
    <p:sldId id="274" r:id="rId11"/>
    <p:sldId id="275" r:id="rId12"/>
    <p:sldId id="277" r:id="rId13"/>
    <p:sldId id="276" r:id="rId14"/>
    <p:sldId id="278" r:id="rId15"/>
    <p:sldId id="279" r:id="rId16"/>
    <p:sldId id="280" r:id="rId17"/>
    <p:sldId id="283" r:id="rId18"/>
    <p:sldId id="281" r:id="rId19"/>
    <p:sldId id="284" r:id="rId20"/>
    <p:sldId id="282" r:id="rId21"/>
    <p:sldId id="288" r:id="rId22"/>
    <p:sldId id="285" r:id="rId23"/>
    <p:sldId id="289" r:id="rId24"/>
    <p:sldId id="291" r:id="rId25"/>
    <p:sldId id="290" r:id="rId26"/>
    <p:sldId id="292" r:id="rId27"/>
    <p:sldId id="376" r:id="rId28"/>
    <p:sldId id="378" r:id="rId29"/>
    <p:sldId id="380" r:id="rId30"/>
    <p:sldId id="353" r:id="rId31"/>
    <p:sldId id="381" r:id="rId32"/>
    <p:sldId id="382" r:id="rId33"/>
    <p:sldId id="305" r:id="rId34"/>
    <p:sldId id="306" r:id="rId35"/>
    <p:sldId id="307" r:id="rId36"/>
    <p:sldId id="308" r:id="rId37"/>
    <p:sldId id="309" r:id="rId38"/>
    <p:sldId id="383" r:id="rId39"/>
    <p:sldId id="384" r:id="rId40"/>
    <p:sldId id="310" r:id="rId41"/>
    <p:sldId id="354" r:id="rId42"/>
    <p:sldId id="385" r:id="rId43"/>
    <p:sldId id="312" r:id="rId44"/>
    <p:sldId id="313" r:id="rId45"/>
    <p:sldId id="314" r:id="rId46"/>
    <p:sldId id="315" r:id="rId47"/>
    <p:sldId id="316" r:id="rId48"/>
    <p:sldId id="317" r:id="rId49"/>
    <p:sldId id="318" r:id="rId50"/>
    <p:sldId id="319" r:id="rId51"/>
    <p:sldId id="320" r:id="rId52"/>
    <p:sldId id="321" r:id="rId53"/>
    <p:sldId id="355" r:id="rId54"/>
    <p:sldId id="323" r:id="rId55"/>
    <p:sldId id="324" r:id="rId56"/>
    <p:sldId id="325" r:id="rId57"/>
    <p:sldId id="326" r:id="rId58"/>
    <p:sldId id="327" r:id="rId59"/>
    <p:sldId id="328" r:id="rId60"/>
    <p:sldId id="329" r:id="rId61"/>
    <p:sldId id="330" r:id="rId62"/>
    <p:sldId id="331" r:id="rId63"/>
    <p:sldId id="332" r:id="rId64"/>
    <p:sldId id="333" r:id="rId65"/>
    <p:sldId id="334" r:id="rId66"/>
    <p:sldId id="335" r:id="rId67"/>
    <p:sldId id="356" r:id="rId68"/>
    <p:sldId id="336" r:id="rId69"/>
    <p:sldId id="337" r:id="rId70"/>
    <p:sldId id="338" r:id="rId71"/>
    <p:sldId id="339" r:id="rId72"/>
    <p:sldId id="342" r:id="rId73"/>
    <p:sldId id="343" r:id="rId74"/>
    <p:sldId id="344" r:id="rId75"/>
    <p:sldId id="345" r:id="rId76"/>
    <p:sldId id="346" r:id="rId77"/>
    <p:sldId id="347" r:id="rId78"/>
    <p:sldId id="348" r:id="rId79"/>
    <p:sldId id="350" r:id="rId80"/>
    <p:sldId id="349" r:id="rId81"/>
    <p:sldId id="459" r:id="rId82"/>
    <p:sldId id="460" r:id="rId83"/>
    <p:sldId id="462" r:id="rId84"/>
    <p:sldId id="463" r:id="rId85"/>
    <p:sldId id="464" r:id="rId86"/>
    <p:sldId id="465" r:id="rId87"/>
    <p:sldId id="466" r:id="rId88"/>
    <p:sldId id="351" r:id="rId89"/>
    <p:sldId id="455" r:id="rId90"/>
    <p:sldId id="457" r:id="rId91"/>
    <p:sldId id="357" r:id="rId92"/>
    <p:sldId id="358" r:id="rId93"/>
    <p:sldId id="359" r:id="rId94"/>
    <p:sldId id="360" r:id="rId95"/>
    <p:sldId id="363" r:id="rId96"/>
    <p:sldId id="456" r:id="rId97"/>
    <p:sldId id="364" r:id="rId98"/>
    <p:sldId id="365" r:id="rId99"/>
    <p:sldId id="352" r:id="rId100"/>
    <p:sldId id="480" r:id="rId101"/>
    <p:sldId id="287" r:id="rId102"/>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3" d="100"/>
          <a:sy n="63" d="100"/>
        </p:scale>
        <p:origin x="-312" y="456"/>
      </p:cViewPr>
      <p:guideLst>
        <p:guide orient="horz" pos="1687"/>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5" Type="http://schemas.openxmlformats.org/officeDocument/2006/relationships/tableStyles" Target="tableStyles.xml"/><Relationship Id="rId104" Type="http://schemas.openxmlformats.org/officeDocument/2006/relationships/viewProps" Target="viewProps.xml"/><Relationship Id="rId103" Type="http://schemas.openxmlformats.org/officeDocument/2006/relationships/presProps" Target="presProps.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1EADB3E-1C84-4CE7-B5D5-CBE45BF96E1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AFB54AA-AC86-4E70-BE35-0F2F605D165E}"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F550302-8194-4103-B330-E79E549684E1}"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AFB54AA-AC86-4E70-BE35-0F2F605D165E}"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767DD7D-41E0-4EBD-8686-79892E4A340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72D8C46-B788-47C1-80E6-DFA2D3B23CB5}"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767DD7D-41E0-4EBD-8686-79892E4A340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72D8C46-B788-47C1-80E6-DFA2D3B23CB5}"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767DD7D-41E0-4EBD-8686-79892E4A340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72D8C46-B788-47C1-80E6-DFA2D3B23CB5}"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767DD7D-41E0-4EBD-8686-79892E4A340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72D8C46-B788-47C1-80E6-DFA2D3B23CB5}"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767DD7D-41E0-4EBD-8686-79892E4A3408}"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72D8C46-B788-47C1-80E6-DFA2D3B23CB5}"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767DD7D-41E0-4EBD-8686-79892E4A3408}"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72D8C46-B788-47C1-80E6-DFA2D3B23CB5}"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767DD7D-41E0-4EBD-8686-79892E4A3408}"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72D8C46-B788-47C1-80E6-DFA2D3B23CB5}"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767DD7D-41E0-4EBD-8686-79892E4A340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72D8C46-B788-47C1-80E6-DFA2D3B23CB5}"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767DD7D-41E0-4EBD-8686-79892E4A340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72D8C46-B788-47C1-80E6-DFA2D3B23CB5}"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767DD7D-41E0-4EBD-8686-79892E4A340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72D8C46-B788-47C1-80E6-DFA2D3B23CB5}"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05979"/>
            <a:ext cx="6019800" cy="4388644"/>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767DD7D-41E0-4EBD-8686-79892E4A340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72D8C46-B788-47C1-80E6-DFA2D3B23CB5}"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标题幻灯片">
    <p:spTree>
      <p:nvGrpSpPr>
        <p:cNvPr id="1" name=""/>
        <p:cNvGrpSpPr/>
        <p:nvPr/>
      </p:nvGrpSpPr>
      <p:grpSpPr>
        <a:xfrm>
          <a:off x="0" y="0"/>
          <a:ext cx="0" cy="0"/>
          <a:chOff x="0" y="0"/>
          <a:chExt cx="0" cy="0"/>
        </a:xfrm>
      </p:grpSpPr>
      <p:sp>
        <p:nvSpPr>
          <p:cNvPr id="33" name="图片占位符 32"/>
          <p:cNvSpPr>
            <a:spLocks noGrp="1"/>
          </p:cNvSpPr>
          <p:nvPr>
            <p:ph type="pic" sz="quarter" idx="10"/>
          </p:nvPr>
        </p:nvSpPr>
        <p:spPr>
          <a:xfrm>
            <a:off x="1" y="-1"/>
            <a:ext cx="9143999" cy="5143501"/>
          </a:xfrm>
          <a:custGeom>
            <a:avLst/>
            <a:gdLst>
              <a:gd name="connsiteX0" fmla="*/ 0 w 12191999"/>
              <a:gd name="connsiteY0" fmla="*/ 3949059 h 6858000"/>
              <a:gd name="connsiteX1" fmla="*/ 1410992 w 12191999"/>
              <a:gd name="connsiteY1" fmla="*/ 5344200 h 6858000"/>
              <a:gd name="connsiteX2" fmla="*/ 1276258 w 12191999"/>
              <a:gd name="connsiteY2" fmla="*/ 6857999 h 6858000"/>
              <a:gd name="connsiteX3" fmla="*/ 995362 w 12191999"/>
              <a:gd name="connsiteY3" fmla="*/ 6857999 h 6858000"/>
              <a:gd name="connsiteX4" fmla="*/ 995362 w 12191999"/>
              <a:gd name="connsiteY4" fmla="*/ 6858000 h 6858000"/>
              <a:gd name="connsiteX5" fmla="*/ 0 w 12191999"/>
              <a:gd name="connsiteY5" fmla="*/ 6858000 h 6858000"/>
              <a:gd name="connsiteX6" fmla="*/ 0 w 12191999"/>
              <a:gd name="connsiteY6" fmla="*/ 5815013 h 6858000"/>
              <a:gd name="connsiteX7" fmla="*/ 0 w 12191999"/>
              <a:gd name="connsiteY7" fmla="*/ 5815013 h 6858000"/>
              <a:gd name="connsiteX8" fmla="*/ 12191999 w 12191999"/>
              <a:gd name="connsiteY8" fmla="*/ 0 h 6858000"/>
              <a:gd name="connsiteX9" fmla="*/ 12191999 w 12191999"/>
              <a:gd name="connsiteY9" fmla="*/ 6858000 h 6858000"/>
              <a:gd name="connsiteX10" fmla="*/ 10496816 w 12191999"/>
              <a:gd name="connsiteY10" fmla="*/ 6858000 h 6858000"/>
              <a:gd name="connsiteX11" fmla="*/ 8807283 w 12191999"/>
              <a:gd name="connsiteY11" fmla="*/ 6368638 h 6858000"/>
              <a:gd name="connsiteX12" fmla="*/ 7362364 w 12191999"/>
              <a:gd name="connsiteY12" fmla="*/ 2739781 h 6858000"/>
              <a:gd name="connsiteX13" fmla="*/ 8862264 w 12191999"/>
              <a:gd name="connsiteY13"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1999" h="6858000">
                <a:moveTo>
                  <a:pt x="0" y="3949059"/>
                </a:moveTo>
                <a:lnTo>
                  <a:pt x="1410992" y="5344200"/>
                </a:lnTo>
                <a:lnTo>
                  <a:pt x="1276258" y="6857999"/>
                </a:lnTo>
                <a:lnTo>
                  <a:pt x="995362" y="6857999"/>
                </a:lnTo>
                <a:lnTo>
                  <a:pt x="995362" y="6858000"/>
                </a:lnTo>
                <a:lnTo>
                  <a:pt x="0" y="6858000"/>
                </a:lnTo>
                <a:lnTo>
                  <a:pt x="0" y="5815013"/>
                </a:lnTo>
                <a:lnTo>
                  <a:pt x="0" y="5815013"/>
                </a:lnTo>
                <a:close/>
                <a:moveTo>
                  <a:pt x="12191999" y="0"/>
                </a:moveTo>
                <a:lnTo>
                  <a:pt x="12191999" y="6858000"/>
                </a:lnTo>
                <a:lnTo>
                  <a:pt x="10496816" y="6858000"/>
                </a:lnTo>
                <a:lnTo>
                  <a:pt x="8807283" y="6368638"/>
                </a:lnTo>
                <a:lnTo>
                  <a:pt x="7362364" y="2739781"/>
                </a:lnTo>
                <a:lnTo>
                  <a:pt x="8862264" y="0"/>
                </a:lnTo>
                <a:close/>
              </a:path>
            </a:pathLst>
          </a:custGeom>
          <a:noFill/>
          <a:ln>
            <a:noFill/>
          </a:ln>
        </p:spPr>
        <p:txBody>
          <a:bodyPr wrap="square">
            <a:noAutofit/>
          </a:bodyPr>
          <a:lstStyle/>
          <a:p>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5_自定义版式">
    <p:spTree>
      <p:nvGrpSpPr>
        <p:cNvPr id="1" name=""/>
        <p:cNvGrpSpPr/>
        <p:nvPr/>
      </p:nvGrpSpPr>
      <p:grpSpPr>
        <a:xfrm>
          <a:off x="0" y="0"/>
          <a:ext cx="0" cy="0"/>
          <a:chOff x="0" y="0"/>
          <a:chExt cx="0" cy="0"/>
        </a:xfrm>
      </p:grpSpPr>
      <p:sp>
        <p:nvSpPr>
          <p:cNvPr id="16" name="图片占位符 15"/>
          <p:cNvSpPr>
            <a:spLocks noGrp="1"/>
          </p:cNvSpPr>
          <p:nvPr>
            <p:ph type="pic" sz="quarter" idx="10"/>
          </p:nvPr>
        </p:nvSpPr>
        <p:spPr>
          <a:xfrm>
            <a:off x="1298385" y="1913117"/>
            <a:ext cx="1645564" cy="1950509"/>
          </a:xfrm>
          <a:custGeom>
            <a:avLst/>
            <a:gdLst>
              <a:gd name="connsiteX0" fmla="*/ 657295 w 2194085"/>
              <a:gd name="connsiteY0" fmla="*/ 350914 h 2600679"/>
              <a:gd name="connsiteX1" fmla="*/ 561106 w 2194085"/>
              <a:gd name="connsiteY1" fmla="*/ 427509 h 2600679"/>
              <a:gd name="connsiteX2" fmla="*/ 561106 w 2194085"/>
              <a:gd name="connsiteY2" fmla="*/ 2167826 h 2600679"/>
              <a:gd name="connsiteX3" fmla="*/ 657295 w 2194085"/>
              <a:gd name="connsiteY3" fmla="*/ 2244421 h 2600679"/>
              <a:gd name="connsiteX4" fmla="*/ 748141 w 2194085"/>
              <a:gd name="connsiteY4" fmla="*/ 2167826 h 2600679"/>
              <a:gd name="connsiteX5" fmla="*/ 748141 w 2194085"/>
              <a:gd name="connsiteY5" fmla="*/ 427509 h 2600679"/>
              <a:gd name="connsiteX6" fmla="*/ 657295 w 2194085"/>
              <a:gd name="connsiteY6" fmla="*/ 350914 h 2600679"/>
              <a:gd name="connsiteX7" fmla="*/ 1709575 w 2194085"/>
              <a:gd name="connsiteY7" fmla="*/ 23157 h 2600679"/>
              <a:gd name="connsiteX8" fmla="*/ 2194085 w 2194085"/>
              <a:gd name="connsiteY8" fmla="*/ 23157 h 2600679"/>
              <a:gd name="connsiteX9" fmla="*/ 2194085 w 2194085"/>
              <a:gd name="connsiteY9" fmla="*/ 2577522 h 2600679"/>
              <a:gd name="connsiteX10" fmla="*/ 1632980 w 2194085"/>
              <a:gd name="connsiteY10" fmla="*/ 2577522 h 2600679"/>
              <a:gd name="connsiteX11" fmla="*/ 1632980 w 2194085"/>
              <a:gd name="connsiteY11" fmla="*/ 705390 h 2600679"/>
              <a:gd name="connsiteX12" fmla="*/ 1419225 w 2194085"/>
              <a:gd name="connsiteY12" fmla="*/ 705390 h 2600679"/>
              <a:gd name="connsiteX13" fmla="*/ 1419225 w 2194085"/>
              <a:gd name="connsiteY13" fmla="*/ 333101 h 2600679"/>
              <a:gd name="connsiteX14" fmla="*/ 1625479 w 2194085"/>
              <a:gd name="connsiteY14" fmla="*/ 228005 h 2600679"/>
              <a:gd name="connsiteX15" fmla="*/ 1709575 w 2194085"/>
              <a:gd name="connsiteY15" fmla="*/ 23157 h 2600679"/>
              <a:gd name="connsiteX16" fmla="*/ 660858 w 2194085"/>
              <a:gd name="connsiteY16" fmla="*/ 0 h 2600679"/>
              <a:gd name="connsiteX17" fmla="*/ 1309246 w 2194085"/>
              <a:gd name="connsiteY17" fmla="*/ 493417 h 2600679"/>
              <a:gd name="connsiteX18" fmla="*/ 1309246 w 2194085"/>
              <a:gd name="connsiteY18" fmla="*/ 2137544 h 2600679"/>
              <a:gd name="connsiteX19" fmla="*/ 1126664 w 2194085"/>
              <a:gd name="connsiteY19" fmla="*/ 2479551 h 2600679"/>
              <a:gd name="connsiteX20" fmla="*/ 657295 w 2194085"/>
              <a:gd name="connsiteY20" fmla="*/ 2600679 h 2600679"/>
              <a:gd name="connsiteX21" fmla="*/ 180801 w 2194085"/>
              <a:gd name="connsiteY21" fmla="*/ 2481333 h 2600679"/>
              <a:gd name="connsiteX22" fmla="*/ 0 w 2194085"/>
              <a:gd name="connsiteY22" fmla="*/ 2141107 h 2600679"/>
              <a:gd name="connsiteX23" fmla="*/ 0 w 2194085"/>
              <a:gd name="connsiteY23" fmla="*/ 496979 h 2600679"/>
              <a:gd name="connsiteX24" fmla="*/ 660858 w 2194085"/>
              <a:gd name="connsiteY24" fmla="*/ 0 h 2600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194085" h="2600679">
                <a:moveTo>
                  <a:pt x="657295" y="350914"/>
                </a:moveTo>
                <a:cubicBezTo>
                  <a:pt x="593169" y="350914"/>
                  <a:pt x="561106" y="376446"/>
                  <a:pt x="561106" y="427509"/>
                </a:cubicBezTo>
                <a:lnTo>
                  <a:pt x="561106" y="2167826"/>
                </a:lnTo>
                <a:cubicBezTo>
                  <a:pt x="561106" y="2218890"/>
                  <a:pt x="593169" y="2244421"/>
                  <a:pt x="657295" y="2244421"/>
                </a:cubicBezTo>
                <a:cubicBezTo>
                  <a:pt x="717859" y="2244421"/>
                  <a:pt x="748141" y="2218890"/>
                  <a:pt x="748141" y="2167826"/>
                </a:cubicBezTo>
                <a:lnTo>
                  <a:pt x="748141" y="427509"/>
                </a:lnTo>
                <a:cubicBezTo>
                  <a:pt x="748141" y="376446"/>
                  <a:pt x="717859" y="350914"/>
                  <a:pt x="657295" y="350914"/>
                </a:cubicBezTo>
                <a:close/>
                <a:moveTo>
                  <a:pt x="1709575" y="23157"/>
                </a:moveTo>
                <a:lnTo>
                  <a:pt x="2194085" y="23157"/>
                </a:lnTo>
                <a:lnTo>
                  <a:pt x="2194085" y="2577522"/>
                </a:lnTo>
                <a:lnTo>
                  <a:pt x="1632980" y="2577522"/>
                </a:lnTo>
                <a:lnTo>
                  <a:pt x="1632980" y="705390"/>
                </a:lnTo>
                <a:lnTo>
                  <a:pt x="1419225" y="705390"/>
                </a:lnTo>
                <a:lnTo>
                  <a:pt x="1419225" y="333101"/>
                </a:lnTo>
                <a:cubicBezTo>
                  <a:pt x="1500663" y="333101"/>
                  <a:pt x="1569415" y="298069"/>
                  <a:pt x="1625479" y="228005"/>
                </a:cubicBezTo>
                <a:cubicBezTo>
                  <a:pt x="1681543" y="157941"/>
                  <a:pt x="1709575" y="89659"/>
                  <a:pt x="1709575" y="23157"/>
                </a:cubicBezTo>
                <a:close/>
                <a:moveTo>
                  <a:pt x="660858" y="0"/>
                </a:moveTo>
                <a:cubicBezTo>
                  <a:pt x="1093117" y="0"/>
                  <a:pt x="1309246" y="164473"/>
                  <a:pt x="1309246" y="493417"/>
                </a:cubicBezTo>
                <a:lnTo>
                  <a:pt x="1309246" y="2137544"/>
                </a:lnTo>
                <a:cubicBezTo>
                  <a:pt x="1309246" y="2284797"/>
                  <a:pt x="1248385" y="2398800"/>
                  <a:pt x="1126664" y="2479551"/>
                </a:cubicBezTo>
                <a:cubicBezTo>
                  <a:pt x="1004943" y="2560303"/>
                  <a:pt x="848487" y="2600679"/>
                  <a:pt x="657295" y="2600679"/>
                </a:cubicBezTo>
                <a:cubicBezTo>
                  <a:pt x="460166" y="2600679"/>
                  <a:pt x="301335" y="2560897"/>
                  <a:pt x="180801" y="2481333"/>
                </a:cubicBezTo>
                <a:cubicBezTo>
                  <a:pt x="60267" y="2401768"/>
                  <a:pt x="0" y="2288360"/>
                  <a:pt x="0" y="2141107"/>
                </a:cubicBezTo>
                <a:lnTo>
                  <a:pt x="0" y="496979"/>
                </a:lnTo>
                <a:cubicBezTo>
                  <a:pt x="0" y="165660"/>
                  <a:pt x="220286" y="0"/>
                  <a:pt x="660858" y="0"/>
                </a:cubicBezTo>
                <a:close/>
              </a:path>
            </a:pathLst>
          </a:custGeom>
        </p:spPr>
        <p:txBody>
          <a:bodyPr wrap="square">
            <a:noAutofit/>
          </a:bodyPr>
          <a:lstStyle/>
          <a:p>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9_自定义版式">
    <p:spTree>
      <p:nvGrpSpPr>
        <p:cNvPr id="1" name=""/>
        <p:cNvGrpSpPr/>
        <p:nvPr/>
      </p:nvGrpSpPr>
      <p:grpSpPr>
        <a:xfrm>
          <a:off x="0" y="0"/>
          <a:ext cx="0" cy="0"/>
          <a:chOff x="0" y="0"/>
          <a:chExt cx="0" cy="0"/>
        </a:xfrm>
      </p:grpSpPr>
      <p:sp>
        <p:nvSpPr>
          <p:cNvPr id="16" name="图片占位符 15"/>
          <p:cNvSpPr>
            <a:spLocks noGrp="1"/>
          </p:cNvSpPr>
          <p:nvPr>
            <p:ph type="pic" sz="quarter" idx="10"/>
          </p:nvPr>
        </p:nvSpPr>
        <p:spPr>
          <a:xfrm>
            <a:off x="803108" y="1359568"/>
            <a:ext cx="1350000" cy="1350000"/>
          </a:xfrm>
          <a:custGeom>
            <a:avLst/>
            <a:gdLst>
              <a:gd name="connsiteX0" fmla="*/ 900000 w 1800000"/>
              <a:gd name="connsiteY0" fmla="*/ 0 h 1800000"/>
              <a:gd name="connsiteX1" fmla="*/ 1800000 w 1800000"/>
              <a:gd name="connsiteY1" fmla="*/ 900000 h 1800000"/>
              <a:gd name="connsiteX2" fmla="*/ 900000 w 1800000"/>
              <a:gd name="connsiteY2" fmla="*/ 1800000 h 1800000"/>
              <a:gd name="connsiteX3" fmla="*/ 0 w 1800000"/>
              <a:gd name="connsiteY3" fmla="*/ 900000 h 1800000"/>
            </a:gdLst>
            <a:ahLst/>
            <a:cxnLst>
              <a:cxn ang="0">
                <a:pos x="connsiteX0" y="connsiteY0"/>
              </a:cxn>
              <a:cxn ang="0">
                <a:pos x="connsiteX1" y="connsiteY1"/>
              </a:cxn>
              <a:cxn ang="0">
                <a:pos x="connsiteX2" y="connsiteY2"/>
              </a:cxn>
              <a:cxn ang="0">
                <a:pos x="connsiteX3" y="connsiteY3"/>
              </a:cxn>
            </a:cxnLst>
            <a:rect l="l" t="t" r="r" b="b"/>
            <a:pathLst>
              <a:path w="1800000" h="1800000">
                <a:moveTo>
                  <a:pt x="900000" y="0"/>
                </a:moveTo>
                <a:lnTo>
                  <a:pt x="1800000" y="900000"/>
                </a:lnTo>
                <a:lnTo>
                  <a:pt x="900000" y="1800000"/>
                </a:lnTo>
                <a:lnTo>
                  <a:pt x="0" y="900000"/>
                </a:lnTo>
                <a:close/>
              </a:path>
            </a:pathLst>
          </a:custGeom>
        </p:spPr>
        <p:txBody>
          <a:bodyPr wrap="square">
            <a:noAutofit/>
          </a:bodyPr>
          <a:lstStyle>
            <a:lvl1pPr>
              <a:defRPr sz="1100"/>
            </a:lvl1pPr>
          </a:lstStyle>
          <a:p>
            <a:endParaRPr lang="zh-CN" altLang="en-US" dirty="0"/>
          </a:p>
        </p:txBody>
      </p:sp>
      <p:sp>
        <p:nvSpPr>
          <p:cNvPr id="17" name="图片占位符 16"/>
          <p:cNvSpPr>
            <a:spLocks noGrp="1"/>
          </p:cNvSpPr>
          <p:nvPr>
            <p:ph type="pic" sz="quarter" idx="11"/>
          </p:nvPr>
        </p:nvSpPr>
        <p:spPr>
          <a:xfrm>
            <a:off x="2869532" y="1387869"/>
            <a:ext cx="1350000" cy="1350000"/>
          </a:xfrm>
          <a:custGeom>
            <a:avLst/>
            <a:gdLst>
              <a:gd name="connsiteX0" fmla="*/ 900000 w 1800000"/>
              <a:gd name="connsiteY0" fmla="*/ 0 h 1800000"/>
              <a:gd name="connsiteX1" fmla="*/ 1800000 w 1800000"/>
              <a:gd name="connsiteY1" fmla="*/ 900000 h 1800000"/>
              <a:gd name="connsiteX2" fmla="*/ 900000 w 1800000"/>
              <a:gd name="connsiteY2" fmla="*/ 1800000 h 1800000"/>
              <a:gd name="connsiteX3" fmla="*/ 0 w 1800000"/>
              <a:gd name="connsiteY3" fmla="*/ 900000 h 1800000"/>
            </a:gdLst>
            <a:ahLst/>
            <a:cxnLst>
              <a:cxn ang="0">
                <a:pos x="connsiteX0" y="connsiteY0"/>
              </a:cxn>
              <a:cxn ang="0">
                <a:pos x="connsiteX1" y="connsiteY1"/>
              </a:cxn>
              <a:cxn ang="0">
                <a:pos x="connsiteX2" y="connsiteY2"/>
              </a:cxn>
              <a:cxn ang="0">
                <a:pos x="connsiteX3" y="connsiteY3"/>
              </a:cxn>
            </a:cxnLst>
            <a:rect l="l" t="t" r="r" b="b"/>
            <a:pathLst>
              <a:path w="1800000" h="1800000">
                <a:moveTo>
                  <a:pt x="900000" y="0"/>
                </a:moveTo>
                <a:lnTo>
                  <a:pt x="1800000" y="900000"/>
                </a:lnTo>
                <a:lnTo>
                  <a:pt x="900000" y="1800000"/>
                </a:lnTo>
                <a:lnTo>
                  <a:pt x="0" y="900000"/>
                </a:lnTo>
                <a:close/>
              </a:path>
            </a:pathLst>
          </a:custGeom>
        </p:spPr>
        <p:txBody>
          <a:bodyPr wrap="square">
            <a:noAutofit/>
          </a:bodyPr>
          <a:lstStyle>
            <a:lvl1pPr>
              <a:defRPr sz="1100"/>
            </a:lvl1pPr>
          </a:lstStyle>
          <a:p>
            <a:endParaRPr lang="zh-CN" altLang="en-US" dirty="0"/>
          </a:p>
        </p:txBody>
      </p:sp>
      <p:sp>
        <p:nvSpPr>
          <p:cNvPr id="18" name="图片占位符 17"/>
          <p:cNvSpPr>
            <a:spLocks noGrp="1"/>
          </p:cNvSpPr>
          <p:nvPr>
            <p:ph type="pic" sz="quarter" idx="12"/>
          </p:nvPr>
        </p:nvSpPr>
        <p:spPr>
          <a:xfrm>
            <a:off x="4935956" y="1387870"/>
            <a:ext cx="1350000" cy="1350000"/>
          </a:xfrm>
          <a:custGeom>
            <a:avLst/>
            <a:gdLst>
              <a:gd name="connsiteX0" fmla="*/ 900000 w 1800000"/>
              <a:gd name="connsiteY0" fmla="*/ 0 h 1800000"/>
              <a:gd name="connsiteX1" fmla="*/ 1800000 w 1800000"/>
              <a:gd name="connsiteY1" fmla="*/ 900000 h 1800000"/>
              <a:gd name="connsiteX2" fmla="*/ 900000 w 1800000"/>
              <a:gd name="connsiteY2" fmla="*/ 1800000 h 1800000"/>
              <a:gd name="connsiteX3" fmla="*/ 0 w 1800000"/>
              <a:gd name="connsiteY3" fmla="*/ 900000 h 1800000"/>
            </a:gdLst>
            <a:ahLst/>
            <a:cxnLst>
              <a:cxn ang="0">
                <a:pos x="connsiteX0" y="connsiteY0"/>
              </a:cxn>
              <a:cxn ang="0">
                <a:pos x="connsiteX1" y="connsiteY1"/>
              </a:cxn>
              <a:cxn ang="0">
                <a:pos x="connsiteX2" y="connsiteY2"/>
              </a:cxn>
              <a:cxn ang="0">
                <a:pos x="connsiteX3" y="connsiteY3"/>
              </a:cxn>
            </a:cxnLst>
            <a:rect l="l" t="t" r="r" b="b"/>
            <a:pathLst>
              <a:path w="1800000" h="1800000">
                <a:moveTo>
                  <a:pt x="900000" y="0"/>
                </a:moveTo>
                <a:lnTo>
                  <a:pt x="1800000" y="900000"/>
                </a:lnTo>
                <a:lnTo>
                  <a:pt x="900000" y="1800000"/>
                </a:lnTo>
                <a:lnTo>
                  <a:pt x="0" y="900000"/>
                </a:lnTo>
                <a:close/>
              </a:path>
            </a:pathLst>
          </a:custGeom>
        </p:spPr>
        <p:txBody>
          <a:bodyPr wrap="square">
            <a:noAutofit/>
          </a:bodyPr>
          <a:lstStyle>
            <a:lvl1pPr>
              <a:defRPr sz="1100"/>
            </a:lvl1pPr>
          </a:lstStyle>
          <a:p>
            <a:endParaRPr lang="zh-CN" altLang="en-US"/>
          </a:p>
        </p:txBody>
      </p:sp>
      <p:sp>
        <p:nvSpPr>
          <p:cNvPr id="19" name="图片占位符 18"/>
          <p:cNvSpPr>
            <a:spLocks noGrp="1"/>
          </p:cNvSpPr>
          <p:nvPr>
            <p:ph type="pic" sz="quarter" idx="13"/>
          </p:nvPr>
        </p:nvSpPr>
        <p:spPr>
          <a:xfrm>
            <a:off x="7002380" y="1359567"/>
            <a:ext cx="1350000" cy="1350000"/>
          </a:xfrm>
          <a:custGeom>
            <a:avLst/>
            <a:gdLst>
              <a:gd name="connsiteX0" fmla="*/ 900000 w 1800000"/>
              <a:gd name="connsiteY0" fmla="*/ 0 h 1800000"/>
              <a:gd name="connsiteX1" fmla="*/ 1800000 w 1800000"/>
              <a:gd name="connsiteY1" fmla="*/ 900000 h 1800000"/>
              <a:gd name="connsiteX2" fmla="*/ 900000 w 1800000"/>
              <a:gd name="connsiteY2" fmla="*/ 1800000 h 1800000"/>
              <a:gd name="connsiteX3" fmla="*/ 0 w 1800000"/>
              <a:gd name="connsiteY3" fmla="*/ 900000 h 1800000"/>
            </a:gdLst>
            <a:ahLst/>
            <a:cxnLst>
              <a:cxn ang="0">
                <a:pos x="connsiteX0" y="connsiteY0"/>
              </a:cxn>
              <a:cxn ang="0">
                <a:pos x="connsiteX1" y="connsiteY1"/>
              </a:cxn>
              <a:cxn ang="0">
                <a:pos x="connsiteX2" y="connsiteY2"/>
              </a:cxn>
              <a:cxn ang="0">
                <a:pos x="connsiteX3" y="connsiteY3"/>
              </a:cxn>
            </a:cxnLst>
            <a:rect l="l" t="t" r="r" b="b"/>
            <a:pathLst>
              <a:path w="1800000" h="1800000">
                <a:moveTo>
                  <a:pt x="900000" y="0"/>
                </a:moveTo>
                <a:lnTo>
                  <a:pt x="1800000" y="900000"/>
                </a:lnTo>
                <a:lnTo>
                  <a:pt x="900000" y="1800000"/>
                </a:lnTo>
                <a:lnTo>
                  <a:pt x="0" y="900000"/>
                </a:lnTo>
                <a:close/>
              </a:path>
            </a:pathLst>
          </a:custGeom>
        </p:spPr>
        <p:txBody>
          <a:bodyPr wrap="square">
            <a:noAutofit/>
          </a:bodyPr>
          <a:lstStyle>
            <a:lvl1pPr>
              <a:defRPr sz="1100"/>
            </a:lvl1pPr>
          </a:lstStyle>
          <a:p>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D767DD7D-41E0-4EBD-8686-79892E4A3408}" type="datetimeFigureOut">
              <a:rPr lang="zh-CN" altLang="en-US" smtClean="0"/>
            </a:fld>
            <a:endParaRPr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E72D8C46-B788-47C1-80E6-DFA2D3B23CB5}"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tags" Target="../tags/tag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image" Target="../media/image8.jpe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4.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4.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xml"/><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14.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4.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4.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14.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4.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14.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14.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14.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14.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1.xml"/><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image" Target="../media/image1.png"/></Relationships>
</file>

<file path=ppt/slides/_rels/slide18.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14.xml"/><Relationship Id="rId4" Type="http://schemas.openxmlformats.org/officeDocument/2006/relationships/image" Target="../media/image11.png"/><Relationship Id="rId3" Type="http://schemas.openxmlformats.org/officeDocument/2006/relationships/image" Target="../media/image12.png"/><Relationship Id="rId2" Type="http://schemas.openxmlformats.org/officeDocument/2006/relationships/image" Target="../media/image10.png"/><Relationship Id="rId1" Type="http://schemas.openxmlformats.org/officeDocument/2006/relationships/image" Target="../media/image9.png"/></Relationships>
</file>

<file path=ppt/slides/_rels/slide19.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14.xml"/><Relationship Id="rId4" Type="http://schemas.openxmlformats.org/officeDocument/2006/relationships/image" Target="../media/image11.png"/><Relationship Id="rId3" Type="http://schemas.openxmlformats.org/officeDocument/2006/relationships/image" Target="../media/image13.png"/><Relationship Id="rId2" Type="http://schemas.openxmlformats.org/officeDocument/2006/relationships/image" Target="../media/image10.png"/><Relationship Id="rId1" Type="http://schemas.openxmlformats.org/officeDocument/2006/relationships/image" Target="../media/image9.png"/></Relationships>
</file>

<file path=ppt/slides/_rels/slide20.xml.rels><?xml version="1.0" encoding="UTF-8" standalone="yes"?>
<Relationships xmlns="http://schemas.openxmlformats.org/package/2006/relationships"><Relationship Id="rId6" Type="http://schemas.openxmlformats.org/officeDocument/2006/relationships/notesSlide" Target="../notesSlides/notesSlide18.xml"/><Relationship Id="rId5" Type="http://schemas.openxmlformats.org/officeDocument/2006/relationships/slideLayout" Target="../slideLayouts/slideLayout14.xml"/><Relationship Id="rId4" Type="http://schemas.openxmlformats.org/officeDocument/2006/relationships/image" Target="../media/image11.png"/><Relationship Id="rId3"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image" Target="../media/image9.png"/></Relationships>
</file>

<file path=ppt/slides/_rels/slide21.xml.rels><?xml version="1.0" encoding="UTF-8" standalone="yes"?>
<Relationships xmlns="http://schemas.openxmlformats.org/package/2006/relationships"><Relationship Id="rId6" Type="http://schemas.openxmlformats.org/officeDocument/2006/relationships/notesSlide" Target="../notesSlides/notesSlide19.xml"/><Relationship Id="rId5" Type="http://schemas.openxmlformats.org/officeDocument/2006/relationships/slideLayout" Target="../slideLayouts/slideLayout14.xml"/><Relationship Id="rId4" Type="http://schemas.openxmlformats.org/officeDocument/2006/relationships/image" Target="../media/image15.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20.xml"/><Relationship Id="rId4" Type="http://schemas.openxmlformats.org/officeDocument/2006/relationships/slideLayout" Target="../slideLayouts/slideLayout14.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24.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slideLayout" Target="../slideLayouts/slideLayout1.xml"/><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image" Target="../media/image1.png"/></Relationships>
</file>

<file path=ppt/slides/_rels/slide25.xml.rels><?xml version="1.0" encoding="UTF-8" standalone="yes"?>
<Relationships xmlns="http://schemas.openxmlformats.org/package/2006/relationships"><Relationship Id="rId5" Type="http://schemas.openxmlformats.org/officeDocument/2006/relationships/notesSlide" Target="../notesSlides/notesSlide22.xml"/><Relationship Id="rId4" Type="http://schemas.openxmlformats.org/officeDocument/2006/relationships/slideLayout" Target="../slideLayouts/slideLayout14.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26.xml.rels><?xml version="1.0" encoding="UTF-8" standalone="yes"?>
<Relationships xmlns="http://schemas.openxmlformats.org/package/2006/relationships"><Relationship Id="rId5" Type="http://schemas.openxmlformats.org/officeDocument/2006/relationships/notesSlide" Target="../notesSlides/notesSlide23.xml"/><Relationship Id="rId4" Type="http://schemas.openxmlformats.org/officeDocument/2006/relationships/slideLayout" Target="../slideLayouts/slideLayout14.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27.xml.rels><?xml version="1.0" encoding="UTF-8" standalone="yes"?>
<Relationships xmlns="http://schemas.openxmlformats.org/package/2006/relationships"><Relationship Id="rId5" Type="http://schemas.openxmlformats.org/officeDocument/2006/relationships/notesSlide" Target="../notesSlides/notesSlide24.xml"/><Relationship Id="rId4" Type="http://schemas.openxmlformats.org/officeDocument/2006/relationships/slideLayout" Target="../slideLayouts/slideLayout14.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28.xml.rels><?xml version="1.0" encoding="UTF-8" standalone="yes"?>
<Relationships xmlns="http://schemas.openxmlformats.org/package/2006/relationships"><Relationship Id="rId5" Type="http://schemas.openxmlformats.org/officeDocument/2006/relationships/notesSlide" Target="../notesSlides/notesSlide25.xml"/><Relationship Id="rId4" Type="http://schemas.openxmlformats.org/officeDocument/2006/relationships/slideLayout" Target="../slideLayouts/slideLayout1.xml"/><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image" Target="../media/image1.png"/></Relationships>
</file>

<file path=ppt/slides/_rels/slide29.xml.rels><?xml version="1.0" encoding="UTF-8" standalone="yes"?>
<Relationships xmlns="http://schemas.openxmlformats.org/package/2006/relationships"><Relationship Id="rId5" Type="http://schemas.openxmlformats.org/officeDocument/2006/relationships/notesSlide" Target="../notesSlides/notesSlide26.xml"/><Relationship Id="rId4" Type="http://schemas.openxmlformats.org/officeDocument/2006/relationships/slideLayout" Target="../slideLayouts/slideLayout14.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30.xml.rels><?xml version="1.0" encoding="UTF-8" standalone="yes"?>
<Relationships xmlns="http://schemas.openxmlformats.org/package/2006/relationships"><Relationship Id="rId5" Type="http://schemas.openxmlformats.org/officeDocument/2006/relationships/notesSlide" Target="../notesSlides/notesSlide27.xml"/><Relationship Id="rId4" Type="http://schemas.openxmlformats.org/officeDocument/2006/relationships/slideLayout" Target="../slideLayouts/slideLayout14.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3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0.png"/><Relationship Id="rId2" Type="http://schemas.openxmlformats.org/officeDocument/2006/relationships/image" Target="../media/image11.png"/><Relationship Id="rId1" Type="http://schemas.openxmlformats.org/officeDocument/2006/relationships/image" Target="../media/image9.png"/></Relationships>
</file>

<file path=ppt/slides/_rels/slide3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image" Target="../media/image10.png"/></Relationships>
</file>

<file path=ppt/slides/_rels/slide33.xml.rels><?xml version="1.0" encoding="UTF-8" standalone="yes"?>
<Relationships xmlns="http://schemas.openxmlformats.org/package/2006/relationships"><Relationship Id="rId6" Type="http://schemas.openxmlformats.org/officeDocument/2006/relationships/notesSlide" Target="../notesSlides/notesSlide28.xml"/><Relationship Id="rId5" Type="http://schemas.openxmlformats.org/officeDocument/2006/relationships/slideLayout" Target="../slideLayouts/slideLayout2.xml"/><Relationship Id="rId4" Type="http://schemas.openxmlformats.org/officeDocument/2006/relationships/themeOverride" Target="../theme/themeOverride1.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11.png"/></Relationships>
</file>

<file path=ppt/slides/_rels/slide3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11.png"/></Relationships>
</file>

<file path=ppt/slides/_rels/slide3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11.png"/></Relationships>
</file>

<file path=ppt/slides/_rels/slide36.xml.rels><?xml version="1.0" encoding="UTF-8" standalone="yes"?>
<Relationships xmlns="http://schemas.openxmlformats.org/package/2006/relationships"><Relationship Id="rId5" Type="http://schemas.openxmlformats.org/officeDocument/2006/relationships/notesSlide" Target="../notesSlides/notesSlide29.xml"/><Relationship Id="rId4" Type="http://schemas.openxmlformats.org/officeDocument/2006/relationships/slideLayout" Target="../slideLayouts/slideLayout14.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37.xml.rels><?xml version="1.0" encoding="UTF-8" standalone="yes"?>
<Relationships xmlns="http://schemas.openxmlformats.org/package/2006/relationships"><Relationship Id="rId5" Type="http://schemas.openxmlformats.org/officeDocument/2006/relationships/notesSlide" Target="../notesSlides/notesSlide30.xml"/><Relationship Id="rId4" Type="http://schemas.openxmlformats.org/officeDocument/2006/relationships/slideLayout" Target="../slideLayouts/slideLayout14.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3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11.png"/></Relationships>
</file>

<file path=ppt/slides/_rels/slide39.xml.rels><?xml version="1.0" encoding="UTF-8" standalone="yes"?>
<Relationships xmlns="http://schemas.openxmlformats.org/package/2006/relationships"><Relationship Id="rId5" Type="http://schemas.openxmlformats.org/officeDocument/2006/relationships/notesSlide" Target="../notesSlides/notesSlide31.xml"/><Relationship Id="rId4" Type="http://schemas.openxmlformats.org/officeDocument/2006/relationships/slideLayout" Target="../slideLayouts/slideLayout1.xml"/><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image" Target="../media/image1.png"/></Relationships>
</file>

<file path=ppt/slides/_rels/slide40.xml.rels><?xml version="1.0" encoding="UTF-8" standalone="yes"?>
<Relationships xmlns="http://schemas.openxmlformats.org/package/2006/relationships"><Relationship Id="rId5" Type="http://schemas.openxmlformats.org/officeDocument/2006/relationships/notesSlide" Target="../notesSlides/notesSlide32.xml"/><Relationship Id="rId4" Type="http://schemas.openxmlformats.org/officeDocument/2006/relationships/slideLayout" Target="../slideLayouts/slideLayout14.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4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image" Target="../media/image10.png"/></Relationships>
</file>

<file path=ppt/slides/_rels/slide4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image" Target="../media/image10.png"/></Relationships>
</file>

<file path=ppt/slides/_rels/slide4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image" Target="../media/image10.png"/></Relationships>
</file>

<file path=ppt/slides/_rels/slide4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image" Target="../media/image10.png"/></Relationships>
</file>

<file path=ppt/slides/_rels/slide4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image" Target="../media/image10.png"/></Relationships>
</file>

<file path=ppt/slides/_rels/slide46.xml.rels><?xml version="1.0" encoding="UTF-8" standalone="yes"?>
<Relationships xmlns="http://schemas.openxmlformats.org/package/2006/relationships"><Relationship Id="rId5" Type="http://schemas.openxmlformats.org/officeDocument/2006/relationships/notesSlide" Target="../notesSlides/notesSlide33.xml"/><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image" Target="../media/image10.png"/></Relationships>
</file>

<file path=ppt/slides/_rels/slide4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image" Target="../media/image10.png"/></Relationships>
</file>

<file path=ppt/slides/_rels/slide4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image" Target="../media/image10.png"/></Relationships>
</file>

<file path=ppt/slides/_rels/slide4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0.png"/><Relationship Id="rId2" Type="http://schemas.openxmlformats.org/officeDocument/2006/relationships/image" Target="../media/image11.png"/><Relationship Id="rId1" Type="http://schemas.openxmlformats.org/officeDocument/2006/relationships/image" Target="../media/image9.png"/></Relationships>
</file>

<file path=ppt/slides/_rels/slide5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image" Target="../media/image10.png"/></Relationships>
</file>

<file path=ppt/slides/_rels/slide51.xml.rels><?xml version="1.0" encoding="UTF-8" standalone="yes"?>
<Relationships xmlns="http://schemas.openxmlformats.org/package/2006/relationships"><Relationship Id="rId5" Type="http://schemas.openxmlformats.org/officeDocument/2006/relationships/notesSlide" Target="../notesSlides/notesSlide34.xml"/><Relationship Id="rId4" Type="http://schemas.openxmlformats.org/officeDocument/2006/relationships/slideLayout" Target="../slideLayouts/slideLayout1.xml"/><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image" Target="../media/image1.png"/></Relationships>
</file>

<file path=ppt/slides/_rels/slide5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image" Target="../media/image10.png"/></Relationships>
</file>

<file path=ppt/slides/_rels/slide5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image" Target="../media/image10.png"/></Relationships>
</file>

<file path=ppt/slides/_rels/slide5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image" Target="../media/image10.png"/></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9.png"/></Relationships>
</file>

<file path=ppt/slides/_rels/slide5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image" Target="../media/image10.png"/></Relationships>
</file>

<file path=ppt/slides/_rels/slide5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image" Target="../media/image10.png"/></Relationships>
</file>

<file path=ppt/slides/_rels/slide5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image" Target="../media/image10.png"/></Relationships>
</file>

<file path=ppt/slides/_rels/slide5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image" Target="../media/image10.png"/></Relationships>
</file>

<file path=ppt/slides/_rels/slide6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11.png"/></Relationships>
</file>

<file path=ppt/slides/_rels/slide6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11.png"/></Relationships>
</file>

<file path=ppt/slides/_rels/slide6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image" Target="../media/image10.png"/></Relationships>
</file>

<file path=ppt/slides/_rels/slide6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image" Target="../media/image10.png"/></Relationships>
</file>

<file path=ppt/slides/_rels/slide6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image" Target="../media/image10.png"/></Relationships>
</file>

<file path=ppt/slides/_rels/slide65.xml.rels><?xml version="1.0" encoding="UTF-8" standalone="yes"?>
<Relationships xmlns="http://schemas.openxmlformats.org/package/2006/relationships"><Relationship Id="rId5" Type="http://schemas.openxmlformats.org/officeDocument/2006/relationships/notesSlide" Target="../notesSlides/notesSlide35.xml"/><Relationship Id="rId4" Type="http://schemas.openxmlformats.org/officeDocument/2006/relationships/slideLayout" Target="../slideLayouts/slideLayout1.xml"/><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image" Target="../media/image1.png"/></Relationships>
</file>

<file path=ppt/slides/_rels/slide6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image" Target="../media/image10.png"/></Relationships>
</file>

<file path=ppt/slides/_rels/slide6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image" Target="../media/image10.png"/></Relationships>
</file>

<file path=ppt/slides/_rels/slide6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image" Target="../media/image10.png"/></Relationships>
</file>

<file path=ppt/slides/_rels/slide6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image" Target="../media/image10.png"/></Relationships>
</file>

<file path=ppt/slides/_rels/slide7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image" Target="../media/image10.png"/></Relationships>
</file>

<file path=ppt/slides/_rels/slide7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image" Target="../media/image10.png"/></Relationships>
</file>

<file path=ppt/slides/_rels/slide7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image" Target="../media/image10.png"/></Relationships>
</file>

<file path=ppt/slides/_rels/slide7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image" Target="../media/image10.png"/></Relationships>
</file>

<file path=ppt/slides/_rels/slide7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image" Target="../media/image10.png"/></Relationships>
</file>

<file path=ppt/slides/_rels/slide7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image" Target="../media/image10.png"/></Relationships>
</file>

<file path=ppt/slides/_rels/slide7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image" Target="../media/image10.png"/></Relationships>
</file>

<file path=ppt/slides/_rels/slide7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image" Target="../media/image10.png"/></Relationships>
</file>

<file path=ppt/slides/_rels/slide7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image" Target="../media/image10.png"/></Relationships>
</file>

<file path=ppt/slides/_rels/slide79.xml.rels><?xml version="1.0" encoding="UTF-8" standalone="yes"?>
<Relationships xmlns="http://schemas.openxmlformats.org/package/2006/relationships"><Relationship Id="rId5" Type="http://schemas.openxmlformats.org/officeDocument/2006/relationships/notesSlide" Target="../notesSlides/notesSlide36.xml"/><Relationship Id="rId4" Type="http://schemas.openxmlformats.org/officeDocument/2006/relationships/slideLayout" Target="../slideLayouts/slideLayout1.xml"/><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image" Target="../media/image1.png"/></Relationships>
</file>

<file path=ppt/slides/_rels/slide8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0.png"/><Relationship Id="rId2" Type="http://schemas.openxmlformats.org/officeDocument/2006/relationships/image" Target="../media/image11.png"/><Relationship Id="rId1" Type="http://schemas.openxmlformats.org/officeDocument/2006/relationships/image" Target="../media/image9.png"/></Relationships>
</file>

<file path=ppt/slides/_rels/slide8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0.png"/><Relationship Id="rId2" Type="http://schemas.openxmlformats.org/officeDocument/2006/relationships/image" Target="../media/image11.png"/><Relationship Id="rId1" Type="http://schemas.openxmlformats.org/officeDocument/2006/relationships/image" Target="../media/image9.png"/></Relationships>
</file>

<file path=ppt/slides/_rels/slide8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0.png"/><Relationship Id="rId2" Type="http://schemas.openxmlformats.org/officeDocument/2006/relationships/image" Target="../media/image11.png"/><Relationship Id="rId1" Type="http://schemas.openxmlformats.org/officeDocument/2006/relationships/image" Target="../media/image9.png"/></Relationships>
</file>

<file path=ppt/slides/_rels/slide8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0.png"/><Relationship Id="rId2" Type="http://schemas.openxmlformats.org/officeDocument/2006/relationships/image" Target="../media/image11.png"/><Relationship Id="rId1" Type="http://schemas.openxmlformats.org/officeDocument/2006/relationships/image" Target="../media/image9.png"/></Relationships>
</file>

<file path=ppt/slides/_rels/slide8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0.png"/><Relationship Id="rId2" Type="http://schemas.openxmlformats.org/officeDocument/2006/relationships/image" Target="../media/image11.png"/><Relationship Id="rId1" Type="http://schemas.openxmlformats.org/officeDocument/2006/relationships/image" Target="../media/image9.png"/></Relationships>
</file>

<file path=ppt/slides/_rels/slide8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0.png"/><Relationship Id="rId2" Type="http://schemas.openxmlformats.org/officeDocument/2006/relationships/image" Target="../media/image11.png"/><Relationship Id="rId1" Type="http://schemas.openxmlformats.org/officeDocument/2006/relationships/image" Target="../media/image9.png"/></Relationships>
</file>

<file path=ppt/slides/_rels/slide86.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87.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image" Target="../media/image16.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11.png"/></Relationships>
</file>

<file path=ppt/slides/_rels/slide88.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image" Target="../media/image10.png"/><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image" Target="../media/image17.png"/></Relationships>
</file>

<file path=ppt/slides/_rels/slide8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8.png"/><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image" Target="../media/image10.png"/></Relationships>
</file>

<file path=ppt/slides/_rels/slide9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image" Target="../media/image10.png"/></Relationships>
</file>

<file path=ppt/slides/_rels/slide9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1.png"/><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image" Target="../media/image10.png"/></Relationships>
</file>

<file path=ppt/slides/_rels/slide9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2.png"/><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image" Target="../media/image10.png"/></Relationships>
</file>

<file path=ppt/slides/_rels/slide9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3.png"/><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image" Target="../media/image10.png"/></Relationships>
</file>

<file path=ppt/slides/_rels/slide9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4.png"/><Relationship Id="rId3" Type="http://schemas.openxmlformats.org/officeDocument/2006/relationships/image" Target="../media/image10.png"/><Relationship Id="rId2" Type="http://schemas.openxmlformats.org/officeDocument/2006/relationships/image" Target="../media/image11.png"/><Relationship Id="rId1" Type="http://schemas.openxmlformats.org/officeDocument/2006/relationships/image" Target="../media/image9.png"/></Relationships>
</file>

<file path=ppt/slides/_rels/slide9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5.png"/><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image" Target="../media/image10.png"/></Relationships>
</file>

<file path=ppt/slides/_rels/slide9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6.png"/><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image" Target="../media/image10.png"/></Relationships>
</file>

<file path=ppt/slides/_rels/slide97.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9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image" Target="../media/image10.png"/></Relationships>
</file>

<file path=ppt/slides/_rels/slide99.xml.rels><?xml version="1.0" encoding="UTF-8" standalone="yes"?>
<Relationships xmlns="http://schemas.openxmlformats.org/package/2006/relationships"><Relationship Id="rId5" Type="http://schemas.openxmlformats.org/officeDocument/2006/relationships/notesSlide" Target="../notesSlides/notesSlide37.xml"/><Relationship Id="rId4" Type="http://schemas.openxmlformats.org/officeDocument/2006/relationships/slideLayout" Target="../slideLayouts/slideLayout14.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bg2"/>
          <p:cNvPicPr>
            <a:picLocks noChangeAspect="1"/>
          </p:cNvPicPr>
          <p:nvPr/>
        </p:nvPicPr>
        <p:blipFill>
          <a:blip r:embed="rId1"/>
          <a:stretch>
            <a:fillRect/>
          </a:stretch>
        </p:blipFill>
        <p:spPr>
          <a:xfrm>
            <a:off x="-24448" y="-14605"/>
            <a:ext cx="9168765" cy="5158264"/>
          </a:xfrm>
          <a:prstGeom prst="rect">
            <a:avLst/>
          </a:prstGeom>
        </p:spPr>
      </p:pic>
      <p:pic>
        <p:nvPicPr>
          <p:cNvPr id="6" name="图片 5" descr="E:\曹飞\2017\2017-8-8地铁PPT\5.png5"/>
          <p:cNvPicPr>
            <a:picLocks noChangeAspect="1"/>
          </p:cNvPicPr>
          <p:nvPr/>
        </p:nvPicPr>
        <p:blipFill>
          <a:blip r:embed="rId2" cstate="email"/>
          <a:srcRect/>
          <a:stretch>
            <a:fillRect/>
          </a:stretch>
        </p:blipFill>
        <p:spPr>
          <a:xfrm>
            <a:off x="-2210752" y="-2100739"/>
            <a:ext cx="7341394" cy="8766810"/>
          </a:xfrm>
          <a:prstGeom prst="rect">
            <a:avLst/>
          </a:prstGeom>
        </p:spPr>
      </p:pic>
      <p:pic>
        <p:nvPicPr>
          <p:cNvPr id="18" name="图片 17" descr="E:\曹飞\2017\2017-8-8地铁PPT\1.png1"/>
          <p:cNvPicPr/>
          <p:nvPr/>
        </p:nvPicPr>
        <p:blipFill>
          <a:blip r:embed="rId3" cstate="email"/>
          <a:srcRect/>
          <a:stretch>
            <a:fillRect/>
          </a:stretch>
        </p:blipFill>
        <p:spPr>
          <a:xfrm>
            <a:off x="4569562" y="2354434"/>
            <a:ext cx="3962878" cy="45719"/>
          </a:xfrm>
          <a:prstGeom prst="rect">
            <a:avLst/>
          </a:prstGeom>
        </p:spPr>
      </p:pic>
      <p:pic>
        <p:nvPicPr>
          <p:cNvPr id="20" name="图片 19" descr="E:\曹飞\2017\2017-8-8地铁PPT\1.png1"/>
          <p:cNvPicPr/>
          <p:nvPr/>
        </p:nvPicPr>
        <p:blipFill>
          <a:blip r:embed="rId3" cstate="email"/>
          <a:srcRect/>
          <a:stretch>
            <a:fillRect/>
          </a:stretch>
        </p:blipFill>
        <p:spPr>
          <a:xfrm>
            <a:off x="4569562" y="3133579"/>
            <a:ext cx="3962878" cy="45719"/>
          </a:xfrm>
          <a:prstGeom prst="rect">
            <a:avLst/>
          </a:prstGeom>
        </p:spPr>
      </p:pic>
      <p:grpSp>
        <p:nvGrpSpPr>
          <p:cNvPr id="22" name="组合 21"/>
          <p:cNvGrpSpPr/>
          <p:nvPr/>
        </p:nvGrpSpPr>
        <p:grpSpPr>
          <a:xfrm>
            <a:off x="2902505" y="4457028"/>
            <a:ext cx="8074819" cy="376238"/>
            <a:chOff x="2272" y="9298"/>
            <a:chExt cx="16955" cy="790"/>
          </a:xfrm>
        </p:grpSpPr>
        <p:pic>
          <p:nvPicPr>
            <p:cNvPr id="23" name="图片 22" descr="E:\曹飞\2017\2017-8-8地铁PPT\3.png3"/>
            <p:cNvPicPr>
              <a:picLocks noChangeAspect="1"/>
            </p:cNvPicPr>
            <p:nvPr/>
          </p:nvPicPr>
          <p:blipFill>
            <a:blip r:embed="rId4" cstate="email"/>
            <a:srcRect/>
            <a:stretch>
              <a:fillRect/>
            </a:stretch>
          </p:blipFill>
          <p:spPr>
            <a:xfrm>
              <a:off x="2272" y="9325"/>
              <a:ext cx="16955" cy="763"/>
            </a:xfrm>
            <a:prstGeom prst="rect">
              <a:avLst/>
            </a:prstGeom>
          </p:spPr>
        </p:pic>
        <p:sp>
          <p:nvSpPr>
            <p:cNvPr id="24" name="文本框 23"/>
            <p:cNvSpPr txBox="1"/>
            <p:nvPr/>
          </p:nvSpPr>
          <p:spPr>
            <a:xfrm>
              <a:off x="4521" y="9298"/>
              <a:ext cx="10882" cy="773"/>
            </a:xfrm>
            <a:prstGeom prst="rect">
              <a:avLst/>
            </a:prstGeom>
            <a:noFill/>
          </p:spPr>
          <p:txBody>
            <a:bodyPr wrap="square" rtlCol="0">
              <a:spAutoFit/>
            </a:bodyPr>
            <a:lstStyle/>
            <a:p>
              <a:pPr algn="ctr"/>
              <a:r>
                <a:rPr lang="zh-CN" altLang="en-US" b="1" dirty="0" smtClean="0">
                  <a:solidFill>
                    <a:srgbClr val="CAAE61"/>
                  </a:solidFill>
                  <a:latin typeface="微软雅黑" panose="020B0503020204020204" charset="-122"/>
                  <a:ea typeface="微软雅黑" panose="020B0503020204020204" charset="-122"/>
                </a:rPr>
                <a:t>综合管理部            </a:t>
              </a:r>
              <a:r>
                <a:rPr lang="en-US" altLang="zh-CN" b="1" dirty="0" smtClean="0">
                  <a:solidFill>
                    <a:srgbClr val="CAAE61"/>
                  </a:solidFill>
                  <a:latin typeface="微软雅黑" panose="020B0503020204020204" charset="-122"/>
                  <a:ea typeface="微软雅黑" panose="020B0503020204020204" charset="-122"/>
                </a:rPr>
                <a:t>2020</a:t>
              </a:r>
              <a:r>
                <a:rPr lang="zh-CN" altLang="en-US" b="1" dirty="0" smtClean="0">
                  <a:solidFill>
                    <a:srgbClr val="CAAE61"/>
                  </a:solidFill>
                  <a:latin typeface="微软雅黑" panose="020B0503020204020204" charset="-122"/>
                  <a:ea typeface="微软雅黑" panose="020B0503020204020204" charset="-122"/>
                </a:rPr>
                <a:t>年</a:t>
              </a:r>
              <a:r>
                <a:rPr lang="en-US" altLang="zh-CN" b="1" dirty="0" smtClean="0">
                  <a:solidFill>
                    <a:srgbClr val="CAAE61"/>
                  </a:solidFill>
                  <a:latin typeface="微软雅黑" panose="020B0503020204020204" charset="-122"/>
                  <a:ea typeface="微软雅黑" panose="020B0503020204020204" charset="-122"/>
                </a:rPr>
                <a:t>4</a:t>
              </a:r>
              <a:r>
                <a:rPr lang="zh-CN" altLang="en-US" b="1" dirty="0" smtClean="0">
                  <a:solidFill>
                    <a:srgbClr val="CAAE61"/>
                  </a:solidFill>
                  <a:latin typeface="微软雅黑" panose="020B0503020204020204" charset="-122"/>
                  <a:ea typeface="微软雅黑" panose="020B0503020204020204" charset="-122"/>
                </a:rPr>
                <a:t>月</a:t>
              </a:r>
              <a:endParaRPr lang="zh-CN" altLang="en-US" b="1" dirty="0">
                <a:solidFill>
                  <a:srgbClr val="CAAE61"/>
                </a:solidFill>
                <a:latin typeface="微软雅黑" panose="020B0503020204020204" charset="-122"/>
                <a:ea typeface="微软雅黑" panose="020B0503020204020204" charset="-122"/>
              </a:endParaRPr>
            </a:p>
          </p:txBody>
        </p:sp>
      </p:grpSp>
      <p:sp>
        <p:nvSpPr>
          <p:cNvPr id="7" name="矩形 6"/>
          <p:cNvSpPr/>
          <p:nvPr/>
        </p:nvSpPr>
        <p:spPr>
          <a:xfrm>
            <a:off x="4479634" y="2110085"/>
            <a:ext cx="184730"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endParaRPr lang="zh-CN" altLang="en-US" sz="5400"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10" name="矩形 9"/>
          <p:cNvSpPr/>
          <p:nvPr/>
        </p:nvSpPr>
        <p:spPr>
          <a:xfrm>
            <a:off x="5157936" y="2362530"/>
            <a:ext cx="2659702" cy="830997"/>
          </a:xfrm>
          <a:prstGeom prst="rect">
            <a:avLst/>
          </a:prstGeom>
          <a:noFill/>
        </p:spPr>
        <p:txBody>
          <a:bodyPr wrap="none" lIns="91440" tIns="45720" rIns="91440" bIns="45720">
            <a:spAutoFit/>
          </a:bodyPr>
          <a:lstStyle/>
          <a:p>
            <a:pPr algn="ctr"/>
            <a:r>
              <a:rPr lang="zh-CN" altLang="en-US" sz="4800" b="1" cap="none" spc="0"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方正小标宋简体" panose="02010601030101010101" pitchFamily="2" charset="-122"/>
                <a:ea typeface="方正小标宋简体" panose="02010601030101010101" pitchFamily="2" charset="-122"/>
              </a:rPr>
              <a:t>公文培训</a:t>
            </a:r>
            <a:endParaRPr lang="zh-CN" altLang="en-US" sz="4800" b="1" cap="none" spc="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pic>
        <p:nvPicPr>
          <p:cNvPr id="1026" name="Picture 2" descr="C:\Users\Administrator\Desktop\微信图片_20180926111227.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749461" y="87811"/>
            <a:ext cx="1900607" cy="1534486"/>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C:\Users\Administrator\Desktop\微信图片_20180926111227.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748645" y="86995"/>
            <a:ext cx="1901190" cy="1535430"/>
          </a:xfrm>
          <a:prstGeom prst="rect">
            <a:avLst/>
          </a:prstGeom>
          <a:noFill/>
          <a:extLst>
            <a:ext uri="{909E8E84-426E-40DD-AFC4-6F175D3DCCD1}">
              <a14:hiddenFill xmlns:a14="http://schemas.microsoft.com/office/drawing/2010/main">
                <a:solidFill>
                  <a:srgbClr val="FFFFFF"/>
                </a:solidFill>
              </a14:hiddenFill>
            </a:ext>
          </a:extLst>
        </p:spPr>
      </p:pic>
      <p:pic>
        <p:nvPicPr>
          <p:cNvPr id="8" name="图片 7" descr="图片1"/>
          <p:cNvPicPr>
            <a:picLocks noChangeAspect="1"/>
          </p:cNvPicPr>
          <p:nvPr/>
        </p:nvPicPr>
        <p:blipFill>
          <a:blip r:embed="rId6"/>
          <a:stretch>
            <a:fillRect/>
          </a:stretch>
        </p:blipFill>
        <p:spPr>
          <a:xfrm>
            <a:off x="6722745" y="426720"/>
            <a:ext cx="1403350" cy="1132840"/>
          </a:xfrm>
          <a:prstGeom prst="rect">
            <a:avLst/>
          </a:prstGeom>
        </p:spPr>
      </p:pic>
    </p:spTree>
    <p:custDataLst>
      <p:tags r:id="rId7"/>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23" presetClass="entr" presetSubtype="32"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strVal val="4*#ppt_w"/>
                                          </p:val>
                                        </p:tav>
                                        <p:tav tm="100000">
                                          <p:val>
                                            <p:strVal val="#ppt_w"/>
                                          </p:val>
                                        </p:tav>
                                      </p:tavLst>
                                    </p:anim>
                                    <p:anim calcmode="lin" valueType="num">
                                      <p:cBhvr>
                                        <p:cTn id="12" dur="500" fill="hold"/>
                                        <p:tgtEl>
                                          <p:spTgt spid="6"/>
                                        </p:tgtEl>
                                        <p:attrNameLst>
                                          <p:attrName>ppt_h</p:attrName>
                                        </p:attrNameLst>
                                      </p:cBhvr>
                                      <p:tavLst>
                                        <p:tav tm="0">
                                          <p:val>
                                            <p:strVal val="4*#ppt_h"/>
                                          </p:val>
                                        </p:tav>
                                        <p:tav tm="100000">
                                          <p:val>
                                            <p:strVal val="#ppt_h"/>
                                          </p:val>
                                        </p:tav>
                                      </p:tavLst>
                                    </p:anim>
                                  </p:childTnLst>
                                </p:cTn>
                              </p:par>
                            </p:childTnLst>
                          </p:cTn>
                        </p:par>
                        <p:par>
                          <p:cTn id="13" fill="hold">
                            <p:stCondLst>
                              <p:cond delay="1000"/>
                            </p:stCondLst>
                            <p:childTnLst>
                              <p:par>
                                <p:cTn id="14" presetID="22" presetClass="entr" presetSubtype="2" fill="hold" nodeType="after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wipe(right)">
                                      <p:cBhvr>
                                        <p:cTn id="16" dur="500"/>
                                        <p:tgtEl>
                                          <p:spTgt spid="22"/>
                                        </p:tgtEl>
                                      </p:cBhvr>
                                    </p:animEffect>
                                  </p:childTnLst>
                                </p:cTn>
                              </p:par>
                            </p:childTnLst>
                          </p:cTn>
                        </p:par>
                        <p:par>
                          <p:cTn id="17" fill="hold">
                            <p:stCondLst>
                              <p:cond delay="1500"/>
                            </p:stCondLst>
                            <p:childTnLst>
                              <p:par>
                                <p:cTn id="18" presetID="53" presetClass="entr" presetSubtype="16" fill="hold" nodeType="afterEffect">
                                  <p:stCondLst>
                                    <p:cond delay="0"/>
                                  </p:stCondLst>
                                  <p:childTnLst>
                                    <p:set>
                                      <p:cBhvr>
                                        <p:cTn id="19" dur="1" fill="hold">
                                          <p:stCondLst>
                                            <p:cond delay="0"/>
                                          </p:stCondLst>
                                        </p:cTn>
                                        <p:tgtEl>
                                          <p:spTgt spid="18"/>
                                        </p:tgtEl>
                                        <p:attrNameLst>
                                          <p:attrName>style.visibility</p:attrName>
                                        </p:attrNameLst>
                                      </p:cBhvr>
                                      <p:to>
                                        <p:strVal val="visible"/>
                                      </p:to>
                                    </p:set>
                                    <p:anim calcmode="lin" valueType="num">
                                      <p:cBhvr>
                                        <p:cTn id="20" dur="1000" fill="hold"/>
                                        <p:tgtEl>
                                          <p:spTgt spid="18"/>
                                        </p:tgtEl>
                                        <p:attrNameLst>
                                          <p:attrName>ppt_w</p:attrName>
                                        </p:attrNameLst>
                                      </p:cBhvr>
                                      <p:tavLst>
                                        <p:tav tm="0">
                                          <p:val>
                                            <p:fltVal val="0"/>
                                          </p:val>
                                        </p:tav>
                                        <p:tav tm="100000">
                                          <p:val>
                                            <p:strVal val="#ppt_w"/>
                                          </p:val>
                                        </p:tav>
                                      </p:tavLst>
                                    </p:anim>
                                    <p:anim calcmode="lin" valueType="num">
                                      <p:cBhvr>
                                        <p:cTn id="21" dur="1000" fill="hold"/>
                                        <p:tgtEl>
                                          <p:spTgt spid="18"/>
                                        </p:tgtEl>
                                        <p:attrNameLst>
                                          <p:attrName>ppt_h</p:attrName>
                                        </p:attrNameLst>
                                      </p:cBhvr>
                                      <p:tavLst>
                                        <p:tav tm="0">
                                          <p:val>
                                            <p:fltVal val="0"/>
                                          </p:val>
                                        </p:tav>
                                        <p:tav tm="100000">
                                          <p:val>
                                            <p:strVal val="#ppt_h"/>
                                          </p:val>
                                        </p:tav>
                                      </p:tavLst>
                                    </p:anim>
                                    <p:animEffect transition="in" filter="fade">
                                      <p:cBhvr>
                                        <p:cTn id="22" dur="1000"/>
                                        <p:tgtEl>
                                          <p:spTgt spid="18"/>
                                        </p:tgtEl>
                                      </p:cBhvr>
                                    </p:animEffect>
                                  </p:childTnLst>
                                </p:cTn>
                              </p:par>
                              <p:par>
                                <p:cTn id="23" presetID="53" presetClass="entr" presetSubtype="16" fill="hold" nodeType="withEffect">
                                  <p:stCondLst>
                                    <p:cond delay="0"/>
                                  </p:stCondLst>
                                  <p:childTnLst>
                                    <p:set>
                                      <p:cBhvr>
                                        <p:cTn id="24" dur="1" fill="hold">
                                          <p:stCondLst>
                                            <p:cond delay="0"/>
                                          </p:stCondLst>
                                        </p:cTn>
                                        <p:tgtEl>
                                          <p:spTgt spid="20"/>
                                        </p:tgtEl>
                                        <p:attrNameLst>
                                          <p:attrName>style.visibility</p:attrName>
                                        </p:attrNameLst>
                                      </p:cBhvr>
                                      <p:to>
                                        <p:strVal val="visible"/>
                                      </p:to>
                                    </p:set>
                                    <p:anim calcmode="lin" valueType="num">
                                      <p:cBhvr>
                                        <p:cTn id="25" dur="1000" fill="hold"/>
                                        <p:tgtEl>
                                          <p:spTgt spid="20"/>
                                        </p:tgtEl>
                                        <p:attrNameLst>
                                          <p:attrName>ppt_w</p:attrName>
                                        </p:attrNameLst>
                                      </p:cBhvr>
                                      <p:tavLst>
                                        <p:tav tm="0">
                                          <p:val>
                                            <p:fltVal val="0"/>
                                          </p:val>
                                        </p:tav>
                                        <p:tav tm="100000">
                                          <p:val>
                                            <p:strVal val="#ppt_w"/>
                                          </p:val>
                                        </p:tav>
                                      </p:tavLst>
                                    </p:anim>
                                    <p:anim calcmode="lin" valueType="num">
                                      <p:cBhvr>
                                        <p:cTn id="26" dur="1000" fill="hold"/>
                                        <p:tgtEl>
                                          <p:spTgt spid="20"/>
                                        </p:tgtEl>
                                        <p:attrNameLst>
                                          <p:attrName>ppt_h</p:attrName>
                                        </p:attrNameLst>
                                      </p:cBhvr>
                                      <p:tavLst>
                                        <p:tav tm="0">
                                          <p:val>
                                            <p:fltVal val="0"/>
                                          </p:val>
                                        </p:tav>
                                        <p:tav tm="100000">
                                          <p:val>
                                            <p:strVal val="#ppt_h"/>
                                          </p:val>
                                        </p:tav>
                                      </p:tavLst>
                                    </p:anim>
                                    <p:animEffect transition="in" filter="fade">
                                      <p:cBhvr>
                                        <p:cTn id="27" dur="1000"/>
                                        <p:tgtEl>
                                          <p:spTgt spid="20"/>
                                        </p:tgtEl>
                                      </p:cBhvr>
                                    </p:animEffect>
                                  </p:childTnLst>
                                </p:cTn>
                              </p:par>
                              <p:par>
                                <p:cTn id="28" presetID="42" presetClass="path" presetSubtype="0" accel="50000" decel="50000" fill="hold" nodeType="withEffect">
                                  <p:stCondLst>
                                    <p:cond delay="0"/>
                                  </p:stCondLst>
                                  <p:childTnLst>
                                    <p:animMotion origin="layout" path="M 0.000000 0.081111 L 0.000000 0.000000 " pathEditMode="relative" rAng="0" ptsTypes="">
                                      <p:cBhvr>
                                        <p:cTn id="29" dur="2000" fill="hold"/>
                                        <p:tgtEl>
                                          <p:spTgt spid="18"/>
                                        </p:tgtEl>
                                        <p:attrNameLst>
                                          <p:attrName>ppt_x</p:attrName>
                                          <p:attrName>ppt_y</p:attrName>
                                        </p:attrNameLst>
                                      </p:cBhvr>
                                      <p:rCtr x="0" y="-40"/>
                                    </p:animMotion>
                                  </p:childTnLst>
                                </p:cTn>
                              </p:par>
                              <p:par>
                                <p:cTn id="30" presetID="64" presetClass="path" presetSubtype="0" accel="50000" decel="50000" fill="hold" nodeType="withEffect">
                                  <p:stCondLst>
                                    <p:cond delay="0"/>
                                  </p:stCondLst>
                                  <p:childTnLst>
                                    <p:animMotion origin="layout" path="M 0.000000 -0.078148 L 0.000000 0.000000 " pathEditMode="relative" rAng="0" ptsTypes="">
                                      <p:cBhvr>
                                        <p:cTn id="31" dur="2000" fill="hold"/>
                                        <p:tgtEl>
                                          <p:spTgt spid="20"/>
                                        </p:tgtEl>
                                        <p:attrNameLst>
                                          <p:attrName>ppt_x</p:attrName>
                                          <p:attrName>ppt_y</p:attrName>
                                        </p:attrNameLst>
                                      </p:cBhvr>
                                      <p:rCtr x="0" y="4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C:\Users\TCSJ\Desktop\地铁PPT\bg2.pngbg2"/>
          <p:cNvPicPr>
            <a:picLocks noChangeAspect="1"/>
          </p:cNvPicPr>
          <p:nvPr/>
        </p:nvPicPr>
        <p:blipFill>
          <a:blip r:embed="rId1"/>
          <a:srcRect/>
          <a:stretch>
            <a:fillRect/>
          </a:stretch>
        </p:blipFill>
        <p:spPr>
          <a:xfrm>
            <a:off x="-7144" y="-4524"/>
            <a:ext cx="9158288" cy="5152073"/>
          </a:xfrm>
          <a:prstGeom prst="rect">
            <a:avLst/>
          </a:prstGeom>
        </p:spPr>
      </p:pic>
      <p:pic>
        <p:nvPicPr>
          <p:cNvPr id="3" name="图片 2" descr="E:\曹飞\2017\2017-8-8地铁PPT\5.png5"/>
          <p:cNvPicPr>
            <a:picLocks noChangeAspect="1"/>
          </p:cNvPicPr>
          <p:nvPr/>
        </p:nvPicPr>
        <p:blipFill>
          <a:blip r:embed="rId2" cstate="email"/>
          <a:srcRect/>
          <a:stretch>
            <a:fillRect/>
          </a:stretch>
        </p:blipFill>
        <p:spPr>
          <a:xfrm>
            <a:off x="-2210752" y="-2100739"/>
            <a:ext cx="7341394" cy="8766810"/>
          </a:xfrm>
          <a:prstGeom prst="rect">
            <a:avLst/>
          </a:prstGeom>
        </p:spPr>
      </p:pic>
      <p:pic>
        <p:nvPicPr>
          <p:cNvPr id="10" name="图片 9" descr="E:\曹飞\2017\2017-8-8地铁PPT\3.png3"/>
          <p:cNvPicPr>
            <a:picLocks noChangeAspect="1"/>
          </p:cNvPicPr>
          <p:nvPr/>
        </p:nvPicPr>
        <p:blipFill>
          <a:blip r:embed="rId3" cstate="email"/>
          <a:srcRect/>
          <a:stretch>
            <a:fillRect/>
          </a:stretch>
        </p:blipFill>
        <p:spPr>
          <a:xfrm>
            <a:off x="653415" y="4402218"/>
            <a:ext cx="8497729" cy="382429"/>
          </a:xfrm>
          <a:prstGeom prst="rect">
            <a:avLst/>
          </a:prstGeom>
        </p:spPr>
      </p:pic>
      <p:sp>
        <p:nvSpPr>
          <p:cNvPr id="100" name="文本框 99"/>
          <p:cNvSpPr txBox="1"/>
          <p:nvPr/>
        </p:nvSpPr>
        <p:spPr>
          <a:xfrm>
            <a:off x="5358766" y="1180936"/>
            <a:ext cx="3383756" cy="3005438"/>
          </a:xfrm>
          <a:prstGeom prst="rect">
            <a:avLst/>
          </a:prstGeom>
          <a:noFill/>
          <a:ln w="9525">
            <a:noFill/>
          </a:ln>
        </p:spPr>
        <p:txBody>
          <a:bodyPr wrap="square" lIns="68580" tIns="34290" rIns="68580" bIns="34290">
            <a:spAutoFit/>
          </a:bodyPr>
          <a:lstStyle/>
          <a:p>
            <a:pPr indent="296545">
              <a:lnSpc>
                <a:spcPct val="160000"/>
              </a:lnSpc>
            </a:pPr>
            <a:endParaRPr lang="en-US" altLang="zh-CN" b="1" dirty="0" smtClean="0">
              <a:solidFill>
                <a:schemeClr val="tx1">
                  <a:lumMod val="75000"/>
                  <a:lumOff val="25000"/>
                </a:schemeClr>
              </a:solidFill>
              <a:latin typeface="微软雅黑" panose="020B0503020204020204" charset="-122"/>
              <a:ea typeface="微软雅黑" panose="020B0503020204020204" charset="-122"/>
            </a:endParaRPr>
          </a:p>
          <a:p>
            <a:pPr algn="just">
              <a:lnSpc>
                <a:spcPct val="90000"/>
              </a:lnSpc>
            </a:pPr>
            <a:r>
              <a:rPr lang="zh-CN" altLang="en-US" dirty="0" smtClean="0">
                <a:solidFill>
                  <a:srgbClr val="000000"/>
                </a:solidFill>
                <a:latin typeface="黑体" panose="02010609060101010101" pitchFamily="49" charset="-122"/>
                <a:ea typeface="黑体" panose="02010609060101010101" pitchFamily="49" charset="-122"/>
              </a:rPr>
              <a:t>    公文是党政机关、社会团体、企事业单位或其他法定组织在实施领导、管理和处理公务中形成使用的具有法定效力和规范体式的文书。</a:t>
            </a:r>
            <a:endParaRPr lang="en-US" altLang="zh-CN" dirty="0" smtClean="0">
              <a:latin typeface="黑体" panose="02010609060101010101" pitchFamily="49" charset="-122"/>
              <a:ea typeface="黑体" panose="02010609060101010101" pitchFamily="49" charset="-122"/>
            </a:endParaRPr>
          </a:p>
          <a:p>
            <a:pPr algn="just">
              <a:lnSpc>
                <a:spcPct val="90000"/>
              </a:lnSpc>
            </a:pPr>
            <a:r>
              <a:rPr lang="zh-CN" altLang="en-US" dirty="0" smtClean="0">
                <a:latin typeface="黑体" panose="02010609060101010101" pitchFamily="49" charset="-122"/>
                <a:ea typeface="黑体" panose="02010609060101010101" pitchFamily="49" charset="-122"/>
              </a:rPr>
              <a:t>    国家行政机关使用的法定公文文种有</a:t>
            </a:r>
            <a:r>
              <a:rPr lang="en-US" altLang="zh-CN" dirty="0" smtClean="0">
                <a:latin typeface="黑体" panose="02010609060101010101" pitchFamily="49" charset="-122"/>
                <a:ea typeface="黑体" panose="02010609060101010101" pitchFamily="49" charset="-122"/>
              </a:rPr>
              <a:t>15</a:t>
            </a:r>
            <a:r>
              <a:rPr lang="zh-CN" altLang="en-US" dirty="0" smtClean="0">
                <a:latin typeface="黑体" panose="02010609060101010101" pitchFamily="49" charset="-122"/>
                <a:ea typeface="黑体" panose="02010609060101010101" pitchFamily="49" charset="-122"/>
              </a:rPr>
              <a:t>个，即决议、决定、命令（令）、公报、公告、通告、意见、</a:t>
            </a:r>
            <a:r>
              <a:rPr lang="zh-CN" altLang="en-US" dirty="0" smtClean="0">
                <a:solidFill>
                  <a:srgbClr val="FF0000"/>
                </a:solidFill>
                <a:latin typeface="黑体" panose="02010609060101010101" pitchFamily="49" charset="-122"/>
                <a:ea typeface="黑体" panose="02010609060101010101" pitchFamily="49" charset="-122"/>
              </a:rPr>
              <a:t>通知</a:t>
            </a:r>
            <a:r>
              <a:rPr lang="zh-CN" altLang="en-US" dirty="0" smtClean="0">
                <a:latin typeface="黑体" panose="02010609060101010101" pitchFamily="49" charset="-122"/>
                <a:ea typeface="黑体" panose="02010609060101010101" pitchFamily="49" charset="-122"/>
              </a:rPr>
              <a:t>、</a:t>
            </a:r>
            <a:r>
              <a:rPr lang="zh-CN" altLang="en-US" dirty="0" smtClean="0">
                <a:solidFill>
                  <a:srgbClr val="FF0000"/>
                </a:solidFill>
                <a:latin typeface="黑体" panose="02010609060101010101" pitchFamily="49" charset="-122"/>
                <a:ea typeface="黑体" panose="02010609060101010101" pitchFamily="49" charset="-122"/>
              </a:rPr>
              <a:t>通报</a:t>
            </a:r>
            <a:r>
              <a:rPr lang="zh-CN" altLang="en-US" dirty="0" smtClean="0">
                <a:latin typeface="黑体" panose="02010609060101010101" pitchFamily="49" charset="-122"/>
                <a:ea typeface="黑体" panose="02010609060101010101" pitchFamily="49" charset="-122"/>
              </a:rPr>
              <a:t>、报告、</a:t>
            </a:r>
            <a:r>
              <a:rPr lang="zh-CN" altLang="en-US" dirty="0" smtClean="0">
                <a:solidFill>
                  <a:srgbClr val="FF0000"/>
                </a:solidFill>
                <a:latin typeface="黑体" panose="02010609060101010101" pitchFamily="49" charset="-122"/>
                <a:ea typeface="黑体" panose="02010609060101010101" pitchFamily="49" charset="-122"/>
              </a:rPr>
              <a:t>请示</a:t>
            </a:r>
            <a:r>
              <a:rPr lang="zh-CN" altLang="en-US" dirty="0" smtClean="0">
                <a:latin typeface="黑体" panose="02010609060101010101" pitchFamily="49" charset="-122"/>
                <a:ea typeface="黑体" panose="02010609060101010101" pitchFamily="49" charset="-122"/>
              </a:rPr>
              <a:t>、批复、议案、函、</a:t>
            </a:r>
            <a:r>
              <a:rPr lang="zh-CN" altLang="en-US" dirty="0" smtClean="0">
                <a:solidFill>
                  <a:srgbClr val="FF0000"/>
                </a:solidFill>
                <a:latin typeface="黑体" panose="02010609060101010101" pitchFamily="49" charset="-122"/>
                <a:ea typeface="黑体" panose="02010609060101010101" pitchFamily="49" charset="-122"/>
              </a:rPr>
              <a:t>纪要</a:t>
            </a:r>
            <a:r>
              <a:rPr lang="zh-CN" altLang="en-US" dirty="0" smtClean="0">
                <a:latin typeface="黑体" panose="02010609060101010101" pitchFamily="49" charset="-122"/>
                <a:ea typeface="黑体" panose="02010609060101010101" pitchFamily="49" charset="-122"/>
              </a:rPr>
              <a:t>。 </a:t>
            </a:r>
            <a:endParaRPr lang="zh-CN" altLang="en-US" dirty="0" smtClean="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23" presetClass="entr" presetSubtype="32"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p:cTn id="11" dur="500" fill="hold"/>
                                        <p:tgtEl>
                                          <p:spTgt spid="3"/>
                                        </p:tgtEl>
                                        <p:attrNameLst>
                                          <p:attrName>ppt_w</p:attrName>
                                        </p:attrNameLst>
                                      </p:cBhvr>
                                      <p:tavLst>
                                        <p:tav tm="0">
                                          <p:val>
                                            <p:strVal val="4*#ppt_w"/>
                                          </p:val>
                                        </p:tav>
                                        <p:tav tm="100000">
                                          <p:val>
                                            <p:strVal val="#ppt_w"/>
                                          </p:val>
                                        </p:tav>
                                      </p:tavLst>
                                    </p:anim>
                                    <p:anim calcmode="lin" valueType="num">
                                      <p:cBhvr>
                                        <p:cTn id="12" dur="500" fill="hold"/>
                                        <p:tgtEl>
                                          <p:spTgt spid="3"/>
                                        </p:tgtEl>
                                        <p:attrNameLst>
                                          <p:attrName>ppt_h</p:attrName>
                                        </p:attrNameLst>
                                      </p:cBhvr>
                                      <p:tavLst>
                                        <p:tav tm="0">
                                          <p:val>
                                            <p:strVal val="4*#ppt_h"/>
                                          </p:val>
                                        </p:tav>
                                        <p:tav tm="100000">
                                          <p:val>
                                            <p:strVal val="#ppt_h"/>
                                          </p:val>
                                        </p:tav>
                                      </p:tavLst>
                                    </p:anim>
                                  </p:childTnLst>
                                </p:cTn>
                              </p:par>
                            </p:childTnLst>
                          </p:cTn>
                        </p:par>
                        <p:par>
                          <p:cTn id="13" fill="hold">
                            <p:stCondLst>
                              <p:cond delay="1000"/>
                            </p:stCondLst>
                            <p:childTnLst>
                              <p:par>
                                <p:cTn id="14" presetID="22" presetClass="entr" presetSubtype="2" fill="hold"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right)">
                                      <p:cBhvr>
                                        <p:cTn id="16" dur="1000"/>
                                        <p:tgtEl>
                                          <p:spTgt spid="10"/>
                                        </p:tgtEl>
                                      </p:cBhvr>
                                    </p:animEffect>
                                  </p:childTnLst>
                                </p:cTn>
                              </p:par>
                              <p:par>
                                <p:cTn id="17" presetID="22" presetClass="entr" presetSubtype="2" fill="hold" grpId="0" nodeType="withEffect">
                                  <p:stCondLst>
                                    <p:cond delay="0"/>
                                  </p:stCondLst>
                                  <p:childTnLst>
                                    <p:set>
                                      <p:cBhvr>
                                        <p:cTn id="18" dur="1" fill="hold">
                                          <p:stCondLst>
                                            <p:cond delay="0"/>
                                          </p:stCondLst>
                                        </p:cTn>
                                        <p:tgtEl>
                                          <p:spTgt spid="100"/>
                                        </p:tgtEl>
                                        <p:attrNameLst>
                                          <p:attrName>style.visibility</p:attrName>
                                        </p:attrNameLst>
                                      </p:cBhvr>
                                      <p:to>
                                        <p:strVal val="visible"/>
                                      </p:to>
                                    </p:set>
                                    <p:animEffect transition="in" filter="wipe(right)">
                                      <p:cBhvr>
                                        <p:cTn id="19" dur="500"/>
                                        <p:tgtEl>
                                          <p:spTgt spid="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descr="JXX_0343fb"/>
          <p:cNvPicPr>
            <a:picLocks noChangeAspect="1"/>
          </p:cNvPicPr>
          <p:nvPr/>
        </p:nvPicPr>
        <p:blipFill rotWithShape="1">
          <a:blip r:embed="rId1" cstate="email"/>
          <a:srcRect l="9405" r="51338"/>
          <a:stretch>
            <a:fillRect/>
          </a:stretch>
        </p:blipFill>
        <p:spPr>
          <a:xfrm>
            <a:off x="0" y="1012"/>
            <a:ext cx="3036318" cy="5163026"/>
          </a:xfrm>
          <a:prstGeom prst="rect">
            <a:avLst/>
          </a:prstGeom>
        </p:spPr>
      </p:pic>
      <p:sp>
        <p:nvSpPr>
          <p:cNvPr id="3" name="任意多边形 2"/>
          <p:cNvSpPr/>
          <p:nvPr/>
        </p:nvSpPr>
        <p:spPr>
          <a:xfrm rot="5400000">
            <a:off x="2059553" y="2297009"/>
            <a:ext cx="3191828" cy="317074"/>
          </a:xfrm>
          <a:custGeom>
            <a:avLst/>
            <a:gdLst>
              <a:gd name="connsiteX0" fmla="*/ 0 w 6702"/>
              <a:gd name="connsiteY0" fmla="*/ 375 h 665"/>
              <a:gd name="connsiteX1" fmla="*/ 1918 w 6702"/>
              <a:gd name="connsiteY1" fmla="*/ 666 h 665"/>
              <a:gd name="connsiteX2" fmla="*/ 3162 w 6702"/>
              <a:gd name="connsiteY2" fmla="*/ 17 h 665"/>
              <a:gd name="connsiteX3" fmla="*/ 4485 w 6702"/>
              <a:gd name="connsiteY3" fmla="*/ 666 h 665"/>
              <a:gd name="connsiteX4" fmla="*/ 6702 w 6702"/>
              <a:gd name="connsiteY4" fmla="*/ 544 h 6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02" h="666">
                <a:moveTo>
                  <a:pt x="0" y="375"/>
                </a:moveTo>
                <a:cubicBezTo>
                  <a:pt x="878" y="-221"/>
                  <a:pt x="1473" y="667"/>
                  <a:pt x="1918" y="666"/>
                </a:cubicBezTo>
                <a:cubicBezTo>
                  <a:pt x="2364" y="665"/>
                  <a:pt x="2710" y="17"/>
                  <a:pt x="3162" y="17"/>
                </a:cubicBezTo>
                <a:cubicBezTo>
                  <a:pt x="3615" y="17"/>
                  <a:pt x="3902" y="666"/>
                  <a:pt x="4485" y="666"/>
                </a:cubicBezTo>
                <a:cubicBezTo>
                  <a:pt x="5068" y="666"/>
                  <a:pt x="5768" y="-747"/>
                  <a:pt x="6702" y="544"/>
                </a:cubicBezTo>
              </a:path>
            </a:pathLst>
          </a:custGeom>
          <a:ln w="34925">
            <a:solidFill>
              <a:srgbClr val="BF9B30"/>
            </a:solidFill>
          </a:ln>
        </p:spPr>
        <p:style>
          <a:lnRef idx="1">
            <a:schemeClr val="accent1"/>
          </a:lnRef>
          <a:fillRef idx="0">
            <a:schemeClr val="accent1"/>
          </a:fillRef>
          <a:effectRef idx="0">
            <a:schemeClr val="accent1"/>
          </a:effectRef>
          <a:fontRef idx="minor">
            <a:schemeClr val="tx1"/>
          </a:fontRef>
        </p:style>
        <p:txBody>
          <a:bodyPr lIns="68580" tIns="34290" rIns="68580" bIns="34290" rtlCol="0" anchor="ctr"/>
          <a:lstStyle/>
          <a:p>
            <a:pPr algn="ctr"/>
            <a:endParaRPr lang="zh-CN" altLang="en-US" sz="1000">
              <a:ea typeface="微软雅黑" panose="020B0503020204020204" charset="-122"/>
            </a:endParaRPr>
          </a:p>
        </p:txBody>
      </p:sp>
      <p:sp>
        <p:nvSpPr>
          <p:cNvPr id="5" name="椭圆 4"/>
          <p:cNvSpPr/>
          <p:nvPr/>
        </p:nvSpPr>
        <p:spPr>
          <a:xfrm>
            <a:off x="3669506" y="1111091"/>
            <a:ext cx="114300" cy="114300"/>
          </a:xfrm>
          <a:prstGeom prst="ellipse">
            <a:avLst/>
          </a:prstGeom>
          <a:solidFill>
            <a:schemeClr val="bg1"/>
          </a:solidFill>
          <a:ln w="28575">
            <a:solidFill>
              <a:srgbClr val="BF9B30"/>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17" name="TextBox 5"/>
          <p:cNvSpPr txBox="1"/>
          <p:nvPr/>
        </p:nvSpPr>
        <p:spPr>
          <a:xfrm>
            <a:off x="3911442" y="1485596"/>
            <a:ext cx="4404974" cy="435825"/>
          </a:xfrm>
          <a:prstGeom prst="rect">
            <a:avLst/>
          </a:prstGeom>
          <a:noFill/>
        </p:spPr>
        <p:txBody>
          <a:bodyPr wrap="square" lIns="68580" tIns="34290" rIns="68580" bIns="34290" rtlCol="0">
            <a:spAutoFit/>
          </a:bodyPr>
          <a:lstStyle/>
          <a:p>
            <a:pPr>
              <a:lnSpc>
                <a:spcPct val="150000"/>
              </a:lnSpc>
            </a:pPr>
            <a:r>
              <a:rPr lang="zh-CN" altLang="en-US" b="1" dirty="0" smtClean="0">
                <a:solidFill>
                  <a:srgbClr val="C09D3C"/>
                </a:solidFill>
                <a:latin typeface="微软雅黑" panose="020B0503020204020204" charset="-122"/>
                <a:ea typeface="微软雅黑" panose="020B0503020204020204" charset="-122"/>
                <a:sym typeface="+mn-ea"/>
              </a:rPr>
              <a:t>（一）公文的基本格式与处理流程</a:t>
            </a:r>
            <a:endParaRPr lang="zh-CN" altLang="en-US" b="1" dirty="0" smtClean="0">
              <a:solidFill>
                <a:srgbClr val="C09D3C"/>
              </a:solidFill>
              <a:latin typeface="微软雅黑" panose="020B0503020204020204" charset="-122"/>
              <a:ea typeface="微软雅黑" panose="020B0503020204020204" charset="-122"/>
              <a:sym typeface="+mn-ea"/>
            </a:endParaRPr>
          </a:p>
        </p:txBody>
      </p:sp>
      <p:sp>
        <p:nvSpPr>
          <p:cNvPr id="29" name="椭圆 28"/>
          <p:cNvSpPr/>
          <p:nvPr/>
        </p:nvSpPr>
        <p:spPr>
          <a:xfrm>
            <a:off x="3497104" y="2731294"/>
            <a:ext cx="114300" cy="114300"/>
          </a:xfrm>
          <a:prstGeom prst="ellipse">
            <a:avLst/>
          </a:prstGeom>
          <a:solidFill>
            <a:schemeClr val="bg1"/>
          </a:solidFill>
          <a:ln w="28575">
            <a:solidFill>
              <a:srgbClr val="BF9B30"/>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6" name="TextBox 5"/>
          <p:cNvSpPr txBox="1"/>
          <p:nvPr/>
        </p:nvSpPr>
        <p:spPr>
          <a:xfrm>
            <a:off x="3923928" y="2028059"/>
            <a:ext cx="5053046" cy="435825"/>
          </a:xfrm>
          <a:prstGeom prst="rect">
            <a:avLst/>
          </a:prstGeom>
          <a:noFill/>
        </p:spPr>
        <p:txBody>
          <a:bodyPr wrap="square" lIns="68580" tIns="34290" rIns="68580" bIns="34290" rtlCol="0">
            <a:spAutoFit/>
          </a:bodyPr>
          <a:lstStyle/>
          <a:p>
            <a:pPr>
              <a:lnSpc>
                <a:spcPct val="150000"/>
              </a:lnSpc>
            </a:pPr>
            <a:r>
              <a:rPr lang="zh-CN" altLang="en-US" b="1" dirty="0" smtClean="0">
                <a:solidFill>
                  <a:srgbClr val="C09D3C"/>
                </a:solidFill>
                <a:latin typeface="微软雅黑" panose="020B0503020204020204" charset="-122"/>
                <a:ea typeface="微软雅黑" panose="020B0503020204020204" charset="-122"/>
                <a:sym typeface="+mn-ea"/>
              </a:rPr>
              <a:t>（二）常用公文的写法</a:t>
            </a:r>
            <a:endParaRPr lang="zh-CN" altLang="en-US" b="1" dirty="0" smtClean="0">
              <a:solidFill>
                <a:schemeClr val="tx1">
                  <a:lumMod val="50000"/>
                  <a:lumOff val="50000"/>
                </a:schemeClr>
              </a:solidFill>
              <a:latin typeface="微软雅黑" panose="020B0503020204020204" charset="-122"/>
              <a:ea typeface="微软雅黑" panose="020B0503020204020204" charset="-122"/>
              <a:sym typeface="+mn-ea"/>
            </a:endParaRPr>
          </a:p>
        </p:txBody>
      </p:sp>
      <p:sp>
        <p:nvSpPr>
          <p:cNvPr id="9" name="TextBox 8"/>
          <p:cNvSpPr txBox="1"/>
          <p:nvPr/>
        </p:nvSpPr>
        <p:spPr>
          <a:xfrm>
            <a:off x="3939540" y="2541905"/>
            <a:ext cx="5278755" cy="483870"/>
          </a:xfrm>
          <a:prstGeom prst="rect">
            <a:avLst/>
          </a:prstGeom>
          <a:noFill/>
        </p:spPr>
        <p:txBody>
          <a:bodyPr wrap="square" lIns="68580" tIns="34290" rIns="68580" bIns="34290" rtlCol="0">
            <a:spAutoFit/>
          </a:bodyPr>
          <a:lstStyle/>
          <a:p>
            <a:pPr>
              <a:lnSpc>
                <a:spcPct val="150000"/>
              </a:lnSpc>
            </a:pPr>
            <a:r>
              <a:rPr lang="zh-CN" altLang="en-US" b="1" dirty="0" smtClean="0">
                <a:solidFill>
                  <a:srgbClr val="C09D3C"/>
                </a:solidFill>
                <a:latin typeface="微软雅黑" panose="020B0503020204020204" charset="-122"/>
                <a:ea typeface="微软雅黑" panose="020B0503020204020204" charset="-122"/>
                <a:sym typeface="+mn-ea"/>
              </a:rPr>
              <a:t>（三）公文排版格式和字词表述易混易错典型案例</a:t>
            </a:r>
            <a:endParaRPr lang="zh-CN" altLang="en-US" b="1" dirty="0" smtClean="0">
              <a:solidFill>
                <a:srgbClr val="C09D3C"/>
              </a:solidFill>
              <a:latin typeface="微软雅黑" panose="020B0503020204020204" charset="-122"/>
              <a:ea typeface="微软雅黑" panose="020B0503020204020204" charset="-122"/>
              <a:sym typeface="+mn-ea"/>
            </a:endParaRPr>
          </a:p>
        </p:txBody>
      </p:sp>
      <p:sp>
        <p:nvSpPr>
          <p:cNvPr id="10" name="TextBox 9"/>
          <p:cNvSpPr txBox="1"/>
          <p:nvPr/>
        </p:nvSpPr>
        <p:spPr>
          <a:xfrm>
            <a:off x="3942605" y="3072029"/>
            <a:ext cx="5053046" cy="484748"/>
          </a:xfrm>
          <a:prstGeom prst="rect">
            <a:avLst/>
          </a:prstGeom>
          <a:noFill/>
        </p:spPr>
        <p:txBody>
          <a:bodyPr wrap="square" lIns="68580" tIns="34290" rIns="68580" bIns="34290" rtlCol="0">
            <a:spAutoFit/>
          </a:bodyPr>
          <a:lstStyle/>
          <a:p>
            <a:pPr>
              <a:lnSpc>
                <a:spcPct val="150000"/>
              </a:lnSpc>
            </a:pPr>
            <a:r>
              <a:rPr lang="zh-CN" altLang="en-US" b="1" dirty="0" smtClean="0">
                <a:solidFill>
                  <a:srgbClr val="C09D3C"/>
                </a:solidFill>
                <a:latin typeface="微软雅黑" panose="020B0503020204020204" charset="-122"/>
                <a:ea typeface="微软雅黑" panose="020B0503020204020204" charset="-122"/>
                <a:sym typeface="+mn-ea"/>
              </a:rPr>
              <a:t>（四）写</a:t>
            </a:r>
            <a:r>
              <a:rPr b="1" dirty="0" smtClean="0">
                <a:solidFill>
                  <a:srgbClr val="C09D3C"/>
                </a:solidFill>
                <a:latin typeface="微软雅黑" panose="020B0503020204020204" charset="-122"/>
                <a:ea typeface="微软雅黑" panose="020B0503020204020204" charset="-122"/>
                <a:sym typeface="+mn-ea"/>
              </a:rPr>
              <a:t>作</a:t>
            </a:r>
            <a:r>
              <a:rPr lang="zh-CN" altLang="en-US" b="1" dirty="0" smtClean="0">
                <a:solidFill>
                  <a:srgbClr val="C09D3C"/>
                </a:solidFill>
                <a:latin typeface="微软雅黑" panose="020B0503020204020204" charset="-122"/>
                <a:ea typeface="微软雅黑" panose="020B0503020204020204" charset="-122"/>
                <a:sym typeface="+mn-ea"/>
              </a:rPr>
              <a:t>经验及工作</a:t>
            </a:r>
            <a:r>
              <a:rPr b="1" dirty="0" err="1" smtClean="0">
                <a:solidFill>
                  <a:srgbClr val="C09D3C"/>
                </a:solidFill>
                <a:latin typeface="微软雅黑" panose="020B0503020204020204" charset="-122"/>
                <a:ea typeface="微软雅黑" panose="020B0503020204020204" charset="-122"/>
                <a:sym typeface="+mn-ea"/>
              </a:rPr>
              <a:t>体会</a:t>
            </a:r>
            <a:endParaRPr lang="zh-CN" altLang="en-US" b="1" dirty="0" smtClean="0">
              <a:solidFill>
                <a:schemeClr val="tx1">
                  <a:lumMod val="50000"/>
                  <a:lumOff val="50000"/>
                </a:schemeClr>
              </a:solidFill>
              <a:latin typeface="微软雅黑" panose="020B0503020204020204" charset="-122"/>
              <a:ea typeface="微软雅黑" panose="020B0503020204020204"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250">
        <p14:switch dir="l"/>
      </p:transition>
    </mc:Choice>
    <mc:Fallback>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E:\曹飞\2017\2017-8-8地铁PPT\6.png6"/>
          <p:cNvPicPr>
            <a:picLocks noChangeAspect="1"/>
          </p:cNvPicPr>
          <p:nvPr/>
        </p:nvPicPr>
        <p:blipFill>
          <a:blip r:embed="rId1" cstate="email"/>
          <a:srcRect/>
          <a:stretch>
            <a:fillRect/>
          </a:stretch>
        </p:blipFill>
        <p:spPr>
          <a:xfrm>
            <a:off x="2261712" y="239317"/>
            <a:ext cx="6463189" cy="343376"/>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pic>
        <p:nvPicPr>
          <p:cNvPr id="13" name="图片 12" descr="E:\曹飞\2017\2017-8-8地铁PPT\7.png7"/>
          <p:cNvPicPr>
            <a:picLocks noChangeAspect="1"/>
          </p:cNvPicPr>
          <p:nvPr/>
        </p:nvPicPr>
        <p:blipFill>
          <a:blip r:embed="rId2" cstate="email"/>
          <a:srcRect/>
          <a:stretch>
            <a:fillRect/>
          </a:stretch>
        </p:blipFill>
        <p:spPr>
          <a:xfrm>
            <a:off x="-6667" y="4477465"/>
            <a:ext cx="9168289" cy="668179"/>
          </a:xfrm>
          <a:prstGeom prst="rect">
            <a:avLst/>
          </a:prstGeom>
        </p:spPr>
      </p:pic>
      <p:sp>
        <p:nvSpPr>
          <p:cNvPr id="41" name="Text Box 2"/>
          <p:cNvSpPr txBox="1">
            <a:spLocks noChangeArrowheads="1"/>
          </p:cNvSpPr>
          <p:nvPr/>
        </p:nvSpPr>
        <p:spPr bwMode="auto">
          <a:xfrm>
            <a:off x="594298" y="1563638"/>
            <a:ext cx="7704856"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342900" indent="-342900" eaLnBrk="1" hangingPunct="1">
              <a:lnSpc>
                <a:spcPct val="90000"/>
              </a:lnSpc>
              <a:spcBef>
                <a:spcPct val="20000"/>
              </a:spcBef>
              <a:buClr>
                <a:srgbClr val="0066CC"/>
              </a:buClr>
            </a:pPr>
            <a:r>
              <a:rPr kumimoji="0" lang="en-US" altLang="zh-CN" sz="2000" kern="0" dirty="0" smtClean="0">
                <a:ea typeface="仿宋_GB2312" panose="02010609030101010101" pitchFamily="49" charset="-122"/>
                <a:cs typeface="Times New Roman" panose="02020603050405020304" pitchFamily="18" charset="0"/>
              </a:rPr>
              <a:t>         1.</a:t>
            </a:r>
            <a:r>
              <a:rPr kumimoji="0" lang="zh-CN" altLang="en-US" sz="2000" kern="0" dirty="0" smtClean="0">
                <a:ea typeface="仿宋_GB2312" panose="02010609030101010101" pitchFamily="49" charset="-122"/>
                <a:cs typeface="Times New Roman" panose="02020603050405020304" pitchFamily="18" charset="0"/>
              </a:rPr>
              <a:t>公文</a:t>
            </a:r>
            <a:r>
              <a:rPr kumimoji="0" lang="zh-CN" altLang="en-US" sz="2000" kern="0" dirty="0">
                <a:ea typeface="仿宋_GB2312" panose="02010609030101010101" pitchFamily="49" charset="-122"/>
                <a:cs typeface="Times New Roman" panose="02020603050405020304" pitchFamily="18" charset="0"/>
              </a:rPr>
              <a:t>由法定作者制发</a:t>
            </a:r>
            <a:endParaRPr kumimoji="0" lang="zh-CN" altLang="en-US" sz="2000" kern="0" dirty="0">
              <a:ea typeface="仿宋_GB2312" panose="02010609030101010101" pitchFamily="49" charset="-122"/>
              <a:cs typeface="Times New Roman" panose="02020603050405020304" pitchFamily="18" charset="0"/>
            </a:endParaRPr>
          </a:p>
          <a:p>
            <a:pPr eaLnBrk="1" hangingPunct="1"/>
            <a:r>
              <a:rPr lang="zh-CN" altLang="en-US" sz="2000" dirty="0" smtClean="0">
                <a:ea typeface="仿宋_GB2312" panose="02010609030101010101" pitchFamily="49" charset="-122"/>
                <a:cs typeface="Times New Roman" panose="02020603050405020304" pitchFamily="18" charset="0"/>
              </a:rPr>
              <a:t>        公文</a:t>
            </a:r>
            <a:r>
              <a:rPr lang="zh-CN" altLang="en-US" sz="2000" dirty="0">
                <a:ea typeface="仿宋_GB2312" panose="02010609030101010101" pitchFamily="49" charset="-122"/>
                <a:cs typeface="Times New Roman" panose="02020603050405020304" pitchFamily="18" charset="0"/>
              </a:rPr>
              <a:t>的法定作者指的不是公文的草拟者，而是制发公文的机关、单位或个人。</a:t>
            </a:r>
            <a:endParaRPr lang="zh-CN" altLang="en-US" sz="2000" dirty="0">
              <a:ea typeface="仿宋_GB2312" panose="02010609030101010101" pitchFamily="49" charset="-122"/>
              <a:cs typeface="Times New Roman" panose="02020603050405020304" pitchFamily="18" charset="0"/>
            </a:endParaRPr>
          </a:p>
          <a:p>
            <a:pPr marL="342900" eaLnBrk="1" hangingPunct="1">
              <a:lnSpc>
                <a:spcPct val="90000"/>
              </a:lnSpc>
              <a:spcBef>
                <a:spcPct val="20000"/>
              </a:spcBef>
              <a:buClr>
                <a:srgbClr val="0066CC"/>
              </a:buClr>
            </a:pPr>
            <a:r>
              <a:rPr kumimoji="0" lang="en-US" altLang="zh-CN" sz="2000" kern="0" dirty="0" smtClean="0">
                <a:ea typeface="仿宋_GB2312" panose="02010609030101010101" pitchFamily="49" charset="-122"/>
                <a:cs typeface="Times New Roman" panose="02020603050405020304" pitchFamily="18" charset="0"/>
              </a:rPr>
              <a:t>   2.</a:t>
            </a:r>
            <a:r>
              <a:rPr kumimoji="0" lang="zh-CN" altLang="en-US" sz="2000" kern="0" dirty="0" smtClean="0">
                <a:ea typeface="仿宋_GB2312" panose="02010609030101010101" pitchFamily="49" charset="-122"/>
                <a:cs typeface="Times New Roman" panose="02020603050405020304" pitchFamily="18" charset="0"/>
              </a:rPr>
              <a:t>公文</a:t>
            </a:r>
            <a:r>
              <a:rPr kumimoji="0" lang="zh-CN" altLang="en-US" sz="2000" kern="0" dirty="0">
                <a:ea typeface="仿宋_GB2312" panose="02010609030101010101" pitchFamily="49" charset="-122"/>
                <a:cs typeface="Times New Roman" panose="02020603050405020304" pitchFamily="18" charset="0"/>
              </a:rPr>
              <a:t>有法定的权威性</a:t>
            </a:r>
            <a:endParaRPr kumimoji="0" lang="zh-CN" altLang="en-US" sz="2000" kern="0" dirty="0">
              <a:ea typeface="仿宋_GB2312" panose="02010609030101010101" pitchFamily="49" charset="-122"/>
              <a:cs typeface="Times New Roman" panose="02020603050405020304" pitchFamily="18" charset="0"/>
            </a:endParaRPr>
          </a:p>
          <a:p>
            <a:pPr eaLnBrk="1" hangingPunct="1"/>
            <a:r>
              <a:rPr lang="zh-CN" altLang="en-US" sz="2000" dirty="0" smtClean="0">
                <a:ea typeface="仿宋_GB2312" panose="02010609030101010101" pitchFamily="49" charset="-122"/>
                <a:cs typeface="Times New Roman" panose="02020603050405020304" pitchFamily="18" charset="0"/>
              </a:rPr>
              <a:t>        首先</a:t>
            </a:r>
            <a:r>
              <a:rPr lang="zh-CN" altLang="en-US" sz="2000" dirty="0">
                <a:ea typeface="仿宋_GB2312" panose="02010609030101010101" pitchFamily="49" charset="-122"/>
                <a:cs typeface="Times New Roman" panose="02020603050405020304" pitchFamily="18" charset="0"/>
              </a:rPr>
              <a:t>是法定公文是由法定作者在法定的职权范围内为行使职权而制发的</a:t>
            </a:r>
            <a:r>
              <a:rPr lang="zh-CN" altLang="en-US" sz="2000" dirty="0" smtClean="0">
                <a:ea typeface="仿宋_GB2312" panose="02010609030101010101" pitchFamily="49" charset="-122"/>
                <a:cs typeface="Times New Roman" panose="02020603050405020304" pitchFamily="18" charset="0"/>
              </a:rPr>
              <a:t>。</a:t>
            </a:r>
            <a:endParaRPr lang="en-US" altLang="zh-CN" sz="2000" dirty="0">
              <a:ea typeface="仿宋_GB2312" panose="02010609030101010101" pitchFamily="49" charset="-122"/>
              <a:cs typeface="Times New Roman" panose="02020603050405020304" pitchFamily="18" charset="0"/>
            </a:endParaRPr>
          </a:p>
          <a:p>
            <a:pPr eaLnBrk="1" hangingPunct="1"/>
            <a:r>
              <a:rPr lang="en-US" altLang="zh-CN" sz="2000" dirty="0" smtClean="0">
                <a:ea typeface="仿宋_GB2312" panose="02010609030101010101" pitchFamily="49" charset="-122"/>
                <a:cs typeface="Times New Roman" panose="02020603050405020304" pitchFamily="18" charset="0"/>
              </a:rPr>
              <a:t>        </a:t>
            </a:r>
            <a:r>
              <a:rPr lang="zh-CN" altLang="en-US" sz="2000" dirty="0" smtClean="0">
                <a:ea typeface="仿宋_GB2312" panose="02010609030101010101" pitchFamily="49" charset="-122"/>
                <a:cs typeface="Times New Roman" panose="02020603050405020304" pitchFamily="18" charset="0"/>
              </a:rPr>
              <a:t>其次</a:t>
            </a:r>
            <a:r>
              <a:rPr lang="zh-CN" altLang="en-US" sz="2000" dirty="0">
                <a:ea typeface="仿宋_GB2312" panose="02010609030101010101" pitchFamily="49" charset="-122"/>
                <a:cs typeface="Times New Roman" panose="02020603050405020304" pitchFamily="18" charset="0"/>
              </a:rPr>
              <a:t>是下行的行政公文（如决议、决定、指示、通知等）具有法定的权威性和组织约束力</a:t>
            </a:r>
            <a:r>
              <a:rPr lang="zh-CN" altLang="en-US" sz="2000" dirty="0" smtClean="0">
                <a:ea typeface="仿宋_GB2312" panose="02010609030101010101" pitchFamily="49" charset="-122"/>
                <a:cs typeface="Times New Roman" panose="02020603050405020304" pitchFamily="18" charset="0"/>
              </a:rPr>
              <a:t>。</a:t>
            </a:r>
            <a:endParaRPr lang="zh-CN" altLang="en-US" sz="2000" dirty="0">
              <a:ea typeface="仿宋_GB2312" panose="02010609030101010101" pitchFamily="49" charset="-122"/>
              <a:cs typeface="Times New Roman" panose="02020603050405020304" pitchFamily="18" charset="0"/>
            </a:endParaRPr>
          </a:p>
        </p:txBody>
      </p:sp>
      <p:pic>
        <p:nvPicPr>
          <p:cNvPr id="9" name="图片 8"/>
          <p:cNvPicPr>
            <a:picLocks noChangeAspect="1"/>
          </p:cNvPicPr>
          <p:nvPr/>
        </p:nvPicPr>
        <p:blipFill>
          <a:blip r:embed="rId3"/>
          <a:stretch>
            <a:fillRect/>
          </a:stretch>
        </p:blipFill>
        <p:spPr>
          <a:xfrm>
            <a:off x="575945" y="297180"/>
            <a:ext cx="1685925" cy="419100"/>
          </a:xfrm>
          <a:prstGeom prst="rect">
            <a:avLst/>
          </a:prstGeom>
        </p:spPr>
      </p:pic>
      <p:sp>
        <p:nvSpPr>
          <p:cNvPr id="6" name="文本框 5"/>
          <p:cNvSpPr txBox="1"/>
          <p:nvPr/>
        </p:nvSpPr>
        <p:spPr>
          <a:xfrm>
            <a:off x="928370" y="878840"/>
            <a:ext cx="2752725" cy="829945"/>
          </a:xfrm>
          <a:prstGeom prst="rect">
            <a:avLst/>
          </a:prstGeom>
          <a:noFill/>
        </p:spPr>
        <p:txBody>
          <a:bodyPr wrap="square" rtlCol="0">
            <a:spAutoFit/>
          </a:bodyPr>
          <a:p>
            <a:r>
              <a:rPr lang="en-US" altLang="zh-CN" sz="2400" kern="0" dirty="0">
                <a:latin typeface="黑体" panose="02010609060101010101" pitchFamily="49" charset="-122"/>
                <a:ea typeface="黑体" panose="02010609060101010101" pitchFamily="49" charset="-122"/>
                <a:sym typeface="+mn-ea"/>
              </a:rPr>
              <a:t> </a:t>
            </a:r>
            <a:r>
              <a:rPr lang="zh-CN" altLang="en-US" sz="2400" kern="0" dirty="0">
                <a:latin typeface="黑体" panose="02010609060101010101" pitchFamily="49" charset="-122"/>
                <a:ea typeface="黑体" panose="02010609060101010101" pitchFamily="49" charset="-122"/>
                <a:sym typeface="+mn-ea"/>
              </a:rPr>
              <a:t>公文的特点</a:t>
            </a:r>
            <a:endParaRPr lang="zh-CN" altLang="en-US" sz="2400" kern="0" dirty="0">
              <a:latin typeface="黑体" panose="02010609060101010101" pitchFamily="49" charset="-122"/>
              <a:ea typeface="黑体" panose="02010609060101010101" pitchFamily="49" charset="-122"/>
            </a:endParaRPr>
          </a:p>
          <a:p>
            <a:endParaRPr lang="en-US" altLang="zh-CN" sz="2400" dirty="0">
              <a:solidFill>
                <a:schemeClr val="bg1"/>
              </a:solidFill>
              <a:latin typeface="Impact" panose="020B0806030902050204" pitchFamily="34" charset="0"/>
            </a:endParaRPr>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right)">
                                      <p:cBhvr>
                                        <p:cTn id="8" dur="500"/>
                                        <p:tgtEl>
                                          <p:spTgt spid="8"/>
                                        </p:tgtEl>
                                      </p:cBhvr>
                                    </p:animEffect>
                                  </p:childTnLst>
                                </p:cTn>
                              </p:par>
                              <p:par>
                                <p:cTn id="9" presetID="12" presetClass="entr" presetSubtype="8" fill="hold" grpId="1"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250"/>
                                        <p:tgtEl>
                                          <p:spTgt spid="14"/>
                                        </p:tgtEl>
                                        <p:attrNameLst>
                                          <p:attrName>ppt_x</p:attrName>
                                        </p:attrNameLst>
                                      </p:cBhvr>
                                      <p:tavLst>
                                        <p:tav tm="0">
                                          <p:val>
                                            <p:strVal val="#ppt_x-#ppt_w*1.125000"/>
                                          </p:val>
                                        </p:tav>
                                        <p:tav tm="100000">
                                          <p:val>
                                            <p:strVal val="#ppt_x"/>
                                          </p:val>
                                        </p:tav>
                                      </p:tavLst>
                                    </p:anim>
                                    <p:animEffect transition="in" filter="wipe(right)">
                                      <p:cBhvr>
                                        <p:cTn id="12" dur="250"/>
                                        <p:tgtEl>
                                          <p:spTgt spid="14"/>
                                        </p:tgtEl>
                                      </p:cBhvr>
                                    </p:animEffect>
                                  </p:childTnLst>
                                </p:cTn>
                              </p:par>
                              <p:par>
                                <p:cTn id="13" presetID="42"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1000"/>
                                        <p:tgtEl>
                                          <p:spTgt spid="13"/>
                                        </p:tgtEl>
                                      </p:cBhvr>
                                    </p:animEffect>
                                    <p:anim calcmode="lin" valueType="num">
                                      <p:cBhvr>
                                        <p:cTn id="16" dur="1000" fill="hold"/>
                                        <p:tgtEl>
                                          <p:spTgt spid="13"/>
                                        </p:tgtEl>
                                        <p:attrNameLst>
                                          <p:attrName>ppt_x</p:attrName>
                                        </p:attrNameLst>
                                      </p:cBhvr>
                                      <p:tavLst>
                                        <p:tav tm="0">
                                          <p:val>
                                            <p:strVal val="#ppt_x"/>
                                          </p:val>
                                        </p:tav>
                                        <p:tav tm="100000">
                                          <p:val>
                                            <p:strVal val="#ppt_x"/>
                                          </p:val>
                                        </p:tav>
                                      </p:tavLst>
                                    </p:anim>
                                    <p:anim calcmode="lin" valueType="num">
                                      <p:cBhvr>
                                        <p:cTn id="17"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E:\曹飞\2017\2017-8-8地铁PPT\6.png6"/>
          <p:cNvPicPr>
            <a:picLocks noChangeAspect="1"/>
          </p:cNvPicPr>
          <p:nvPr/>
        </p:nvPicPr>
        <p:blipFill>
          <a:blip r:embed="rId1" cstate="email"/>
          <a:srcRect/>
          <a:stretch>
            <a:fillRect/>
          </a:stretch>
        </p:blipFill>
        <p:spPr>
          <a:xfrm>
            <a:off x="2261712" y="239317"/>
            <a:ext cx="6463189" cy="343376"/>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pic>
        <p:nvPicPr>
          <p:cNvPr id="13" name="图片 12" descr="E:\曹飞\2017\2017-8-8地铁PPT\7.png7"/>
          <p:cNvPicPr>
            <a:picLocks noChangeAspect="1"/>
          </p:cNvPicPr>
          <p:nvPr/>
        </p:nvPicPr>
        <p:blipFill>
          <a:blip r:embed="rId2" cstate="email"/>
          <a:srcRect/>
          <a:stretch>
            <a:fillRect/>
          </a:stretch>
        </p:blipFill>
        <p:spPr>
          <a:xfrm>
            <a:off x="-6667" y="4477465"/>
            <a:ext cx="9168289" cy="668179"/>
          </a:xfrm>
          <a:prstGeom prst="rect">
            <a:avLst/>
          </a:prstGeom>
        </p:spPr>
      </p:pic>
      <p:sp>
        <p:nvSpPr>
          <p:cNvPr id="41" name="Text Box 2"/>
          <p:cNvSpPr txBox="1">
            <a:spLocks noChangeArrowheads="1"/>
          </p:cNvSpPr>
          <p:nvPr/>
        </p:nvSpPr>
        <p:spPr bwMode="auto">
          <a:xfrm>
            <a:off x="644463" y="1352818"/>
            <a:ext cx="7866134"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342900" eaLnBrk="1" hangingPunct="1">
              <a:lnSpc>
                <a:spcPct val="90000"/>
              </a:lnSpc>
              <a:spcBef>
                <a:spcPct val="20000"/>
              </a:spcBef>
              <a:buClr>
                <a:srgbClr val="0066CC"/>
              </a:buClr>
            </a:pPr>
            <a:r>
              <a:rPr kumimoji="0" lang="en-US" altLang="zh-CN" sz="2000" kern="0" dirty="0" smtClean="0">
                <a:ea typeface="仿宋_GB2312" panose="02010609030101010101" pitchFamily="49" charset="-122"/>
                <a:cs typeface="Times New Roman" panose="02020603050405020304" pitchFamily="18" charset="0"/>
              </a:rPr>
              <a:t>   3</a:t>
            </a:r>
            <a:r>
              <a:rPr kumimoji="0" lang="en-US" altLang="zh-CN" sz="2000" kern="0" dirty="0">
                <a:ea typeface="仿宋_GB2312" panose="02010609030101010101" pitchFamily="49" charset="-122"/>
                <a:cs typeface="Times New Roman" panose="02020603050405020304" pitchFamily="18" charset="0"/>
              </a:rPr>
              <a:t>.</a:t>
            </a:r>
            <a:r>
              <a:rPr kumimoji="0" lang="zh-CN" altLang="en-US" sz="2000" kern="0" dirty="0">
                <a:ea typeface="仿宋_GB2312" panose="02010609030101010101" pitchFamily="49" charset="-122"/>
                <a:cs typeface="Times New Roman" panose="02020603050405020304" pitchFamily="18" charset="0"/>
              </a:rPr>
              <a:t>公文具有特有的时效性</a:t>
            </a:r>
            <a:endParaRPr kumimoji="0" lang="zh-CN" altLang="en-US" sz="2000" kern="0" dirty="0">
              <a:ea typeface="仿宋_GB2312" panose="02010609030101010101" pitchFamily="49" charset="-122"/>
              <a:cs typeface="Times New Roman" panose="02020603050405020304" pitchFamily="18" charset="0"/>
            </a:endParaRPr>
          </a:p>
          <a:p>
            <a:pPr eaLnBrk="1" hangingPunct="1"/>
            <a:r>
              <a:rPr lang="zh-CN" altLang="en-US" sz="2000" dirty="0" smtClean="0">
                <a:ea typeface="仿宋_GB2312" panose="02010609030101010101" pitchFamily="49" charset="-122"/>
                <a:cs typeface="Times New Roman" panose="02020603050405020304" pitchFamily="18" charset="0"/>
              </a:rPr>
              <a:t>        任何</a:t>
            </a:r>
            <a:r>
              <a:rPr lang="zh-CN" altLang="en-US" sz="2000" dirty="0">
                <a:ea typeface="仿宋_GB2312" panose="02010609030101010101" pitchFamily="49" charset="-122"/>
                <a:cs typeface="Times New Roman" panose="02020603050405020304" pitchFamily="18" charset="0"/>
              </a:rPr>
              <a:t>公文都有一定的时效（即生效和失效）。除公文中有明确规定公文的生效时间外，一般以公文的“成文日期”作为公文的生效时间。公文失效一般有三种情况：一是“废止”（即公文从废止之日起失效），二是“撤销”（即公文的制发无效），三是自然失效。</a:t>
            </a:r>
            <a:endParaRPr lang="zh-CN" altLang="en-US" sz="2000" dirty="0">
              <a:ea typeface="仿宋_GB2312" panose="02010609030101010101" pitchFamily="49" charset="-122"/>
              <a:cs typeface="Times New Roman" panose="02020603050405020304" pitchFamily="18" charset="0"/>
            </a:endParaRPr>
          </a:p>
          <a:p>
            <a:pPr marL="342900" eaLnBrk="1" hangingPunct="1">
              <a:lnSpc>
                <a:spcPct val="90000"/>
              </a:lnSpc>
              <a:spcBef>
                <a:spcPct val="20000"/>
              </a:spcBef>
              <a:buClr>
                <a:srgbClr val="0066CC"/>
              </a:buClr>
            </a:pPr>
            <a:r>
              <a:rPr kumimoji="0" lang="en-US" altLang="zh-CN" sz="2000" kern="0" dirty="0" smtClean="0">
                <a:ea typeface="仿宋_GB2312" panose="02010609030101010101" pitchFamily="49" charset="-122"/>
                <a:cs typeface="Times New Roman" panose="02020603050405020304" pitchFamily="18" charset="0"/>
              </a:rPr>
              <a:t>   4</a:t>
            </a:r>
            <a:r>
              <a:rPr kumimoji="0" lang="en-US" altLang="zh-CN" sz="2000" kern="0" dirty="0">
                <a:ea typeface="仿宋_GB2312" panose="02010609030101010101" pitchFamily="49" charset="-122"/>
                <a:cs typeface="Times New Roman" panose="02020603050405020304" pitchFamily="18" charset="0"/>
              </a:rPr>
              <a:t>.</a:t>
            </a:r>
            <a:r>
              <a:rPr kumimoji="0" lang="zh-CN" altLang="en-US" sz="2000" kern="0" dirty="0">
                <a:ea typeface="仿宋_GB2312" panose="02010609030101010101" pitchFamily="49" charset="-122"/>
                <a:cs typeface="Times New Roman" panose="02020603050405020304" pitchFamily="18" charset="0"/>
              </a:rPr>
              <a:t>公文有规范的体式</a:t>
            </a:r>
            <a:endParaRPr kumimoji="0" lang="zh-CN" altLang="en-US" sz="2000" kern="0" dirty="0">
              <a:ea typeface="仿宋_GB2312" panose="02010609030101010101" pitchFamily="49" charset="-122"/>
              <a:cs typeface="Times New Roman" panose="02020603050405020304" pitchFamily="18" charset="0"/>
            </a:endParaRPr>
          </a:p>
          <a:p>
            <a:pPr eaLnBrk="1" hangingPunct="1"/>
            <a:r>
              <a:rPr lang="zh-CN" altLang="en-US" sz="2000" dirty="0" smtClean="0">
                <a:ea typeface="仿宋_GB2312" panose="02010609030101010101" pitchFamily="49" charset="-122"/>
                <a:cs typeface="Times New Roman" panose="02020603050405020304" pitchFamily="18" charset="0"/>
              </a:rPr>
              <a:t>        公文</a:t>
            </a:r>
            <a:r>
              <a:rPr lang="zh-CN" altLang="en-US" sz="2000" dirty="0">
                <a:ea typeface="仿宋_GB2312" panose="02010609030101010101" pitchFamily="49" charset="-122"/>
                <a:cs typeface="Times New Roman" panose="02020603050405020304" pitchFamily="18" charset="0"/>
              </a:rPr>
              <a:t>有规范的文体、语体和比较固定的格式。</a:t>
            </a:r>
            <a:endParaRPr lang="zh-CN" altLang="en-US" sz="2000" dirty="0">
              <a:ea typeface="仿宋_GB2312" panose="02010609030101010101" pitchFamily="49" charset="-122"/>
              <a:cs typeface="Times New Roman" panose="02020603050405020304" pitchFamily="18" charset="0"/>
            </a:endParaRPr>
          </a:p>
        </p:txBody>
      </p:sp>
      <p:pic>
        <p:nvPicPr>
          <p:cNvPr id="9" name="图片 8"/>
          <p:cNvPicPr>
            <a:picLocks noChangeAspect="1"/>
          </p:cNvPicPr>
          <p:nvPr/>
        </p:nvPicPr>
        <p:blipFill>
          <a:blip r:embed="rId3"/>
          <a:stretch>
            <a:fillRect/>
          </a:stretch>
        </p:blipFill>
        <p:spPr>
          <a:xfrm>
            <a:off x="575945" y="297180"/>
            <a:ext cx="1685925" cy="419100"/>
          </a:xfrm>
          <a:prstGeom prst="rect">
            <a:avLst/>
          </a:prstGeom>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right)">
                                      <p:cBhvr>
                                        <p:cTn id="8" dur="500"/>
                                        <p:tgtEl>
                                          <p:spTgt spid="8"/>
                                        </p:tgtEl>
                                      </p:cBhvr>
                                    </p:animEffect>
                                  </p:childTnLst>
                                </p:cTn>
                              </p:par>
                              <p:par>
                                <p:cTn id="9" presetID="12" presetClass="entr" presetSubtype="8" fill="hold" grpId="1"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250"/>
                                        <p:tgtEl>
                                          <p:spTgt spid="14"/>
                                        </p:tgtEl>
                                        <p:attrNameLst>
                                          <p:attrName>ppt_x</p:attrName>
                                        </p:attrNameLst>
                                      </p:cBhvr>
                                      <p:tavLst>
                                        <p:tav tm="0">
                                          <p:val>
                                            <p:strVal val="#ppt_x-#ppt_w*1.125000"/>
                                          </p:val>
                                        </p:tav>
                                        <p:tav tm="100000">
                                          <p:val>
                                            <p:strVal val="#ppt_x"/>
                                          </p:val>
                                        </p:tav>
                                      </p:tavLst>
                                    </p:anim>
                                    <p:animEffect transition="in" filter="wipe(right)">
                                      <p:cBhvr>
                                        <p:cTn id="12" dur="250"/>
                                        <p:tgtEl>
                                          <p:spTgt spid="14"/>
                                        </p:tgtEl>
                                      </p:cBhvr>
                                    </p:animEffect>
                                  </p:childTnLst>
                                </p:cTn>
                              </p:par>
                              <p:par>
                                <p:cTn id="13" presetID="42"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1000"/>
                                        <p:tgtEl>
                                          <p:spTgt spid="13"/>
                                        </p:tgtEl>
                                      </p:cBhvr>
                                    </p:animEffect>
                                    <p:anim calcmode="lin" valueType="num">
                                      <p:cBhvr>
                                        <p:cTn id="16" dur="1000" fill="hold"/>
                                        <p:tgtEl>
                                          <p:spTgt spid="13"/>
                                        </p:tgtEl>
                                        <p:attrNameLst>
                                          <p:attrName>ppt_x</p:attrName>
                                        </p:attrNameLst>
                                      </p:cBhvr>
                                      <p:tavLst>
                                        <p:tav tm="0">
                                          <p:val>
                                            <p:strVal val="#ppt_x"/>
                                          </p:val>
                                        </p:tav>
                                        <p:tav tm="100000">
                                          <p:val>
                                            <p:strVal val="#ppt_x"/>
                                          </p:val>
                                        </p:tav>
                                      </p:tavLst>
                                    </p:anim>
                                    <p:anim calcmode="lin" valueType="num">
                                      <p:cBhvr>
                                        <p:cTn id="17"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1872152" y="1756528"/>
            <a:ext cx="5410663" cy="500137"/>
          </a:xfrm>
          <a:prstGeom prst="rect">
            <a:avLst/>
          </a:prstGeom>
          <a:noFill/>
        </p:spPr>
        <p:txBody>
          <a:bodyPr wrap="square" lIns="68580" tIns="34290" rIns="68580" bIns="34290" rtlCol="0">
            <a:spAutoFit/>
          </a:bodyPr>
          <a:lstStyle/>
          <a:p>
            <a:pPr algn="ctr"/>
            <a:r>
              <a:rPr lang="zh-CN" altLang="en-US" sz="2800" b="1" dirty="0" smtClean="0">
                <a:solidFill>
                  <a:srgbClr val="C09D3C"/>
                </a:solidFill>
                <a:latin typeface="微软雅黑" panose="020B0503020204020204" charset="-122"/>
                <a:ea typeface="微软雅黑" panose="020B0503020204020204" charset="-122"/>
                <a:sym typeface="+mn-ea"/>
              </a:rPr>
              <a:t>公文的基本格式与处理流程</a:t>
            </a:r>
            <a:endParaRPr lang="zh-CN" altLang="en-US" sz="2800" b="1" dirty="0">
              <a:solidFill>
                <a:schemeClr val="tx1">
                  <a:lumMod val="75000"/>
                  <a:lumOff val="25000"/>
                </a:schemeClr>
              </a:solidFill>
              <a:latin typeface="微软雅黑" panose="020B0503020204020204" charset="-122"/>
              <a:ea typeface="微软雅黑" panose="020B0503020204020204" charset="-122"/>
              <a:sym typeface="+mn-ea"/>
            </a:endParaRPr>
          </a:p>
        </p:txBody>
      </p:sp>
      <p:pic>
        <p:nvPicPr>
          <p:cNvPr id="4" name="图片 3" descr="E:\曹飞\2017\2017-8-8地铁PPT\6.png6"/>
          <p:cNvPicPr>
            <a:picLocks noChangeAspect="1"/>
          </p:cNvPicPr>
          <p:nvPr/>
        </p:nvPicPr>
        <p:blipFill>
          <a:blip r:embed="rId1" cstate="email"/>
          <a:srcRect/>
          <a:stretch>
            <a:fillRect/>
          </a:stretch>
        </p:blipFill>
        <p:spPr>
          <a:xfrm>
            <a:off x="2261712" y="239317"/>
            <a:ext cx="6463189" cy="343376"/>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pic>
        <p:nvPicPr>
          <p:cNvPr id="13" name="图片 12" descr="E:\曹飞\2017\2017-8-8地铁PPT\7.png7"/>
          <p:cNvPicPr>
            <a:picLocks noChangeAspect="1"/>
          </p:cNvPicPr>
          <p:nvPr/>
        </p:nvPicPr>
        <p:blipFill>
          <a:blip r:embed="rId2" cstate="email"/>
          <a:srcRect/>
          <a:stretch>
            <a:fillRect/>
          </a:stretch>
        </p:blipFill>
        <p:spPr>
          <a:xfrm>
            <a:off x="-6667" y="4477465"/>
            <a:ext cx="9168289" cy="668179"/>
          </a:xfrm>
          <a:prstGeom prst="rect">
            <a:avLst/>
          </a:prstGeom>
        </p:spPr>
      </p:pic>
      <p:sp>
        <p:nvSpPr>
          <p:cNvPr id="5" name="矩形 4"/>
          <p:cNvSpPr/>
          <p:nvPr/>
        </p:nvSpPr>
        <p:spPr>
          <a:xfrm>
            <a:off x="1084421" y="1292647"/>
            <a:ext cx="6975158" cy="1135087"/>
          </a:xfrm>
          <a:prstGeom prst="rect">
            <a:avLst/>
          </a:prstGeom>
          <a:noFill/>
          <a:ln w="50800" cmpd="thickThin">
            <a:solidFill>
              <a:srgbClr val="C09D3C"/>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6" name="矩形 5"/>
          <p:cNvSpPr/>
          <p:nvPr/>
        </p:nvSpPr>
        <p:spPr>
          <a:xfrm rot="2700000">
            <a:off x="4243864" y="964034"/>
            <a:ext cx="656273" cy="656273"/>
          </a:xfrm>
          <a:prstGeom prst="rect">
            <a:avLst/>
          </a:prstGeom>
          <a:solidFill>
            <a:srgbClr val="C09D3C"/>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7" name="文本框 6"/>
          <p:cNvSpPr txBox="1"/>
          <p:nvPr/>
        </p:nvSpPr>
        <p:spPr>
          <a:xfrm>
            <a:off x="4322445" y="940222"/>
            <a:ext cx="510064" cy="622459"/>
          </a:xfrm>
          <a:prstGeom prst="rect">
            <a:avLst/>
          </a:prstGeom>
          <a:noFill/>
        </p:spPr>
        <p:txBody>
          <a:bodyPr wrap="square" lIns="68580" tIns="34290" rIns="68580" bIns="34290" rtlCol="0">
            <a:spAutoFit/>
          </a:bodyPr>
          <a:lstStyle/>
          <a:p>
            <a:pPr algn="ctr">
              <a:lnSpc>
                <a:spcPct val="150000"/>
              </a:lnSpc>
            </a:pPr>
            <a:r>
              <a:rPr lang="zh-CN" altLang="en-US" sz="2400" b="1" dirty="0">
                <a:solidFill>
                  <a:schemeClr val="bg1"/>
                </a:solidFill>
                <a:latin typeface="微软雅黑" panose="020B0503020204020204" charset="-122"/>
                <a:ea typeface="微软雅黑" panose="020B0503020204020204" charset="-122"/>
                <a:sym typeface="+mn-ea"/>
              </a:rPr>
              <a:t>一</a:t>
            </a:r>
            <a:endParaRPr lang="zh-CN" altLang="en-US" sz="2400" b="1" dirty="0">
              <a:solidFill>
                <a:schemeClr val="bg1"/>
              </a:solidFill>
              <a:latin typeface="微软雅黑" panose="020B0503020204020204" charset="-122"/>
              <a:ea typeface="微软雅黑" panose="020B0503020204020204" charset="-122"/>
              <a:sym typeface="+mn-ea"/>
            </a:endParaRPr>
          </a:p>
        </p:txBody>
      </p:sp>
      <p:sp>
        <p:nvSpPr>
          <p:cNvPr id="12" name="TextBox 24"/>
          <p:cNvSpPr txBox="1"/>
          <p:nvPr/>
        </p:nvSpPr>
        <p:spPr>
          <a:xfrm>
            <a:off x="3148727" y="3013620"/>
            <a:ext cx="2846546" cy="421262"/>
          </a:xfrm>
          <a:prstGeom prst="rect">
            <a:avLst/>
          </a:prstGeom>
          <a:noFill/>
        </p:spPr>
        <p:txBody>
          <a:bodyPr wrap="square" lIns="51428" tIns="25714" rIns="51428" bIns="25714" rtlCol="0">
            <a:spAutoFit/>
          </a:bodyPr>
          <a:lstStyle/>
          <a:p>
            <a:pPr algn="ctr"/>
            <a:r>
              <a:rPr lang="en-US" altLang="zh-CN" sz="2400" b="1" dirty="0" smtClean="0">
                <a:solidFill>
                  <a:srgbClr val="C09D3C"/>
                </a:solidFill>
                <a:latin typeface="微软雅黑" panose="020B0503020204020204" charset="-122"/>
                <a:ea typeface="微软雅黑" panose="020B0503020204020204" charset="-122"/>
                <a:sym typeface="+mn-ea"/>
              </a:rPr>
              <a:t>1.</a:t>
            </a:r>
            <a:r>
              <a:rPr lang="zh-CN" altLang="en-US" sz="2400" b="1" dirty="0" smtClean="0">
                <a:solidFill>
                  <a:srgbClr val="C09D3C"/>
                </a:solidFill>
                <a:latin typeface="微软雅黑" panose="020B0503020204020204" charset="-122"/>
                <a:ea typeface="微软雅黑" panose="020B0503020204020204" charset="-122"/>
                <a:sym typeface="+mn-ea"/>
              </a:rPr>
              <a:t>公文的基本格式</a:t>
            </a:r>
            <a:endParaRPr lang="zh-CN" altLang="en-US" sz="2400" b="1" dirty="0">
              <a:solidFill>
                <a:schemeClr val="tx1">
                  <a:lumMod val="75000"/>
                  <a:lumOff val="25000"/>
                </a:schemeClr>
              </a:solidFill>
              <a:latin typeface="微软雅黑" panose="020B0503020204020204" charset="-122"/>
              <a:ea typeface="微软雅黑" panose="020B0503020204020204" charset="-122"/>
              <a:sym typeface="+mn-ea"/>
            </a:endParaRPr>
          </a:p>
        </p:txBody>
      </p:sp>
      <p:sp>
        <p:nvSpPr>
          <p:cNvPr id="17" name="TextBox 24"/>
          <p:cNvSpPr txBox="1"/>
          <p:nvPr/>
        </p:nvSpPr>
        <p:spPr>
          <a:xfrm>
            <a:off x="3148727" y="3699774"/>
            <a:ext cx="2846546" cy="421262"/>
          </a:xfrm>
          <a:prstGeom prst="rect">
            <a:avLst/>
          </a:prstGeom>
          <a:noFill/>
        </p:spPr>
        <p:txBody>
          <a:bodyPr wrap="square" lIns="51428" tIns="25714" rIns="51428" bIns="25714" rtlCol="0">
            <a:spAutoFit/>
          </a:bodyPr>
          <a:lstStyle/>
          <a:p>
            <a:pPr algn="ctr"/>
            <a:r>
              <a:rPr lang="en-US" altLang="zh-CN" sz="2400" b="1" dirty="0" smtClean="0">
                <a:solidFill>
                  <a:srgbClr val="C09D3C"/>
                </a:solidFill>
                <a:latin typeface="微软雅黑" panose="020B0503020204020204" charset="-122"/>
                <a:ea typeface="微软雅黑" panose="020B0503020204020204" charset="-122"/>
                <a:sym typeface="+mn-ea"/>
              </a:rPr>
              <a:t>2.</a:t>
            </a:r>
            <a:r>
              <a:rPr lang="zh-CN" altLang="en-US" sz="2400" b="1" dirty="0" smtClean="0">
                <a:solidFill>
                  <a:srgbClr val="C09D3C"/>
                </a:solidFill>
                <a:latin typeface="微软雅黑" panose="020B0503020204020204" charset="-122"/>
                <a:ea typeface="微软雅黑" panose="020B0503020204020204" charset="-122"/>
                <a:sym typeface="+mn-ea"/>
              </a:rPr>
              <a:t>公文的</a:t>
            </a:r>
            <a:r>
              <a:rPr lang="zh-CN" altLang="en-US" sz="2400" b="1" dirty="0">
                <a:solidFill>
                  <a:srgbClr val="C09D3C"/>
                </a:solidFill>
                <a:latin typeface="微软雅黑" panose="020B0503020204020204" charset="-122"/>
                <a:ea typeface="微软雅黑" panose="020B0503020204020204" charset="-122"/>
                <a:sym typeface="+mn-ea"/>
              </a:rPr>
              <a:t>处理流程</a:t>
            </a:r>
            <a:endParaRPr lang="zh-CN" altLang="en-US" sz="2400" b="1" dirty="0">
              <a:solidFill>
                <a:schemeClr val="tx1">
                  <a:lumMod val="75000"/>
                  <a:lumOff val="25000"/>
                </a:schemeClr>
              </a:solidFill>
              <a:latin typeface="微软雅黑" panose="020B0503020204020204" charset="-122"/>
              <a:ea typeface="微软雅黑" panose="020B0503020204020204" charset="-122"/>
              <a:sym typeface="+mn-ea"/>
            </a:endParaRPr>
          </a:p>
        </p:txBody>
      </p:sp>
      <p:pic>
        <p:nvPicPr>
          <p:cNvPr id="9" name="图片 8"/>
          <p:cNvPicPr>
            <a:picLocks noChangeAspect="1"/>
          </p:cNvPicPr>
          <p:nvPr/>
        </p:nvPicPr>
        <p:blipFill>
          <a:blip r:embed="rId3"/>
          <a:stretch>
            <a:fillRect/>
          </a:stretch>
        </p:blipFill>
        <p:spPr>
          <a:xfrm>
            <a:off x="575945" y="297180"/>
            <a:ext cx="1685925" cy="4191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prism dir="u"/>
      </p:transition>
    </mc:Choice>
    <mc:Fallback>
      <p:transition>
        <p:fade/>
      </p:transition>
    </mc:Fallback>
  </mc:AlternateContent>
  <p:timing>
    <p:tnLst>
      <p:par>
        <p:cTn id="1" dur="indefinite" restart="never" nodeType="tmRoot"/>
      </p:par>
    </p:tnLst>
    <p:bldLst>
      <p:bldP spid="1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C:\Users\TCSJ\Desktop\地铁PPT\bg2.pngbg2"/>
          <p:cNvPicPr>
            <a:picLocks noChangeAspect="1"/>
          </p:cNvPicPr>
          <p:nvPr/>
        </p:nvPicPr>
        <p:blipFill>
          <a:blip r:embed="rId1"/>
          <a:srcRect/>
          <a:stretch>
            <a:fillRect/>
          </a:stretch>
        </p:blipFill>
        <p:spPr>
          <a:xfrm>
            <a:off x="-7144" y="30949"/>
            <a:ext cx="9158288" cy="5152073"/>
          </a:xfrm>
          <a:prstGeom prst="rect">
            <a:avLst/>
          </a:prstGeom>
        </p:spPr>
      </p:pic>
      <p:pic>
        <p:nvPicPr>
          <p:cNvPr id="3" name="图片 2" descr="E:\曹飞\2017\2017-8-8地铁PPT\5.png5"/>
          <p:cNvPicPr>
            <a:picLocks noChangeAspect="1"/>
          </p:cNvPicPr>
          <p:nvPr/>
        </p:nvPicPr>
        <p:blipFill>
          <a:blip r:embed="rId2" cstate="email"/>
          <a:srcRect/>
          <a:stretch>
            <a:fillRect/>
          </a:stretch>
        </p:blipFill>
        <p:spPr>
          <a:xfrm>
            <a:off x="-2210752" y="-2100739"/>
            <a:ext cx="7341394" cy="8766810"/>
          </a:xfrm>
          <a:prstGeom prst="rect">
            <a:avLst/>
          </a:prstGeom>
        </p:spPr>
      </p:pic>
      <p:pic>
        <p:nvPicPr>
          <p:cNvPr id="10" name="图片 9" descr="E:\曹飞\2017\2017-8-8地铁PPT\3.png3"/>
          <p:cNvPicPr>
            <a:picLocks noChangeAspect="1"/>
          </p:cNvPicPr>
          <p:nvPr/>
        </p:nvPicPr>
        <p:blipFill>
          <a:blip r:embed="rId3" cstate="email"/>
          <a:srcRect/>
          <a:stretch>
            <a:fillRect/>
          </a:stretch>
        </p:blipFill>
        <p:spPr>
          <a:xfrm>
            <a:off x="653415" y="4402218"/>
            <a:ext cx="8497729" cy="382429"/>
          </a:xfrm>
          <a:prstGeom prst="rect">
            <a:avLst/>
          </a:prstGeom>
        </p:spPr>
      </p:pic>
      <p:sp>
        <p:nvSpPr>
          <p:cNvPr id="9" name="Freeform 5"/>
          <p:cNvSpPr/>
          <p:nvPr/>
        </p:nvSpPr>
        <p:spPr bwMode="auto">
          <a:xfrm>
            <a:off x="4808220" y="2646521"/>
            <a:ext cx="1236345" cy="1493520"/>
          </a:xfrm>
          <a:custGeom>
            <a:avLst/>
            <a:gdLst>
              <a:gd name="T0" fmla="*/ 1625 w 1625"/>
              <a:gd name="T1" fmla="*/ 1477 h 1623"/>
              <a:gd name="T2" fmla="*/ 1625 w 1625"/>
              <a:gd name="T3" fmla="*/ 1623 h 1623"/>
              <a:gd name="T4" fmla="*/ 0 w 1625"/>
              <a:gd name="T5" fmla="*/ 1623 h 1623"/>
              <a:gd name="T6" fmla="*/ 0 w 1625"/>
              <a:gd name="T7" fmla="*/ 0 h 1623"/>
              <a:gd name="T8" fmla="*/ 1625 w 1625"/>
              <a:gd name="T9" fmla="*/ 0 h 1623"/>
              <a:gd name="T10" fmla="*/ 1625 w 1625"/>
              <a:gd name="T11" fmla="*/ 608 h 1623"/>
            </a:gdLst>
            <a:ahLst/>
            <a:cxnLst>
              <a:cxn ang="0">
                <a:pos x="T0" y="T1"/>
              </a:cxn>
              <a:cxn ang="0">
                <a:pos x="T2" y="T3"/>
              </a:cxn>
              <a:cxn ang="0">
                <a:pos x="T4" y="T5"/>
              </a:cxn>
              <a:cxn ang="0">
                <a:pos x="T6" y="T7"/>
              </a:cxn>
              <a:cxn ang="0">
                <a:pos x="T8" y="T9"/>
              </a:cxn>
              <a:cxn ang="0">
                <a:pos x="T10" y="T11"/>
              </a:cxn>
            </a:cxnLst>
            <a:rect l="0" t="0" r="r" b="b"/>
            <a:pathLst>
              <a:path w="1625" h="1623">
                <a:moveTo>
                  <a:pt x="1625" y="1477"/>
                </a:moveTo>
                <a:lnTo>
                  <a:pt x="1625" y="1623"/>
                </a:lnTo>
                <a:lnTo>
                  <a:pt x="0" y="1623"/>
                </a:lnTo>
                <a:lnTo>
                  <a:pt x="0" y="0"/>
                </a:lnTo>
                <a:lnTo>
                  <a:pt x="1625" y="0"/>
                </a:lnTo>
                <a:lnTo>
                  <a:pt x="1625" y="608"/>
                </a:lnTo>
              </a:path>
            </a:pathLst>
          </a:custGeom>
          <a:noFill/>
          <a:ln w="76200" cap="flat">
            <a:solidFill>
              <a:srgbClr val="C09D3C"/>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lstStyle/>
          <a:p>
            <a:endParaRPr lang="zh-CN" altLang="en-US">
              <a:solidFill>
                <a:prstClr val="black"/>
              </a:solidFill>
              <a:latin typeface="Arial" panose="020B0604020202020204"/>
              <a:ea typeface="微软雅黑" panose="020B0503020204020204" charset="-122"/>
              <a:sym typeface="Arial" panose="020B0604020202020204"/>
            </a:endParaRPr>
          </a:p>
        </p:txBody>
      </p:sp>
      <p:sp>
        <p:nvSpPr>
          <p:cNvPr id="7" name="TextBox 24"/>
          <p:cNvSpPr txBox="1"/>
          <p:nvPr/>
        </p:nvSpPr>
        <p:spPr>
          <a:xfrm>
            <a:off x="5938362" y="3442653"/>
            <a:ext cx="2846546" cy="421262"/>
          </a:xfrm>
          <a:prstGeom prst="rect">
            <a:avLst/>
          </a:prstGeom>
          <a:noFill/>
        </p:spPr>
        <p:txBody>
          <a:bodyPr wrap="square" lIns="51428" tIns="25714" rIns="51428" bIns="25714" rtlCol="0">
            <a:spAutoFit/>
          </a:bodyPr>
          <a:lstStyle/>
          <a:p>
            <a:pPr algn="ctr"/>
            <a:r>
              <a:rPr lang="zh-CN" altLang="en-US" sz="2400" b="1" dirty="0" smtClean="0">
                <a:solidFill>
                  <a:srgbClr val="C09D3C"/>
                </a:solidFill>
                <a:latin typeface="微软雅黑" panose="020B0503020204020204" charset="-122"/>
                <a:ea typeface="微软雅黑" panose="020B0503020204020204" charset="-122"/>
                <a:sym typeface="+mn-ea"/>
              </a:rPr>
              <a:t>公文的基本格式</a:t>
            </a:r>
            <a:endParaRPr lang="zh-CN" altLang="en-US" sz="2400" b="1" dirty="0">
              <a:solidFill>
                <a:schemeClr val="tx1">
                  <a:lumMod val="75000"/>
                  <a:lumOff val="25000"/>
                </a:schemeClr>
              </a:solidFill>
              <a:latin typeface="微软雅黑" panose="020B0503020204020204" charset="-122"/>
              <a:ea typeface="微软雅黑" panose="020B0503020204020204" charset="-122"/>
              <a:sym typeface="+mn-ea"/>
            </a:endParaRPr>
          </a:p>
        </p:txBody>
      </p:sp>
      <p:cxnSp>
        <p:nvCxnSpPr>
          <p:cNvPr id="11" name="直接连接符 10"/>
          <p:cNvCxnSpPr/>
          <p:nvPr/>
        </p:nvCxnSpPr>
        <p:spPr>
          <a:xfrm>
            <a:off x="6000274" y="3896678"/>
            <a:ext cx="2676182" cy="0"/>
          </a:xfrm>
          <a:prstGeom prst="line">
            <a:avLst/>
          </a:prstGeom>
          <a:ln w="34925">
            <a:solidFill>
              <a:srgbClr val="C09D3C"/>
            </a:solidFill>
          </a:ln>
        </p:spPr>
        <p:style>
          <a:lnRef idx="1">
            <a:srgbClr val="814E67"/>
          </a:lnRef>
          <a:fillRef idx="0">
            <a:srgbClr val="814E67"/>
          </a:fillRef>
          <a:effectRef idx="0">
            <a:srgbClr val="814E67"/>
          </a:effectRef>
          <a:fontRef idx="minor">
            <a:srgbClr val="000000"/>
          </a:fontRef>
        </p:style>
      </p:cxnSp>
      <p:sp>
        <p:nvSpPr>
          <p:cNvPr id="14" name="TextBox 24"/>
          <p:cNvSpPr txBox="1"/>
          <p:nvPr/>
        </p:nvSpPr>
        <p:spPr>
          <a:xfrm>
            <a:off x="4932522" y="3074194"/>
            <a:ext cx="1312069" cy="1065848"/>
          </a:xfrm>
          <a:prstGeom prst="rect">
            <a:avLst/>
          </a:prstGeom>
          <a:noFill/>
        </p:spPr>
        <p:txBody>
          <a:bodyPr wrap="square" lIns="51428" tIns="25714" rIns="51428" bIns="25714" rtlCol="0">
            <a:spAutoFit/>
          </a:bodyPr>
          <a:lstStyle/>
          <a:p>
            <a:r>
              <a:rPr lang="en-US" altLang="zh-CN" sz="6600" dirty="0">
                <a:solidFill>
                  <a:srgbClr val="C09D3C"/>
                </a:solidFill>
                <a:latin typeface="Arial" panose="020B0604020202020204"/>
                <a:ea typeface="微软雅黑" panose="020B0503020204020204" charset="-122"/>
                <a:sym typeface="Arial" panose="020B0604020202020204"/>
              </a:rPr>
              <a:t>01</a:t>
            </a:r>
            <a:endParaRPr lang="en-US" altLang="zh-CN" sz="6600" dirty="0">
              <a:solidFill>
                <a:srgbClr val="C09D3C"/>
              </a:solidFill>
              <a:latin typeface="Arial" panose="020B0604020202020204"/>
              <a:ea typeface="微软雅黑" panose="020B0503020204020204" charset="-122"/>
              <a:sym typeface="Arial" panose="020B0604020202020204"/>
            </a:endParaRPr>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E:\曹飞\2017\2017-8-8地铁PPT\6.png6"/>
          <p:cNvPicPr>
            <a:picLocks noChangeAspect="1"/>
          </p:cNvPicPr>
          <p:nvPr/>
        </p:nvPicPr>
        <p:blipFill>
          <a:blip r:embed="rId1" cstate="email"/>
          <a:srcRect/>
          <a:stretch>
            <a:fillRect/>
          </a:stretch>
        </p:blipFill>
        <p:spPr>
          <a:xfrm>
            <a:off x="2261712" y="239317"/>
            <a:ext cx="6463189" cy="343376"/>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pic>
        <p:nvPicPr>
          <p:cNvPr id="13" name="图片 12" descr="E:\曹飞\2017\2017-8-8地铁PPT\7.png7"/>
          <p:cNvPicPr>
            <a:picLocks noChangeAspect="1"/>
          </p:cNvPicPr>
          <p:nvPr/>
        </p:nvPicPr>
        <p:blipFill>
          <a:blip r:embed="rId2" cstate="email"/>
          <a:srcRect/>
          <a:stretch>
            <a:fillRect/>
          </a:stretch>
        </p:blipFill>
        <p:spPr>
          <a:xfrm>
            <a:off x="-6667" y="4477465"/>
            <a:ext cx="9168289" cy="668179"/>
          </a:xfrm>
          <a:prstGeom prst="rect">
            <a:avLst/>
          </a:prstGeom>
        </p:spPr>
      </p:pic>
      <p:sp>
        <p:nvSpPr>
          <p:cNvPr id="41" name="Text Box 2"/>
          <p:cNvSpPr txBox="1">
            <a:spLocks noChangeArrowheads="1"/>
          </p:cNvSpPr>
          <p:nvPr/>
        </p:nvSpPr>
        <p:spPr bwMode="auto">
          <a:xfrm>
            <a:off x="395536" y="1563638"/>
            <a:ext cx="8280920" cy="160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342900" eaLnBrk="1" hangingPunct="1">
              <a:lnSpc>
                <a:spcPct val="90000"/>
              </a:lnSpc>
              <a:spcBef>
                <a:spcPct val="20000"/>
              </a:spcBef>
              <a:buClr>
                <a:srgbClr val="0066CC"/>
              </a:buClr>
            </a:pPr>
            <a:r>
              <a:rPr lang="zh-CN" altLang="en-US" sz="2000" dirty="0" smtClean="0">
                <a:latin typeface="楷体" panose="02010609060101010101" pitchFamily="49" charset="-122"/>
                <a:ea typeface="楷体" panose="02010609060101010101" pitchFamily="49" charset="-122"/>
                <a:cs typeface="Times New Roman" panose="02020603050405020304" pitchFamily="18" charset="0"/>
              </a:rPr>
              <a:t>   （一）文头格式</a:t>
            </a:r>
            <a:endParaRPr lang="en-US" altLang="zh-CN" sz="2000" dirty="0" smtClean="0">
              <a:latin typeface="楷体" panose="02010609060101010101" pitchFamily="49" charset="-122"/>
              <a:ea typeface="楷体" panose="02010609060101010101" pitchFamily="49" charset="-122"/>
              <a:cs typeface="Times New Roman" panose="02020603050405020304" pitchFamily="18" charset="0"/>
            </a:endParaRPr>
          </a:p>
          <a:p>
            <a:pPr marL="342900" eaLnBrk="1" hangingPunct="1">
              <a:lnSpc>
                <a:spcPct val="90000"/>
              </a:lnSpc>
              <a:spcBef>
                <a:spcPct val="20000"/>
              </a:spcBef>
              <a:buClr>
                <a:srgbClr val="0066CC"/>
              </a:buClr>
            </a:pPr>
            <a:r>
              <a:rPr lang="zh-CN" altLang="en-US" sz="2000" dirty="0" smtClean="0">
                <a:latin typeface="仿宋_GB2312" panose="02010609030101010101" pitchFamily="49" charset="-122"/>
                <a:ea typeface="仿宋_GB2312" panose="02010609030101010101" pitchFamily="49" charset="-122"/>
              </a:rPr>
              <a:t>    文</a:t>
            </a:r>
            <a:r>
              <a:rPr lang="zh-CN" altLang="en-US" sz="2000" dirty="0">
                <a:latin typeface="仿宋_GB2312" panose="02010609030101010101" pitchFamily="49" charset="-122"/>
                <a:ea typeface="仿宋_GB2312" panose="02010609030101010101" pitchFamily="49" charset="-122"/>
              </a:rPr>
              <a:t>头是公文制发者的标志。包括发文机关标识、发文字号、秘密等级、紧急程度、签发人等。下面加一条红色横实线作为标记，形成正式公文的固定文头形式，因此俗称红头文件</a:t>
            </a:r>
            <a:r>
              <a:rPr lang="zh-CN" altLang="en-US" sz="2000" dirty="0" smtClean="0">
                <a:latin typeface="仿宋_GB2312" panose="02010609030101010101" pitchFamily="49" charset="-122"/>
                <a:ea typeface="仿宋_GB2312" panose="02010609030101010101" pitchFamily="49" charset="-122"/>
              </a:rPr>
              <a:t>。</a:t>
            </a:r>
            <a:endParaRPr lang="en-US" altLang="zh-CN" sz="2000" dirty="0" smtClean="0">
              <a:latin typeface="仿宋_GB2312" panose="02010609030101010101" pitchFamily="49" charset="-122"/>
              <a:ea typeface="仿宋_GB2312" panose="02010609030101010101" pitchFamily="49" charset="-122"/>
            </a:endParaRPr>
          </a:p>
          <a:p>
            <a:pPr marL="342900" eaLnBrk="1" hangingPunct="1">
              <a:lnSpc>
                <a:spcPct val="90000"/>
              </a:lnSpc>
              <a:spcBef>
                <a:spcPct val="20000"/>
              </a:spcBef>
              <a:buClr>
                <a:srgbClr val="0066CC"/>
              </a:buClr>
            </a:pPr>
            <a:endParaRPr lang="en-US" altLang="zh-CN" sz="2000" dirty="0" smtClean="0">
              <a:ea typeface="仿宋_GB2312" panose="02010609030101010101" pitchFamily="49" charset="-122"/>
              <a:cs typeface="Times New Roman" panose="02020603050405020304" pitchFamily="18" charset="0"/>
            </a:endParaRPr>
          </a:p>
        </p:txBody>
      </p:sp>
      <p:pic>
        <p:nvPicPr>
          <p:cNvPr id="9" name="图片 8"/>
          <p:cNvPicPr>
            <a:picLocks noChangeAspect="1"/>
          </p:cNvPicPr>
          <p:nvPr/>
        </p:nvPicPr>
        <p:blipFill>
          <a:blip r:embed="rId3"/>
          <a:stretch>
            <a:fillRect/>
          </a:stretch>
        </p:blipFill>
        <p:spPr>
          <a:xfrm>
            <a:off x="575945" y="297180"/>
            <a:ext cx="1685925" cy="419100"/>
          </a:xfrm>
          <a:prstGeom prst="rect">
            <a:avLst/>
          </a:prstGeom>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right)">
                                      <p:cBhvr>
                                        <p:cTn id="8" dur="500"/>
                                        <p:tgtEl>
                                          <p:spTgt spid="8"/>
                                        </p:tgtEl>
                                      </p:cBhvr>
                                    </p:animEffect>
                                  </p:childTnLst>
                                </p:cTn>
                              </p:par>
                              <p:par>
                                <p:cTn id="9" presetID="12" presetClass="entr" presetSubtype="8" fill="hold" grpId="1"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250"/>
                                        <p:tgtEl>
                                          <p:spTgt spid="14"/>
                                        </p:tgtEl>
                                        <p:attrNameLst>
                                          <p:attrName>ppt_x</p:attrName>
                                        </p:attrNameLst>
                                      </p:cBhvr>
                                      <p:tavLst>
                                        <p:tav tm="0">
                                          <p:val>
                                            <p:strVal val="#ppt_x-#ppt_w*1.125000"/>
                                          </p:val>
                                        </p:tav>
                                        <p:tav tm="100000">
                                          <p:val>
                                            <p:strVal val="#ppt_x"/>
                                          </p:val>
                                        </p:tav>
                                      </p:tavLst>
                                    </p:anim>
                                    <p:animEffect transition="in" filter="wipe(right)">
                                      <p:cBhvr>
                                        <p:cTn id="12" dur="250"/>
                                        <p:tgtEl>
                                          <p:spTgt spid="14"/>
                                        </p:tgtEl>
                                      </p:cBhvr>
                                    </p:animEffect>
                                  </p:childTnLst>
                                </p:cTn>
                              </p:par>
                              <p:par>
                                <p:cTn id="13" presetID="42"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1000"/>
                                        <p:tgtEl>
                                          <p:spTgt spid="13"/>
                                        </p:tgtEl>
                                      </p:cBhvr>
                                    </p:animEffect>
                                    <p:anim calcmode="lin" valueType="num">
                                      <p:cBhvr>
                                        <p:cTn id="16" dur="1000" fill="hold"/>
                                        <p:tgtEl>
                                          <p:spTgt spid="13"/>
                                        </p:tgtEl>
                                        <p:attrNameLst>
                                          <p:attrName>ppt_x</p:attrName>
                                        </p:attrNameLst>
                                      </p:cBhvr>
                                      <p:tavLst>
                                        <p:tav tm="0">
                                          <p:val>
                                            <p:strVal val="#ppt_x"/>
                                          </p:val>
                                        </p:tav>
                                        <p:tav tm="100000">
                                          <p:val>
                                            <p:strVal val="#ppt_x"/>
                                          </p:val>
                                        </p:tav>
                                      </p:tavLst>
                                    </p:anim>
                                    <p:anim calcmode="lin" valueType="num">
                                      <p:cBhvr>
                                        <p:cTn id="17"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E:\曹飞\2017\2017-8-8地铁PPT\6.png6"/>
          <p:cNvPicPr>
            <a:picLocks noChangeAspect="1"/>
          </p:cNvPicPr>
          <p:nvPr/>
        </p:nvPicPr>
        <p:blipFill>
          <a:blip r:embed="rId1" cstate="email"/>
          <a:srcRect/>
          <a:stretch>
            <a:fillRect/>
          </a:stretch>
        </p:blipFill>
        <p:spPr>
          <a:xfrm>
            <a:off x="2261712" y="239317"/>
            <a:ext cx="6463189" cy="343376"/>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pic>
        <p:nvPicPr>
          <p:cNvPr id="13" name="图片 12" descr="E:\曹飞\2017\2017-8-8地铁PPT\7.png7"/>
          <p:cNvPicPr>
            <a:picLocks noChangeAspect="1"/>
          </p:cNvPicPr>
          <p:nvPr/>
        </p:nvPicPr>
        <p:blipFill>
          <a:blip r:embed="rId2" cstate="email"/>
          <a:srcRect/>
          <a:stretch>
            <a:fillRect/>
          </a:stretch>
        </p:blipFill>
        <p:spPr>
          <a:xfrm>
            <a:off x="-6667" y="4477465"/>
            <a:ext cx="9168289" cy="668179"/>
          </a:xfrm>
          <a:prstGeom prst="rect">
            <a:avLst/>
          </a:prstGeom>
        </p:spPr>
      </p:pic>
      <p:sp>
        <p:nvSpPr>
          <p:cNvPr id="41" name="Text Box 2"/>
          <p:cNvSpPr txBox="1">
            <a:spLocks noChangeArrowheads="1"/>
          </p:cNvSpPr>
          <p:nvPr/>
        </p:nvSpPr>
        <p:spPr bwMode="auto">
          <a:xfrm>
            <a:off x="515294" y="771550"/>
            <a:ext cx="8088906" cy="5139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342900" eaLnBrk="1" hangingPunct="1">
              <a:lnSpc>
                <a:spcPct val="90000"/>
              </a:lnSpc>
              <a:spcBef>
                <a:spcPct val="20000"/>
              </a:spcBef>
              <a:buClr>
                <a:srgbClr val="0066CC"/>
              </a:buClr>
            </a:pPr>
            <a:r>
              <a:rPr lang="zh-CN" altLang="en-US" sz="2000" dirty="0" smtClean="0">
                <a:latin typeface="楷体_GB2312" panose="02010609030101010101" pitchFamily="49" charset="-122"/>
                <a:ea typeface="楷体_GB2312" panose="02010609030101010101" pitchFamily="49" charset="-122"/>
                <a:cs typeface="Times New Roman" panose="02020603050405020304" pitchFamily="18" charset="0"/>
              </a:rPr>
              <a:t>（二）正文格式</a:t>
            </a:r>
            <a:endParaRPr lang="en-US" altLang="zh-CN" sz="2000" dirty="0" smtClean="0">
              <a:latin typeface="楷体_GB2312" panose="02010609030101010101" pitchFamily="49" charset="-122"/>
              <a:ea typeface="楷体_GB2312" panose="02010609030101010101" pitchFamily="49" charset="-122"/>
              <a:cs typeface="Times New Roman" panose="02020603050405020304" pitchFamily="18" charset="0"/>
            </a:endParaRPr>
          </a:p>
          <a:p>
            <a:pPr eaLnBrk="1" hangingPunct="1"/>
            <a:r>
              <a:rPr kumimoji="0" lang="en-US" altLang="zh-CN" sz="2000" dirty="0" smtClean="0">
                <a:ea typeface="仿宋_GB2312" panose="02010609030101010101" pitchFamily="49" charset="-122"/>
                <a:cs typeface="Times New Roman" panose="02020603050405020304" pitchFamily="18" charset="0"/>
              </a:rPr>
              <a:t>        1</a:t>
            </a:r>
            <a:r>
              <a:rPr kumimoji="0" lang="en-US" altLang="zh-CN" sz="2000" dirty="0">
                <a:ea typeface="仿宋_GB2312" panose="02010609030101010101" pitchFamily="49" charset="-122"/>
                <a:cs typeface="Times New Roman" panose="02020603050405020304" pitchFamily="18" charset="0"/>
              </a:rPr>
              <a:t>.</a:t>
            </a:r>
            <a:r>
              <a:rPr kumimoji="0" lang="zh-CN" altLang="en-US" sz="2000" dirty="0">
                <a:ea typeface="仿宋_GB2312" panose="02010609030101010101" pitchFamily="49" charset="-122"/>
                <a:cs typeface="Times New Roman" panose="02020603050405020304" pitchFamily="18" charset="0"/>
              </a:rPr>
              <a:t>标题：就是公文名称，一般由</a:t>
            </a:r>
            <a:r>
              <a:rPr kumimoji="0" lang="zh-CN" altLang="en-US" sz="2000" dirty="0">
                <a:solidFill>
                  <a:srgbClr val="A50021"/>
                </a:solidFill>
                <a:ea typeface="仿宋_GB2312" panose="02010609030101010101" pitchFamily="49" charset="-122"/>
                <a:cs typeface="Times New Roman" panose="02020603050405020304" pitchFamily="18" charset="0"/>
              </a:rPr>
              <a:t>发文机关名称、事由、文种</a:t>
            </a:r>
            <a:r>
              <a:rPr kumimoji="0" lang="zh-CN" altLang="en-US" sz="2000" dirty="0">
                <a:ea typeface="仿宋_GB2312" panose="02010609030101010101" pitchFamily="49" charset="-122"/>
                <a:cs typeface="Times New Roman" panose="02020603050405020304" pitchFamily="18" charset="0"/>
              </a:rPr>
              <a:t>三要素组成，</a:t>
            </a:r>
            <a:r>
              <a:rPr kumimoji="0" lang="zh-CN" altLang="en-US" sz="2000" dirty="0">
                <a:solidFill>
                  <a:srgbClr val="000000"/>
                </a:solidFill>
                <a:ea typeface="仿宋_GB2312" panose="02010609030101010101" pitchFamily="49" charset="-122"/>
                <a:cs typeface="Times New Roman" panose="02020603050405020304" pitchFamily="18" charset="0"/>
              </a:rPr>
              <a:t>用</a:t>
            </a:r>
            <a:r>
              <a:rPr kumimoji="0" lang="zh-CN" altLang="en-US" sz="2000" dirty="0">
                <a:solidFill>
                  <a:srgbClr val="A50021"/>
                </a:solidFill>
                <a:ea typeface="仿宋_GB2312" panose="02010609030101010101" pitchFamily="49" charset="-122"/>
                <a:cs typeface="Times New Roman" panose="02020603050405020304" pitchFamily="18" charset="0"/>
              </a:rPr>
              <a:t>二号方正小标宋简体</a:t>
            </a:r>
            <a:r>
              <a:rPr kumimoji="0" lang="zh-CN" altLang="en-US" sz="2000" dirty="0">
                <a:ea typeface="仿宋_GB2312" panose="02010609030101010101" pitchFamily="49" charset="-122"/>
                <a:cs typeface="Times New Roman" panose="02020603050405020304" pitchFamily="18" charset="0"/>
              </a:rPr>
              <a:t>。公文标题除法规、规章名称加书名号外，一般不加标点。</a:t>
            </a:r>
            <a:endParaRPr kumimoji="0" lang="zh-CN" altLang="en-US" sz="2000" dirty="0">
              <a:ea typeface="仿宋_GB2312" panose="02010609030101010101" pitchFamily="49" charset="-122"/>
              <a:cs typeface="Times New Roman" panose="02020603050405020304" pitchFamily="18" charset="0"/>
            </a:endParaRPr>
          </a:p>
          <a:p>
            <a:pPr eaLnBrk="1" hangingPunct="1"/>
            <a:r>
              <a:rPr kumimoji="0" lang="en-US" altLang="zh-CN" sz="2000" dirty="0" smtClean="0">
                <a:ea typeface="仿宋_GB2312" panose="02010609030101010101" pitchFamily="49" charset="-122"/>
                <a:cs typeface="Times New Roman" panose="02020603050405020304" pitchFamily="18" charset="0"/>
              </a:rPr>
              <a:t>        2</a:t>
            </a:r>
            <a:r>
              <a:rPr kumimoji="0" lang="en-US" altLang="zh-CN" sz="2000" dirty="0">
                <a:ea typeface="仿宋_GB2312" panose="02010609030101010101" pitchFamily="49" charset="-122"/>
                <a:cs typeface="Times New Roman" panose="02020603050405020304" pitchFamily="18" charset="0"/>
              </a:rPr>
              <a:t>.</a:t>
            </a:r>
            <a:r>
              <a:rPr kumimoji="0" lang="zh-CN" altLang="en-US" sz="2000" dirty="0">
                <a:ea typeface="仿宋_GB2312" panose="02010609030101010101" pitchFamily="49" charset="-122"/>
                <a:cs typeface="Times New Roman" panose="02020603050405020304" pitchFamily="18" charset="0"/>
              </a:rPr>
              <a:t>主送机关：是指公文的受理机关，顶格写在标题之下，字体与</a:t>
            </a:r>
            <a:r>
              <a:rPr kumimoji="0" lang="zh-CN" altLang="en-US" sz="2000" dirty="0" smtClean="0">
                <a:ea typeface="仿宋_GB2312" panose="02010609030101010101" pitchFamily="49" charset="-122"/>
                <a:cs typeface="Times New Roman" panose="02020603050405020304" pitchFamily="18" charset="0"/>
              </a:rPr>
              <a:t>正文相同</a:t>
            </a:r>
            <a:r>
              <a:rPr kumimoji="0" lang="zh-CN" altLang="en-US" sz="2000" dirty="0">
                <a:ea typeface="仿宋_GB2312" panose="02010609030101010101" pitchFamily="49" charset="-122"/>
                <a:cs typeface="Times New Roman" panose="02020603050405020304" pitchFamily="18" charset="0"/>
              </a:rPr>
              <a:t>。</a:t>
            </a:r>
            <a:endParaRPr kumimoji="0" lang="en-US" altLang="zh-CN" sz="2000" dirty="0">
              <a:ea typeface="仿宋_GB2312" panose="02010609030101010101" pitchFamily="49" charset="-122"/>
              <a:cs typeface="Times New Roman" panose="02020603050405020304" pitchFamily="18" charset="0"/>
            </a:endParaRPr>
          </a:p>
          <a:p>
            <a:pPr eaLnBrk="1" hangingPunct="1"/>
            <a:r>
              <a:rPr kumimoji="0" lang="en-US" altLang="zh-CN" sz="2000" dirty="0" smtClean="0">
                <a:solidFill>
                  <a:srgbClr val="000000"/>
                </a:solidFill>
                <a:ea typeface="仿宋_GB2312" panose="02010609030101010101" pitchFamily="49" charset="-122"/>
                <a:cs typeface="Times New Roman" panose="02020603050405020304" pitchFamily="18" charset="0"/>
              </a:rPr>
              <a:t>        3</a:t>
            </a:r>
            <a:r>
              <a:rPr kumimoji="0" lang="en-US" altLang="zh-CN" sz="2000" dirty="0">
                <a:solidFill>
                  <a:srgbClr val="000000"/>
                </a:solidFill>
                <a:ea typeface="仿宋_GB2312" panose="02010609030101010101" pitchFamily="49" charset="-122"/>
                <a:cs typeface="Times New Roman" panose="02020603050405020304" pitchFamily="18" charset="0"/>
              </a:rPr>
              <a:t>.</a:t>
            </a:r>
            <a:r>
              <a:rPr kumimoji="0" lang="zh-CN" altLang="en-US" sz="2000" dirty="0">
                <a:solidFill>
                  <a:srgbClr val="000000"/>
                </a:solidFill>
                <a:ea typeface="仿宋_GB2312" panose="02010609030101010101" pitchFamily="49" charset="-122"/>
                <a:cs typeface="Times New Roman" panose="02020603050405020304" pitchFamily="18" charset="0"/>
              </a:rPr>
              <a:t>正文：一般由开头、主体、结尾组成 。</a:t>
            </a:r>
            <a:r>
              <a:rPr kumimoji="0" lang="zh-CN" altLang="zh-CN" sz="2000" dirty="0">
                <a:solidFill>
                  <a:srgbClr val="000000"/>
                </a:solidFill>
                <a:ea typeface="仿宋_GB2312" panose="02010609030101010101" pitchFamily="49" charset="-122"/>
                <a:cs typeface="Times New Roman" panose="02020603050405020304" pitchFamily="18" charset="0"/>
              </a:rPr>
              <a:t>每自然段左空</a:t>
            </a:r>
            <a:r>
              <a:rPr kumimoji="0" lang="en-US" altLang="zh-CN" sz="2000" dirty="0">
                <a:solidFill>
                  <a:srgbClr val="000000"/>
                </a:solidFill>
                <a:ea typeface="仿宋_GB2312" panose="02010609030101010101" pitchFamily="49" charset="-122"/>
                <a:cs typeface="Times New Roman" panose="02020603050405020304" pitchFamily="18" charset="0"/>
              </a:rPr>
              <a:t>2</a:t>
            </a:r>
            <a:r>
              <a:rPr kumimoji="0" lang="zh-CN" altLang="zh-CN" sz="2000" dirty="0">
                <a:solidFill>
                  <a:srgbClr val="000000"/>
                </a:solidFill>
                <a:ea typeface="仿宋_GB2312" panose="02010609030101010101" pitchFamily="49" charset="-122"/>
                <a:cs typeface="Times New Roman" panose="02020603050405020304" pitchFamily="18" charset="0"/>
              </a:rPr>
              <a:t>字，回行顶格；一般单字不能成行，数字、年份不能回行</a:t>
            </a:r>
            <a:r>
              <a:rPr kumimoji="0" lang="zh-CN" altLang="zh-CN" sz="2000" dirty="0" smtClean="0">
                <a:solidFill>
                  <a:srgbClr val="000000"/>
                </a:solidFill>
                <a:ea typeface="仿宋_GB2312" panose="02010609030101010101" pitchFamily="49" charset="-122"/>
                <a:cs typeface="Times New Roman" panose="02020603050405020304" pitchFamily="18" charset="0"/>
              </a:rPr>
              <a:t>。</a:t>
            </a:r>
            <a:endParaRPr kumimoji="0" lang="en-US" altLang="zh-CN" sz="2000" dirty="0" smtClean="0">
              <a:solidFill>
                <a:srgbClr val="000000"/>
              </a:solidFill>
              <a:ea typeface="仿宋_GB2312" panose="02010609030101010101" pitchFamily="49" charset="-122"/>
              <a:cs typeface="Times New Roman" panose="02020603050405020304" pitchFamily="18" charset="0"/>
            </a:endParaRPr>
          </a:p>
          <a:p>
            <a:pPr eaLnBrk="1" hangingPunct="1">
              <a:buClr>
                <a:schemeClr val="bg1"/>
              </a:buClr>
              <a:buFontTx/>
              <a:buNone/>
            </a:pPr>
            <a:r>
              <a:rPr lang="en-US" altLang="zh-CN" sz="2000" dirty="0" smtClean="0">
                <a:ea typeface="仿宋_GB2312" panose="02010609030101010101" pitchFamily="49" charset="-122"/>
                <a:cs typeface="Times New Roman" panose="02020603050405020304" pitchFamily="18" charset="0"/>
              </a:rPr>
              <a:t>        4</a:t>
            </a:r>
            <a:r>
              <a:rPr lang="en-US" altLang="zh-CN" sz="2000" dirty="0">
                <a:ea typeface="仿宋_GB2312" panose="02010609030101010101" pitchFamily="49" charset="-122"/>
                <a:cs typeface="Times New Roman" panose="02020603050405020304" pitchFamily="18" charset="0"/>
              </a:rPr>
              <a:t>.</a:t>
            </a:r>
            <a:r>
              <a:rPr lang="zh-CN" altLang="en-US" sz="2000" dirty="0">
                <a:ea typeface="仿宋_GB2312" panose="02010609030101010101" pitchFamily="49" charset="-122"/>
                <a:cs typeface="Times New Roman" panose="02020603050405020304" pitchFamily="18" charset="0"/>
              </a:rPr>
              <a:t>附件：随正文发送的其他材料。位置：正文下空一行。</a:t>
            </a:r>
            <a:endParaRPr lang="zh-CN" altLang="en-US" sz="2000" dirty="0">
              <a:ea typeface="仿宋_GB2312" panose="02010609030101010101" pitchFamily="49" charset="-122"/>
              <a:cs typeface="Times New Roman" panose="02020603050405020304" pitchFamily="18" charset="0"/>
            </a:endParaRPr>
          </a:p>
          <a:p>
            <a:pPr eaLnBrk="1" hangingPunct="1">
              <a:buFont typeface="Wingdings" panose="05000000000000000000" pitchFamily="2" charset="2"/>
              <a:buNone/>
            </a:pPr>
            <a:r>
              <a:rPr lang="en-US" altLang="zh-CN" sz="2000" dirty="0" smtClean="0">
                <a:ea typeface="仿宋_GB2312" panose="02010609030101010101" pitchFamily="49" charset="-122"/>
                <a:cs typeface="Times New Roman" panose="02020603050405020304" pitchFamily="18" charset="0"/>
              </a:rPr>
              <a:t>        5.</a:t>
            </a:r>
            <a:r>
              <a:rPr lang="zh-CN" altLang="en-US" sz="2000" dirty="0">
                <a:ea typeface="仿宋_GB2312" panose="02010609030101010101" pitchFamily="49" charset="-122"/>
                <a:cs typeface="Times New Roman" panose="02020603050405020304" pitchFamily="18" charset="0"/>
              </a:rPr>
              <a:t>成文日期：用汉字将年、月、日标全；位于发文机关名称下一行右侧空四个汉字</a:t>
            </a:r>
            <a:r>
              <a:rPr lang="zh-CN" altLang="en-US" sz="2000" dirty="0" smtClean="0">
                <a:ea typeface="仿宋_GB2312" panose="02010609030101010101" pitchFamily="49" charset="-122"/>
                <a:cs typeface="Times New Roman" panose="02020603050405020304" pitchFamily="18" charset="0"/>
              </a:rPr>
              <a:t>。</a:t>
            </a:r>
            <a:endParaRPr lang="en-US" altLang="zh-CN" sz="2000" dirty="0" smtClean="0">
              <a:ea typeface="仿宋_GB2312" panose="02010609030101010101" pitchFamily="49" charset="-122"/>
              <a:cs typeface="Times New Roman" panose="02020603050405020304" pitchFamily="18" charset="0"/>
            </a:endParaRPr>
          </a:p>
          <a:p>
            <a:pPr eaLnBrk="1" hangingPunct="1"/>
            <a:r>
              <a:rPr kumimoji="0" lang="en-US" altLang="zh-CN" sz="2000" dirty="0" smtClean="0">
                <a:latin typeface="黑体" panose="02010609060101010101" pitchFamily="49" charset="-122"/>
                <a:ea typeface="黑体" panose="02010609060101010101" pitchFamily="49" charset="-122"/>
              </a:rPr>
              <a:t>   </a:t>
            </a:r>
            <a:r>
              <a:rPr lang="en-US" altLang="zh-CN" sz="2000" dirty="0">
                <a:ea typeface="仿宋_GB2312" panose="02010609030101010101" pitchFamily="49" charset="-122"/>
                <a:cs typeface="Times New Roman" panose="02020603050405020304" pitchFamily="18" charset="0"/>
              </a:rPr>
              <a:t> </a:t>
            </a:r>
            <a:r>
              <a:rPr lang="en-US" altLang="zh-CN" sz="2000" dirty="0" smtClean="0">
                <a:ea typeface="仿宋_GB2312" panose="02010609030101010101" pitchFamily="49" charset="-122"/>
                <a:cs typeface="Times New Roman" panose="02020603050405020304" pitchFamily="18" charset="0"/>
              </a:rPr>
              <a:t> 6</a:t>
            </a:r>
            <a:r>
              <a:rPr lang="en-US" altLang="zh-CN" sz="2000" dirty="0">
                <a:ea typeface="仿宋_GB2312" panose="02010609030101010101" pitchFamily="49" charset="-122"/>
                <a:cs typeface="Times New Roman" panose="02020603050405020304" pitchFamily="18" charset="0"/>
              </a:rPr>
              <a:t>.</a:t>
            </a:r>
            <a:r>
              <a:rPr lang="zh-CN" altLang="en-US" sz="2000" dirty="0">
                <a:ea typeface="仿宋_GB2312" panose="02010609030101010101" pitchFamily="49" charset="-122"/>
                <a:cs typeface="Times New Roman" panose="02020603050405020304" pitchFamily="18" charset="0"/>
              </a:rPr>
              <a:t>附注：说明其它项目不便说明的事项，如传达范围、联系人等。在成文日期下一行。</a:t>
            </a:r>
            <a:endParaRPr lang="zh-CN" altLang="en-US" sz="2000" dirty="0">
              <a:ea typeface="仿宋_GB2312" panose="02010609030101010101" pitchFamily="49" charset="-122"/>
              <a:cs typeface="Times New Roman" panose="02020603050405020304" pitchFamily="18" charset="0"/>
            </a:endParaRPr>
          </a:p>
          <a:p>
            <a:pPr eaLnBrk="1" hangingPunct="1">
              <a:lnSpc>
                <a:spcPct val="90000"/>
              </a:lnSpc>
              <a:spcBef>
                <a:spcPct val="50000"/>
              </a:spcBef>
              <a:buFont typeface="Wingdings" panose="05000000000000000000" pitchFamily="2" charset="2"/>
              <a:buNone/>
            </a:pPr>
            <a:endParaRPr lang="en-US" altLang="zh-CN" sz="2000" dirty="0">
              <a:ea typeface="仿宋_GB2312" panose="02010609030101010101" pitchFamily="49" charset="-122"/>
              <a:cs typeface="Times New Roman" panose="02020603050405020304" pitchFamily="18" charset="0"/>
            </a:endParaRPr>
          </a:p>
          <a:p>
            <a:pPr eaLnBrk="1" hangingPunct="1"/>
            <a:endParaRPr kumimoji="0" lang="zh-CN" altLang="zh-CN" sz="2000" dirty="0">
              <a:solidFill>
                <a:srgbClr val="000000"/>
              </a:solidFill>
              <a:latin typeface="黑体" panose="02010609060101010101" pitchFamily="49" charset="-122"/>
              <a:ea typeface="黑体" panose="02010609060101010101" pitchFamily="49" charset="-122"/>
            </a:endParaRPr>
          </a:p>
          <a:p>
            <a:pPr marL="342900" eaLnBrk="1" hangingPunct="1">
              <a:lnSpc>
                <a:spcPct val="90000"/>
              </a:lnSpc>
              <a:spcBef>
                <a:spcPct val="20000"/>
              </a:spcBef>
              <a:buClr>
                <a:srgbClr val="0066CC"/>
              </a:buClr>
            </a:pPr>
            <a:endParaRPr lang="en-US" altLang="zh-CN" sz="2000" dirty="0" smtClean="0">
              <a:ea typeface="仿宋_GB2312" panose="02010609030101010101" pitchFamily="49" charset="-122"/>
              <a:cs typeface="Times New Roman" panose="02020603050405020304" pitchFamily="18" charset="0"/>
            </a:endParaRPr>
          </a:p>
        </p:txBody>
      </p:sp>
      <p:pic>
        <p:nvPicPr>
          <p:cNvPr id="9" name="图片 8"/>
          <p:cNvPicPr>
            <a:picLocks noChangeAspect="1"/>
          </p:cNvPicPr>
          <p:nvPr/>
        </p:nvPicPr>
        <p:blipFill>
          <a:blip r:embed="rId3"/>
          <a:stretch>
            <a:fillRect/>
          </a:stretch>
        </p:blipFill>
        <p:spPr>
          <a:xfrm>
            <a:off x="575945" y="297180"/>
            <a:ext cx="1685925" cy="419100"/>
          </a:xfrm>
          <a:prstGeom prst="rect">
            <a:avLst/>
          </a:prstGeom>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right)">
                                      <p:cBhvr>
                                        <p:cTn id="8" dur="500"/>
                                        <p:tgtEl>
                                          <p:spTgt spid="8"/>
                                        </p:tgtEl>
                                      </p:cBhvr>
                                    </p:animEffect>
                                  </p:childTnLst>
                                </p:cTn>
                              </p:par>
                              <p:par>
                                <p:cTn id="9" presetID="12" presetClass="entr" presetSubtype="8" fill="hold" grpId="1"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250"/>
                                        <p:tgtEl>
                                          <p:spTgt spid="14"/>
                                        </p:tgtEl>
                                        <p:attrNameLst>
                                          <p:attrName>ppt_x</p:attrName>
                                        </p:attrNameLst>
                                      </p:cBhvr>
                                      <p:tavLst>
                                        <p:tav tm="0">
                                          <p:val>
                                            <p:strVal val="#ppt_x-#ppt_w*1.125000"/>
                                          </p:val>
                                        </p:tav>
                                        <p:tav tm="100000">
                                          <p:val>
                                            <p:strVal val="#ppt_x"/>
                                          </p:val>
                                        </p:tav>
                                      </p:tavLst>
                                    </p:anim>
                                    <p:animEffect transition="in" filter="wipe(right)">
                                      <p:cBhvr>
                                        <p:cTn id="12" dur="250"/>
                                        <p:tgtEl>
                                          <p:spTgt spid="14"/>
                                        </p:tgtEl>
                                      </p:cBhvr>
                                    </p:animEffect>
                                  </p:childTnLst>
                                </p:cTn>
                              </p:par>
                              <p:par>
                                <p:cTn id="13" presetID="42"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1000"/>
                                        <p:tgtEl>
                                          <p:spTgt spid="13"/>
                                        </p:tgtEl>
                                      </p:cBhvr>
                                    </p:animEffect>
                                    <p:anim calcmode="lin" valueType="num">
                                      <p:cBhvr>
                                        <p:cTn id="16" dur="1000" fill="hold"/>
                                        <p:tgtEl>
                                          <p:spTgt spid="13"/>
                                        </p:tgtEl>
                                        <p:attrNameLst>
                                          <p:attrName>ppt_x</p:attrName>
                                        </p:attrNameLst>
                                      </p:cBhvr>
                                      <p:tavLst>
                                        <p:tav tm="0">
                                          <p:val>
                                            <p:strVal val="#ppt_x"/>
                                          </p:val>
                                        </p:tav>
                                        <p:tav tm="100000">
                                          <p:val>
                                            <p:strVal val="#ppt_x"/>
                                          </p:val>
                                        </p:tav>
                                      </p:tavLst>
                                    </p:anim>
                                    <p:anim calcmode="lin" valueType="num">
                                      <p:cBhvr>
                                        <p:cTn id="17"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E:\曹飞\2017\2017-8-8地铁PPT\6.png6"/>
          <p:cNvPicPr>
            <a:picLocks noChangeAspect="1"/>
          </p:cNvPicPr>
          <p:nvPr/>
        </p:nvPicPr>
        <p:blipFill>
          <a:blip r:embed="rId1" cstate="email"/>
          <a:srcRect/>
          <a:stretch>
            <a:fillRect/>
          </a:stretch>
        </p:blipFill>
        <p:spPr>
          <a:xfrm>
            <a:off x="2261712" y="239317"/>
            <a:ext cx="6463189" cy="343376"/>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pic>
        <p:nvPicPr>
          <p:cNvPr id="13" name="图片 12" descr="E:\曹飞\2017\2017-8-8地铁PPT\7.png7"/>
          <p:cNvPicPr>
            <a:picLocks noChangeAspect="1"/>
          </p:cNvPicPr>
          <p:nvPr/>
        </p:nvPicPr>
        <p:blipFill>
          <a:blip r:embed="rId2" cstate="email"/>
          <a:srcRect/>
          <a:stretch>
            <a:fillRect/>
          </a:stretch>
        </p:blipFill>
        <p:spPr>
          <a:xfrm>
            <a:off x="-6667" y="4477465"/>
            <a:ext cx="9168289" cy="668179"/>
          </a:xfrm>
          <a:prstGeom prst="rect">
            <a:avLst/>
          </a:prstGeom>
        </p:spPr>
      </p:pic>
      <p:sp>
        <p:nvSpPr>
          <p:cNvPr id="4" name="矩形 3"/>
          <p:cNvSpPr/>
          <p:nvPr/>
        </p:nvSpPr>
        <p:spPr>
          <a:xfrm>
            <a:off x="611559" y="915566"/>
            <a:ext cx="7848873" cy="3753485"/>
          </a:xfrm>
          <a:prstGeom prst="rect">
            <a:avLst/>
          </a:prstGeom>
        </p:spPr>
        <p:txBody>
          <a:bodyPr wrap="square">
            <a:spAutoFit/>
          </a:bodyPr>
          <a:lstStyle/>
          <a:p>
            <a:pPr algn="ctr"/>
            <a:r>
              <a:rPr lang="zh-CN" altLang="en-US" sz="2000" dirty="0" smtClean="0">
                <a:latin typeface="Times New Roman" panose="02020603050405020304" pitchFamily="18" charset="0"/>
                <a:ea typeface="方正小标宋简体" panose="02010601030101010101" pitchFamily="2" charset="-122"/>
                <a:cs typeface="Times New Roman" panose="02020603050405020304" pitchFamily="18" charset="0"/>
              </a:rPr>
              <a:t>郑州地铁集团有限公司运营分公司</a:t>
            </a:r>
            <a:endParaRPr lang="zh-CN" altLang="en-US" sz="2000" dirty="0" smtClean="0">
              <a:latin typeface="Times New Roman" panose="02020603050405020304" pitchFamily="18" charset="0"/>
              <a:ea typeface="方正小标宋简体" panose="02010601030101010101" pitchFamily="2" charset="-122"/>
              <a:cs typeface="Times New Roman" panose="02020603050405020304" pitchFamily="18" charset="0"/>
            </a:endParaRPr>
          </a:p>
          <a:p>
            <a:pPr algn="ctr"/>
            <a:r>
              <a:rPr lang="zh-CN" altLang="en-US" sz="2000" dirty="0" smtClean="0">
                <a:latin typeface="Times New Roman" panose="02020603050405020304" pitchFamily="18" charset="0"/>
                <a:ea typeface="方正小标宋简体" panose="02010601030101010101" pitchFamily="2" charset="-122"/>
                <a:cs typeface="Times New Roman" panose="02020603050405020304" pitchFamily="18" charset="0"/>
              </a:rPr>
              <a:t>关于加强</a:t>
            </a:r>
            <a:r>
              <a:rPr lang="en-US" altLang="zh-CN" sz="2000" dirty="0" smtClean="0">
                <a:latin typeface="Times New Roman" panose="02020603050405020304" pitchFamily="18" charset="0"/>
                <a:ea typeface="方正小标宋简体" panose="02010601030101010101" pitchFamily="2" charset="-122"/>
                <a:cs typeface="Times New Roman" panose="02020603050405020304" pitchFamily="18" charset="0"/>
              </a:rPr>
              <a:t>**</a:t>
            </a:r>
            <a:r>
              <a:rPr lang="zh-CN" altLang="en-US" sz="2000" dirty="0" smtClean="0">
                <a:latin typeface="Times New Roman" panose="02020603050405020304" pitchFamily="18" charset="0"/>
                <a:ea typeface="方正小标宋简体" panose="02010601030101010101" pitchFamily="2" charset="-122"/>
                <a:cs typeface="Times New Roman" panose="02020603050405020304" pitchFamily="18" charset="0"/>
              </a:rPr>
              <a:t>工作的通知</a:t>
            </a:r>
            <a:endParaRPr lang="zh-CN" altLang="en-US" sz="2000" dirty="0" smtClean="0">
              <a:latin typeface="Times New Roman" panose="02020603050405020304" pitchFamily="18" charset="0"/>
              <a:ea typeface="方正小标宋简体" panose="02010601030101010101" pitchFamily="2" charset="-122"/>
              <a:cs typeface="Times New Roman" panose="02020603050405020304" pitchFamily="18" charset="0"/>
            </a:endParaRPr>
          </a:p>
          <a:p>
            <a:endParaRPr lang="en-US" altLang="zh-CN" dirty="0" smtClean="0">
              <a:latin typeface="Times New Roman" panose="02020603050405020304" pitchFamily="18" charset="0"/>
              <a:ea typeface="仿宋_GB2312" panose="02010609030101010101" pitchFamily="49" charset="-122"/>
              <a:cs typeface="Times New Roman" panose="02020603050405020304" pitchFamily="18" charset="0"/>
            </a:endParaRPr>
          </a:p>
          <a:p>
            <a:r>
              <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rPr>
              <a:t>各部门、中心：</a:t>
            </a:r>
            <a:endPar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endParaRPr>
          </a:p>
          <a:p>
            <a:r>
              <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rPr>
              <a:t>        为了</a:t>
            </a:r>
            <a:r>
              <a:rPr lang="en-US" altLang="zh-CN" dirty="0" smtClean="0">
                <a:latin typeface="Times New Roman" panose="02020603050405020304" pitchFamily="18" charset="0"/>
                <a:ea typeface="仿宋_GB2312" panose="02010609030101010101" pitchFamily="49" charset="-122"/>
                <a:cs typeface="Times New Roman" panose="02020603050405020304" pitchFamily="18" charset="0"/>
              </a:rPr>
              <a:t>XXXXXXXXXXXXXXXXXXXXXXX,……</a:t>
            </a:r>
            <a:endParaRPr lang="en-US" altLang="zh-CN" dirty="0" smtClean="0">
              <a:latin typeface="Times New Roman" panose="02020603050405020304" pitchFamily="18" charset="0"/>
              <a:ea typeface="仿宋_GB2312" panose="02010609030101010101" pitchFamily="49" charset="-122"/>
              <a:cs typeface="Times New Roman" panose="02020603050405020304" pitchFamily="18" charset="0"/>
            </a:endParaRPr>
          </a:p>
          <a:p>
            <a:endParaRPr lang="en-US" altLang="zh-CN" dirty="0" smtClean="0">
              <a:latin typeface="Times New Roman" panose="02020603050405020304" pitchFamily="18" charset="0"/>
              <a:ea typeface="仿宋_GB2312" panose="02010609030101010101" pitchFamily="49" charset="-122"/>
              <a:cs typeface="Times New Roman" panose="02020603050405020304" pitchFamily="18" charset="0"/>
            </a:endParaRPr>
          </a:p>
          <a:p>
            <a:r>
              <a:rPr lang="en-US" altLang="zh-CN" dirty="0" smtClean="0">
                <a:latin typeface="Times New Roman" panose="02020603050405020304" pitchFamily="18" charset="0"/>
                <a:ea typeface="仿宋_GB2312" panose="02010609030101010101" pitchFamily="49" charset="-122"/>
                <a:cs typeface="Times New Roman" panose="02020603050405020304" pitchFamily="18" charset="0"/>
              </a:rPr>
              <a:t>        </a:t>
            </a:r>
            <a:r>
              <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rPr>
              <a:t>附件：</a:t>
            </a:r>
            <a:r>
              <a:rPr lang="en-US" altLang="zh-CN" dirty="0" smtClean="0">
                <a:latin typeface="Times New Roman" panose="02020603050405020304" pitchFamily="18" charset="0"/>
                <a:ea typeface="仿宋_GB2312" panose="02010609030101010101" pitchFamily="49" charset="-122"/>
                <a:cs typeface="Times New Roman" panose="02020603050405020304" pitchFamily="18" charset="0"/>
              </a:rPr>
              <a:t>1.XXXXXXXX</a:t>
            </a:r>
            <a:endParaRPr lang="en-US" altLang="zh-CN" dirty="0" smtClean="0">
              <a:latin typeface="Times New Roman" panose="02020603050405020304" pitchFamily="18" charset="0"/>
              <a:ea typeface="仿宋_GB2312" panose="02010609030101010101" pitchFamily="49" charset="-122"/>
              <a:cs typeface="Times New Roman" panose="02020603050405020304" pitchFamily="18" charset="0"/>
            </a:endParaRPr>
          </a:p>
          <a:p>
            <a:r>
              <a:rPr lang="en-US" altLang="zh-CN" dirty="0" smtClean="0">
                <a:latin typeface="Times New Roman" panose="02020603050405020304" pitchFamily="18" charset="0"/>
                <a:ea typeface="仿宋_GB2312" panose="02010609030101010101" pitchFamily="49" charset="-122"/>
                <a:cs typeface="Times New Roman" panose="02020603050405020304" pitchFamily="18" charset="0"/>
              </a:rPr>
              <a:t>                    2.XXXXXXXX</a:t>
            </a:r>
            <a:endParaRPr lang="en-US" altLang="zh-CN" dirty="0" smtClean="0">
              <a:latin typeface="Times New Roman" panose="02020603050405020304" pitchFamily="18" charset="0"/>
              <a:ea typeface="仿宋_GB2312" panose="02010609030101010101" pitchFamily="49" charset="-122"/>
              <a:cs typeface="Times New Roman" panose="02020603050405020304" pitchFamily="18" charset="0"/>
            </a:endParaRPr>
          </a:p>
          <a:p>
            <a:r>
              <a:rPr lang="en-US" altLang="zh-CN" dirty="0" smtClean="0">
                <a:solidFill>
                  <a:srgbClr val="FF0066"/>
                </a:solidFill>
                <a:latin typeface="Times New Roman" panose="02020603050405020304" pitchFamily="18" charset="0"/>
                <a:ea typeface="仿宋_GB2312" panose="02010609030101010101" pitchFamily="49" charset="-122"/>
                <a:cs typeface="Times New Roman" panose="02020603050405020304" pitchFamily="18" charset="0"/>
              </a:rPr>
              <a:t>                                                    </a:t>
            </a:r>
            <a:endParaRPr lang="en-US" altLang="zh-CN" dirty="0" smtClean="0">
              <a:solidFill>
                <a:srgbClr val="FF0066"/>
              </a:solidFill>
              <a:latin typeface="Times New Roman" panose="02020603050405020304" pitchFamily="18" charset="0"/>
              <a:ea typeface="仿宋_GB2312" panose="02010609030101010101" pitchFamily="49" charset="-122"/>
              <a:cs typeface="Times New Roman" panose="02020603050405020304" pitchFamily="18" charset="0"/>
            </a:endParaRPr>
          </a:p>
          <a:p>
            <a:endParaRPr lang="en-US" altLang="zh-CN" dirty="0" smtClean="0">
              <a:solidFill>
                <a:srgbClr val="FF0066"/>
              </a:solidFill>
              <a:latin typeface="Times New Roman" panose="02020603050405020304" pitchFamily="18" charset="0"/>
              <a:ea typeface="仿宋_GB2312" panose="02010609030101010101" pitchFamily="49" charset="-122"/>
              <a:cs typeface="Times New Roman" panose="02020603050405020304" pitchFamily="18" charset="0"/>
            </a:endParaRPr>
          </a:p>
          <a:p>
            <a:pPr algn="r"/>
            <a:r>
              <a:rPr lang="zh-CN" altLang="en-US" dirty="0" smtClean="0">
                <a:solidFill>
                  <a:srgbClr val="FF0066"/>
                </a:solidFill>
                <a:latin typeface="Times New Roman" panose="02020603050405020304" pitchFamily="18" charset="0"/>
                <a:ea typeface="仿宋_GB2312" panose="02010609030101010101" pitchFamily="49" charset="-122"/>
                <a:cs typeface="Times New Roman" panose="02020603050405020304" pitchFamily="18" charset="0"/>
              </a:rPr>
              <a:t>（印）</a:t>
            </a:r>
            <a:endParaRPr lang="en-US" altLang="zh-CN" dirty="0" smtClean="0">
              <a:solidFill>
                <a:srgbClr val="FF0066"/>
              </a:solidFill>
              <a:latin typeface="Times New Roman" panose="02020603050405020304" pitchFamily="18" charset="0"/>
              <a:ea typeface="仿宋_GB2312" panose="02010609030101010101" pitchFamily="49" charset="-122"/>
              <a:cs typeface="Times New Roman" panose="02020603050405020304" pitchFamily="18" charset="0"/>
            </a:endParaRPr>
          </a:p>
          <a:p>
            <a:pPr algn="r"/>
            <a:r>
              <a:rPr lang="en-US" altLang="zh-CN" dirty="0" smtClean="0">
                <a:latin typeface="Times New Roman" panose="02020603050405020304" pitchFamily="18" charset="0"/>
                <a:ea typeface="仿宋_GB2312" panose="02010609030101010101" pitchFamily="49" charset="-122"/>
                <a:cs typeface="Times New Roman" panose="02020603050405020304" pitchFamily="18" charset="0"/>
              </a:rPr>
              <a:t>2020</a:t>
            </a:r>
            <a:r>
              <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rPr>
              <a:t>年</a:t>
            </a:r>
            <a:r>
              <a:rPr lang="en-US" altLang="zh-CN" dirty="0" smtClean="0">
                <a:latin typeface="Times New Roman" panose="02020603050405020304" pitchFamily="18" charset="0"/>
                <a:ea typeface="仿宋_GB2312" panose="02010609030101010101" pitchFamily="49" charset="-122"/>
                <a:cs typeface="Times New Roman" panose="02020603050405020304" pitchFamily="18" charset="0"/>
              </a:rPr>
              <a:t>X</a:t>
            </a:r>
            <a:r>
              <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rPr>
              <a:t>月</a:t>
            </a:r>
            <a:r>
              <a:rPr lang="en-US" altLang="zh-CN" dirty="0" smtClean="0">
                <a:latin typeface="Times New Roman" panose="02020603050405020304" pitchFamily="18" charset="0"/>
                <a:ea typeface="仿宋_GB2312" panose="02010609030101010101" pitchFamily="49" charset="-122"/>
                <a:cs typeface="Times New Roman" panose="02020603050405020304" pitchFamily="18" charset="0"/>
              </a:rPr>
              <a:t>X</a:t>
            </a:r>
            <a:r>
              <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rPr>
              <a:t>日</a:t>
            </a:r>
            <a:endParaRPr lang="en-US" altLang="zh-CN" dirty="0" smtClean="0">
              <a:latin typeface="Times New Roman" panose="02020603050405020304" pitchFamily="18" charset="0"/>
              <a:ea typeface="仿宋_GB2312" panose="02010609030101010101" pitchFamily="49" charset="-122"/>
              <a:cs typeface="Times New Roman" panose="02020603050405020304" pitchFamily="18" charset="0"/>
            </a:endParaRPr>
          </a:p>
          <a:p>
            <a:r>
              <a:rPr lang="en-US" altLang="zh-CN" dirty="0" smtClean="0">
                <a:latin typeface="Times New Roman" panose="02020603050405020304" pitchFamily="18" charset="0"/>
                <a:ea typeface="仿宋_GB2312" panose="02010609030101010101" pitchFamily="49" charset="-122"/>
                <a:cs typeface="Times New Roman" panose="02020603050405020304" pitchFamily="18" charset="0"/>
              </a:rPr>
              <a:t>        </a:t>
            </a:r>
            <a:r>
              <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rPr>
              <a:t>  </a:t>
            </a:r>
            <a:endPar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endParaRPr>
          </a:p>
        </p:txBody>
      </p:sp>
      <p:pic>
        <p:nvPicPr>
          <p:cNvPr id="9" name="图片 8"/>
          <p:cNvPicPr>
            <a:picLocks noChangeAspect="1"/>
          </p:cNvPicPr>
          <p:nvPr/>
        </p:nvPicPr>
        <p:blipFill>
          <a:blip r:embed="rId3"/>
          <a:stretch>
            <a:fillRect/>
          </a:stretch>
        </p:blipFill>
        <p:spPr>
          <a:xfrm>
            <a:off x="575945" y="297180"/>
            <a:ext cx="1685925" cy="419100"/>
          </a:xfrm>
          <a:prstGeom prst="rect">
            <a:avLst/>
          </a:prstGeom>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right)">
                                      <p:cBhvr>
                                        <p:cTn id="8" dur="500"/>
                                        <p:tgtEl>
                                          <p:spTgt spid="8"/>
                                        </p:tgtEl>
                                      </p:cBhvr>
                                    </p:animEffect>
                                  </p:childTnLst>
                                </p:cTn>
                              </p:par>
                              <p:par>
                                <p:cTn id="9" presetID="12" presetClass="entr" presetSubtype="8" fill="hold" grpId="1"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250"/>
                                        <p:tgtEl>
                                          <p:spTgt spid="14"/>
                                        </p:tgtEl>
                                        <p:attrNameLst>
                                          <p:attrName>ppt_x</p:attrName>
                                        </p:attrNameLst>
                                      </p:cBhvr>
                                      <p:tavLst>
                                        <p:tav tm="0">
                                          <p:val>
                                            <p:strVal val="#ppt_x-#ppt_w*1.125000"/>
                                          </p:val>
                                        </p:tav>
                                        <p:tav tm="100000">
                                          <p:val>
                                            <p:strVal val="#ppt_x"/>
                                          </p:val>
                                        </p:tav>
                                      </p:tavLst>
                                    </p:anim>
                                    <p:animEffect transition="in" filter="wipe(right)">
                                      <p:cBhvr>
                                        <p:cTn id="12" dur="250"/>
                                        <p:tgtEl>
                                          <p:spTgt spid="14"/>
                                        </p:tgtEl>
                                      </p:cBhvr>
                                    </p:animEffect>
                                  </p:childTnLst>
                                </p:cTn>
                              </p:par>
                              <p:par>
                                <p:cTn id="13" presetID="42"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1000"/>
                                        <p:tgtEl>
                                          <p:spTgt spid="13"/>
                                        </p:tgtEl>
                                      </p:cBhvr>
                                    </p:animEffect>
                                    <p:anim calcmode="lin" valueType="num">
                                      <p:cBhvr>
                                        <p:cTn id="16" dur="1000" fill="hold"/>
                                        <p:tgtEl>
                                          <p:spTgt spid="13"/>
                                        </p:tgtEl>
                                        <p:attrNameLst>
                                          <p:attrName>ppt_x</p:attrName>
                                        </p:attrNameLst>
                                      </p:cBhvr>
                                      <p:tavLst>
                                        <p:tav tm="0">
                                          <p:val>
                                            <p:strVal val="#ppt_x"/>
                                          </p:val>
                                        </p:tav>
                                        <p:tav tm="100000">
                                          <p:val>
                                            <p:strVal val="#ppt_x"/>
                                          </p:val>
                                        </p:tav>
                                      </p:tavLst>
                                    </p:anim>
                                    <p:anim calcmode="lin" valueType="num">
                                      <p:cBhvr>
                                        <p:cTn id="17"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E:\曹飞\2017\2017-8-8地铁PPT\6.png6"/>
          <p:cNvPicPr>
            <a:picLocks noChangeAspect="1"/>
          </p:cNvPicPr>
          <p:nvPr/>
        </p:nvPicPr>
        <p:blipFill>
          <a:blip r:embed="rId1" cstate="email"/>
          <a:srcRect/>
          <a:stretch>
            <a:fillRect/>
          </a:stretch>
        </p:blipFill>
        <p:spPr>
          <a:xfrm>
            <a:off x="2261712" y="239317"/>
            <a:ext cx="6463189" cy="343376"/>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pic>
        <p:nvPicPr>
          <p:cNvPr id="13" name="图片 12" descr="E:\曹飞\2017\2017-8-8地铁PPT\7.png7"/>
          <p:cNvPicPr>
            <a:picLocks noChangeAspect="1"/>
          </p:cNvPicPr>
          <p:nvPr/>
        </p:nvPicPr>
        <p:blipFill>
          <a:blip r:embed="rId2" cstate="email"/>
          <a:srcRect/>
          <a:stretch>
            <a:fillRect/>
          </a:stretch>
        </p:blipFill>
        <p:spPr>
          <a:xfrm>
            <a:off x="-6667" y="4477465"/>
            <a:ext cx="9168289" cy="668179"/>
          </a:xfrm>
          <a:prstGeom prst="rect">
            <a:avLst/>
          </a:prstGeom>
        </p:spPr>
      </p:pic>
      <p:sp>
        <p:nvSpPr>
          <p:cNvPr id="41" name="Text Box 2"/>
          <p:cNvSpPr txBox="1">
            <a:spLocks noChangeArrowheads="1"/>
          </p:cNvSpPr>
          <p:nvPr/>
        </p:nvSpPr>
        <p:spPr bwMode="auto">
          <a:xfrm>
            <a:off x="902224" y="840449"/>
            <a:ext cx="7350505"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342900" eaLnBrk="1" hangingPunct="1">
              <a:lnSpc>
                <a:spcPct val="90000"/>
              </a:lnSpc>
              <a:spcBef>
                <a:spcPct val="20000"/>
              </a:spcBef>
              <a:buClr>
                <a:srgbClr val="0066CC"/>
              </a:buClr>
            </a:pPr>
            <a:r>
              <a:rPr lang="zh-CN" altLang="en-US" sz="2000" dirty="0" smtClean="0">
                <a:ea typeface="楷体_GB2312" panose="02010609030101010101" pitchFamily="49" charset="-122"/>
                <a:cs typeface="Times New Roman" panose="02020603050405020304" pitchFamily="18" charset="0"/>
              </a:rPr>
              <a:t>（三）其他格式</a:t>
            </a:r>
            <a:endParaRPr lang="en-US" altLang="zh-CN" sz="2000" dirty="0" smtClean="0">
              <a:ea typeface="楷体_GB2312" panose="02010609030101010101" pitchFamily="49" charset="-122"/>
              <a:cs typeface="Times New Roman" panose="02020603050405020304" pitchFamily="18" charset="0"/>
            </a:endParaRPr>
          </a:p>
          <a:p>
            <a:pPr algn="just" eaLnBrk="1" hangingPunct="1"/>
            <a:r>
              <a:rPr lang="en-US" altLang="zh-CN" sz="2000" dirty="0" smtClean="0">
                <a:ea typeface="仿宋_GB2312" panose="02010609030101010101" pitchFamily="49" charset="-122"/>
                <a:cs typeface="Times New Roman" panose="02020603050405020304" pitchFamily="18" charset="0"/>
              </a:rPr>
              <a:t>        1</a:t>
            </a:r>
            <a:r>
              <a:rPr lang="en-US" altLang="zh-CN" sz="2000" dirty="0">
                <a:ea typeface="仿宋_GB2312" panose="02010609030101010101" pitchFamily="49" charset="-122"/>
                <a:cs typeface="Times New Roman" panose="02020603050405020304" pitchFamily="18" charset="0"/>
              </a:rPr>
              <a:t>.</a:t>
            </a:r>
            <a:r>
              <a:rPr lang="zh-CN" altLang="zh-CN" sz="2000" dirty="0">
                <a:ea typeface="仿宋_GB2312" panose="02010609030101010101" pitchFamily="49" charset="-122"/>
                <a:cs typeface="Times New Roman" panose="02020603050405020304" pitchFamily="18" charset="0"/>
              </a:rPr>
              <a:t>页面设置</a:t>
            </a:r>
            <a:endParaRPr lang="zh-CN" altLang="zh-CN" sz="2000" dirty="0">
              <a:ea typeface="仿宋_GB2312" panose="02010609030101010101" pitchFamily="49" charset="-122"/>
              <a:cs typeface="Times New Roman" panose="02020603050405020304" pitchFamily="18" charset="0"/>
            </a:endParaRPr>
          </a:p>
          <a:p>
            <a:pPr algn="just" eaLnBrk="1" hangingPunct="1"/>
            <a:r>
              <a:rPr lang="en-US" altLang="zh-CN" sz="1800" dirty="0" smtClean="0">
                <a:ea typeface="仿宋_GB2312" panose="02010609030101010101" pitchFamily="49" charset="-122"/>
                <a:cs typeface="Times New Roman" panose="02020603050405020304" pitchFamily="18" charset="0"/>
              </a:rPr>
              <a:t>        </a:t>
            </a:r>
            <a:r>
              <a:rPr lang="zh-CN" altLang="zh-CN" sz="1800" dirty="0" smtClean="0">
                <a:ea typeface="仿宋_GB2312" panose="02010609030101010101" pitchFamily="49" charset="-122"/>
                <a:cs typeface="Times New Roman" panose="02020603050405020304" pitchFamily="18" charset="0"/>
              </a:rPr>
              <a:t>在</a:t>
            </a:r>
            <a:r>
              <a:rPr lang="en-US" altLang="zh-CN" sz="1800" dirty="0">
                <a:ea typeface="仿宋_GB2312" panose="02010609030101010101" pitchFamily="49" charset="-122"/>
                <a:cs typeface="Times New Roman" panose="02020603050405020304" pitchFamily="18" charset="0"/>
              </a:rPr>
              <a:t>Word</a:t>
            </a:r>
            <a:r>
              <a:rPr lang="zh-CN" altLang="zh-CN" sz="1800" dirty="0">
                <a:ea typeface="仿宋_GB2312" panose="02010609030101010101" pitchFamily="49" charset="-122"/>
                <a:cs typeface="Times New Roman" panose="02020603050405020304" pitchFamily="18" charset="0"/>
              </a:rPr>
              <a:t>文档编辑状态下，选择</a:t>
            </a:r>
            <a:r>
              <a:rPr lang="en-US" altLang="zh-CN" sz="1800" dirty="0">
                <a:ea typeface="仿宋_GB2312" panose="02010609030101010101" pitchFamily="49" charset="-122"/>
                <a:cs typeface="Times New Roman" panose="02020603050405020304" pitchFamily="18" charset="0"/>
              </a:rPr>
              <a:t>“</a:t>
            </a:r>
            <a:r>
              <a:rPr lang="zh-CN" altLang="zh-CN" sz="1800" dirty="0">
                <a:solidFill>
                  <a:srgbClr val="FF0000"/>
                </a:solidFill>
                <a:ea typeface="仿宋_GB2312" panose="02010609030101010101" pitchFamily="49" charset="-122"/>
                <a:cs typeface="Times New Roman" panose="02020603050405020304" pitchFamily="18" charset="0"/>
              </a:rPr>
              <a:t>文件</a:t>
            </a:r>
            <a:r>
              <a:rPr lang="en-US" altLang="zh-CN" sz="1800" dirty="0">
                <a:ea typeface="仿宋_GB2312" panose="02010609030101010101" pitchFamily="49" charset="-122"/>
                <a:cs typeface="Times New Roman" panose="02020603050405020304" pitchFamily="18" charset="0"/>
              </a:rPr>
              <a:t>”→“</a:t>
            </a:r>
            <a:r>
              <a:rPr lang="zh-CN" altLang="zh-CN" sz="1800" dirty="0">
                <a:solidFill>
                  <a:srgbClr val="FF0000"/>
                </a:solidFill>
                <a:ea typeface="仿宋_GB2312" panose="02010609030101010101" pitchFamily="49" charset="-122"/>
                <a:cs typeface="Times New Roman" panose="02020603050405020304" pitchFamily="18" charset="0"/>
              </a:rPr>
              <a:t>页面设置</a:t>
            </a:r>
            <a:r>
              <a:rPr lang="en-US" altLang="zh-CN" sz="1800" dirty="0">
                <a:ea typeface="仿宋_GB2312" panose="02010609030101010101" pitchFamily="49" charset="-122"/>
                <a:cs typeface="Times New Roman" panose="02020603050405020304" pitchFamily="18" charset="0"/>
              </a:rPr>
              <a:t>”</a:t>
            </a:r>
            <a:r>
              <a:rPr lang="zh-CN" altLang="zh-CN" sz="1800" dirty="0">
                <a:ea typeface="仿宋_GB2312" panose="02010609030101010101" pitchFamily="49" charset="-122"/>
                <a:cs typeface="Times New Roman" panose="02020603050405020304" pitchFamily="18" charset="0"/>
              </a:rPr>
              <a:t>，然后按如下操作完成页面设置：</a:t>
            </a:r>
            <a:endParaRPr lang="zh-CN" altLang="zh-CN" sz="1800" dirty="0">
              <a:ea typeface="仿宋_GB2312" panose="02010609030101010101" pitchFamily="49" charset="-122"/>
              <a:cs typeface="Times New Roman" panose="02020603050405020304" pitchFamily="18" charset="0"/>
            </a:endParaRPr>
          </a:p>
          <a:p>
            <a:pPr algn="just" eaLnBrk="1" hangingPunct="1"/>
            <a:r>
              <a:rPr lang="zh-CN" altLang="en-US" sz="1800" dirty="0" smtClean="0">
                <a:ea typeface="仿宋_GB2312" panose="02010609030101010101" pitchFamily="49" charset="-122"/>
                <a:cs typeface="Times New Roman" panose="02020603050405020304" pitchFamily="18" charset="0"/>
              </a:rPr>
              <a:t>     </a:t>
            </a:r>
            <a:r>
              <a:rPr lang="zh-CN" altLang="en-US" sz="1800" b="1" dirty="0" smtClean="0">
                <a:ea typeface="仿宋_GB2312" panose="02010609030101010101" pitchFamily="49" charset="-122"/>
                <a:cs typeface="Times New Roman" panose="02020603050405020304" pitchFamily="18" charset="0"/>
              </a:rPr>
              <a:t>（</a:t>
            </a:r>
            <a:r>
              <a:rPr lang="en-US" altLang="zh-CN" sz="1800" b="1" dirty="0">
                <a:ea typeface="仿宋_GB2312" panose="02010609030101010101" pitchFamily="49" charset="-122"/>
                <a:cs typeface="Times New Roman" panose="02020603050405020304" pitchFamily="18" charset="0"/>
              </a:rPr>
              <a:t>1</a:t>
            </a:r>
            <a:r>
              <a:rPr lang="zh-CN" altLang="en-US" sz="1800" b="1" dirty="0" smtClean="0">
                <a:ea typeface="仿宋_GB2312" panose="02010609030101010101" pitchFamily="49" charset="-122"/>
                <a:cs typeface="Times New Roman" panose="02020603050405020304" pitchFamily="18" charset="0"/>
              </a:rPr>
              <a:t>）</a:t>
            </a:r>
            <a:r>
              <a:rPr lang="zh-CN" altLang="zh-CN" sz="1800" b="1" dirty="0" smtClean="0">
                <a:ea typeface="仿宋_GB2312" panose="02010609030101010101" pitchFamily="49" charset="-122"/>
                <a:cs typeface="Times New Roman" panose="02020603050405020304" pitchFamily="18" charset="0"/>
              </a:rPr>
              <a:t>页边距</a:t>
            </a:r>
            <a:r>
              <a:rPr lang="zh-CN" altLang="zh-CN" sz="1800" b="1" dirty="0">
                <a:ea typeface="仿宋_GB2312" panose="02010609030101010101" pitchFamily="49" charset="-122"/>
                <a:cs typeface="Times New Roman" panose="02020603050405020304" pitchFamily="18" charset="0"/>
              </a:rPr>
              <a:t>。</a:t>
            </a:r>
            <a:r>
              <a:rPr lang="zh-CN" altLang="zh-CN" sz="1800" dirty="0">
                <a:ea typeface="仿宋_GB2312" panose="02010609030101010101" pitchFamily="49" charset="-122"/>
                <a:cs typeface="Times New Roman" panose="02020603050405020304" pitchFamily="18" charset="0"/>
              </a:rPr>
              <a:t>上：选择</a:t>
            </a:r>
            <a:r>
              <a:rPr lang="en-US" altLang="zh-CN" sz="1800" dirty="0">
                <a:ea typeface="仿宋_GB2312" panose="02010609030101010101" pitchFamily="49" charset="-122"/>
                <a:cs typeface="Times New Roman" panose="02020603050405020304" pitchFamily="18" charset="0"/>
              </a:rPr>
              <a:t>“</a:t>
            </a:r>
            <a:r>
              <a:rPr lang="en-US" altLang="zh-CN" sz="1800" dirty="0">
                <a:solidFill>
                  <a:srgbClr val="FF0000"/>
                </a:solidFill>
                <a:ea typeface="仿宋_GB2312" panose="02010609030101010101" pitchFamily="49" charset="-122"/>
                <a:cs typeface="Times New Roman" panose="02020603050405020304" pitchFamily="18" charset="0"/>
              </a:rPr>
              <a:t>3.7</a:t>
            </a:r>
            <a:r>
              <a:rPr lang="zh-CN" altLang="zh-CN" sz="1800" dirty="0">
                <a:solidFill>
                  <a:srgbClr val="FF0000"/>
                </a:solidFill>
                <a:ea typeface="仿宋_GB2312" panose="02010609030101010101" pitchFamily="49" charset="-122"/>
                <a:cs typeface="Times New Roman" panose="02020603050405020304" pitchFamily="18" charset="0"/>
              </a:rPr>
              <a:t>厘米</a:t>
            </a:r>
            <a:r>
              <a:rPr lang="en-US" altLang="zh-CN" sz="1800" dirty="0">
                <a:ea typeface="仿宋_GB2312" panose="02010609030101010101" pitchFamily="49" charset="-122"/>
                <a:cs typeface="Times New Roman" panose="02020603050405020304" pitchFamily="18" charset="0"/>
              </a:rPr>
              <a:t>”</a:t>
            </a:r>
            <a:r>
              <a:rPr lang="zh-CN" altLang="zh-CN" sz="1800" dirty="0">
                <a:ea typeface="仿宋_GB2312" panose="02010609030101010101" pitchFamily="49" charset="-122"/>
                <a:cs typeface="Times New Roman" panose="02020603050405020304" pitchFamily="18" charset="0"/>
              </a:rPr>
              <a:t>，下：选择</a:t>
            </a:r>
            <a:r>
              <a:rPr lang="en-US" altLang="zh-CN" sz="1800" dirty="0">
                <a:ea typeface="仿宋_GB2312" panose="02010609030101010101" pitchFamily="49" charset="-122"/>
                <a:cs typeface="Times New Roman" panose="02020603050405020304" pitchFamily="18" charset="0"/>
              </a:rPr>
              <a:t>“</a:t>
            </a:r>
            <a:r>
              <a:rPr lang="en-US" altLang="zh-CN" sz="1800" dirty="0">
                <a:solidFill>
                  <a:srgbClr val="FF0000"/>
                </a:solidFill>
                <a:ea typeface="仿宋_GB2312" panose="02010609030101010101" pitchFamily="49" charset="-122"/>
                <a:cs typeface="Times New Roman" panose="02020603050405020304" pitchFamily="18" charset="0"/>
              </a:rPr>
              <a:t>3.5</a:t>
            </a:r>
            <a:r>
              <a:rPr lang="zh-CN" altLang="zh-CN" sz="1800" dirty="0">
                <a:solidFill>
                  <a:srgbClr val="FF0000"/>
                </a:solidFill>
                <a:ea typeface="仿宋_GB2312" panose="02010609030101010101" pitchFamily="49" charset="-122"/>
                <a:cs typeface="Times New Roman" panose="02020603050405020304" pitchFamily="18" charset="0"/>
              </a:rPr>
              <a:t>厘米</a:t>
            </a:r>
            <a:r>
              <a:rPr lang="en-US" altLang="zh-CN" sz="1800" dirty="0">
                <a:ea typeface="仿宋_GB2312" panose="02010609030101010101" pitchFamily="49" charset="-122"/>
                <a:cs typeface="Times New Roman" panose="02020603050405020304" pitchFamily="18" charset="0"/>
              </a:rPr>
              <a:t>”</a:t>
            </a:r>
            <a:r>
              <a:rPr lang="zh-CN" altLang="zh-CN" sz="1800" dirty="0">
                <a:ea typeface="仿宋_GB2312" panose="02010609030101010101" pitchFamily="49" charset="-122"/>
                <a:cs typeface="Times New Roman" panose="02020603050405020304" pitchFamily="18" charset="0"/>
              </a:rPr>
              <a:t>，左：选择</a:t>
            </a:r>
            <a:r>
              <a:rPr lang="en-US" altLang="zh-CN" sz="1800" dirty="0">
                <a:ea typeface="仿宋_GB2312" panose="02010609030101010101" pitchFamily="49" charset="-122"/>
                <a:cs typeface="Times New Roman" panose="02020603050405020304" pitchFamily="18" charset="0"/>
              </a:rPr>
              <a:t>“</a:t>
            </a:r>
            <a:r>
              <a:rPr lang="en-US" altLang="zh-CN" sz="1800" dirty="0">
                <a:solidFill>
                  <a:srgbClr val="FF0000"/>
                </a:solidFill>
                <a:ea typeface="仿宋_GB2312" panose="02010609030101010101" pitchFamily="49" charset="-122"/>
                <a:cs typeface="Times New Roman" panose="02020603050405020304" pitchFamily="18" charset="0"/>
              </a:rPr>
              <a:t>2.8</a:t>
            </a:r>
            <a:r>
              <a:rPr lang="zh-CN" altLang="zh-CN" sz="1800" dirty="0">
                <a:solidFill>
                  <a:srgbClr val="FF0000"/>
                </a:solidFill>
                <a:ea typeface="仿宋_GB2312" panose="02010609030101010101" pitchFamily="49" charset="-122"/>
                <a:cs typeface="Times New Roman" panose="02020603050405020304" pitchFamily="18" charset="0"/>
              </a:rPr>
              <a:t>厘米</a:t>
            </a:r>
            <a:r>
              <a:rPr lang="en-US" altLang="zh-CN" sz="1800" dirty="0">
                <a:ea typeface="仿宋_GB2312" panose="02010609030101010101" pitchFamily="49" charset="-122"/>
                <a:cs typeface="Times New Roman" panose="02020603050405020304" pitchFamily="18" charset="0"/>
              </a:rPr>
              <a:t>”</a:t>
            </a:r>
            <a:r>
              <a:rPr lang="zh-CN" altLang="zh-CN" sz="1800" dirty="0">
                <a:ea typeface="仿宋_GB2312" panose="02010609030101010101" pitchFamily="49" charset="-122"/>
                <a:cs typeface="Times New Roman" panose="02020603050405020304" pitchFamily="18" charset="0"/>
              </a:rPr>
              <a:t>，右：选择</a:t>
            </a:r>
            <a:r>
              <a:rPr lang="en-US" altLang="zh-CN" sz="1800" dirty="0">
                <a:ea typeface="仿宋_GB2312" panose="02010609030101010101" pitchFamily="49" charset="-122"/>
                <a:cs typeface="Times New Roman" panose="02020603050405020304" pitchFamily="18" charset="0"/>
              </a:rPr>
              <a:t>“</a:t>
            </a:r>
            <a:r>
              <a:rPr lang="en-US" altLang="zh-CN" sz="1800" dirty="0">
                <a:solidFill>
                  <a:srgbClr val="FF0000"/>
                </a:solidFill>
                <a:ea typeface="仿宋_GB2312" panose="02010609030101010101" pitchFamily="49" charset="-122"/>
                <a:cs typeface="Times New Roman" panose="02020603050405020304" pitchFamily="18" charset="0"/>
              </a:rPr>
              <a:t>2.6</a:t>
            </a:r>
            <a:r>
              <a:rPr lang="zh-CN" altLang="zh-CN" sz="1800" dirty="0">
                <a:solidFill>
                  <a:srgbClr val="FF0000"/>
                </a:solidFill>
                <a:ea typeface="仿宋_GB2312" panose="02010609030101010101" pitchFamily="49" charset="-122"/>
                <a:cs typeface="Times New Roman" panose="02020603050405020304" pitchFamily="18" charset="0"/>
              </a:rPr>
              <a:t>厘米</a:t>
            </a:r>
            <a:r>
              <a:rPr lang="en-US" altLang="zh-CN" sz="1800" dirty="0">
                <a:ea typeface="仿宋_GB2312" panose="02010609030101010101" pitchFamily="49" charset="-122"/>
                <a:cs typeface="Times New Roman" panose="02020603050405020304" pitchFamily="18" charset="0"/>
              </a:rPr>
              <a:t>”</a:t>
            </a:r>
            <a:r>
              <a:rPr lang="zh-CN" altLang="zh-CN" sz="1800" dirty="0">
                <a:ea typeface="仿宋_GB2312" panose="02010609030101010101" pitchFamily="49" charset="-122"/>
                <a:cs typeface="Times New Roman" panose="02020603050405020304" pitchFamily="18" charset="0"/>
              </a:rPr>
              <a:t>。</a:t>
            </a:r>
            <a:endParaRPr lang="zh-CN" altLang="zh-CN" sz="1800" dirty="0">
              <a:ea typeface="仿宋_GB2312" panose="02010609030101010101" pitchFamily="49" charset="-122"/>
              <a:cs typeface="Times New Roman" panose="02020603050405020304" pitchFamily="18" charset="0"/>
            </a:endParaRPr>
          </a:p>
          <a:p>
            <a:pPr algn="just" eaLnBrk="1" hangingPunct="1"/>
            <a:r>
              <a:rPr lang="zh-CN" altLang="en-US" sz="1800" dirty="0" smtClean="0">
                <a:ea typeface="仿宋_GB2312" panose="02010609030101010101" pitchFamily="49" charset="-122"/>
                <a:cs typeface="Times New Roman" panose="02020603050405020304" pitchFamily="18" charset="0"/>
              </a:rPr>
              <a:t>     </a:t>
            </a:r>
            <a:r>
              <a:rPr lang="zh-CN" altLang="en-US" sz="1800" b="1" dirty="0" smtClean="0">
                <a:ea typeface="仿宋_GB2312" panose="02010609030101010101" pitchFamily="49" charset="-122"/>
                <a:cs typeface="Times New Roman" panose="02020603050405020304" pitchFamily="18" charset="0"/>
              </a:rPr>
              <a:t>（</a:t>
            </a:r>
            <a:r>
              <a:rPr lang="en-US" altLang="zh-CN" sz="1800" b="1" dirty="0">
                <a:ea typeface="仿宋_GB2312" panose="02010609030101010101" pitchFamily="49" charset="-122"/>
                <a:cs typeface="Times New Roman" panose="02020603050405020304" pitchFamily="18" charset="0"/>
              </a:rPr>
              <a:t>2</a:t>
            </a:r>
            <a:r>
              <a:rPr lang="zh-CN" altLang="en-US" sz="1800" b="1" dirty="0" smtClean="0">
                <a:ea typeface="仿宋_GB2312" panose="02010609030101010101" pitchFamily="49" charset="-122"/>
                <a:cs typeface="Times New Roman" panose="02020603050405020304" pitchFamily="18" charset="0"/>
              </a:rPr>
              <a:t>）</a:t>
            </a:r>
            <a:r>
              <a:rPr lang="zh-CN" altLang="zh-CN" sz="1800" b="1" dirty="0" smtClean="0">
                <a:ea typeface="仿宋_GB2312" panose="02010609030101010101" pitchFamily="49" charset="-122"/>
                <a:cs typeface="Times New Roman" panose="02020603050405020304" pitchFamily="18" charset="0"/>
              </a:rPr>
              <a:t>纸张</a:t>
            </a:r>
            <a:r>
              <a:rPr lang="zh-CN" altLang="zh-CN" sz="1800" b="1" dirty="0">
                <a:ea typeface="仿宋_GB2312" panose="02010609030101010101" pitchFamily="49" charset="-122"/>
                <a:cs typeface="Times New Roman" panose="02020603050405020304" pitchFamily="18" charset="0"/>
              </a:rPr>
              <a:t>。</a:t>
            </a:r>
            <a:r>
              <a:rPr lang="en-US" altLang="zh-CN" sz="1800" dirty="0">
                <a:ea typeface="仿宋_GB2312" panose="02010609030101010101" pitchFamily="49" charset="-122"/>
                <a:cs typeface="Times New Roman" panose="02020603050405020304" pitchFamily="18" charset="0"/>
              </a:rPr>
              <a:t>“</a:t>
            </a:r>
            <a:r>
              <a:rPr lang="zh-CN" altLang="zh-CN" sz="1800" dirty="0">
                <a:solidFill>
                  <a:srgbClr val="FF0000"/>
                </a:solidFill>
                <a:ea typeface="仿宋_GB2312" panose="02010609030101010101" pitchFamily="49" charset="-122"/>
                <a:cs typeface="Times New Roman" panose="02020603050405020304" pitchFamily="18" charset="0"/>
              </a:rPr>
              <a:t>文件</a:t>
            </a:r>
            <a:r>
              <a:rPr lang="en-US" altLang="zh-CN" sz="1800" dirty="0">
                <a:ea typeface="仿宋_GB2312" panose="02010609030101010101" pitchFamily="49" charset="-122"/>
                <a:cs typeface="Times New Roman" panose="02020603050405020304" pitchFamily="18" charset="0"/>
              </a:rPr>
              <a:t>”→“</a:t>
            </a:r>
            <a:r>
              <a:rPr lang="zh-CN" altLang="zh-CN" sz="1800" dirty="0">
                <a:solidFill>
                  <a:srgbClr val="FF0000"/>
                </a:solidFill>
                <a:ea typeface="仿宋_GB2312" panose="02010609030101010101" pitchFamily="49" charset="-122"/>
                <a:cs typeface="Times New Roman" panose="02020603050405020304" pitchFamily="18" charset="0"/>
              </a:rPr>
              <a:t>页面设置</a:t>
            </a:r>
            <a:r>
              <a:rPr lang="en-US" altLang="zh-CN" sz="1800" dirty="0">
                <a:ea typeface="仿宋_GB2312" panose="02010609030101010101" pitchFamily="49" charset="-122"/>
                <a:cs typeface="Times New Roman" panose="02020603050405020304" pitchFamily="18" charset="0"/>
              </a:rPr>
              <a:t>”→“</a:t>
            </a:r>
            <a:r>
              <a:rPr lang="zh-CN" altLang="zh-CN" sz="1800" dirty="0">
                <a:solidFill>
                  <a:srgbClr val="FF0000"/>
                </a:solidFill>
                <a:ea typeface="仿宋_GB2312" panose="02010609030101010101" pitchFamily="49" charset="-122"/>
                <a:cs typeface="Times New Roman" panose="02020603050405020304" pitchFamily="18" charset="0"/>
              </a:rPr>
              <a:t>纸张</a:t>
            </a:r>
            <a:r>
              <a:rPr lang="en-US" altLang="zh-CN" sz="1800" dirty="0">
                <a:ea typeface="仿宋_GB2312" panose="02010609030101010101" pitchFamily="49" charset="-122"/>
                <a:cs typeface="Times New Roman" panose="02020603050405020304" pitchFamily="18" charset="0"/>
              </a:rPr>
              <a:t>”</a:t>
            </a:r>
            <a:r>
              <a:rPr lang="zh-CN" altLang="zh-CN" sz="1800" dirty="0">
                <a:ea typeface="仿宋_GB2312" panose="02010609030101010101" pitchFamily="49" charset="-122"/>
                <a:cs typeface="Times New Roman" panose="02020603050405020304" pitchFamily="18" charset="0"/>
              </a:rPr>
              <a:t>栏目下选择</a:t>
            </a:r>
            <a:r>
              <a:rPr lang="en-US" altLang="zh-CN" sz="1800" dirty="0">
                <a:ea typeface="仿宋_GB2312" panose="02010609030101010101" pitchFamily="49" charset="-122"/>
                <a:cs typeface="Times New Roman" panose="02020603050405020304" pitchFamily="18" charset="0"/>
              </a:rPr>
              <a:t>“</a:t>
            </a:r>
            <a:r>
              <a:rPr lang="en-US" altLang="zh-CN" sz="1800" dirty="0">
                <a:solidFill>
                  <a:srgbClr val="FF0000"/>
                </a:solidFill>
                <a:ea typeface="仿宋_GB2312" panose="02010609030101010101" pitchFamily="49" charset="-122"/>
                <a:cs typeface="Times New Roman" panose="02020603050405020304" pitchFamily="18" charset="0"/>
              </a:rPr>
              <a:t>A4</a:t>
            </a:r>
            <a:r>
              <a:rPr lang="zh-CN" altLang="zh-CN" sz="1800" dirty="0">
                <a:solidFill>
                  <a:srgbClr val="FF0000"/>
                </a:solidFill>
                <a:ea typeface="仿宋_GB2312" panose="02010609030101010101" pitchFamily="49" charset="-122"/>
                <a:cs typeface="Times New Roman" panose="02020603050405020304" pitchFamily="18" charset="0"/>
              </a:rPr>
              <a:t>（</a:t>
            </a:r>
            <a:r>
              <a:rPr lang="en-US" altLang="zh-CN" sz="1800" dirty="0">
                <a:solidFill>
                  <a:srgbClr val="FF0000"/>
                </a:solidFill>
                <a:ea typeface="仿宋_GB2312" panose="02010609030101010101" pitchFamily="49" charset="-122"/>
                <a:cs typeface="Times New Roman" panose="02020603050405020304" pitchFamily="18" charset="0"/>
              </a:rPr>
              <a:t>210×297mm</a:t>
            </a:r>
            <a:r>
              <a:rPr lang="zh-CN" altLang="zh-CN" sz="1800" dirty="0">
                <a:solidFill>
                  <a:srgbClr val="FF0000"/>
                </a:solidFill>
                <a:ea typeface="仿宋_GB2312" panose="02010609030101010101" pitchFamily="49" charset="-122"/>
                <a:cs typeface="Times New Roman" panose="02020603050405020304" pitchFamily="18" charset="0"/>
              </a:rPr>
              <a:t>）</a:t>
            </a:r>
            <a:r>
              <a:rPr lang="en-US" altLang="zh-CN" sz="1800" dirty="0">
                <a:ea typeface="仿宋_GB2312" panose="02010609030101010101" pitchFamily="49" charset="-122"/>
                <a:cs typeface="Times New Roman" panose="02020603050405020304" pitchFamily="18" charset="0"/>
              </a:rPr>
              <a:t>”</a:t>
            </a:r>
            <a:r>
              <a:rPr lang="zh-CN" altLang="zh-CN" sz="1800" dirty="0">
                <a:ea typeface="仿宋_GB2312" panose="02010609030101010101" pitchFamily="49" charset="-122"/>
                <a:cs typeface="Times New Roman" panose="02020603050405020304" pitchFamily="18" charset="0"/>
              </a:rPr>
              <a:t>。 </a:t>
            </a:r>
            <a:endParaRPr lang="zh-CN" altLang="zh-CN" sz="1800" dirty="0">
              <a:ea typeface="仿宋_GB2312" panose="02010609030101010101" pitchFamily="49" charset="-122"/>
              <a:cs typeface="Times New Roman" panose="02020603050405020304" pitchFamily="18" charset="0"/>
            </a:endParaRPr>
          </a:p>
          <a:p>
            <a:pPr algn="just" eaLnBrk="1" hangingPunct="1"/>
            <a:r>
              <a:rPr lang="zh-CN" altLang="en-US" sz="1800" dirty="0" smtClean="0">
                <a:ea typeface="仿宋_GB2312" panose="02010609030101010101" pitchFamily="49" charset="-122"/>
                <a:cs typeface="Times New Roman" panose="02020603050405020304" pitchFamily="18" charset="0"/>
              </a:rPr>
              <a:t>     </a:t>
            </a:r>
            <a:r>
              <a:rPr lang="zh-CN" altLang="en-US" sz="1800" b="1" dirty="0" smtClean="0">
                <a:ea typeface="仿宋_GB2312" panose="02010609030101010101" pitchFamily="49" charset="-122"/>
                <a:cs typeface="Times New Roman" panose="02020603050405020304" pitchFamily="18" charset="0"/>
              </a:rPr>
              <a:t>（</a:t>
            </a:r>
            <a:r>
              <a:rPr lang="en-US" altLang="zh-CN" sz="1800" b="1" dirty="0">
                <a:ea typeface="仿宋_GB2312" panose="02010609030101010101" pitchFamily="49" charset="-122"/>
                <a:cs typeface="Times New Roman" panose="02020603050405020304" pitchFamily="18" charset="0"/>
              </a:rPr>
              <a:t>3</a:t>
            </a:r>
            <a:r>
              <a:rPr lang="zh-CN" altLang="en-US" sz="1800" b="1" dirty="0" smtClean="0">
                <a:ea typeface="仿宋_GB2312" panose="02010609030101010101" pitchFamily="49" charset="-122"/>
                <a:cs typeface="Times New Roman" panose="02020603050405020304" pitchFamily="18" charset="0"/>
              </a:rPr>
              <a:t>）</a:t>
            </a:r>
            <a:r>
              <a:rPr lang="zh-CN" altLang="zh-CN" sz="1800" b="1" dirty="0" smtClean="0">
                <a:ea typeface="仿宋_GB2312" panose="02010609030101010101" pitchFamily="49" charset="-122"/>
                <a:cs typeface="Times New Roman" panose="02020603050405020304" pitchFamily="18" charset="0"/>
              </a:rPr>
              <a:t>文档</a:t>
            </a:r>
            <a:r>
              <a:rPr lang="zh-CN" altLang="zh-CN" sz="1800" b="1" dirty="0">
                <a:ea typeface="仿宋_GB2312" panose="02010609030101010101" pitchFamily="49" charset="-122"/>
                <a:cs typeface="Times New Roman" panose="02020603050405020304" pitchFamily="18" charset="0"/>
              </a:rPr>
              <a:t>网格。</a:t>
            </a:r>
            <a:r>
              <a:rPr lang="zh-CN" altLang="zh-CN" sz="1800" dirty="0">
                <a:ea typeface="仿宋_GB2312" panose="02010609030101010101" pitchFamily="49" charset="-122"/>
                <a:cs typeface="Times New Roman" panose="02020603050405020304" pitchFamily="18" charset="0"/>
              </a:rPr>
              <a:t>在</a:t>
            </a:r>
            <a:r>
              <a:rPr lang="en-US" altLang="zh-CN" sz="1800" dirty="0">
                <a:ea typeface="仿宋_GB2312" panose="02010609030101010101" pitchFamily="49" charset="-122"/>
                <a:cs typeface="Times New Roman" panose="02020603050405020304" pitchFamily="18" charset="0"/>
              </a:rPr>
              <a:t>“</a:t>
            </a:r>
            <a:r>
              <a:rPr lang="zh-CN" altLang="zh-CN" sz="1800" dirty="0">
                <a:solidFill>
                  <a:srgbClr val="FF0000"/>
                </a:solidFill>
                <a:ea typeface="仿宋_GB2312" panose="02010609030101010101" pitchFamily="49" charset="-122"/>
                <a:cs typeface="Times New Roman" panose="02020603050405020304" pitchFamily="18" charset="0"/>
              </a:rPr>
              <a:t>文件</a:t>
            </a:r>
            <a:r>
              <a:rPr lang="en-US" altLang="zh-CN" sz="1800" dirty="0">
                <a:ea typeface="仿宋_GB2312" panose="02010609030101010101" pitchFamily="49" charset="-122"/>
                <a:cs typeface="Times New Roman" panose="02020603050405020304" pitchFamily="18" charset="0"/>
              </a:rPr>
              <a:t>”→“</a:t>
            </a:r>
            <a:r>
              <a:rPr lang="zh-CN" altLang="zh-CN" sz="1800" dirty="0">
                <a:solidFill>
                  <a:srgbClr val="FF0000"/>
                </a:solidFill>
                <a:ea typeface="仿宋_GB2312" panose="02010609030101010101" pitchFamily="49" charset="-122"/>
                <a:cs typeface="Times New Roman" panose="02020603050405020304" pitchFamily="18" charset="0"/>
              </a:rPr>
              <a:t>页面设置</a:t>
            </a:r>
            <a:r>
              <a:rPr lang="en-US" altLang="zh-CN" sz="1800" dirty="0">
                <a:ea typeface="仿宋_GB2312" panose="02010609030101010101" pitchFamily="49" charset="-122"/>
                <a:cs typeface="Times New Roman" panose="02020603050405020304" pitchFamily="18" charset="0"/>
              </a:rPr>
              <a:t>”→“</a:t>
            </a:r>
            <a:r>
              <a:rPr lang="zh-CN" altLang="zh-CN" sz="1800" dirty="0">
                <a:solidFill>
                  <a:srgbClr val="FF0000"/>
                </a:solidFill>
                <a:ea typeface="仿宋_GB2312" panose="02010609030101010101" pitchFamily="49" charset="-122"/>
                <a:cs typeface="Times New Roman" panose="02020603050405020304" pitchFamily="18" charset="0"/>
              </a:rPr>
              <a:t>文档网格</a:t>
            </a:r>
            <a:r>
              <a:rPr lang="en-US" altLang="zh-CN" sz="1800" dirty="0">
                <a:ea typeface="仿宋_GB2312" panose="02010609030101010101" pitchFamily="49" charset="-122"/>
                <a:cs typeface="Times New Roman" panose="02020603050405020304" pitchFamily="18" charset="0"/>
              </a:rPr>
              <a:t>”→“</a:t>
            </a:r>
            <a:r>
              <a:rPr lang="zh-CN" altLang="zh-CN" sz="1800" dirty="0">
                <a:solidFill>
                  <a:srgbClr val="FF0000"/>
                </a:solidFill>
                <a:ea typeface="仿宋_GB2312" panose="02010609030101010101" pitchFamily="49" charset="-122"/>
                <a:cs typeface="Times New Roman" panose="02020603050405020304" pitchFamily="18" charset="0"/>
              </a:rPr>
              <a:t>网格</a:t>
            </a:r>
            <a:r>
              <a:rPr lang="en-US" altLang="zh-CN" sz="1800" dirty="0">
                <a:ea typeface="仿宋_GB2312" panose="02010609030101010101" pitchFamily="49" charset="-122"/>
                <a:cs typeface="Times New Roman" panose="02020603050405020304" pitchFamily="18" charset="0"/>
              </a:rPr>
              <a:t>”</a:t>
            </a:r>
            <a:r>
              <a:rPr lang="zh-CN" altLang="zh-CN" sz="1800" dirty="0">
                <a:ea typeface="仿宋_GB2312" panose="02010609030101010101" pitchFamily="49" charset="-122"/>
                <a:cs typeface="Times New Roman" panose="02020603050405020304" pitchFamily="18" charset="0"/>
              </a:rPr>
              <a:t>栏目下，选择</a:t>
            </a:r>
            <a:r>
              <a:rPr lang="en-US" altLang="zh-CN" sz="1800" dirty="0">
                <a:ea typeface="仿宋_GB2312" panose="02010609030101010101" pitchFamily="49" charset="-122"/>
                <a:cs typeface="Times New Roman" panose="02020603050405020304" pitchFamily="18" charset="0"/>
              </a:rPr>
              <a:t>“</a:t>
            </a:r>
            <a:r>
              <a:rPr lang="zh-CN" altLang="zh-CN" sz="1800" dirty="0">
                <a:solidFill>
                  <a:srgbClr val="FF0000"/>
                </a:solidFill>
                <a:ea typeface="仿宋_GB2312" panose="02010609030101010101" pitchFamily="49" charset="-122"/>
                <a:cs typeface="Times New Roman" panose="02020603050405020304" pitchFamily="18" charset="0"/>
              </a:rPr>
              <a:t>指定行和字符网格</a:t>
            </a:r>
            <a:r>
              <a:rPr lang="en-US" altLang="zh-CN" sz="1800" dirty="0">
                <a:ea typeface="仿宋_GB2312" panose="02010609030101010101" pitchFamily="49" charset="-122"/>
                <a:cs typeface="Times New Roman" panose="02020603050405020304" pitchFamily="18" charset="0"/>
              </a:rPr>
              <a:t>”</a:t>
            </a:r>
            <a:r>
              <a:rPr lang="zh-CN" altLang="zh-CN" sz="1800" dirty="0">
                <a:ea typeface="仿宋_GB2312" panose="02010609030101010101" pitchFamily="49" charset="-122"/>
                <a:cs typeface="Times New Roman" panose="02020603050405020304" pitchFamily="18" charset="0"/>
              </a:rPr>
              <a:t>。在</a:t>
            </a:r>
            <a:r>
              <a:rPr lang="en-US" altLang="zh-CN" sz="1800" dirty="0">
                <a:ea typeface="仿宋_GB2312" panose="02010609030101010101" pitchFamily="49" charset="-122"/>
                <a:cs typeface="Times New Roman" panose="02020603050405020304" pitchFamily="18" charset="0"/>
              </a:rPr>
              <a:t>“</a:t>
            </a:r>
            <a:r>
              <a:rPr lang="zh-CN" altLang="zh-CN" sz="1800" dirty="0">
                <a:solidFill>
                  <a:srgbClr val="FF0000"/>
                </a:solidFill>
                <a:ea typeface="仿宋_GB2312" panose="02010609030101010101" pitchFamily="49" charset="-122"/>
                <a:cs typeface="Times New Roman" panose="02020603050405020304" pitchFamily="18" charset="0"/>
              </a:rPr>
              <a:t>字符</a:t>
            </a:r>
            <a:r>
              <a:rPr lang="en-US" altLang="zh-CN" sz="1800" dirty="0">
                <a:ea typeface="仿宋_GB2312" panose="02010609030101010101" pitchFamily="49" charset="-122"/>
                <a:cs typeface="Times New Roman" panose="02020603050405020304" pitchFamily="18" charset="0"/>
              </a:rPr>
              <a:t>”</a:t>
            </a:r>
            <a:r>
              <a:rPr lang="zh-CN" altLang="zh-CN" sz="1800" dirty="0">
                <a:ea typeface="仿宋_GB2312" panose="02010609030101010101" pitchFamily="49" charset="-122"/>
                <a:cs typeface="Times New Roman" panose="02020603050405020304" pitchFamily="18" charset="0"/>
              </a:rPr>
              <a:t>栏目下，每行提示选择</a:t>
            </a:r>
            <a:r>
              <a:rPr lang="en-US" altLang="zh-CN" sz="1800" dirty="0">
                <a:ea typeface="仿宋_GB2312" panose="02010609030101010101" pitchFamily="49" charset="-122"/>
                <a:cs typeface="Times New Roman" panose="02020603050405020304" pitchFamily="18" charset="0"/>
              </a:rPr>
              <a:t>“</a:t>
            </a:r>
            <a:r>
              <a:rPr lang="en-US" altLang="zh-CN" sz="1800" dirty="0">
                <a:solidFill>
                  <a:srgbClr val="FF0000"/>
                </a:solidFill>
                <a:ea typeface="仿宋_GB2312" panose="02010609030101010101" pitchFamily="49" charset="-122"/>
                <a:cs typeface="Times New Roman" panose="02020603050405020304" pitchFamily="18" charset="0"/>
              </a:rPr>
              <a:t>44</a:t>
            </a:r>
            <a:r>
              <a:rPr lang="en-US" altLang="zh-CN" sz="1800" dirty="0">
                <a:ea typeface="仿宋_GB2312" panose="02010609030101010101" pitchFamily="49" charset="-122"/>
                <a:cs typeface="Times New Roman" panose="02020603050405020304" pitchFamily="18" charset="0"/>
              </a:rPr>
              <a:t>”</a:t>
            </a:r>
            <a:r>
              <a:rPr lang="zh-CN" altLang="zh-CN" sz="1800" dirty="0">
                <a:ea typeface="仿宋_GB2312" panose="02010609030101010101" pitchFamily="49" charset="-122"/>
                <a:cs typeface="Times New Roman" panose="02020603050405020304" pitchFamily="18" charset="0"/>
              </a:rPr>
              <a:t>；跨度选择</a:t>
            </a:r>
            <a:r>
              <a:rPr lang="en-US" altLang="zh-CN" sz="1800" dirty="0">
                <a:ea typeface="仿宋_GB2312" panose="02010609030101010101" pitchFamily="49" charset="-122"/>
                <a:cs typeface="Times New Roman" panose="02020603050405020304" pitchFamily="18" charset="0"/>
              </a:rPr>
              <a:t>“</a:t>
            </a:r>
            <a:r>
              <a:rPr lang="en-US" altLang="zh-CN" sz="1800" dirty="0">
                <a:solidFill>
                  <a:srgbClr val="FF0000"/>
                </a:solidFill>
                <a:ea typeface="仿宋_GB2312" panose="02010609030101010101" pitchFamily="49" charset="-122"/>
                <a:cs typeface="Times New Roman" panose="02020603050405020304" pitchFamily="18" charset="0"/>
              </a:rPr>
              <a:t>10.05</a:t>
            </a:r>
            <a:r>
              <a:rPr lang="zh-CN" altLang="zh-CN" sz="1800" dirty="0">
                <a:solidFill>
                  <a:srgbClr val="FF0000"/>
                </a:solidFill>
                <a:ea typeface="仿宋_GB2312" panose="02010609030101010101" pitchFamily="49" charset="-122"/>
                <a:cs typeface="Times New Roman" panose="02020603050405020304" pitchFamily="18" charset="0"/>
              </a:rPr>
              <a:t>磅</a:t>
            </a:r>
            <a:r>
              <a:rPr lang="en-US" altLang="zh-CN" sz="1800" dirty="0">
                <a:ea typeface="仿宋_GB2312" panose="02010609030101010101" pitchFamily="49" charset="-122"/>
                <a:cs typeface="Times New Roman" panose="02020603050405020304" pitchFamily="18" charset="0"/>
              </a:rPr>
              <a:t>”</a:t>
            </a:r>
            <a:r>
              <a:rPr lang="zh-CN" altLang="zh-CN" sz="1800" dirty="0">
                <a:ea typeface="仿宋_GB2312" panose="02010609030101010101" pitchFamily="49" charset="-122"/>
                <a:cs typeface="Times New Roman" panose="02020603050405020304" pitchFamily="18" charset="0"/>
              </a:rPr>
              <a:t>。在</a:t>
            </a:r>
            <a:r>
              <a:rPr lang="en-US" altLang="zh-CN" sz="1800" dirty="0">
                <a:ea typeface="仿宋_GB2312" panose="02010609030101010101" pitchFamily="49" charset="-122"/>
                <a:cs typeface="Times New Roman" panose="02020603050405020304" pitchFamily="18" charset="0"/>
              </a:rPr>
              <a:t>“</a:t>
            </a:r>
            <a:r>
              <a:rPr lang="zh-CN" altLang="zh-CN" sz="1800" dirty="0">
                <a:solidFill>
                  <a:srgbClr val="FF0000"/>
                </a:solidFill>
                <a:ea typeface="仿宋_GB2312" panose="02010609030101010101" pitchFamily="49" charset="-122"/>
                <a:cs typeface="Times New Roman" panose="02020603050405020304" pitchFamily="18" charset="0"/>
              </a:rPr>
              <a:t>行</a:t>
            </a:r>
            <a:r>
              <a:rPr lang="en-US" altLang="zh-CN" sz="1800" dirty="0">
                <a:ea typeface="仿宋_GB2312" panose="02010609030101010101" pitchFamily="49" charset="-122"/>
                <a:cs typeface="Times New Roman" panose="02020603050405020304" pitchFamily="18" charset="0"/>
              </a:rPr>
              <a:t>”</a:t>
            </a:r>
            <a:r>
              <a:rPr lang="zh-CN" altLang="zh-CN" sz="1800" dirty="0">
                <a:ea typeface="仿宋_GB2312" panose="02010609030101010101" pitchFamily="49" charset="-122"/>
                <a:cs typeface="Times New Roman" panose="02020603050405020304" pitchFamily="18" charset="0"/>
              </a:rPr>
              <a:t>栏目下，选择每页：</a:t>
            </a:r>
            <a:r>
              <a:rPr lang="en-US" altLang="zh-CN" sz="1800" dirty="0">
                <a:ea typeface="仿宋_GB2312" panose="02010609030101010101" pitchFamily="49" charset="-122"/>
                <a:cs typeface="Times New Roman" panose="02020603050405020304" pitchFamily="18" charset="0"/>
              </a:rPr>
              <a:t>“</a:t>
            </a:r>
            <a:r>
              <a:rPr lang="en-US" altLang="zh-CN" sz="1800" dirty="0">
                <a:solidFill>
                  <a:srgbClr val="FF0000"/>
                </a:solidFill>
                <a:ea typeface="仿宋_GB2312" panose="02010609030101010101" pitchFamily="49" charset="-122"/>
                <a:cs typeface="Times New Roman" panose="02020603050405020304" pitchFamily="18" charset="0"/>
              </a:rPr>
              <a:t>22</a:t>
            </a:r>
            <a:r>
              <a:rPr lang="en-US" altLang="zh-CN" sz="1800" dirty="0">
                <a:ea typeface="仿宋_GB2312" panose="02010609030101010101" pitchFamily="49" charset="-122"/>
                <a:cs typeface="Times New Roman" panose="02020603050405020304" pitchFamily="18" charset="0"/>
              </a:rPr>
              <a:t>”</a:t>
            </a:r>
            <a:r>
              <a:rPr lang="zh-CN" altLang="zh-CN" sz="1800" dirty="0">
                <a:ea typeface="仿宋_GB2312" panose="02010609030101010101" pitchFamily="49" charset="-122"/>
                <a:cs typeface="Times New Roman" panose="02020603050405020304" pitchFamily="18" charset="0"/>
              </a:rPr>
              <a:t>；跨度选择</a:t>
            </a:r>
            <a:r>
              <a:rPr lang="en-US" altLang="zh-CN" sz="1800" dirty="0">
                <a:ea typeface="仿宋_GB2312" panose="02010609030101010101" pitchFamily="49" charset="-122"/>
                <a:cs typeface="Times New Roman" panose="02020603050405020304" pitchFamily="18" charset="0"/>
              </a:rPr>
              <a:t>“</a:t>
            </a:r>
            <a:r>
              <a:rPr lang="en-US" altLang="zh-CN" sz="1800" dirty="0">
                <a:solidFill>
                  <a:srgbClr val="FF0000"/>
                </a:solidFill>
                <a:ea typeface="仿宋_GB2312" panose="02010609030101010101" pitchFamily="49" charset="-122"/>
                <a:cs typeface="Times New Roman" panose="02020603050405020304" pitchFamily="18" charset="0"/>
              </a:rPr>
              <a:t>28.95</a:t>
            </a:r>
            <a:r>
              <a:rPr lang="zh-CN" altLang="zh-CN" sz="1800" dirty="0">
                <a:solidFill>
                  <a:srgbClr val="FF0000"/>
                </a:solidFill>
                <a:ea typeface="仿宋_GB2312" panose="02010609030101010101" pitchFamily="49" charset="-122"/>
                <a:cs typeface="Times New Roman" panose="02020603050405020304" pitchFamily="18" charset="0"/>
              </a:rPr>
              <a:t>磅</a:t>
            </a:r>
            <a:r>
              <a:rPr lang="en-US" altLang="zh-CN" sz="1800" dirty="0">
                <a:ea typeface="仿宋_GB2312" panose="02010609030101010101" pitchFamily="49" charset="-122"/>
                <a:cs typeface="Times New Roman" panose="02020603050405020304" pitchFamily="18" charset="0"/>
              </a:rPr>
              <a:t>”</a:t>
            </a:r>
            <a:r>
              <a:rPr lang="zh-CN" altLang="zh-CN" sz="1800" dirty="0">
                <a:ea typeface="仿宋_GB2312" panose="02010609030101010101" pitchFamily="49" charset="-122"/>
                <a:cs typeface="Times New Roman" panose="02020603050405020304" pitchFamily="18" charset="0"/>
              </a:rPr>
              <a:t>。点击</a:t>
            </a:r>
            <a:r>
              <a:rPr lang="en-US" altLang="zh-CN" sz="1800" dirty="0">
                <a:ea typeface="仿宋_GB2312" panose="02010609030101010101" pitchFamily="49" charset="-122"/>
                <a:cs typeface="Times New Roman" panose="02020603050405020304" pitchFamily="18" charset="0"/>
              </a:rPr>
              <a:t>“</a:t>
            </a:r>
            <a:r>
              <a:rPr lang="zh-CN" altLang="zh-CN" sz="1800" dirty="0">
                <a:solidFill>
                  <a:srgbClr val="FF0000"/>
                </a:solidFill>
                <a:ea typeface="仿宋_GB2312" panose="02010609030101010101" pitchFamily="49" charset="-122"/>
                <a:cs typeface="Times New Roman" panose="02020603050405020304" pitchFamily="18" charset="0"/>
              </a:rPr>
              <a:t>确定</a:t>
            </a:r>
            <a:r>
              <a:rPr lang="en-US" altLang="zh-CN" sz="1800" dirty="0">
                <a:ea typeface="仿宋_GB2312" panose="02010609030101010101" pitchFamily="49" charset="-122"/>
                <a:cs typeface="Times New Roman" panose="02020603050405020304" pitchFamily="18" charset="0"/>
              </a:rPr>
              <a:t>”</a:t>
            </a:r>
            <a:r>
              <a:rPr lang="zh-CN" altLang="zh-CN" sz="1800" dirty="0">
                <a:ea typeface="仿宋_GB2312" panose="02010609030101010101" pitchFamily="49" charset="-122"/>
                <a:cs typeface="Times New Roman" panose="02020603050405020304" pitchFamily="18" charset="0"/>
              </a:rPr>
              <a:t>完成操作。 </a:t>
            </a:r>
            <a:endParaRPr lang="zh-CN" altLang="zh-CN" sz="1800" dirty="0">
              <a:ea typeface="仿宋_GB2312" panose="02010609030101010101" pitchFamily="49" charset="-122"/>
              <a:cs typeface="Times New Roman" panose="02020603050405020304" pitchFamily="18" charset="0"/>
            </a:endParaRPr>
          </a:p>
          <a:p>
            <a:pPr marL="342900" eaLnBrk="1" hangingPunct="1">
              <a:lnSpc>
                <a:spcPct val="90000"/>
              </a:lnSpc>
              <a:spcBef>
                <a:spcPct val="20000"/>
              </a:spcBef>
              <a:buClr>
                <a:srgbClr val="0066CC"/>
              </a:buClr>
            </a:pPr>
            <a:endParaRPr lang="zh-CN" altLang="en-US" sz="2000" dirty="0">
              <a:ea typeface="仿宋_GB2312" panose="02010609030101010101" pitchFamily="49" charset="-122"/>
              <a:cs typeface="Times New Roman" panose="02020603050405020304" pitchFamily="18" charset="0"/>
            </a:endParaRPr>
          </a:p>
        </p:txBody>
      </p:sp>
      <p:pic>
        <p:nvPicPr>
          <p:cNvPr id="9" name="图片 8"/>
          <p:cNvPicPr>
            <a:picLocks noChangeAspect="1"/>
          </p:cNvPicPr>
          <p:nvPr/>
        </p:nvPicPr>
        <p:blipFill>
          <a:blip r:embed="rId3"/>
          <a:stretch>
            <a:fillRect/>
          </a:stretch>
        </p:blipFill>
        <p:spPr>
          <a:xfrm>
            <a:off x="575945" y="297180"/>
            <a:ext cx="1685925" cy="419100"/>
          </a:xfrm>
          <a:prstGeom prst="rect">
            <a:avLst/>
          </a:prstGeom>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right)">
                                      <p:cBhvr>
                                        <p:cTn id="8" dur="500"/>
                                        <p:tgtEl>
                                          <p:spTgt spid="8"/>
                                        </p:tgtEl>
                                      </p:cBhvr>
                                    </p:animEffect>
                                  </p:childTnLst>
                                </p:cTn>
                              </p:par>
                              <p:par>
                                <p:cTn id="9" presetID="12" presetClass="entr" presetSubtype="8" fill="hold" grpId="1"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250"/>
                                        <p:tgtEl>
                                          <p:spTgt spid="14"/>
                                        </p:tgtEl>
                                        <p:attrNameLst>
                                          <p:attrName>ppt_x</p:attrName>
                                        </p:attrNameLst>
                                      </p:cBhvr>
                                      <p:tavLst>
                                        <p:tav tm="0">
                                          <p:val>
                                            <p:strVal val="#ppt_x-#ppt_w*1.125000"/>
                                          </p:val>
                                        </p:tav>
                                        <p:tav tm="100000">
                                          <p:val>
                                            <p:strVal val="#ppt_x"/>
                                          </p:val>
                                        </p:tav>
                                      </p:tavLst>
                                    </p:anim>
                                    <p:animEffect transition="in" filter="wipe(right)">
                                      <p:cBhvr>
                                        <p:cTn id="12" dur="250"/>
                                        <p:tgtEl>
                                          <p:spTgt spid="14"/>
                                        </p:tgtEl>
                                      </p:cBhvr>
                                    </p:animEffect>
                                  </p:childTnLst>
                                </p:cTn>
                              </p:par>
                              <p:par>
                                <p:cTn id="13" presetID="42"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1000"/>
                                        <p:tgtEl>
                                          <p:spTgt spid="13"/>
                                        </p:tgtEl>
                                      </p:cBhvr>
                                    </p:animEffect>
                                    <p:anim calcmode="lin" valueType="num">
                                      <p:cBhvr>
                                        <p:cTn id="16" dur="1000" fill="hold"/>
                                        <p:tgtEl>
                                          <p:spTgt spid="13"/>
                                        </p:tgtEl>
                                        <p:attrNameLst>
                                          <p:attrName>ppt_x</p:attrName>
                                        </p:attrNameLst>
                                      </p:cBhvr>
                                      <p:tavLst>
                                        <p:tav tm="0">
                                          <p:val>
                                            <p:strVal val="#ppt_x"/>
                                          </p:val>
                                        </p:tav>
                                        <p:tav tm="100000">
                                          <p:val>
                                            <p:strVal val="#ppt_x"/>
                                          </p:val>
                                        </p:tav>
                                      </p:tavLst>
                                    </p:anim>
                                    <p:anim calcmode="lin" valueType="num">
                                      <p:cBhvr>
                                        <p:cTn id="17"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E:\曹飞\2017\2017-8-8地铁PPT\6.png6"/>
          <p:cNvPicPr>
            <a:picLocks noChangeAspect="1"/>
          </p:cNvPicPr>
          <p:nvPr/>
        </p:nvPicPr>
        <p:blipFill>
          <a:blip r:embed="rId1" cstate="email"/>
          <a:srcRect/>
          <a:stretch>
            <a:fillRect/>
          </a:stretch>
        </p:blipFill>
        <p:spPr>
          <a:xfrm>
            <a:off x="2261712" y="239317"/>
            <a:ext cx="6463189" cy="343376"/>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pic>
        <p:nvPicPr>
          <p:cNvPr id="13" name="图片 12" descr="E:\曹飞\2017\2017-8-8地铁PPT\7.png7"/>
          <p:cNvPicPr>
            <a:picLocks noChangeAspect="1"/>
          </p:cNvPicPr>
          <p:nvPr/>
        </p:nvPicPr>
        <p:blipFill>
          <a:blip r:embed="rId2" cstate="email"/>
          <a:srcRect/>
          <a:stretch>
            <a:fillRect/>
          </a:stretch>
        </p:blipFill>
        <p:spPr>
          <a:xfrm>
            <a:off x="-6667" y="4477465"/>
            <a:ext cx="9168289" cy="668179"/>
          </a:xfrm>
          <a:prstGeom prst="rect">
            <a:avLst/>
          </a:prstGeom>
        </p:spPr>
      </p:pic>
      <p:sp>
        <p:nvSpPr>
          <p:cNvPr id="41" name="Text Box 2"/>
          <p:cNvSpPr txBox="1">
            <a:spLocks noChangeArrowheads="1"/>
          </p:cNvSpPr>
          <p:nvPr/>
        </p:nvSpPr>
        <p:spPr bwMode="auto">
          <a:xfrm>
            <a:off x="577199" y="1275606"/>
            <a:ext cx="7938142" cy="289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r>
              <a:rPr lang="en-US" altLang="zh-CN" sz="2000" dirty="0" smtClean="0">
                <a:ea typeface="仿宋_GB2312" panose="02010609030101010101" pitchFamily="49" charset="-122"/>
                <a:cs typeface="Times New Roman" panose="02020603050405020304" pitchFamily="18" charset="0"/>
              </a:rPr>
              <a:t>        2</a:t>
            </a:r>
            <a:r>
              <a:rPr lang="en-US" altLang="zh-CN" sz="2000" dirty="0">
                <a:ea typeface="仿宋_GB2312" panose="02010609030101010101" pitchFamily="49" charset="-122"/>
                <a:cs typeface="Times New Roman" panose="02020603050405020304" pitchFamily="18" charset="0"/>
              </a:rPr>
              <a:t>.</a:t>
            </a:r>
            <a:r>
              <a:rPr lang="zh-CN" altLang="zh-CN" sz="2000" dirty="0">
                <a:ea typeface="仿宋_GB2312" panose="02010609030101010101" pitchFamily="49" charset="-122"/>
                <a:cs typeface="Times New Roman" panose="02020603050405020304" pitchFamily="18" charset="0"/>
              </a:rPr>
              <a:t>排版规格</a:t>
            </a:r>
            <a:endParaRPr lang="zh-CN" altLang="zh-CN" sz="2000" dirty="0">
              <a:ea typeface="仿宋_GB2312" panose="02010609030101010101" pitchFamily="49" charset="-122"/>
              <a:cs typeface="Times New Roman" panose="02020603050405020304" pitchFamily="18" charset="0"/>
            </a:endParaRPr>
          </a:p>
          <a:p>
            <a:pPr algn="just"/>
            <a:r>
              <a:rPr lang="zh-CN" altLang="en-US" sz="2000" dirty="0" smtClean="0">
                <a:ea typeface="仿宋_GB2312" panose="02010609030101010101" pitchFamily="49" charset="-122"/>
                <a:cs typeface="Times New Roman" panose="02020603050405020304" pitchFamily="18" charset="0"/>
              </a:rPr>
              <a:t>       （</a:t>
            </a:r>
            <a:r>
              <a:rPr lang="en-US" altLang="zh-CN" sz="2000" dirty="0">
                <a:ea typeface="仿宋_GB2312" panose="02010609030101010101" pitchFamily="49" charset="-122"/>
                <a:cs typeface="Times New Roman" panose="02020603050405020304" pitchFamily="18" charset="0"/>
              </a:rPr>
              <a:t>1</a:t>
            </a:r>
            <a:r>
              <a:rPr lang="zh-CN" altLang="en-US" sz="2000" dirty="0" smtClean="0">
                <a:ea typeface="仿宋_GB2312" panose="02010609030101010101" pitchFamily="49" charset="-122"/>
                <a:cs typeface="Times New Roman" panose="02020603050405020304" pitchFamily="18" charset="0"/>
              </a:rPr>
              <a:t>）</a:t>
            </a:r>
            <a:r>
              <a:rPr lang="zh-CN" altLang="zh-CN" sz="2000" dirty="0" smtClean="0">
                <a:ea typeface="仿宋_GB2312" panose="02010609030101010101" pitchFamily="49" charset="-122"/>
                <a:cs typeface="Times New Roman" panose="02020603050405020304" pitchFamily="18" charset="0"/>
              </a:rPr>
              <a:t>标题</a:t>
            </a:r>
            <a:r>
              <a:rPr lang="zh-CN" altLang="zh-CN" sz="2000" dirty="0">
                <a:ea typeface="仿宋_GB2312" panose="02010609030101010101" pitchFamily="49" charset="-122"/>
                <a:cs typeface="Times New Roman" panose="02020603050405020304" pitchFamily="18" charset="0"/>
              </a:rPr>
              <a:t>用</a:t>
            </a:r>
            <a:r>
              <a:rPr lang="en-US" altLang="zh-CN" sz="2000" dirty="0">
                <a:ea typeface="仿宋_GB2312" panose="02010609030101010101" pitchFamily="49" charset="-122"/>
                <a:cs typeface="Times New Roman" panose="02020603050405020304" pitchFamily="18" charset="0"/>
              </a:rPr>
              <a:t>2</a:t>
            </a:r>
            <a:r>
              <a:rPr lang="zh-CN" altLang="zh-CN" sz="2000" dirty="0">
                <a:ea typeface="仿宋_GB2312" panose="02010609030101010101" pitchFamily="49" charset="-122"/>
                <a:cs typeface="Times New Roman" panose="02020603050405020304" pitchFamily="18" charset="0"/>
              </a:rPr>
              <a:t>号</a:t>
            </a:r>
            <a:r>
              <a:rPr lang="zh-CN" altLang="en-US" sz="2000" dirty="0">
                <a:ea typeface="仿宋_GB2312" panose="02010609030101010101" pitchFamily="49" charset="-122"/>
                <a:cs typeface="Times New Roman" panose="02020603050405020304" pitchFamily="18" charset="0"/>
              </a:rPr>
              <a:t>小标</a:t>
            </a:r>
            <a:r>
              <a:rPr lang="zh-CN" altLang="zh-CN" sz="2000" dirty="0">
                <a:ea typeface="仿宋_GB2312" panose="02010609030101010101" pitchFamily="49" charset="-122"/>
                <a:cs typeface="Times New Roman" panose="02020603050405020304" pitchFamily="18" charset="0"/>
              </a:rPr>
              <a:t>宋体</a:t>
            </a:r>
            <a:r>
              <a:rPr lang="zh-CN" altLang="en-US" sz="2000" dirty="0">
                <a:ea typeface="仿宋_GB2312" panose="02010609030101010101" pitchFamily="49" charset="-122"/>
                <a:cs typeface="Times New Roman" panose="02020603050405020304" pitchFamily="18" charset="0"/>
              </a:rPr>
              <a:t>字</a:t>
            </a:r>
            <a:r>
              <a:rPr lang="zh-CN" altLang="zh-CN" sz="2000" dirty="0">
                <a:ea typeface="仿宋_GB2312" panose="02010609030101010101" pitchFamily="49" charset="-122"/>
                <a:cs typeface="Times New Roman" panose="02020603050405020304" pitchFamily="18" charset="0"/>
              </a:rPr>
              <a:t>，正文用</a:t>
            </a:r>
            <a:r>
              <a:rPr lang="en-US" altLang="zh-CN" sz="2000" dirty="0">
                <a:ea typeface="仿宋_GB2312" panose="02010609030101010101" pitchFamily="49" charset="-122"/>
                <a:cs typeface="Times New Roman" panose="02020603050405020304" pitchFamily="18" charset="0"/>
              </a:rPr>
              <a:t>3</a:t>
            </a:r>
            <a:r>
              <a:rPr lang="zh-CN" altLang="zh-CN" sz="2000" dirty="0">
                <a:ea typeface="仿宋_GB2312" panose="02010609030101010101" pitchFamily="49" charset="-122"/>
                <a:cs typeface="Times New Roman" panose="02020603050405020304" pitchFamily="18" charset="0"/>
              </a:rPr>
              <a:t>号</a:t>
            </a:r>
            <a:r>
              <a:rPr lang="zh-CN" altLang="zh-CN" sz="2000" dirty="0" smtClean="0">
                <a:ea typeface="仿宋_GB2312" panose="02010609030101010101" pitchFamily="49" charset="-122"/>
                <a:cs typeface="Times New Roman" panose="02020603050405020304" pitchFamily="18" charset="0"/>
              </a:rPr>
              <a:t>仿宋</a:t>
            </a:r>
            <a:r>
              <a:rPr lang="zh-CN" altLang="en-US" sz="2000" dirty="0">
                <a:ea typeface="仿宋_GB2312" panose="02010609030101010101" pitchFamily="49" charset="-122"/>
                <a:cs typeface="Times New Roman" panose="02020603050405020304" pitchFamily="18" charset="0"/>
              </a:rPr>
              <a:t>－ </a:t>
            </a:r>
            <a:r>
              <a:rPr lang="en-US" altLang="zh-CN" sz="2000" dirty="0" smtClean="0">
                <a:ea typeface="仿宋_GB2312" panose="02010609030101010101" pitchFamily="49" charset="-122"/>
                <a:cs typeface="Times New Roman" panose="02020603050405020304" pitchFamily="18" charset="0"/>
              </a:rPr>
              <a:t>GB2312</a:t>
            </a:r>
            <a:r>
              <a:rPr lang="zh-CN" altLang="zh-CN" sz="2000" dirty="0">
                <a:ea typeface="仿宋_GB2312" panose="02010609030101010101" pitchFamily="49" charset="-122"/>
                <a:cs typeface="Times New Roman" panose="02020603050405020304" pitchFamily="18" charset="0"/>
              </a:rPr>
              <a:t>字</a:t>
            </a:r>
            <a:r>
              <a:rPr lang="zh-CN" altLang="en-US" sz="2000" dirty="0">
                <a:ea typeface="仿宋_GB2312" panose="02010609030101010101" pitchFamily="49" charset="-122"/>
                <a:cs typeface="Times New Roman" panose="02020603050405020304" pitchFamily="18" charset="0"/>
              </a:rPr>
              <a:t>，</a:t>
            </a:r>
            <a:r>
              <a:rPr lang="zh-CN" altLang="zh-CN" sz="2000" dirty="0">
                <a:ea typeface="仿宋_GB2312" panose="02010609030101010101" pitchFamily="49" charset="-122"/>
                <a:cs typeface="Times New Roman" panose="02020603050405020304" pitchFamily="18" charset="0"/>
              </a:rPr>
              <a:t>一级标题用</a:t>
            </a:r>
            <a:r>
              <a:rPr lang="zh-CN" altLang="en-US" sz="2000" dirty="0">
                <a:ea typeface="仿宋_GB2312" panose="02010609030101010101" pitchFamily="49" charset="-122"/>
                <a:cs typeface="Times New Roman" panose="02020603050405020304" pitchFamily="18" charset="0"/>
              </a:rPr>
              <a:t>三号</a:t>
            </a:r>
            <a:r>
              <a:rPr lang="zh-CN" altLang="zh-CN" sz="2000" dirty="0">
                <a:ea typeface="仿宋_GB2312" panose="02010609030101010101" pitchFamily="49" charset="-122"/>
                <a:cs typeface="Times New Roman" panose="02020603050405020304" pitchFamily="18" charset="0"/>
              </a:rPr>
              <a:t>黑体字，二级标题用</a:t>
            </a:r>
            <a:r>
              <a:rPr lang="zh-CN" altLang="en-US" sz="2000" dirty="0">
                <a:ea typeface="仿宋_GB2312" panose="02010609030101010101" pitchFamily="49" charset="-122"/>
                <a:cs typeface="Times New Roman" panose="02020603050405020304" pitchFamily="18" charset="0"/>
              </a:rPr>
              <a:t>三号</a:t>
            </a:r>
            <a:r>
              <a:rPr lang="zh-CN" altLang="zh-CN" sz="2000" dirty="0">
                <a:ea typeface="仿宋_GB2312" panose="02010609030101010101" pitchFamily="49" charset="-122"/>
                <a:cs typeface="Times New Roman" panose="02020603050405020304" pitchFamily="18" charset="0"/>
              </a:rPr>
              <a:t>楷体</a:t>
            </a:r>
            <a:r>
              <a:rPr lang="zh-CN" altLang="en-US" sz="2000" dirty="0">
                <a:ea typeface="仿宋_GB2312" panose="02010609030101010101" pitchFamily="49" charset="-122"/>
                <a:cs typeface="Times New Roman" panose="02020603050405020304" pitchFamily="18" charset="0"/>
              </a:rPr>
              <a:t>－</a:t>
            </a:r>
            <a:r>
              <a:rPr lang="en-US" altLang="zh-CN" sz="2000" dirty="0">
                <a:ea typeface="仿宋_GB2312" panose="02010609030101010101" pitchFamily="49" charset="-122"/>
                <a:cs typeface="Times New Roman" panose="02020603050405020304" pitchFamily="18" charset="0"/>
              </a:rPr>
              <a:t>GB2312</a:t>
            </a:r>
            <a:r>
              <a:rPr lang="zh-CN" altLang="zh-CN" sz="2000" dirty="0">
                <a:ea typeface="仿宋_GB2312" panose="02010609030101010101" pitchFamily="49" charset="-122"/>
                <a:cs typeface="Times New Roman" panose="02020603050405020304" pitchFamily="18" charset="0"/>
              </a:rPr>
              <a:t>字</a:t>
            </a:r>
            <a:r>
              <a:rPr lang="zh-CN" altLang="en-US" sz="2000" dirty="0">
                <a:ea typeface="仿宋_GB2312" panose="02010609030101010101" pitchFamily="49" charset="-122"/>
                <a:cs typeface="Times New Roman" panose="02020603050405020304" pitchFamily="18" charset="0"/>
              </a:rPr>
              <a:t>，三级标题用仿宋－</a:t>
            </a:r>
            <a:r>
              <a:rPr lang="en-US" altLang="zh-CN" sz="2000" dirty="0">
                <a:ea typeface="仿宋_GB2312" panose="02010609030101010101" pitchFamily="49" charset="-122"/>
                <a:cs typeface="Times New Roman" panose="02020603050405020304" pitchFamily="18" charset="0"/>
              </a:rPr>
              <a:t>GB2312</a:t>
            </a:r>
            <a:r>
              <a:rPr lang="zh-CN" altLang="en-US" sz="2000" dirty="0">
                <a:ea typeface="仿宋_GB2312" panose="02010609030101010101" pitchFamily="49" charset="-122"/>
                <a:cs typeface="Times New Roman" panose="02020603050405020304" pitchFamily="18" charset="0"/>
              </a:rPr>
              <a:t>字</a:t>
            </a:r>
            <a:r>
              <a:rPr lang="zh-CN" altLang="zh-CN" sz="2000" dirty="0">
                <a:ea typeface="仿宋_GB2312" panose="02010609030101010101" pitchFamily="49" charset="-122"/>
                <a:cs typeface="Times New Roman" panose="02020603050405020304" pitchFamily="18" charset="0"/>
              </a:rPr>
              <a:t>。</a:t>
            </a:r>
            <a:endParaRPr lang="en-US" altLang="zh-CN" sz="2000" dirty="0">
              <a:ea typeface="仿宋_GB2312" panose="02010609030101010101" pitchFamily="49" charset="-122"/>
              <a:cs typeface="Times New Roman" panose="02020603050405020304" pitchFamily="18" charset="0"/>
            </a:endParaRPr>
          </a:p>
          <a:p>
            <a:pPr algn="just"/>
            <a:r>
              <a:rPr lang="zh-CN" altLang="en-US" sz="2000" dirty="0" smtClean="0">
                <a:ea typeface="仿宋_GB2312" panose="02010609030101010101" pitchFamily="49" charset="-122"/>
                <a:cs typeface="Times New Roman" panose="02020603050405020304" pitchFamily="18" charset="0"/>
              </a:rPr>
              <a:t>       （</a:t>
            </a:r>
            <a:r>
              <a:rPr lang="en-US" altLang="zh-CN" sz="2000" dirty="0">
                <a:ea typeface="仿宋_GB2312" panose="02010609030101010101" pitchFamily="49" charset="-122"/>
                <a:cs typeface="Times New Roman" panose="02020603050405020304" pitchFamily="18" charset="0"/>
              </a:rPr>
              <a:t>2</a:t>
            </a:r>
            <a:r>
              <a:rPr lang="zh-CN" altLang="en-US" sz="2000" dirty="0" smtClean="0">
                <a:ea typeface="仿宋_GB2312" panose="02010609030101010101" pitchFamily="49" charset="-122"/>
                <a:cs typeface="Times New Roman" panose="02020603050405020304" pitchFamily="18" charset="0"/>
              </a:rPr>
              <a:t>）</a:t>
            </a:r>
            <a:r>
              <a:rPr lang="zh-CN" altLang="zh-CN" sz="2000" dirty="0" smtClean="0">
                <a:ea typeface="仿宋_GB2312" panose="02010609030101010101" pitchFamily="49" charset="-122"/>
                <a:cs typeface="Times New Roman" panose="02020603050405020304" pitchFamily="18" charset="0"/>
              </a:rPr>
              <a:t>正文</a:t>
            </a:r>
            <a:r>
              <a:rPr lang="zh-CN" altLang="zh-CN" sz="2000" dirty="0">
                <a:ea typeface="仿宋_GB2312" panose="02010609030101010101" pitchFamily="49" charset="-122"/>
                <a:cs typeface="Times New Roman" panose="02020603050405020304" pitchFamily="18" charset="0"/>
              </a:rPr>
              <a:t>小标题一般独占行，末尾不加标点符号，</a:t>
            </a:r>
            <a:r>
              <a:rPr lang="zh-CN" altLang="en-US" sz="2000" dirty="0">
                <a:ea typeface="仿宋_GB2312" panose="02010609030101010101" pitchFamily="49" charset="-122"/>
                <a:cs typeface="Times New Roman" panose="02020603050405020304" pitchFamily="18" charset="0"/>
              </a:rPr>
              <a:t>三</a:t>
            </a:r>
            <a:r>
              <a:rPr lang="zh-CN" altLang="zh-CN" sz="2000" dirty="0">
                <a:ea typeface="仿宋_GB2312" panose="02010609030101010101" pitchFamily="49" charset="-122"/>
                <a:cs typeface="Times New Roman" panose="02020603050405020304" pitchFamily="18" charset="0"/>
              </a:rPr>
              <a:t>级标题可与内容合并成一段，此时，</a:t>
            </a:r>
            <a:r>
              <a:rPr lang="zh-CN" altLang="en-US" sz="2000" dirty="0">
                <a:ea typeface="仿宋_GB2312" panose="02010609030101010101" pitchFamily="49" charset="-122"/>
                <a:cs typeface="Times New Roman" panose="02020603050405020304" pitchFamily="18" charset="0"/>
              </a:rPr>
              <a:t>三</a:t>
            </a:r>
            <a:r>
              <a:rPr lang="zh-CN" altLang="zh-CN" sz="2000" dirty="0">
                <a:ea typeface="仿宋_GB2312" panose="02010609030101010101" pitchFamily="49" charset="-122"/>
                <a:cs typeface="Times New Roman" panose="02020603050405020304" pitchFamily="18" charset="0"/>
              </a:rPr>
              <a:t>级标题后需加句号。</a:t>
            </a:r>
            <a:endParaRPr lang="en-US" altLang="zh-CN" sz="2000" dirty="0">
              <a:ea typeface="仿宋_GB2312" panose="02010609030101010101" pitchFamily="49" charset="-122"/>
              <a:cs typeface="Times New Roman" panose="02020603050405020304" pitchFamily="18" charset="0"/>
            </a:endParaRPr>
          </a:p>
          <a:p>
            <a:pPr algn="just"/>
            <a:r>
              <a:rPr lang="zh-CN" altLang="en-US" sz="2000" dirty="0" smtClean="0">
                <a:ea typeface="仿宋_GB2312" panose="02010609030101010101" pitchFamily="49" charset="-122"/>
                <a:cs typeface="Times New Roman" panose="02020603050405020304" pitchFamily="18" charset="0"/>
              </a:rPr>
              <a:t>       （</a:t>
            </a:r>
            <a:r>
              <a:rPr lang="en-US" altLang="zh-CN" sz="2000" dirty="0">
                <a:ea typeface="仿宋_GB2312" panose="02010609030101010101" pitchFamily="49" charset="-122"/>
                <a:cs typeface="Times New Roman" panose="02020603050405020304" pitchFamily="18" charset="0"/>
              </a:rPr>
              <a:t>3</a:t>
            </a:r>
            <a:r>
              <a:rPr lang="zh-CN" altLang="en-US" sz="2000" dirty="0" smtClean="0">
                <a:ea typeface="仿宋_GB2312" panose="02010609030101010101" pitchFamily="49" charset="-122"/>
                <a:cs typeface="Times New Roman" panose="02020603050405020304" pitchFamily="18" charset="0"/>
              </a:rPr>
              <a:t>）</a:t>
            </a:r>
            <a:r>
              <a:rPr lang="zh-CN" altLang="zh-CN" sz="2000" dirty="0" smtClean="0">
                <a:ea typeface="仿宋_GB2312" panose="02010609030101010101" pitchFamily="49" charset="-122"/>
                <a:cs typeface="Times New Roman" panose="02020603050405020304" pitchFamily="18" charset="0"/>
              </a:rPr>
              <a:t>文件</a:t>
            </a:r>
            <a:r>
              <a:rPr lang="zh-CN" altLang="zh-CN" sz="2000" dirty="0">
                <a:ea typeface="仿宋_GB2312" panose="02010609030101010101" pitchFamily="49" charset="-122"/>
                <a:cs typeface="Times New Roman" panose="02020603050405020304" pitchFamily="18" charset="0"/>
              </a:rPr>
              <a:t>中所有阿拉伯数字一般用</a:t>
            </a:r>
            <a:r>
              <a:rPr lang="en-US" altLang="zh-CN" sz="2000" dirty="0">
                <a:ea typeface="仿宋_GB2312" panose="02010609030101010101" pitchFamily="49" charset="-122"/>
                <a:cs typeface="Times New Roman" panose="02020603050405020304" pitchFamily="18" charset="0"/>
              </a:rPr>
              <a:t>“Times New Roman”</a:t>
            </a:r>
            <a:r>
              <a:rPr lang="zh-CN" altLang="zh-CN" sz="2000" dirty="0">
                <a:ea typeface="仿宋_GB2312" panose="02010609030101010101" pitchFamily="49" charset="-122"/>
                <a:cs typeface="Times New Roman" panose="02020603050405020304" pitchFamily="18" charset="0"/>
              </a:rPr>
              <a:t>字体，排版时可先将文件内容</a:t>
            </a:r>
            <a:r>
              <a:rPr lang="en-US" altLang="zh-CN" sz="2000" dirty="0">
                <a:ea typeface="仿宋_GB2312" panose="02010609030101010101" pitchFamily="49" charset="-122"/>
                <a:cs typeface="Times New Roman" panose="02020603050405020304" pitchFamily="18" charset="0"/>
              </a:rPr>
              <a:t>“</a:t>
            </a:r>
            <a:r>
              <a:rPr lang="zh-CN" altLang="zh-CN" sz="2000" dirty="0">
                <a:ea typeface="仿宋_GB2312" panose="02010609030101010101" pitchFamily="49" charset="-122"/>
                <a:cs typeface="Times New Roman" panose="02020603050405020304" pitchFamily="18" charset="0"/>
              </a:rPr>
              <a:t>全选</a:t>
            </a:r>
            <a:r>
              <a:rPr lang="en-US" altLang="zh-CN" sz="2000" dirty="0">
                <a:ea typeface="仿宋_GB2312" panose="02010609030101010101" pitchFamily="49" charset="-122"/>
                <a:cs typeface="Times New Roman" panose="02020603050405020304" pitchFamily="18" charset="0"/>
              </a:rPr>
              <a:t>”</a:t>
            </a:r>
            <a:r>
              <a:rPr lang="zh-CN" altLang="zh-CN" sz="2000" dirty="0">
                <a:ea typeface="仿宋_GB2312" panose="02010609030101010101" pitchFamily="49" charset="-122"/>
                <a:cs typeface="Times New Roman" panose="02020603050405020304" pitchFamily="18" charset="0"/>
              </a:rPr>
              <a:t>，再选择</a:t>
            </a:r>
            <a:r>
              <a:rPr lang="en-US" altLang="zh-CN" sz="2000" dirty="0">
                <a:ea typeface="仿宋_GB2312" panose="02010609030101010101" pitchFamily="49" charset="-122"/>
                <a:cs typeface="Times New Roman" panose="02020603050405020304" pitchFamily="18" charset="0"/>
              </a:rPr>
              <a:t>“Times New Roman”</a:t>
            </a:r>
            <a:r>
              <a:rPr lang="zh-CN" altLang="zh-CN" sz="2000" dirty="0">
                <a:ea typeface="仿宋_GB2312" panose="02010609030101010101" pitchFamily="49" charset="-122"/>
                <a:cs typeface="Times New Roman" panose="02020603050405020304" pitchFamily="18" charset="0"/>
              </a:rPr>
              <a:t>字体。</a:t>
            </a:r>
            <a:endParaRPr lang="zh-CN" altLang="zh-CN" sz="2000" dirty="0">
              <a:ea typeface="仿宋_GB2312" panose="02010609030101010101" pitchFamily="49" charset="-122"/>
              <a:cs typeface="Times New Roman" panose="02020603050405020304" pitchFamily="18" charset="0"/>
            </a:endParaRPr>
          </a:p>
          <a:p>
            <a:pPr marL="342900" eaLnBrk="1" hangingPunct="1">
              <a:lnSpc>
                <a:spcPct val="90000"/>
              </a:lnSpc>
              <a:spcBef>
                <a:spcPct val="20000"/>
              </a:spcBef>
              <a:buClr>
                <a:srgbClr val="0066CC"/>
              </a:buClr>
            </a:pPr>
            <a:endParaRPr lang="zh-CN" altLang="en-US" sz="2000" dirty="0">
              <a:ea typeface="仿宋_GB2312" panose="02010609030101010101" pitchFamily="49" charset="-122"/>
              <a:cs typeface="Times New Roman" panose="02020603050405020304" pitchFamily="18" charset="0"/>
            </a:endParaRPr>
          </a:p>
        </p:txBody>
      </p:sp>
      <p:pic>
        <p:nvPicPr>
          <p:cNvPr id="9" name="图片 8"/>
          <p:cNvPicPr>
            <a:picLocks noChangeAspect="1"/>
          </p:cNvPicPr>
          <p:nvPr/>
        </p:nvPicPr>
        <p:blipFill>
          <a:blip r:embed="rId3"/>
          <a:stretch>
            <a:fillRect/>
          </a:stretch>
        </p:blipFill>
        <p:spPr>
          <a:xfrm>
            <a:off x="575945" y="297180"/>
            <a:ext cx="1685925" cy="419100"/>
          </a:xfrm>
          <a:prstGeom prst="rect">
            <a:avLst/>
          </a:prstGeom>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right)">
                                      <p:cBhvr>
                                        <p:cTn id="8" dur="500"/>
                                        <p:tgtEl>
                                          <p:spTgt spid="8"/>
                                        </p:tgtEl>
                                      </p:cBhvr>
                                    </p:animEffect>
                                  </p:childTnLst>
                                </p:cTn>
                              </p:par>
                              <p:par>
                                <p:cTn id="9" presetID="12" presetClass="entr" presetSubtype="8" fill="hold" grpId="1"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250"/>
                                        <p:tgtEl>
                                          <p:spTgt spid="14"/>
                                        </p:tgtEl>
                                        <p:attrNameLst>
                                          <p:attrName>ppt_x</p:attrName>
                                        </p:attrNameLst>
                                      </p:cBhvr>
                                      <p:tavLst>
                                        <p:tav tm="0">
                                          <p:val>
                                            <p:strVal val="#ppt_x-#ppt_w*1.125000"/>
                                          </p:val>
                                        </p:tav>
                                        <p:tav tm="100000">
                                          <p:val>
                                            <p:strVal val="#ppt_x"/>
                                          </p:val>
                                        </p:tav>
                                      </p:tavLst>
                                    </p:anim>
                                    <p:animEffect transition="in" filter="wipe(right)">
                                      <p:cBhvr>
                                        <p:cTn id="12" dur="250"/>
                                        <p:tgtEl>
                                          <p:spTgt spid="14"/>
                                        </p:tgtEl>
                                      </p:cBhvr>
                                    </p:animEffect>
                                  </p:childTnLst>
                                </p:cTn>
                              </p:par>
                              <p:par>
                                <p:cTn id="13" presetID="42"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1000"/>
                                        <p:tgtEl>
                                          <p:spTgt spid="13"/>
                                        </p:tgtEl>
                                      </p:cBhvr>
                                    </p:animEffect>
                                    <p:anim calcmode="lin" valueType="num">
                                      <p:cBhvr>
                                        <p:cTn id="16" dur="1000" fill="hold"/>
                                        <p:tgtEl>
                                          <p:spTgt spid="13"/>
                                        </p:tgtEl>
                                        <p:attrNameLst>
                                          <p:attrName>ppt_x</p:attrName>
                                        </p:attrNameLst>
                                      </p:cBhvr>
                                      <p:tavLst>
                                        <p:tav tm="0">
                                          <p:val>
                                            <p:strVal val="#ppt_x"/>
                                          </p:val>
                                        </p:tav>
                                        <p:tav tm="100000">
                                          <p:val>
                                            <p:strVal val="#ppt_x"/>
                                          </p:val>
                                        </p:tav>
                                      </p:tavLst>
                                    </p:anim>
                                    <p:anim calcmode="lin" valueType="num">
                                      <p:cBhvr>
                                        <p:cTn id="17"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E:\曹飞\2017\2017-8-8地铁PPT\6.png6"/>
          <p:cNvPicPr>
            <a:picLocks noChangeAspect="1"/>
          </p:cNvPicPr>
          <p:nvPr/>
        </p:nvPicPr>
        <p:blipFill>
          <a:blip r:embed="rId1" cstate="email"/>
          <a:srcRect/>
          <a:stretch>
            <a:fillRect/>
          </a:stretch>
        </p:blipFill>
        <p:spPr>
          <a:xfrm>
            <a:off x="2261712" y="239317"/>
            <a:ext cx="6463189" cy="343376"/>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pic>
        <p:nvPicPr>
          <p:cNvPr id="13" name="图片 12" descr="E:\曹飞\2017\2017-8-8地铁PPT\7.png7"/>
          <p:cNvPicPr>
            <a:picLocks noChangeAspect="1"/>
          </p:cNvPicPr>
          <p:nvPr/>
        </p:nvPicPr>
        <p:blipFill>
          <a:blip r:embed="rId2" cstate="email"/>
          <a:srcRect/>
          <a:stretch>
            <a:fillRect/>
          </a:stretch>
        </p:blipFill>
        <p:spPr>
          <a:xfrm>
            <a:off x="-6667" y="4477465"/>
            <a:ext cx="9168289" cy="668179"/>
          </a:xfrm>
          <a:prstGeom prst="rect">
            <a:avLst/>
          </a:prstGeom>
        </p:spPr>
      </p:pic>
      <p:sp>
        <p:nvSpPr>
          <p:cNvPr id="41" name="Text Box 2"/>
          <p:cNvSpPr txBox="1">
            <a:spLocks noChangeArrowheads="1"/>
          </p:cNvSpPr>
          <p:nvPr/>
        </p:nvSpPr>
        <p:spPr bwMode="auto">
          <a:xfrm>
            <a:off x="594298" y="1563638"/>
            <a:ext cx="7866134" cy="16619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r>
              <a:rPr lang="en-US" altLang="zh-CN" sz="2000" dirty="0" smtClean="0">
                <a:ea typeface="仿宋_GB2312" panose="02010609030101010101" pitchFamily="49" charset="-122"/>
                <a:cs typeface="Times New Roman" panose="02020603050405020304" pitchFamily="18" charset="0"/>
              </a:rPr>
              <a:t>        3</a:t>
            </a:r>
            <a:r>
              <a:rPr lang="en-US" altLang="zh-CN" sz="2000" dirty="0">
                <a:ea typeface="仿宋_GB2312" panose="02010609030101010101" pitchFamily="49" charset="-122"/>
                <a:cs typeface="Times New Roman" panose="02020603050405020304" pitchFamily="18" charset="0"/>
              </a:rPr>
              <a:t>.</a:t>
            </a:r>
            <a:r>
              <a:rPr lang="zh-CN" altLang="zh-CN" sz="2000" dirty="0">
                <a:ea typeface="仿宋_GB2312" panose="02010609030101010101" pitchFamily="49" charset="-122"/>
                <a:cs typeface="Times New Roman" panose="02020603050405020304" pitchFamily="18" charset="0"/>
              </a:rPr>
              <a:t>关于表格的要求</a:t>
            </a:r>
            <a:endParaRPr lang="zh-CN" altLang="zh-CN" sz="2000" dirty="0">
              <a:ea typeface="仿宋_GB2312" panose="02010609030101010101" pitchFamily="49" charset="-122"/>
              <a:cs typeface="Times New Roman" panose="02020603050405020304" pitchFamily="18" charset="0"/>
            </a:endParaRPr>
          </a:p>
          <a:p>
            <a:pPr algn="just"/>
            <a:r>
              <a:rPr lang="en-US" altLang="zh-CN" sz="2000" dirty="0" smtClean="0">
                <a:ea typeface="仿宋_GB2312" panose="02010609030101010101" pitchFamily="49" charset="-122"/>
                <a:cs typeface="Times New Roman" panose="02020603050405020304" pitchFamily="18" charset="0"/>
              </a:rPr>
              <a:t>        </a:t>
            </a:r>
            <a:r>
              <a:rPr lang="zh-CN" altLang="zh-CN" sz="2000" dirty="0" smtClean="0">
                <a:ea typeface="仿宋_GB2312" panose="02010609030101010101" pitchFamily="49" charset="-122"/>
                <a:cs typeface="Times New Roman" panose="02020603050405020304" pitchFamily="18" charset="0"/>
              </a:rPr>
              <a:t>公文</a:t>
            </a:r>
            <a:r>
              <a:rPr lang="zh-CN" altLang="zh-CN" sz="2000" dirty="0">
                <a:ea typeface="仿宋_GB2312" panose="02010609030101010101" pitchFamily="49" charset="-122"/>
                <a:cs typeface="Times New Roman" panose="02020603050405020304" pitchFamily="18" charset="0"/>
              </a:rPr>
              <a:t>如需附表，对横排</a:t>
            </a:r>
            <a:r>
              <a:rPr lang="en-US" altLang="zh-CN" sz="2000" dirty="0">
                <a:ea typeface="仿宋_GB2312" panose="02010609030101010101" pitchFamily="49" charset="-122"/>
                <a:cs typeface="Times New Roman" panose="02020603050405020304" pitchFamily="18" charset="0"/>
              </a:rPr>
              <a:t>A4</a:t>
            </a:r>
            <a:r>
              <a:rPr lang="zh-CN" altLang="zh-CN" sz="2000" dirty="0">
                <a:ea typeface="仿宋_GB2312" panose="02010609030101010101" pitchFamily="49" charset="-122"/>
                <a:cs typeface="Times New Roman" panose="02020603050405020304" pitchFamily="18" charset="0"/>
              </a:rPr>
              <a:t>纸型表格，应将页码放在横表的左侧，单页码置于表的左下角，双页码置于表的左上角，单页码表头在订口一边，双页码表头在切口一边。</a:t>
            </a:r>
            <a:endParaRPr lang="zh-CN" altLang="zh-CN" sz="2000" dirty="0">
              <a:ea typeface="仿宋_GB2312" panose="02010609030101010101" pitchFamily="49" charset="-122"/>
              <a:cs typeface="Times New Roman" panose="02020603050405020304" pitchFamily="18" charset="0"/>
            </a:endParaRPr>
          </a:p>
          <a:p>
            <a:pPr marL="342900" eaLnBrk="1" hangingPunct="1">
              <a:lnSpc>
                <a:spcPct val="90000"/>
              </a:lnSpc>
              <a:spcBef>
                <a:spcPct val="20000"/>
              </a:spcBef>
              <a:buClr>
                <a:srgbClr val="0066CC"/>
              </a:buClr>
            </a:pPr>
            <a:endParaRPr lang="zh-CN" altLang="en-US" sz="2000" dirty="0">
              <a:ea typeface="仿宋_GB2312" panose="02010609030101010101" pitchFamily="49" charset="-122"/>
              <a:cs typeface="Times New Roman" panose="02020603050405020304" pitchFamily="18" charset="0"/>
            </a:endParaRPr>
          </a:p>
        </p:txBody>
      </p:sp>
      <p:pic>
        <p:nvPicPr>
          <p:cNvPr id="9" name="图片 8"/>
          <p:cNvPicPr>
            <a:picLocks noChangeAspect="1"/>
          </p:cNvPicPr>
          <p:nvPr/>
        </p:nvPicPr>
        <p:blipFill>
          <a:blip r:embed="rId3"/>
          <a:stretch>
            <a:fillRect/>
          </a:stretch>
        </p:blipFill>
        <p:spPr>
          <a:xfrm>
            <a:off x="575945" y="297180"/>
            <a:ext cx="1685925" cy="419100"/>
          </a:xfrm>
          <a:prstGeom prst="rect">
            <a:avLst/>
          </a:prstGeom>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right)">
                                      <p:cBhvr>
                                        <p:cTn id="8" dur="500"/>
                                        <p:tgtEl>
                                          <p:spTgt spid="8"/>
                                        </p:tgtEl>
                                      </p:cBhvr>
                                    </p:animEffect>
                                  </p:childTnLst>
                                </p:cTn>
                              </p:par>
                              <p:par>
                                <p:cTn id="9" presetID="12" presetClass="entr" presetSubtype="8" fill="hold" grpId="1"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250"/>
                                        <p:tgtEl>
                                          <p:spTgt spid="14"/>
                                        </p:tgtEl>
                                        <p:attrNameLst>
                                          <p:attrName>ppt_x</p:attrName>
                                        </p:attrNameLst>
                                      </p:cBhvr>
                                      <p:tavLst>
                                        <p:tav tm="0">
                                          <p:val>
                                            <p:strVal val="#ppt_x-#ppt_w*1.125000"/>
                                          </p:val>
                                        </p:tav>
                                        <p:tav tm="100000">
                                          <p:val>
                                            <p:strVal val="#ppt_x"/>
                                          </p:val>
                                        </p:tav>
                                      </p:tavLst>
                                    </p:anim>
                                    <p:animEffect transition="in" filter="wipe(right)">
                                      <p:cBhvr>
                                        <p:cTn id="12" dur="250"/>
                                        <p:tgtEl>
                                          <p:spTgt spid="14"/>
                                        </p:tgtEl>
                                      </p:cBhvr>
                                    </p:animEffect>
                                  </p:childTnLst>
                                </p:cTn>
                              </p:par>
                              <p:par>
                                <p:cTn id="13" presetID="42"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1000"/>
                                        <p:tgtEl>
                                          <p:spTgt spid="13"/>
                                        </p:tgtEl>
                                      </p:cBhvr>
                                    </p:animEffect>
                                    <p:anim calcmode="lin" valueType="num">
                                      <p:cBhvr>
                                        <p:cTn id="16" dur="1000" fill="hold"/>
                                        <p:tgtEl>
                                          <p:spTgt spid="13"/>
                                        </p:tgtEl>
                                        <p:attrNameLst>
                                          <p:attrName>ppt_x</p:attrName>
                                        </p:attrNameLst>
                                      </p:cBhvr>
                                      <p:tavLst>
                                        <p:tav tm="0">
                                          <p:val>
                                            <p:strVal val="#ppt_x"/>
                                          </p:val>
                                        </p:tav>
                                        <p:tav tm="100000">
                                          <p:val>
                                            <p:strVal val="#ppt_x"/>
                                          </p:val>
                                        </p:tav>
                                      </p:tavLst>
                                    </p:anim>
                                    <p:anim calcmode="lin" valueType="num">
                                      <p:cBhvr>
                                        <p:cTn id="17"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E:\曹飞\2017\2017-8-8地铁PPT\6.png6"/>
          <p:cNvPicPr>
            <a:picLocks noChangeAspect="1"/>
          </p:cNvPicPr>
          <p:nvPr/>
        </p:nvPicPr>
        <p:blipFill>
          <a:blip r:embed="rId1" cstate="email"/>
          <a:srcRect/>
          <a:stretch>
            <a:fillRect/>
          </a:stretch>
        </p:blipFill>
        <p:spPr>
          <a:xfrm>
            <a:off x="2261712" y="239317"/>
            <a:ext cx="6463189" cy="343376"/>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pic>
        <p:nvPicPr>
          <p:cNvPr id="13" name="图片 12" descr="E:\曹飞\2017\2017-8-8地铁PPT\7.png7"/>
          <p:cNvPicPr>
            <a:picLocks noChangeAspect="1"/>
          </p:cNvPicPr>
          <p:nvPr/>
        </p:nvPicPr>
        <p:blipFill>
          <a:blip r:embed="rId2" cstate="email"/>
          <a:srcRect/>
          <a:stretch>
            <a:fillRect/>
          </a:stretch>
        </p:blipFill>
        <p:spPr>
          <a:xfrm>
            <a:off x="-6667" y="4477465"/>
            <a:ext cx="9168289" cy="668179"/>
          </a:xfrm>
          <a:prstGeom prst="rect">
            <a:avLst/>
          </a:prstGeom>
        </p:spPr>
      </p:pic>
      <p:sp>
        <p:nvSpPr>
          <p:cNvPr id="41" name="Text Box 2"/>
          <p:cNvSpPr txBox="1">
            <a:spLocks noChangeArrowheads="1"/>
          </p:cNvSpPr>
          <p:nvPr/>
        </p:nvSpPr>
        <p:spPr bwMode="auto">
          <a:xfrm>
            <a:off x="323528" y="1563638"/>
            <a:ext cx="8568952" cy="22775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000" b="1" dirty="0" smtClean="0">
                <a:ea typeface="仿宋_GB2312" panose="02010609030101010101" pitchFamily="49" charset="-122"/>
                <a:cs typeface="Times New Roman" panose="02020603050405020304" pitchFamily="18" charset="0"/>
              </a:rPr>
              <a:t>      </a:t>
            </a:r>
            <a:r>
              <a:rPr lang="en-US" altLang="zh-CN" sz="2000" dirty="0" smtClean="0">
                <a:ea typeface="仿宋_GB2312" panose="02010609030101010101" pitchFamily="49" charset="-122"/>
                <a:cs typeface="Times New Roman" panose="02020603050405020304" pitchFamily="18" charset="0"/>
              </a:rPr>
              <a:t>4.</a:t>
            </a:r>
            <a:r>
              <a:rPr lang="zh-CN" altLang="zh-CN" sz="2000" dirty="0">
                <a:ea typeface="仿宋_GB2312" panose="02010609030101010101" pitchFamily="49" charset="-122"/>
                <a:cs typeface="Times New Roman" panose="02020603050405020304" pitchFamily="18" charset="0"/>
              </a:rPr>
              <a:t>序号标点</a:t>
            </a:r>
            <a:endParaRPr lang="zh-CN" altLang="zh-CN" sz="2000" dirty="0">
              <a:ea typeface="仿宋_GB2312" panose="02010609030101010101" pitchFamily="49" charset="-122"/>
              <a:cs typeface="Times New Roman" panose="02020603050405020304" pitchFamily="18" charset="0"/>
            </a:endParaRPr>
          </a:p>
          <a:p>
            <a:r>
              <a:rPr lang="zh-CN" altLang="en-US" sz="2000" dirty="0" smtClean="0">
                <a:ea typeface="仿宋_GB2312" panose="02010609030101010101" pitchFamily="49" charset="-122"/>
                <a:cs typeface="Times New Roman" panose="02020603050405020304" pitchFamily="18" charset="0"/>
              </a:rPr>
              <a:t>    （</a:t>
            </a:r>
            <a:r>
              <a:rPr lang="en-US" altLang="zh-CN" sz="2000" dirty="0">
                <a:ea typeface="仿宋_GB2312" panose="02010609030101010101" pitchFamily="49" charset="-122"/>
                <a:cs typeface="Times New Roman" panose="02020603050405020304" pitchFamily="18" charset="0"/>
              </a:rPr>
              <a:t>1</a:t>
            </a:r>
            <a:r>
              <a:rPr lang="zh-CN" altLang="en-US" sz="2000" dirty="0" smtClean="0">
                <a:ea typeface="仿宋_GB2312" panose="02010609030101010101" pitchFamily="49" charset="-122"/>
                <a:cs typeface="Times New Roman" panose="02020603050405020304" pitchFamily="18" charset="0"/>
              </a:rPr>
              <a:t>）一级标题</a:t>
            </a:r>
            <a:r>
              <a:rPr lang="en-US" altLang="zh-CN" sz="2000" dirty="0" smtClean="0">
                <a:ea typeface="仿宋_GB2312" panose="02010609030101010101" pitchFamily="49" charset="-122"/>
                <a:cs typeface="Times New Roman" panose="02020603050405020304" pitchFamily="18" charset="0"/>
              </a:rPr>
              <a:t>“</a:t>
            </a:r>
            <a:r>
              <a:rPr lang="zh-CN" altLang="zh-CN" sz="2000" dirty="0">
                <a:ea typeface="仿宋_GB2312" panose="02010609030101010101" pitchFamily="49" charset="-122"/>
                <a:cs typeface="Times New Roman" panose="02020603050405020304" pitchFamily="18" charset="0"/>
              </a:rPr>
              <a:t>一</a:t>
            </a:r>
            <a:r>
              <a:rPr lang="en-US" altLang="zh-CN" sz="2000" dirty="0" smtClean="0">
                <a:ea typeface="仿宋_GB2312" panose="02010609030101010101" pitchFamily="49" charset="-122"/>
                <a:cs typeface="Times New Roman" panose="02020603050405020304" pitchFamily="18" charset="0"/>
              </a:rPr>
              <a:t>”“</a:t>
            </a:r>
            <a:r>
              <a:rPr lang="zh-CN" altLang="zh-CN" sz="2000" dirty="0">
                <a:ea typeface="仿宋_GB2312" panose="02010609030101010101" pitchFamily="49" charset="-122"/>
                <a:cs typeface="Times New Roman" panose="02020603050405020304" pitchFamily="18" charset="0"/>
              </a:rPr>
              <a:t>二</a:t>
            </a:r>
            <a:r>
              <a:rPr lang="en-US" altLang="zh-CN" sz="2000" dirty="0" smtClean="0">
                <a:ea typeface="仿宋_GB2312" panose="02010609030101010101" pitchFamily="49" charset="-122"/>
                <a:cs typeface="Times New Roman" panose="02020603050405020304" pitchFamily="18" charset="0"/>
              </a:rPr>
              <a:t>”“</a:t>
            </a:r>
            <a:r>
              <a:rPr lang="zh-CN" altLang="zh-CN" sz="2000" dirty="0">
                <a:ea typeface="仿宋_GB2312" panose="02010609030101010101" pitchFamily="49" charset="-122"/>
                <a:cs typeface="Times New Roman" panose="02020603050405020304" pitchFamily="18" charset="0"/>
              </a:rPr>
              <a:t>三</a:t>
            </a:r>
            <a:r>
              <a:rPr lang="en-US" altLang="zh-CN" sz="2000" dirty="0">
                <a:ea typeface="仿宋_GB2312" panose="02010609030101010101" pitchFamily="49" charset="-122"/>
                <a:cs typeface="Times New Roman" panose="02020603050405020304" pitchFamily="18" charset="0"/>
              </a:rPr>
              <a:t>”</a:t>
            </a:r>
            <a:r>
              <a:rPr lang="zh-CN" altLang="zh-CN" sz="2000" dirty="0">
                <a:ea typeface="仿宋_GB2312" panose="02010609030101010101" pitchFamily="49" charset="-122"/>
                <a:cs typeface="Times New Roman" panose="02020603050405020304" pitchFamily="18" charset="0"/>
              </a:rPr>
              <a:t>等后面用顿号（</a:t>
            </a:r>
            <a:r>
              <a:rPr lang="en-US" altLang="zh-CN" sz="2000" dirty="0">
                <a:ea typeface="仿宋_GB2312" panose="02010609030101010101" pitchFamily="49" charset="-122"/>
                <a:cs typeface="Times New Roman" panose="02020603050405020304" pitchFamily="18" charset="0"/>
              </a:rPr>
              <a:t>“</a:t>
            </a:r>
            <a:r>
              <a:rPr lang="zh-CN" altLang="zh-CN" sz="2000" dirty="0">
                <a:ea typeface="仿宋_GB2312" panose="02010609030101010101" pitchFamily="49" charset="-122"/>
                <a:cs typeface="Times New Roman" panose="02020603050405020304" pitchFamily="18" charset="0"/>
              </a:rPr>
              <a:t>、</a:t>
            </a:r>
            <a:r>
              <a:rPr lang="en-US" altLang="zh-CN" sz="2000" dirty="0">
                <a:ea typeface="仿宋_GB2312" panose="02010609030101010101" pitchFamily="49" charset="-122"/>
                <a:cs typeface="Times New Roman" panose="02020603050405020304" pitchFamily="18" charset="0"/>
              </a:rPr>
              <a:t>”</a:t>
            </a:r>
            <a:r>
              <a:rPr lang="zh-CN" altLang="zh-CN" sz="2000" dirty="0">
                <a:ea typeface="仿宋_GB2312" panose="02010609030101010101" pitchFamily="49" charset="-122"/>
                <a:cs typeface="Times New Roman" panose="02020603050405020304" pitchFamily="18" charset="0"/>
              </a:rPr>
              <a:t>）。</a:t>
            </a:r>
            <a:endParaRPr lang="zh-CN" altLang="zh-CN" sz="2000" dirty="0">
              <a:ea typeface="仿宋_GB2312" panose="02010609030101010101" pitchFamily="49" charset="-122"/>
              <a:cs typeface="Times New Roman" panose="02020603050405020304" pitchFamily="18" charset="0"/>
            </a:endParaRPr>
          </a:p>
          <a:p>
            <a:r>
              <a:rPr lang="zh-CN" altLang="en-US" sz="2000" dirty="0" smtClean="0">
                <a:ea typeface="仿宋_GB2312" panose="02010609030101010101" pitchFamily="49" charset="-122"/>
                <a:cs typeface="Times New Roman" panose="02020603050405020304" pitchFamily="18" charset="0"/>
              </a:rPr>
              <a:t>    （</a:t>
            </a:r>
            <a:r>
              <a:rPr lang="en-US" altLang="zh-CN" sz="2000" dirty="0" smtClean="0">
                <a:ea typeface="仿宋_GB2312" panose="02010609030101010101" pitchFamily="49" charset="-122"/>
                <a:cs typeface="Times New Roman" panose="02020603050405020304" pitchFamily="18" charset="0"/>
              </a:rPr>
              <a:t>2</a:t>
            </a:r>
            <a:r>
              <a:rPr lang="zh-CN" altLang="en-US" sz="2000" dirty="0" smtClean="0">
                <a:ea typeface="仿宋_GB2312" panose="02010609030101010101" pitchFamily="49" charset="-122"/>
                <a:cs typeface="Times New Roman" panose="02020603050405020304" pitchFamily="18" charset="0"/>
              </a:rPr>
              <a:t>）二级标题</a:t>
            </a:r>
            <a:r>
              <a:rPr lang="en-US" altLang="zh-CN" sz="2000" dirty="0" smtClean="0">
                <a:ea typeface="仿宋_GB2312" panose="02010609030101010101" pitchFamily="49" charset="-122"/>
                <a:cs typeface="Times New Roman" panose="02020603050405020304" pitchFamily="18" charset="0"/>
              </a:rPr>
              <a:t>“</a:t>
            </a:r>
            <a:r>
              <a:rPr lang="zh-CN" altLang="zh-CN" sz="2000" dirty="0">
                <a:ea typeface="仿宋_GB2312" panose="02010609030101010101" pitchFamily="49" charset="-122"/>
                <a:cs typeface="Times New Roman" panose="02020603050405020304" pitchFamily="18" charset="0"/>
              </a:rPr>
              <a:t>（一）</a:t>
            </a:r>
            <a:r>
              <a:rPr lang="en-US" altLang="zh-CN" sz="2000" dirty="0" smtClean="0">
                <a:ea typeface="仿宋_GB2312" panose="02010609030101010101" pitchFamily="49" charset="-122"/>
                <a:cs typeface="Times New Roman" panose="02020603050405020304" pitchFamily="18" charset="0"/>
              </a:rPr>
              <a:t>”</a:t>
            </a:r>
            <a:r>
              <a:rPr lang="zh-CN" altLang="en-US" sz="2000" dirty="0" smtClean="0">
                <a:ea typeface="仿宋_GB2312" panose="02010609030101010101" pitchFamily="49" charset="-122"/>
                <a:cs typeface="Times New Roman" panose="02020603050405020304" pitchFamily="18" charset="0"/>
              </a:rPr>
              <a:t>及标号</a:t>
            </a:r>
            <a:r>
              <a:rPr lang="en-US" altLang="zh-CN" sz="2000" dirty="0" smtClean="0">
                <a:ea typeface="仿宋_GB2312" panose="02010609030101010101" pitchFamily="49" charset="-122"/>
                <a:cs typeface="Times New Roman" panose="02020603050405020304" pitchFamily="18" charset="0"/>
              </a:rPr>
              <a:t>“</a:t>
            </a:r>
            <a:r>
              <a:rPr lang="zh-CN" altLang="zh-CN" sz="2000" dirty="0">
                <a:ea typeface="仿宋_GB2312" panose="02010609030101010101" pitchFamily="49" charset="-122"/>
                <a:cs typeface="Times New Roman" panose="02020603050405020304" pitchFamily="18" charset="0"/>
              </a:rPr>
              <a:t>（</a:t>
            </a:r>
            <a:r>
              <a:rPr lang="en-US" altLang="zh-CN" sz="2000" dirty="0">
                <a:ea typeface="仿宋_GB2312" panose="02010609030101010101" pitchFamily="49" charset="-122"/>
                <a:cs typeface="Times New Roman" panose="02020603050405020304" pitchFamily="18" charset="0"/>
              </a:rPr>
              <a:t>1</a:t>
            </a:r>
            <a:r>
              <a:rPr lang="zh-CN" altLang="zh-CN" sz="2000" dirty="0">
                <a:ea typeface="仿宋_GB2312" panose="02010609030101010101" pitchFamily="49" charset="-122"/>
                <a:cs typeface="Times New Roman" panose="02020603050405020304" pitchFamily="18" charset="0"/>
              </a:rPr>
              <a:t>）</a:t>
            </a:r>
            <a:r>
              <a:rPr lang="en-US" altLang="zh-CN" sz="2000" dirty="0">
                <a:ea typeface="仿宋_GB2312" panose="02010609030101010101" pitchFamily="49" charset="-122"/>
                <a:cs typeface="Times New Roman" panose="02020603050405020304" pitchFamily="18" charset="0"/>
              </a:rPr>
              <a:t>”</a:t>
            </a:r>
            <a:r>
              <a:rPr lang="zh-CN" altLang="zh-CN" sz="2000" dirty="0">
                <a:ea typeface="仿宋_GB2312" panose="02010609030101010101" pitchFamily="49" charset="-122"/>
                <a:cs typeface="Times New Roman" panose="02020603050405020304" pitchFamily="18" charset="0"/>
              </a:rPr>
              <a:t>等后面不加标点符号。</a:t>
            </a:r>
            <a:endParaRPr lang="zh-CN" altLang="zh-CN" sz="2000" dirty="0">
              <a:ea typeface="仿宋_GB2312" panose="02010609030101010101" pitchFamily="49" charset="-122"/>
              <a:cs typeface="Times New Roman" panose="02020603050405020304" pitchFamily="18" charset="0"/>
            </a:endParaRPr>
          </a:p>
          <a:p>
            <a:r>
              <a:rPr lang="zh-CN" altLang="en-US" sz="2000" dirty="0" smtClean="0">
                <a:ea typeface="仿宋_GB2312" panose="02010609030101010101" pitchFamily="49" charset="-122"/>
                <a:cs typeface="Times New Roman" panose="02020603050405020304" pitchFamily="18" charset="0"/>
              </a:rPr>
              <a:t>    （</a:t>
            </a:r>
            <a:r>
              <a:rPr lang="en-US" altLang="zh-CN" sz="2000" dirty="0" smtClean="0">
                <a:ea typeface="仿宋_GB2312" panose="02010609030101010101" pitchFamily="49" charset="-122"/>
                <a:cs typeface="Times New Roman" panose="02020603050405020304" pitchFamily="18" charset="0"/>
              </a:rPr>
              <a:t>3</a:t>
            </a:r>
            <a:r>
              <a:rPr lang="zh-CN" altLang="en-US" sz="2000" dirty="0" smtClean="0">
                <a:ea typeface="仿宋_GB2312" panose="02010609030101010101" pitchFamily="49" charset="-122"/>
                <a:cs typeface="Times New Roman" panose="02020603050405020304" pitchFamily="18" charset="0"/>
              </a:rPr>
              <a:t>）三级标题</a:t>
            </a:r>
            <a:r>
              <a:rPr lang="en-US" altLang="zh-CN" sz="2000" dirty="0" smtClean="0">
                <a:ea typeface="仿宋_GB2312" panose="02010609030101010101" pitchFamily="49" charset="-122"/>
                <a:cs typeface="Times New Roman" panose="02020603050405020304" pitchFamily="18" charset="0"/>
              </a:rPr>
              <a:t>“</a:t>
            </a:r>
            <a:r>
              <a:rPr lang="en-US" altLang="zh-CN" sz="2000" dirty="0">
                <a:ea typeface="仿宋_GB2312" panose="02010609030101010101" pitchFamily="49" charset="-122"/>
                <a:cs typeface="Times New Roman" panose="02020603050405020304" pitchFamily="18" charset="0"/>
              </a:rPr>
              <a:t>1</a:t>
            </a:r>
            <a:r>
              <a:rPr lang="en-US" altLang="zh-CN" sz="2000" dirty="0" smtClean="0">
                <a:ea typeface="仿宋_GB2312" panose="02010609030101010101" pitchFamily="49" charset="-122"/>
                <a:cs typeface="Times New Roman" panose="02020603050405020304" pitchFamily="18" charset="0"/>
              </a:rPr>
              <a:t>”“</a:t>
            </a:r>
            <a:r>
              <a:rPr lang="en-US" altLang="zh-CN" sz="2000" dirty="0">
                <a:ea typeface="仿宋_GB2312" panose="02010609030101010101" pitchFamily="49" charset="-122"/>
                <a:cs typeface="Times New Roman" panose="02020603050405020304" pitchFamily="18" charset="0"/>
              </a:rPr>
              <a:t>2</a:t>
            </a:r>
            <a:r>
              <a:rPr lang="en-US" altLang="zh-CN" sz="2000" dirty="0" smtClean="0">
                <a:ea typeface="仿宋_GB2312" panose="02010609030101010101" pitchFamily="49" charset="-122"/>
                <a:cs typeface="Times New Roman" panose="02020603050405020304" pitchFamily="18" charset="0"/>
              </a:rPr>
              <a:t>”“</a:t>
            </a:r>
            <a:r>
              <a:rPr lang="en-US" altLang="zh-CN" sz="2000" dirty="0">
                <a:ea typeface="仿宋_GB2312" panose="02010609030101010101" pitchFamily="49" charset="-122"/>
                <a:cs typeface="Times New Roman" panose="02020603050405020304" pitchFamily="18" charset="0"/>
              </a:rPr>
              <a:t>3”</a:t>
            </a:r>
            <a:r>
              <a:rPr lang="zh-CN" altLang="zh-CN" sz="2000" dirty="0">
                <a:ea typeface="仿宋_GB2312" panose="02010609030101010101" pitchFamily="49" charset="-122"/>
                <a:cs typeface="Times New Roman" panose="02020603050405020304" pitchFamily="18" charset="0"/>
              </a:rPr>
              <a:t>后面用齐线墨点（</a:t>
            </a:r>
            <a:r>
              <a:rPr lang="en-US" altLang="zh-CN" sz="2000" dirty="0">
                <a:ea typeface="仿宋_GB2312" panose="02010609030101010101" pitchFamily="49" charset="-122"/>
                <a:cs typeface="Times New Roman" panose="02020603050405020304" pitchFamily="18" charset="0"/>
              </a:rPr>
              <a:t>“</a:t>
            </a:r>
            <a:r>
              <a:rPr lang="zh-CN" altLang="zh-CN" sz="2000" dirty="0">
                <a:ea typeface="仿宋_GB2312" panose="02010609030101010101" pitchFamily="49" charset="-122"/>
                <a:cs typeface="Times New Roman" panose="02020603050405020304" pitchFamily="18" charset="0"/>
              </a:rPr>
              <a:t>．</a:t>
            </a:r>
            <a:r>
              <a:rPr lang="en-US" altLang="zh-CN" sz="2000" dirty="0">
                <a:ea typeface="仿宋_GB2312" panose="02010609030101010101" pitchFamily="49" charset="-122"/>
                <a:cs typeface="Times New Roman" panose="02020603050405020304" pitchFamily="18" charset="0"/>
              </a:rPr>
              <a:t>”</a:t>
            </a:r>
            <a:r>
              <a:rPr lang="zh-CN" altLang="zh-CN" sz="2000" dirty="0" smtClean="0">
                <a:ea typeface="仿宋_GB2312" panose="02010609030101010101" pitchFamily="49" charset="-122"/>
                <a:cs typeface="Times New Roman" panose="02020603050405020304" pitchFamily="18" charset="0"/>
              </a:rPr>
              <a:t>），而</a:t>
            </a:r>
            <a:r>
              <a:rPr lang="zh-CN" altLang="zh-CN" sz="2000" dirty="0">
                <a:ea typeface="仿宋_GB2312" panose="02010609030101010101" pitchFamily="49" charset="-122"/>
                <a:cs typeface="Times New Roman" panose="02020603050405020304" pitchFamily="18" charset="0"/>
              </a:rPr>
              <a:t>不用顿号（</a:t>
            </a:r>
            <a:r>
              <a:rPr lang="en-US" altLang="zh-CN" sz="2000" dirty="0">
                <a:ea typeface="仿宋_GB2312" panose="02010609030101010101" pitchFamily="49" charset="-122"/>
                <a:cs typeface="Times New Roman" panose="02020603050405020304" pitchFamily="18" charset="0"/>
              </a:rPr>
              <a:t>“</a:t>
            </a:r>
            <a:r>
              <a:rPr lang="zh-CN" altLang="zh-CN" sz="2000" dirty="0">
                <a:ea typeface="仿宋_GB2312" panose="02010609030101010101" pitchFamily="49" charset="-122"/>
                <a:cs typeface="Times New Roman" panose="02020603050405020304" pitchFamily="18" charset="0"/>
              </a:rPr>
              <a:t>、</a:t>
            </a:r>
            <a:r>
              <a:rPr lang="en-US" altLang="zh-CN" sz="2000" dirty="0">
                <a:ea typeface="仿宋_GB2312" panose="02010609030101010101" pitchFamily="49" charset="-122"/>
                <a:cs typeface="Times New Roman" panose="02020603050405020304" pitchFamily="18" charset="0"/>
              </a:rPr>
              <a:t>”</a:t>
            </a:r>
            <a:r>
              <a:rPr lang="zh-CN" altLang="zh-CN" sz="2000" dirty="0">
                <a:ea typeface="仿宋_GB2312" panose="02010609030101010101" pitchFamily="49" charset="-122"/>
                <a:cs typeface="Times New Roman" panose="02020603050405020304" pitchFamily="18" charset="0"/>
              </a:rPr>
              <a:t>）或其它。</a:t>
            </a:r>
            <a:endParaRPr lang="zh-CN" altLang="zh-CN" sz="2000" dirty="0">
              <a:ea typeface="仿宋_GB2312" panose="02010609030101010101" pitchFamily="49" charset="-122"/>
              <a:cs typeface="Times New Roman" panose="02020603050405020304" pitchFamily="18" charset="0"/>
            </a:endParaRPr>
          </a:p>
          <a:p>
            <a:r>
              <a:rPr lang="zh-CN" altLang="en-US" sz="2000" dirty="0" smtClean="0">
                <a:ea typeface="仿宋_GB2312" panose="02010609030101010101" pitchFamily="49" charset="-122"/>
                <a:cs typeface="Times New Roman" panose="02020603050405020304" pitchFamily="18" charset="0"/>
              </a:rPr>
              <a:t>    （</a:t>
            </a:r>
            <a:r>
              <a:rPr lang="en-US" altLang="zh-CN" sz="2000" dirty="0" smtClean="0">
                <a:ea typeface="仿宋_GB2312" panose="02010609030101010101" pitchFamily="49" charset="-122"/>
                <a:cs typeface="Times New Roman" panose="02020603050405020304" pitchFamily="18" charset="0"/>
              </a:rPr>
              <a:t>4</a:t>
            </a:r>
            <a:r>
              <a:rPr lang="zh-CN" altLang="en-US" sz="2000" dirty="0">
                <a:ea typeface="仿宋_GB2312" panose="02010609030101010101" pitchFamily="49" charset="-122"/>
                <a:cs typeface="Times New Roman" panose="02020603050405020304" pitchFamily="18" charset="0"/>
              </a:rPr>
              <a:t>）</a:t>
            </a:r>
            <a:r>
              <a:rPr lang="en-US" altLang="zh-CN" sz="2000" dirty="0">
                <a:ea typeface="仿宋_GB2312" panose="02010609030101010101" pitchFamily="49" charset="-122"/>
                <a:cs typeface="Times New Roman" panose="02020603050405020304" pitchFamily="18" charset="0"/>
              </a:rPr>
              <a:t>“</a:t>
            </a:r>
            <a:r>
              <a:rPr lang="zh-CN" altLang="zh-CN" sz="2000" dirty="0">
                <a:ea typeface="仿宋_GB2312" panose="02010609030101010101" pitchFamily="49" charset="-122"/>
                <a:cs typeface="Times New Roman" panose="02020603050405020304" pitchFamily="18" charset="0"/>
              </a:rPr>
              <a:t>第一</a:t>
            </a:r>
            <a:r>
              <a:rPr lang="en-US" altLang="zh-CN" sz="2000" dirty="0">
                <a:ea typeface="仿宋_GB2312" panose="02010609030101010101" pitchFamily="49" charset="-122"/>
                <a:cs typeface="Times New Roman" panose="02020603050405020304" pitchFamily="18" charset="0"/>
              </a:rPr>
              <a:t>”</a:t>
            </a:r>
            <a:r>
              <a:rPr lang="zh-CN" altLang="zh-CN" sz="2000" dirty="0">
                <a:ea typeface="仿宋_GB2312" panose="02010609030101010101" pitchFamily="49" charset="-122"/>
                <a:cs typeface="Times New Roman" panose="02020603050405020304" pitchFamily="18" charset="0"/>
              </a:rPr>
              <a:t>，</a:t>
            </a:r>
            <a:r>
              <a:rPr lang="en-US" altLang="zh-CN" sz="2000" dirty="0">
                <a:ea typeface="仿宋_GB2312" panose="02010609030101010101" pitchFamily="49" charset="-122"/>
                <a:cs typeface="Times New Roman" panose="02020603050405020304" pitchFamily="18" charset="0"/>
              </a:rPr>
              <a:t>“</a:t>
            </a:r>
            <a:r>
              <a:rPr lang="zh-CN" altLang="zh-CN" sz="2000" dirty="0">
                <a:ea typeface="仿宋_GB2312" panose="02010609030101010101" pitchFamily="49" charset="-122"/>
                <a:cs typeface="Times New Roman" panose="02020603050405020304" pitchFamily="18" charset="0"/>
              </a:rPr>
              <a:t>首先</a:t>
            </a:r>
            <a:r>
              <a:rPr lang="en-US" altLang="zh-CN" sz="2000" dirty="0">
                <a:ea typeface="仿宋_GB2312" panose="02010609030101010101" pitchFamily="49" charset="-122"/>
                <a:cs typeface="Times New Roman" panose="02020603050405020304" pitchFamily="18" charset="0"/>
              </a:rPr>
              <a:t>”</a:t>
            </a:r>
            <a:r>
              <a:rPr lang="zh-CN" altLang="zh-CN" sz="2000" dirty="0">
                <a:ea typeface="仿宋_GB2312" panose="02010609030101010101" pitchFamily="49" charset="-122"/>
                <a:cs typeface="Times New Roman" panose="02020603050405020304" pitchFamily="18" charset="0"/>
              </a:rPr>
              <a:t>等后面用逗号（</a:t>
            </a:r>
            <a:r>
              <a:rPr lang="en-US" altLang="zh-CN" sz="2000" dirty="0">
                <a:ea typeface="仿宋_GB2312" panose="02010609030101010101" pitchFamily="49" charset="-122"/>
                <a:cs typeface="Times New Roman" panose="02020603050405020304" pitchFamily="18" charset="0"/>
              </a:rPr>
              <a:t>“</a:t>
            </a:r>
            <a:r>
              <a:rPr lang="zh-CN" altLang="zh-CN" sz="2000" dirty="0">
                <a:ea typeface="仿宋_GB2312" panose="02010609030101010101" pitchFamily="49" charset="-122"/>
                <a:cs typeface="Times New Roman" panose="02020603050405020304" pitchFamily="18" charset="0"/>
              </a:rPr>
              <a:t>，</a:t>
            </a:r>
            <a:r>
              <a:rPr lang="en-US" altLang="zh-CN" sz="2000" dirty="0">
                <a:ea typeface="仿宋_GB2312" panose="02010609030101010101" pitchFamily="49" charset="-122"/>
                <a:cs typeface="Times New Roman" panose="02020603050405020304" pitchFamily="18" charset="0"/>
              </a:rPr>
              <a:t>”</a:t>
            </a:r>
            <a:r>
              <a:rPr lang="zh-CN" altLang="zh-CN" sz="2000" dirty="0">
                <a:ea typeface="仿宋_GB2312" panose="02010609030101010101" pitchFamily="49" charset="-122"/>
                <a:cs typeface="Times New Roman" panose="02020603050405020304" pitchFamily="18" charset="0"/>
              </a:rPr>
              <a:t>）。</a:t>
            </a:r>
            <a:endParaRPr lang="en-US" altLang="zh-CN" sz="2000" dirty="0">
              <a:ea typeface="仿宋_GB2312" panose="02010609030101010101" pitchFamily="49" charset="-122"/>
              <a:cs typeface="Times New Roman" panose="02020603050405020304" pitchFamily="18" charset="0"/>
            </a:endParaRPr>
          </a:p>
          <a:p>
            <a:pPr marL="342900" eaLnBrk="1" hangingPunct="1">
              <a:lnSpc>
                <a:spcPct val="90000"/>
              </a:lnSpc>
              <a:spcBef>
                <a:spcPct val="20000"/>
              </a:spcBef>
              <a:buClr>
                <a:srgbClr val="0066CC"/>
              </a:buClr>
            </a:pPr>
            <a:endParaRPr lang="zh-CN" altLang="en-US" sz="2000" dirty="0">
              <a:ea typeface="仿宋_GB2312" panose="02010609030101010101" pitchFamily="49" charset="-122"/>
              <a:cs typeface="Times New Roman" panose="02020603050405020304" pitchFamily="18" charset="0"/>
            </a:endParaRPr>
          </a:p>
        </p:txBody>
      </p:sp>
      <p:pic>
        <p:nvPicPr>
          <p:cNvPr id="9" name="图片 8"/>
          <p:cNvPicPr>
            <a:picLocks noChangeAspect="1"/>
          </p:cNvPicPr>
          <p:nvPr/>
        </p:nvPicPr>
        <p:blipFill>
          <a:blip r:embed="rId3"/>
          <a:stretch>
            <a:fillRect/>
          </a:stretch>
        </p:blipFill>
        <p:spPr>
          <a:xfrm>
            <a:off x="575945" y="297180"/>
            <a:ext cx="1685925" cy="419100"/>
          </a:xfrm>
          <a:prstGeom prst="rect">
            <a:avLst/>
          </a:prstGeom>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right)">
                                      <p:cBhvr>
                                        <p:cTn id="8" dur="500"/>
                                        <p:tgtEl>
                                          <p:spTgt spid="8"/>
                                        </p:tgtEl>
                                      </p:cBhvr>
                                    </p:animEffect>
                                  </p:childTnLst>
                                </p:cTn>
                              </p:par>
                              <p:par>
                                <p:cTn id="9" presetID="12" presetClass="entr" presetSubtype="8" fill="hold" grpId="1"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250"/>
                                        <p:tgtEl>
                                          <p:spTgt spid="14"/>
                                        </p:tgtEl>
                                        <p:attrNameLst>
                                          <p:attrName>ppt_x</p:attrName>
                                        </p:attrNameLst>
                                      </p:cBhvr>
                                      <p:tavLst>
                                        <p:tav tm="0">
                                          <p:val>
                                            <p:strVal val="#ppt_x-#ppt_w*1.125000"/>
                                          </p:val>
                                        </p:tav>
                                        <p:tav tm="100000">
                                          <p:val>
                                            <p:strVal val="#ppt_x"/>
                                          </p:val>
                                        </p:tav>
                                      </p:tavLst>
                                    </p:anim>
                                    <p:animEffect transition="in" filter="wipe(right)">
                                      <p:cBhvr>
                                        <p:cTn id="12" dur="250"/>
                                        <p:tgtEl>
                                          <p:spTgt spid="14"/>
                                        </p:tgtEl>
                                      </p:cBhvr>
                                    </p:animEffect>
                                  </p:childTnLst>
                                </p:cTn>
                              </p:par>
                              <p:par>
                                <p:cTn id="13" presetID="42"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1000"/>
                                        <p:tgtEl>
                                          <p:spTgt spid="13"/>
                                        </p:tgtEl>
                                      </p:cBhvr>
                                    </p:animEffect>
                                    <p:anim calcmode="lin" valueType="num">
                                      <p:cBhvr>
                                        <p:cTn id="16" dur="1000" fill="hold"/>
                                        <p:tgtEl>
                                          <p:spTgt spid="13"/>
                                        </p:tgtEl>
                                        <p:attrNameLst>
                                          <p:attrName>ppt_x</p:attrName>
                                        </p:attrNameLst>
                                      </p:cBhvr>
                                      <p:tavLst>
                                        <p:tav tm="0">
                                          <p:val>
                                            <p:strVal val="#ppt_x"/>
                                          </p:val>
                                        </p:tav>
                                        <p:tav tm="100000">
                                          <p:val>
                                            <p:strVal val="#ppt_x"/>
                                          </p:val>
                                        </p:tav>
                                      </p:tavLst>
                                    </p:anim>
                                    <p:anim calcmode="lin" valueType="num">
                                      <p:cBhvr>
                                        <p:cTn id="17"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E:\曹飞\2017\2017-8-8地铁PPT\6.png6"/>
          <p:cNvPicPr>
            <a:picLocks noChangeAspect="1"/>
          </p:cNvPicPr>
          <p:nvPr/>
        </p:nvPicPr>
        <p:blipFill>
          <a:blip r:embed="rId1" cstate="email"/>
          <a:srcRect/>
          <a:stretch>
            <a:fillRect/>
          </a:stretch>
        </p:blipFill>
        <p:spPr>
          <a:xfrm>
            <a:off x="2261712" y="239317"/>
            <a:ext cx="6463189" cy="343376"/>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pic>
        <p:nvPicPr>
          <p:cNvPr id="13" name="图片 12" descr="E:\曹飞\2017\2017-8-8地铁PPT\7.png7"/>
          <p:cNvPicPr>
            <a:picLocks noChangeAspect="1"/>
          </p:cNvPicPr>
          <p:nvPr/>
        </p:nvPicPr>
        <p:blipFill>
          <a:blip r:embed="rId2" cstate="email"/>
          <a:srcRect/>
          <a:stretch>
            <a:fillRect/>
          </a:stretch>
        </p:blipFill>
        <p:spPr>
          <a:xfrm>
            <a:off x="-6667" y="4477465"/>
            <a:ext cx="9168289" cy="668179"/>
          </a:xfrm>
          <a:prstGeom prst="rect">
            <a:avLst/>
          </a:prstGeom>
        </p:spPr>
      </p:pic>
      <p:sp>
        <p:nvSpPr>
          <p:cNvPr id="41" name="Text Box 2"/>
          <p:cNvSpPr txBox="1">
            <a:spLocks noChangeArrowheads="1"/>
          </p:cNvSpPr>
          <p:nvPr/>
        </p:nvSpPr>
        <p:spPr bwMode="auto">
          <a:xfrm>
            <a:off x="395536" y="1563638"/>
            <a:ext cx="8329365" cy="16619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000" dirty="0" smtClean="0">
                <a:ea typeface="仿宋_GB2312" panose="02010609030101010101" pitchFamily="49" charset="-122"/>
                <a:cs typeface="Times New Roman" panose="02020603050405020304" pitchFamily="18" charset="0"/>
              </a:rPr>
              <a:t>      5.</a:t>
            </a:r>
            <a:r>
              <a:rPr lang="zh-CN" altLang="zh-CN" sz="2000" dirty="0">
                <a:ea typeface="仿宋_GB2312" panose="02010609030101010101" pitchFamily="49" charset="-122"/>
                <a:cs typeface="Times New Roman" panose="02020603050405020304" pitchFamily="18" charset="0"/>
              </a:rPr>
              <a:t>连接号和破折号</a:t>
            </a:r>
            <a:endParaRPr lang="zh-CN" altLang="zh-CN" sz="2000" dirty="0">
              <a:ea typeface="仿宋_GB2312" panose="02010609030101010101" pitchFamily="49" charset="-122"/>
              <a:cs typeface="Times New Roman" panose="02020603050405020304" pitchFamily="18" charset="0"/>
            </a:endParaRPr>
          </a:p>
          <a:p>
            <a:r>
              <a:rPr lang="zh-CN" altLang="en-US" sz="2000" dirty="0" smtClean="0">
                <a:ea typeface="仿宋_GB2312" panose="02010609030101010101" pitchFamily="49" charset="-122"/>
                <a:cs typeface="Times New Roman" panose="02020603050405020304" pitchFamily="18" charset="0"/>
              </a:rPr>
              <a:t>    （</a:t>
            </a:r>
            <a:r>
              <a:rPr lang="en-US" altLang="zh-CN" sz="2000" dirty="0" smtClean="0">
                <a:ea typeface="仿宋_GB2312" panose="02010609030101010101" pitchFamily="49" charset="-122"/>
                <a:cs typeface="Times New Roman" panose="02020603050405020304" pitchFamily="18" charset="0"/>
              </a:rPr>
              <a:t>1</a:t>
            </a:r>
            <a:r>
              <a:rPr lang="zh-CN" altLang="en-US" sz="2000" dirty="0">
                <a:ea typeface="仿宋_GB2312" panose="02010609030101010101" pitchFamily="49" charset="-122"/>
                <a:cs typeface="Times New Roman" panose="02020603050405020304" pitchFamily="18" charset="0"/>
              </a:rPr>
              <a:t>）</a:t>
            </a:r>
            <a:r>
              <a:rPr lang="zh-CN" altLang="zh-CN" sz="2000" dirty="0">
                <a:ea typeface="仿宋_GB2312" panose="02010609030101010101" pitchFamily="49" charset="-122"/>
                <a:cs typeface="Times New Roman" panose="02020603050405020304" pitchFamily="18" charset="0"/>
              </a:rPr>
              <a:t>凡文中使用连接号的应使用</a:t>
            </a:r>
            <a:r>
              <a:rPr lang="en-US" altLang="zh-CN" sz="2000" dirty="0">
                <a:ea typeface="仿宋_GB2312" panose="02010609030101010101" pitchFamily="49" charset="-122"/>
                <a:cs typeface="Times New Roman" panose="02020603050405020304" pitchFamily="18" charset="0"/>
              </a:rPr>
              <a:t>“</a:t>
            </a:r>
            <a:r>
              <a:rPr lang="zh-CN" altLang="zh-CN" sz="2000" dirty="0">
                <a:ea typeface="仿宋_GB2312" panose="02010609030101010101" pitchFamily="49" charset="-122"/>
                <a:cs typeface="Times New Roman" panose="02020603050405020304" pitchFamily="18" charset="0"/>
              </a:rPr>
              <a:t>～</a:t>
            </a:r>
            <a:r>
              <a:rPr lang="en-US" altLang="zh-CN" sz="2000" dirty="0">
                <a:ea typeface="仿宋_GB2312" panose="02010609030101010101" pitchFamily="49" charset="-122"/>
                <a:cs typeface="Times New Roman" panose="02020603050405020304" pitchFamily="18" charset="0"/>
              </a:rPr>
              <a:t>”</a:t>
            </a:r>
            <a:r>
              <a:rPr lang="zh-CN" altLang="zh-CN" sz="2000" dirty="0">
                <a:ea typeface="仿宋_GB2312" panose="02010609030101010101" pitchFamily="49" charset="-122"/>
                <a:cs typeface="Times New Roman" panose="02020603050405020304" pitchFamily="18" charset="0"/>
              </a:rPr>
              <a:t>，而不使用</a:t>
            </a:r>
            <a:r>
              <a:rPr lang="en-US" altLang="zh-CN" sz="2000" dirty="0">
                <a:ea typeface="仿宋_GB2312" panose="02010609030101010101" pitchFamily="49" charset="-122"/>
                <a:cs typeface="Times New Roman" panose="02020603050405020304" pitchFamily="18" charset="0"/>
              </a:rPr>
              <a:t>“—”</a:t>
            </a:r>
            <a:r>
              <a:rPr lang="zh-CN" altLang="zh-CN" sz="2000" dirty="0">
                <a:ea typeface="仿宋_GB2312" panose="02010609030101010101" pitchFamily="49" charset="-122"/>
                <a:cs typeface="Times New Roman" panose="02020603050405020304" pitchFamily="18" charset="0"/>
              </a:rPr>
              <a:t>或者</a:t>
            </a:r>
            <a:r>
              <a:rPr lang="en-US" altLang="zh-CN" sz="2000" dirty="0">
                <a:ea typeface="仿宋_GB2312" panose="02010609030101010101" pitchFamily="49" charset="-122"/>
                <a:cs typeface="Times New Roman" panose="02020603050405020304" pitchFamily="18" charset="0"/>
              </a:rPr>
              <a:t>“</a:t>
            </a:r>
            <a:r>
              <a:rPr lang="zh-CN" altLang="zh-CN" sz="2000" dirty="0">
                <a:ea typeface="仿宋_GB2312" panose="02010609030101010101" pitchFamily="49" charset="-122"/>
                <a:cs typeface="Times New Roman" panose="02020603050405020304" pitchFamily="18" charset="0"/>
              </a:rPr>
              <a:t>－</a:t>
            </a:r>
            <a:r>
              <a:rPr lang="en-US" altLang="zh-CN" sz="2000" dirty="0">
                <a:ea typeface="仿宋_GB2312" panose="02010609030101010101" pitchFamily="49" charset="-122"/>
                <a:cs typeface="Times New Roman" panose="02020603050405020304" pitchFamily="18" charset="0"/>
              </a:rPr>
              <a:t>”</a:t>
            </a:r>
            <a:r>
              <a:rPr lang="zh-CN" altLang="zh-CN" sz="2000" dirty="0">
                <a:ea typeface="仿宋_GB2312" panose="02010609030101010101" pitchFamily="49" charset="-122"/>
                <a:cs typeface="Times New Roman" panose="02020603050405020304" pitchFamily="18" charset="0"/>
              </a:rPr>
              <a:t>。</a:t>
            </a:r>
            <a:endParaRPr lang="zh-CN" altLang="zh-CN" sz="2000" dirty="0">
              <a:ea typeface="仿宋_GB2312" panose="02010609030101010101" pitchFamily="49" charset="-122"/>
              <a:cs typeface="Times New Roman" panose="02020603050405020304" pitchFamily="18" charset="0"/>
            </a:endParaRPr>
          </a:p>
          <a:p>
            <a:r>
              <a:rPr lang="zh-CN" altLang="en-US" sz="2000" dirty="0" smtClean="0">
                <a:ea typeface="仿宋_GB2312" panose="02010609030101010101" pitchFamily="49" charset="-122"/>
                <a:cs typeface="Times New Roman" panose="02020603050405020304" pitchFamily="18" charset="0"/>
              </a:rPr>
              <a:t>    （</a:t>
            </a:r>
            <a:r>
              <a:rPr lang="en-US" altLang="zh-CN" sz="2000" dirty="0" smtClean="0">
                <a:ea typeface="仿宋_GB2312" panose="02010609030101010101" pitchFamily="49" charset="-122"/>
                <a:cs typeface="Times New Roman" panose="02020603050405020304" pitchFamily="18" charset="0"/>
              </a:rPr>
              <a:t>2</a:t>
            </a:r>
            <a:r>
              <a:rPr lang="zh-CN" altLang="en-US" sz="2000" dirty="0">
                <a:ea typeface="仿宋_GB2312" panose="02010609030101010101" pitchFamily="49" charset="-122"/>
                <a:cs typeface="Times New Roman" panose="02020603050405020304" pitchFamily="18" charset="0"/>
              </a:rPr>
              <a:t>）</a:t>
            </a:r>
            <a:r>
              <a:rPr lang="zh-CN" altLang="zh-CN" sz="2000" dirty="0">
                <a:ea typeface="仿宋_GB2312" panose="02010609030101010101" pitchFamily="49" charset="-122"/>
                <a:cs typeface="Times New Roman" panose="02020603050405020304" pitchFamily="18" charset="0"/>
              </a:rPr>
              <a:t>凡文中使用破折号的应使用占两个空格的</a:t>
            </a:r>
            <a:r>
              <a:rPr lang="en-US" altLang="zh-CN" sz="2000" dirty="0">
                <a:ea typeface="仿宋_GB2312" panose="02010609030101010101" pitchFamily="49" charset="-122"/>
                <a:cs typeface="Times New Roman" panose="02020603050405020304" pitchFamily="18" charset="0"/>
              </a:rPr>
              <a:t>“——”</a:t>
            </a:r>
            <a:r>
              <a:rPr lang="zh-CN" altLang="zh-CN" sz="2000" dirty="0">
                <a:ea typeface="仿宋_GB2312" panose="02010609030101010101" pitchFamily="49" charset="-122"/>
                <a:cs typeface="Times New Roman" panose="02020603050405020304" pitchFamily="18" charset="0"/>
              </a:rPr>
              <a:t>（建议用宋体）而不用</a:t>
            </a:r>
            <a:r>
              <a:rPr lang="en-US" altLang="zh-CN" sz="2000" dirty="0">
                <a:ea typeface="仿宋_GB2312" panose="02010609030101010101" pitchFamily="49" charset="-122"/>
                <a:cs typeface="Times New Roman" panose="02020603050405020304" pitchFamily="18" charset="0"/>
              </a:rPr>
              <a:t>“</a:t>
            </a:r>
            <a:r>
              <a:rPr lang="zh-CN" altLang="zh-CN" sz="2000" dirty="0">
                <a:ea typeface="仿宋_GB2312" panose="02010609030101010101" pitchFamily="49" charset="-122"/>
                <a:cs typeface="Times New Roman" panose="02020603050405020304" pitchFamily="18" charset="0"/>
              </a:rPr>
              <a:t>～</a:t>
            </a:r>
            <a:r>
              <a:rPr lang="en-US" altLang="zh-CN" sz="2000" dirty="0">
                <a:ea typeface="仿宋_GB2312" panose="02010609030101010101" pitchFamily="49" charset="-122"/>
                <a:cs typeface="Times New Roman" panose="02020603050405020304" pitchFamily="18" charset="0"/>
              </a:rPr>
              <a:t>”</a:t>
            </a:r>
            <a:r>
              <a:rPr lang="zh-CN" altLang="zh-CN" sz="2000" dirty="0">
                <a:ea typeface="仿宋_GB2312" panose="02010609030101010101" pitchFamily="49" charset="-122"/>
                <a:cs typeface="Times New Roman" panose="02020603050405020304" pitchFamily="18" charset="0"/>
              </a:rPr>
              <a:t>或只占一个空格的</a:t>
            </a:r>
            <a:r>
              <a:rPr lang="en-US" altLang="zh-CN" sz="2000" dirty="0">
                <a:ea typeface="仿宋_GB2312" panose="02010609030101010101" pitchFamily="49" charset="-122"/>
                <a:cs typeface="Times New Roman" panose="02020603050405020304" pitchFamily="18" charset="0"/>
              </a:rPr>
              <a:t>“-”</a:t>
            </a:r>
            <a:r>
              <a:rPr lang="zh-CN" altLang="zh-CN" sz="2000" dirty="0">
                <a:ea typeface="仿宋_GB2312" panose="02010609030101010101" pitchFamily="49" charset="-122"/>
                <a:cs typeface="Times New Roman" panose="02020603050405020304" pitchFamily="18" charset="0"/>
              </a:rPr>
              <a:t>。</a:t>
            </a:r>
            <a:endParaRPr lang="zh-CN" altLang="zh-CN" sz="2000" dirty="0">
              <a:ea typeface="仿宋_GB2312" panose="02010609030101010101" pitchFamily="49" charset="-122"/>
              <a:cs typeface="Times New Roman" panose="02020603050405020304" pitchFamily="18" charset="0"/>
            </a:endParaRPr>
          </a:p>
          <a:p>
            <a:pPr marL="342900" eaLnBrk="1" hangingPunct="1">
              <a:lnSpc>
                <a:spcPct val="90000"/>
              </a:lnSpc>
              <a:spcBef>
                <a:spcPct val="20000"/>
              </a:spcBef>
              <a:buClr>
                <a:srgbClr val="0066CC"/>
              </a:buClr>
            </a:pPr>
            <a:endParaRPr lang="zh-CN" altLang="en-US" sz="2000" dirty="0">
              <a:ea typeface="仿宋_GB2312" panose="02010609030101010101" pitchFamily="49" charset="-122"/>
              <a:cs typeface="Times New Roman" panose="02020603050405020304" pitchFamily="18" charset="0"/>
            </a:endParaRPr>
          </a:p>
        </p:txBody>
      </p:sp>
      <p:pic>
        <p:nvPicPr>
          <p:cNvPr id="9" name="图片 8"/>
          <p:cNvPicPr>
            <a:picLocks noChangeAspect="1"/>
          </p:cNvPicPr>
          <p:nvPr/>
        </p:nvPicPr>
        <p:blipFill>
          <a:blip r:embed="rId3"/>
          <a:stretch>
            <a:fillRect/>
          </a:stretch>
        </p:blipFill>
        <p:spPr>
          <a:xfrm>
            <a:off x="575945" y="297180"/>
            <a:ext cx="1685925" cy="419100"/>
          </a:xfrm>
          <a:prstGeom prst="rect">
            <a:avLst/>
          </a:prstGeom>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right)">
                                      <p:cBhvr>
                                        <p:cTn id="8" dur="500"/>
                                        <p:tgtEl>
                                          <p:spTgt spid="8"/>
                                        </p:tgtEl>
                                      </p:cBhvr>
                                    </p:animEffect>
                                  </p:childTnLst>
                                </p:cTn>
                              </p:par>
                              <p:par>
                                <p:cTn id="9" presetID="12" presetClass="entr" presetSubtype="8" fill="hold" grpId="1"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250"/>
                                        <p:tgtEl>
                                          <p:spTgt spid="14"/>
                                        </p:tgtEl>
                                        <p:attrNameLst>
                                          <p:attrName>ppt_x</p:attrName>
                                        </p:attrNameLst>
                                      </p:cBhvr>
                                      <p:tavLst>
                                        <p:tav tm="0">
                                          <p:val>
                                            <p:strVal val="#ppt_x-#ppt_w*1.125000"/>
                                          </p:val>
                                        </p:tav>
                                        <p:tav tm="100000">
                                          <p:val>
                                            <p:strVal val="#ppt_x"/>
                                          </p:val>
                                        </p:tav>
                                      </p:tavLst>
                                    </p:anim>
                                    <p:animEffect transition="in" filter="wipe(right)">
                                      <p:cBhvr>
                                        <p:cTn id="12" dur="250"/>
                                        <p:tgtEl>
                                          <p:spTgt spid="14"/>
                                        </p:tgtEl>
                                      </p:cBhvr>
                                    </p:animEffect>
                                  </p:childTnLst>
                                </p:cTn>
                              </p:par>
                              <p:par>
                                <p:cTn id="13" presetID="42"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1000"/>
                                        <p:tgtEl>
                                          <p:spTgt spid="13"/>
                                        </p:tgtEl>
                                      </p:cBhvr>
                                    </p:animEffect>
                                    <p:anim calcmode="lin" valueType="num">
                                      <p:cBhvr>
                                        <p:cTn id="16" dur="1000" fill="hold"/>
                                        <p:tgtEl>
                                          <p:spTgt spid="13"/>
                                        </p:tgtEl>
                                        <p:attrNameLst>
                                          <p:attrName>ppt_x</p:attrName>
                                        </p:attrNameLst>
                                      </p:cBhvr>
                                      <p:tavLst>
                                        <p:tav tm="0">
                                          <p:val>
                                            <p:strVal val="#ppt_x"/>
                                          </p:val>
                                        </p:tav>
                                        <p:tav tm="100000">
                                          <p:val>
                                            <p:strVal val="#ppt_x"/>
                                          </p:val>
                                        </p:tav>
                                      </p:tavLst>
                                    </p:anim>
                                    <p:anim calcmode="lin" valueType="num">
                                      <p:cBhvr>
                                        <p:cTn id="17"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E:\曹飞\2017\2017-8-8地铁PPT\6.png6"/>
          <p:cNvPicPr>
            <a:picLocks noChangeAspect="1"/>
          </p:cNvPicPr>
          <p:nvPr/>
        </p:nvPicPr>
        <p:blipFill>
          <a:blip r:embed="rId1" cstate="email"/>
          <a:srcRect/>
          <a:stretch>
            <a:fillRect/>
          </a:stretch>
        </p:blipFill>
        <p:spPr>
          <a:xfrm>
            <a:off x="2261712" y="239317"/>
            <a:ext cx="6463189" cy="343376"/>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pic>
        <p:nvPicPr>
          <p:cNvPr id="13" name="图片 12" descr="E:\曹飞\2017\2017-8-8地铁PPT\7.png7"/>
          <p:cNvPicPr>
            <a:picLocks noChangeAspect="1"/>
          </p:cNvPicPr>
          <p:nvPr/>
        </p:nvPicPr>
        <p:blipFill>
          <a:blip r:embed="rId2" cstate="email"/>
          <a:srcRect/>
          <a:stretch>
            <a:fillRect/>
          </a:stretch>
        </p:blipFill>
        <p:spPr>
          <a:xfrm>
            <a:off x="-6667" y="4477465"/>
            <a:ext cx="9168289" cy="668179"/>
          </a:xfrm>
          <a:prstGeom prst="rect">
            <a:avLst/>
          </a:prstGeom>
        </p:spPr>
      </p:pic>
      <p:sp>
        <p:nvSpPr>
          <p:cNvPr id="41" name="Text Box 2"/>
          <p:cNvSpPr txBox="1">
            <a:spLocks noChangeArrowheads="1"/>
          </p:cNvSpPr>
          <p:nvPr/>
        </p:nvSpPr>
        <p:spPr bwMode="auto">
          <a:xfrm>
            <a:off x="716418" y="1563638"/>
            <a:ext cx="7744014" cy="16619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r>
              <a:rPr lang="en-US" altLang="zh-CN" sz="2000" dirty="0" smtClean="0">
                <a:ea typeface="仿宋_GB2312" panose="02010609030101010101" pitchFamily="49" charset="-122"/>
                <a:cs typeface="Times New Roman" panose="02020603050405020304" pitchFamily="18" charset="0"/>
              </a:rPr>
              <a:t>        6.</a:t>
            </a:r>
            <a:r>
              <a:rPr lang="zh-CN" altLang="zh-CN" sz="2000" dirty="0">
                <a:ea typeface="仿宋_GB2312" panose="02010609030101010101" pitchFamily="49" charset="-122"/>
                <a:cs typeface="Times New Roman" panose="02020603050405020304" pitchFamily="18" charset="0"/>
              </a:rPr>
              <a:t>页码</a:t>
            </a:r>
            <a:endParaRPr lang="zh-CN" altLang="zh-CN" sz="2000" dirty="0">
              <a:ea typeface="仿宋_GB2312" panose="02010609030101010101" pitchFamily="49" charset="-122"/>
              <a:cs typeface="Times New Roman" panose="02020603050405020304" pitchFamily="18" charset="0"/>
            </a:endParaRPr>
          </a:p>
          <a:p>
            <a:pPr algn="just" eaLnBrk="1" hangingPunct="1"/>
            <a:r>
              <a:rPr lang="en-US" altLang="zh-CN" sz="2000" dirty="0" smtClean="0">
                <a:ea typeface="仿宋_GB2312" panose="02010609030101010101" pitchFamily="49" charset="-122"/>
                <a:cs typeface="Times New Roman" panose="02020603050405020304" pitchFamily="18" charset="0"/>
              </a:rPr>
              <a:t>        </a:t>
            </a:r>
            <a:r>
              <a:rPr lang="zh-CN" altLang="zh-CN" sz="2000" dirty="0" smtClean="0">
                <a:ea typeface="仿宋_GB2312" panose="02010609030101010101" pitchFamily="49" charset="-122"/>
                <a:cs typeface="Times New Roman" panose="02020603050405020304" pitchFamily="18" charset="0"/>
              </a:rPr>
              <a:t>用</a:t>
            </a:r>
            <a:r>
              <a:rPr lang="en-US" altLang="zh-CN" sz="2000" dirty="0">
                <a:ea typeface="仿宋_GB2312" panose="02010609030101010101" pitchFamily="49" charset="-122"/>
                <a:cs typeface="Times New Roman" panose="02020603050405020304" pitchFamily="18" charset="0"/>
              </a:rPr>
              <a:t>4</a:t>
            </a:r>
            <a:r>
              <a:rPr lang="zh-CN" altLang="zh-CN" sz="2000" dirty="0">
                <a:ea typeface="仿宋_GB2312" panose="02010609030101010101" pitchFamily="49" charset="-122"/>
                <a:cs typeface="Times New Roman" panose="02020603050405020304" pitchFamily="18" charset="0"/>
              </a:rPr>
              <a:t>号半角白体阿拉伯数码标识，数码左右各放一条</a:t>
            </a:r>
            <a:r>
              <a:rPr lang="en-US" altLang="zh-CN" sz="2000" dirty="0">
                <a:ea typeface="仿宋_GB2312" panose="02010609030101010101" pitchFamily="49" charset="-122"/>
                <a:cs typeface="Times New Roman" panose="02020603050405020304" pitchFamily="18" charset="0"/>
              </a:rPr>
              <a:t>4</a:t>
            </a:r>
            <a:r>
              <a:rPr lang="zh-CN" altLang="zh-CN" sz="2000" dirty="0">
                <a:ea typeface="仿宋_GB2312" panose="02010609030101010101" pitchFamily="49" charset="-122"/>
                <a:cs typeface="Times New Roman" panose="02020603050405020304" pitchFamily="18" charset="0"/>
              </a:rPr>
              <a:t>号一</a:t>
            </a:r>
            <a:r>
              <a:rPr lang="zh-CN" altLang="zh-CN" sz="2000" dirty="0" smtClean="0">
                <a:ea typeface="仿宋_GB2312" panose="02010609030101010101" pitchFamily="49" charset="-122"/>
                <a:cs typeface="Times New Roman" panose="02020603050405020304" pitchFamily="18" charset="0"/>
              </a:rPr>
              <a:t>字线</a:t>
            </a:r>
            <a:r>
              <a:rPr lang="zh-CN" altLang="en-US" sz="2000" dirty="0" smtClean="0">
                <a:ea typeface="仿宋_GB2312" panose="02010609030101010101" pitchFamily="49" charset="-122"/>
                <a:cs typeface="Times New Roman" panose="02020603050405020304" pitchFamily="18" charset="0"/>
              </a:rPr>
              <a:t>“</a:t>
            </a:r>
            <a:r>
              <a:rPr lang="zh-CN" altLang="zh-CN" sz="2000" dirty="0" smtClean="0">
                <a:latin typeface="+mn-ea"/>
                <a:ea typeface="+mn-ea"/>
                <a:cs typeface="Times New Roman" panose="02020603050405020304" pitchFamily="18" charset="0"/>
              </a:rPr>
              <a:t>－</a:t>
            </a:r>
            <a:r>
              <a:rPr lang="en-US" altLang="zh-CN" sz="2000" dirty="0" smtClean="0">
                <a:latin typeface="+mn-ea"/>
                <a:ea typeface="+mn-ea"/>
                <a:cs typeface="Times New Roman" panose="02020603050405020304" pitchFamily="18" charset="0"/>
              </a:rPr>
              <a:t>1</a:t>
            </a:r>
            <a:r>
              <a:rPr lang="zh-CN" altLang="zh-CN" sz="2000" dirty="0" smtClean="0">
                <a:latin typeface="+mn-ea"/>
                <a:ea typeface="+mn-ea"/>
                <a:cs typeface="Times New Roman" panose="02020603050405020304" pitchFamily="18" charset="0"/>
              </a:rPr>
              <a:t>－</a:t>
            </a:r>
            <a:r>
              <a:rPr lang="zh-CN" altLang="en-US" sz="2000" dirty="0" smtClean="0">
                <a:ea typeface="仿宋_GB2312" panose="02010609030101010101" pitchFamily="49" charset="-122"/>
                <a:cs typeface="Times New Roman" panose="02020603050405020304" pitchFamily="18" charset="0"/>
              </a:rPr>
              <a:t>”</a:t>
            </a:r>
            <a:r>
              <a:rPr lang="zh-CN" altLang="zh-CN" sz="2000" dirty="0" smtClean="0">
                <a:ea typeface="仿宋_GB2312" panose="02010609030101010101" pitchFamily="49" charset="-122"/>
                <a:cs typeface="Times New Roman" panose="02020603050405020304" pitchFamily="18" charset="0"/>
              </a:rPr>
              <a:t>，</a:t>
            </a:r>
            <a:r>
              <a:rPr lang="zh-CN" altLang="zh-CN" sz="2000" dirty="0">
                <a:ea typeface="仿宋_GB2312" panose="02010609030101010101" pitchFamily="49" charset="-122"/>
                <a:cs typeface="Times New Roman" panose="02020603050405020304" pitchFamily="18" charset="0"/>
              </a:rPr>
              <a:t>一字线距版心下边缘</a:t>
            </a:r>
            <a:r>
              <a:rPr lang="en-US" altLang="zh-CN" sz="2000" dirty="0">
                <a:ea typeface="仿宋_GB2312" panose="02010609030101010101" pitchFamily="49" charset="-122"/>
                <a:cs typeface="Times New Roman" panose="02020603050405020304" pitchFamily="18" charset="0"/>
              </a:rPr>
              <a:t>7mm</a:t>
            </a:r>
            <a:r>
              <a:rPr lang="zh-CN" altLang="zh-CN" sz="2000" dirty="0">
                <a:ea typeface="仿宋_GB2312" panose="02010609030101010101" pitchFamily="49" charset="-122"/>
                <a:cs typeface="Times New Roman" panose="02020603050405020304" pitchFamily="18" charset="0"/>
              </a:rPr>
              <a:t>。页码外侧对齐时，单页码居右空</a:t>
            </a:r>
            <a:r>
              <a:rPr lang="en-US" altLang="zh-CN" sz="2000" dirty="0">
                <a:ea typeface="仿宋_GB2312" panose="02010609030101010101" pitchFamily="49" charset="-122"/>
                <a:cs typeface="Times New Roman" panose="02020603050405020304" pitchFamily="18" charset="0"/>
              </a:rPr>
              <a:t>l</a:t>
            </a:r>
            <a:r>
              <a:rPr lang="zh-CN" altLang="zh-CN" sz="2000" dirty="0">
                <a:ea typeface="仿宋_GB2312" panose="02010609030101010101" pitchFamily="49" charset="-122"/>
                <a:cs typeface="Times New Roman" panose="02020603050405020304" pitchFamily="18" charset="0"/>
              </a:rPr>
              <a:t>字，双页码居左空</a:t>
            </a:r>
            <a:r>
              <a:rPr lang="en-US" altLang="zh-CN" sz="2000" dirty="0">
                <a:ea typeface="仿宋_GB2312" panose="02010609030101010101" pitchFamily="49" charset="-122"/>
                <a:cs typeface="Times New Roman" panose="02020603050405020304" pitchFamily="18" charset="0"/>
              </a:rPr>
              <a:t>l</a:t>
            </a:r>
            <a:r>
              <a:rPr lang="zh-CN" altLang="zh-CN" sz="2000" dirty="0">
                <a:ea typeface="仿宋_GB2312" panose="02010609030101010101" pitchFamily="49" charset="-122"/>
                <a:cs typeface="Times New Roman" panose="02020603050405020304" pitchFamily="18" charset="0"/>
              </a:rPr>
              <a:t>字，空白页和空白页以后的页不标识页码。</a:t>
            </a:r>
            <a:endParaRPr lang="zh-CN" altLang="zh-CN" sz="2000" dirty="0">
              <a:ea typeface="仿宋_GB2312" panose="02010609030101010101" pitchFamily="49" charset="-122"/>
              <a:cs typeface="Times New Roman" panose="02020603050405020304" pitchFamily="18" charset="0"/>
            </a:endParaRPr>
          </a:p>
          <a:p>
            <a:pPr marL="342900" eaLnBrk="1" hangingPunct="1">
              <a:lnSpc>
                <a:spcPct val="90000"/>
              </a:lnSpc>
              <a:spcBef>
                <a:spcPct val="20000"/>
              </a:spcBef>
              <a:buClr>
                <a:srgbClr val="0066CC"/>
              </a:buClr>
            </a:pPr>
            <a:endParaRPr lang="zh-CN" altLang="en-US" sz="2000" dirty="0">
              <a:ea typeface="仿宋_GB2312" panose="02010609030101010101" pitchFamily="49" charset="-122"/>
              <a:cs typeface="Times New Roman" panose="02020603050405020304" pitchFamily="18" charset="0"/>
            </a:endParaRPr>
          </a:p>
        </p:txBody>
      </p:sp>
      <p:pic>
        <p:nvPicPr>
          <p:cNvPr id="9" name="图片 8"/>
          <p:cNvPicPr>
            <a:picLocks noChangeAspect="1"/>
          </p:cNvPicPr>
          <p:nvPr/>
        </p:nvPicPr>
        <p:blipFill>
          <a:blip r:embed="rId3"/>
          <a:stretch>
            <a:fillRect/>
          </a:stretch>
        </p:blipFill>
        <p:spPr>
          <a:xfrm>
            <a:off x="575945" y="297180"/>
            <a:ext cx="1685925" cy="419100"/>
          </a:xfrm>
          <a:prstGeom prst="rect">
            <a:avLst/>
          </a:prstGeom>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right)">
                                      <p:cBhvr>
                                        <p:cTn id="8" dur="500"/>
                                        <p:tgtEl>
                                          <p:spTgt spid="8"/>
                                        </p:tgtEl>
                                      </p:cBhvr>
                                    </p:animEffect>
                                  </p:childTnLst>
                                </p:cTn>
                              </p:par>
                              <p:par>
                                <p:cTn id="9" presetID="12" presetClass="entr" presetSubtype="8" fill="hold" grpId="1"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250"/>
                                        <p:tgtEl>
                                          <p:spTgt spid="14"/>
                                        </p:tgtEl>
                                        <p:attrNameLst>
                                          <p:attrName>ppt_x</p:attrName>
                                        </p:attrNameLst>
                                      </p:cBhvr>
                                      <p:tavLst>
                                        <p:tav tm="0">
                                          <p:val>
                                            <p:strVal val="#ppt_x-#ppt_w*1.125000"/>
                                          </p:val>
                                        </p:tav>
                                        <p:tav tm="100000">
                                          <p:val>
                                            <p:strVal val="#ppt_x"/>
                                          </p:val>
                                        </p:tav>
                                      </p:tavLst>
                                    </p:anim>
                                    <p:animEffect transition="in" filter="wipe(right)">
                                      <p:cBhvr>
                                        <p:cTn id="12" dur="250"/>
                                        <p:tgtEl>
                                          <p:spTgt spid="14"/>
                                        </p:tgtEl>
                                      </p:cBhvr>
                                    </p:animEffect>
                                  </p:childTnLst>
                                </p:cTn>
                              </p:par>
                              <p:par>
                                <p:cTn id="13" presetID="42"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1000"/>
                                        <p:tgtEl>
                                          <p:spTgt spid="13"/>
                                        </p:tgtEl>
                                      </p:cBhvr>
                                    </p:animEffect>
                                    <p:anim calcmode="lin" valueType="num">
                                      <p:cBhvr>
                                        <p:cTn id="16" dur="1000" fill="hold"/>
                                        <p:tgtEl>
                                          <p:spTgt spid="13"/>
                                        </p:tgtEl>
                                        <p:attrNameLst>
                                          <p:attrName>ppt_x</p:attrName>
                                        </p:attrNameLst>
                                      </p:cBhvr>
                                      <p:tavLst>
                                        <p:tav tm="0">
                                          <p:val>
                                            <p:strVal val="#ppt_x"/>
                                          </p:val>
                                        </p:tav>
                                        <p:tav tm="100000">
                                          <p:val>
                                            <p:strVal val="#ppt_x"/>
                                          </p:val>
                                        </p:tav>
                                      </p:tavLst>
                                    </p:anim>
                                    <p:anim calcmode="lin" valueType="num">
                                      <p:cBhvr>
                                        <p:cTn id="17"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C:\Users\TCSJ\Desktop\地铁PPT\bg2.pngbg2"/>
          <p:cNvPicPr>
            <a:picLocks noChangeAspect="1"/>
          </p:cNvPicPr>
          <p:nvPr/>
        </p:nvPicPr>
        <p:blipFill>
          <a:blip r:embed="rId1"/>
          <a:srcRect/>
          <a:stretch>
            <a:fillRect/>
          </a:stretch>
        </p:blipFill>
        <p:spPr>
          <a:xfrm>
            <a:off x="-7144" y="30949"/>
            <a:ext cx="9158288" cy="5152073"/>
          </a:xfrm>
          <a:prstGeom prst="rect">
            <a:avLst/>
          </a:prstGeom>
        </p:spPr>
      </p:pic>
      <p:pic>
        <p:nvPicPr>
          <p:cNvPr id="3" name="图片 2" descr="E:\曹飞\2017\2017-8-8地铁PPT\5.png5"/>
          <p:cNvPicPr>
            <a:picLocks noChangeAspect="1"/>
          </p:cNvPicPr>
          <p:nvPr/>
        </p:nvPicPr>
        <p:blipFill>
          <a:blip r:embed="rId2" cstate="email"/>
          <a:srcRect/>
          <a:stretch>
            <a:fillRect/>
          </a:stretch>
        </p:blipFill>
        <p:spPr>
          <a:xfrm>
            <a:off x="-2210752" y="-2100739"/>
            <a:ext cx="7341394" cy="8766810"/>
          </a:xfrm>
          <a:prstGeom prst="rect">
            <a:avLst/>
          </a:prstGeom>
        </p:spPr>
      </p:pic>
      <p:pic>
        <p:nvPicPr>
          <p:cNvPr id="10" name="图片 9" descr="E:\曹飞\2017\2017-8-8地铁PPT\3.png3"/>
          <p:cNvPicPr>
            <a:picLocks noChangeAspect="1"/>
          </p:cNvPicPr>
          <p:nvPr/>
        </p:nvPicPr>
        <p:blipFill>
          <a:blip r:embed="rId3" cstate="email"/>
          <a:srcRect/>
          <a:stretch>
            <a:fillRect/>
          </a:stretch>
        </p:blipFill>
        <p:spPr>
          <a:xfrm>
            <a:off x="653415" y="4402218"/>
            <a:ext cx="8497729" cy="382429"/>
          </a:xfrm>
          <a:prstGeom prst="rect">
            <a:avLst/>
          </a:prstGeom>
        </p:spPr>
      </p:pic>
      <p:sp>
        <p:nvSpPr>
          <p:cNvPr id="9" name="Freeform 5"/>
          <p:cNvSpPr/>
          <p:nvPr/>
        </p:nvSpPr>
        <p:spPr bwMode="auto">
          <a:xfrm>
            <a:off x="4808220" y="2646521"/>
            <a:ext cx="1236345" cy="1493520"/>
          </a:xfrm>
          <a:custGeom>
            <a:avLst/>
            <a:gdLst>
              <a:gd name="T0" fmla="*/ 1625 w 1625"/>
              <a:gd name="T1" fmla="*/ 1477 h 1623"/>
              <a:gd name="T2" fmla="*/ 1625 w 1625"/>
              <a:gd name="T3" fmla="*/ 1623 h 1623"/>
              <a:gd name="T4" fmla="*/ 0 w 1625"/>
              <a:gd name="T5" fmla="*/ 1623 h 1623"/>
              <a:gd name="T6" fmla="*/ 0 w 1625"/>
              <a:gd name="T7" fmla="*/ 0 h 1623"/>
              <a:gd name="T8" fmla="*/ 1625 w 1625"/>
              <a:gd name="T9" fmla="*/ 0 h 1623"/>
              <a:gd name="T10" fmla="*/ 1625 w 1625"/>
              <a:gd name="T11" fmla="*/ 608 h 1623"/>
            </a:gdLst>
            <a:ahLst/>
            <a:cxnLst>
              <a:cxn ang="0">
                <a:pos x="T0" y="T1"/>
              </a:cxn>
              <a:cxn ang="0">
                <a:pos x="T2" y="T3"/>
              </a:cxn>
              <a:cxn ang="0">
                <a:pos x="T4" y="T5"/>
              </a:cxn>
              <a:cxn ang="0">
                <a:pos x="T6" y="T7"/>
              </a:cxn>
              <a:cxn ang="0">
                <a:pos x="T8" y="T9"/>
              </a:cxn>
              <a:cxn ang="0">
                <a:pos x="T10" y="T11"/>
              </a:cxn>
            </a:cxnLst>
            <a:rect l="0" t="0" r="r" b="b"/>
            <a:pathLst>
              <a:path w="1625" h="1623">
                <a:moveTo>
                  <a:pt x="1625" y="1477"/>
                </a:moveTo>
                <a:lnTo>
                  <a:pt x="1625" y="1623"/>
                </a:lnTo>
                <a:lnTo>
                  <a:pt x="0" y="1623"/>
                </a:lnTo>
                <a:lnTo>
                  <a:pt x="0" y="0"/>
                </a:lnTo>
                <a:lnTo>
                  <a:pt x="1625" y="0"/>
                </a:lnTo>
                <a:lnTo>
                  <a:pt x="1625" y="608"/>
                </a:lnTo>
              </a:path>
            </a:pathLst>
          </a:custGeom>
          <a:noFill/>
          <a:ln w="76200" cap="flat">
            <a:solidFill>
              <a:srgbClr val="C09D3C"/>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lstStyle/>
          <a:p>
            <a:endParaRPr lang="zh-CN" altLang="en-US">
              <a:solidFill>
                <a:prstClr val="black"/>
              </a:solidFill>
              <a:latin typeface="Arial" panose="020B0604020202020204"/>
              <a:ea typeface="微软雅黑" panose="020B0503020204020204" charset="-122"/>
              <a:sym typeface="Arial" panose="020B0604020202020204"/>
            </a:endParaRPr>
          </a:p>
        </p:txBody>
      </p:sp>
      <p:sp>
        <p:nvSpPr>
          <p:cNvPr id="7" name="TextBox 24"/>
          <p:cNvSpPr txBox="1"/>
          <p:nvPr/>
        </p:nvSpPr>
        <p:spPr>
          <a:xfrm>
            <a:off x="5938362" y="3442653"/>
            <a:ext cx="2846546" cy="421262"/>
          </a:xfrm>
          <a:prstGeom prst="rect">
            <a:avLst/>
          </a:prstGeom>
          <a:noFill/>
        </p:spPr>
        <p:txBody>
          <a:bodyPr wrap="square" lIns="51428" tIns="25714" rIns="51428" bIns="25714" rtlCol="0">
            <a:spAutoFit/>
          </a:bodyPr>
          <a:lstStyle/>
          <a:p>
            <a:pPr algn="ctr"/>
            <a:r>
              <a:rPr lang="zh-CN" altLang="en-US" sz="2400" b="1" dirty="0" smtClean="0">
                <a:solidFill>
                  <a:srgbClr val="C09D3C"/>
                </a:solidFill>
                <a:latin typeface="微软雅黑" panose="020B0503020204020204" charset="-122"/>
                <a:ea typeface="微软雅黑" panose="020B0503020204020204" charset="-122"/>
                <a:sym typeface="+mn-ea"/>
              </a:rPr>
              <a:t>公文的处理流程</a:t>
            </a:r>
            <a:endParaRPr lang="zh-CN" altLang="en-US" sz="2400" b="1" dirty="0">
              <a:solidFill>
                <a:schemeClr val="tx1">
                  <a:lumMod val="75000"/>
                  <a:lumOff val="25000"/>
                </a:schemeClr>
              </a:solidFill>
              <a:latin typeface="微软雅黑" panose="020B0503020204020204" charset="-122"/>
              <a:ea typeface="微软雅黑" panose="020B0503020204020204" charset="-122"/>
              <a:sym typeface="+mn-ea"/>
            </a:endParaRPr>
          </a:p>
        </p:txBody>
      </p:sp>
      <p:cxnSp>
        <p:nvCxnSpPr>
          <p:cNvPr id="11" name="直接连接符 10"/>
          <p:cNvCxnSpPr/>
          <p:nvPr/>
        </p:nvCxnSpPr>
        <p:spPr>
          <a:xfrm>
            <a:off x="6000274" y="3896678"/>
            <a:ext cx="2676182" cy="0"/>
          </a:xfrm>
          <a:prstGeom prst="line">
            <a:avLst/>
          </a:prstGeom>
          <a:ln w="34925">
            <a:solidFill>
              <a:srgbClr val="C09D3C"/>
            </a:solidFill>
          </a:ln>
        </p:spPr>
        <p:style>
          <a:lnRef idx="1">
            <a:srgbClr val="814E67"/>
          </a:lnRef>
          <a:fillRef idx="0">
            <a:srgbClr val="814E67"/>
          </a:fillRef>
          <a:effectRef idx="0">
            <a:srgbClr val="814E67"/>
          </a:effectRef>
          <a:fontRef idx="minor">
            <a:srgbClr val="000000"/>
          </a:fontRef>
        </p:style>
      </p:cxnSp>
      <p:sp>
        <p:nvSpPr>
          <p:cNvPr id="14" name="TextBox 24"/>
          <p:cNvSpPr txBox="1"/>
          <p:nvPr/>
        </p:nvSpPr>
        <p:spPr>
          <a:xfrm>
            <a:off x="4932522" y="3074194"/>
            <a:ext cx="1312069" cy="1065848"/>
          </a:xfrm>
          <a:prstGeom prst="rect">
            <a:avLst/>
          </a:prstGeom>
          <a:noFill/>
        </p:spPr>
        <p:txBody>
          <a:bodyPr wrap="square" lIns="51428" tIns="25714" rIns="51428" bIns="25714" rtlCol="0">
            <a:spAutoFit/>
          </a:bodyPr>
          <a:lstStyle/>
          <a:p>
            <a:r>
              <a:rPr lang="en-US" altLang="zh-CN" sz="6600" dirty="0" smtClean="0">
                <a:solidFill>
                  <a:srgbClr val="C09D3C"/>
                </a:solidFill>
                <a:latin typeface="Arial" panose="020B0604020202020204"/>
                <a:ea typeface="微软雅黑" panose="020B0503020204020204" charset="-122"/>
                <a:sym typeface="Arial" panose="020B0604020202020204"/>
              </a:rPr>
              <a:t>02</a:t>
            </a:r>
            <a:endParaRPr lang="en-US" altLang="zh-CN" sz="6600" dirty="0">
              <a:solidFill>
                <a:srgbClr val="C09D3C"/>
              </a:solidFill>
              <a:latin typeface="Arial" panose="020B0604020202020204"/>
              <a:ea typeface="微软雅黑" panose="020B0503020204020204" charset="-122"/>
              <a:sym typeface="Arial" panose="020B0604020202020204"/>
            </a:endParaRPr>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E:\曹飞\2017\2017-8-8地铁PPT\6.png6"/>
          <p:cNvPicPr>
            <a:picLocks noChangeAspect="1"/>
          </p:cNvPicPr>
          <p:nvPr/>
        </p:nvPicPr>
        <p:blipFill>
          <a:blip r:embed="rId1" cstate="email"/>
          <a:srcRect/>
          <a:stretch>
            <a:fillRect/>
          </a:stretch>
        </p:blipFill>
        <p:spPr>
          <a:xfrm>
            <a:off x="2261712" y="239317"/>
            <a:ext cx="6463189" cy="343376"/>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pic>
        <p:nvPicPr>
          <p:cNvPr id="13" name="图片 12" descr="E:\曹飞\2017\2017-8-8地铁PPT\7.png7"/>
          <p:cNvPicPr>
            <a:picLocks noChangeAspect="1"/>
          </p:cNvPicPr>
          <p:nvPr/>
        </p:nvPicPr>
        <p:blipFill>
          <a:blip r:embed="rId2" cstate="email"/>
          <a:srcRect/>
          <a:stretch>
            <a:fillRect/>
          </a:stretch>
        </p:blipFill>
        <p:spPr>
          <a:xfrm>
            <a:off x="-6667" y="4477465"/>
            <a:ext cx="9168289" cy="668179"/>
          </a:xfrm>
          <a:prstGeom prst="rect">
            <a:avLst/>
          </a:prstGeom>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1680" y="1491630"/>
            <a:ext cx="5591175" cy="2257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827584" y="940729"/>
            <a:ext cx="1434128" cy="369332"/>
          </a:xfrm>
          <a:prstGeom prst="rect">
            <a:avLst/>
          </a:prstGeom>
          <a:noFill/>
        </p:spPr>
        <p:txBody>
          <a:bodyPr wrap="square" rtlCol="0">
            <a:spAutoFit/>
          </a:bodyPr>
          <a:lstStyle/>
          <a:p>
            <a:r>
              <a:rPr lang="zh-CN" altLang="en-US" dirty="0" smtClean="0">
                <a:latin typeface="仿宋_GB2312" panose="02010609030101010101" pitchFamily="49" charset="-122"/>
                <a:ea typeface="仿宋_GB2312" panose="02010609030101010101" pitchFamily="49" charset="-122"/>
              </a:rPr>
              <a:t>第一步</a:t>
            </a:r>
            <a:endParaRPr lang="zh-CN" altLang="en-US" dirty="0">
              <a:latin typeface="仿宋_GB2312" panose="02010609030101010101" pitchFamily="49" charset="-122"/>
              <a:ea typeface="仿宋_GB2312" panose="02010609030101010101" pitchFamily="49" charset="-122"/>
            </a:endParaRPr>
          </a:p>
        </p:txBody>
      </p:sp>
      <p:pic>
        <p:nvPicPr>
          <p:cNvPr id="9" name="图片 8"/>
          <p:cNvPicPr>
            <a:picLocks noChangeAspect="1"/>
          </p:cNvPicPr>
          <p:nvPr/>
        </p:nvPicPr>
        <p:blipFill>
          <a:blip r:embed="rId4"/>
          <a:stretch>
            <a:fillRect/>
          </a:stretch>
        </p:blipFill>
        <p:spPr>
          <a:xfrm>
            <a:off x="575945" y="297180"/>
            <a:ext cx="1685925" cy="419100"/>
          </a:xfrm>
          <a:prstGeom prst="rect">
            <a:avLst/>
          </a:prstGeom>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right)">
                                      <p:cBhvr>
                                        <p:cTn id="8" dur="500"/>
                                        <p:tgtEl>
                                          <p:spTgt spid="8"/>
                                        </p:tgtEl>
                                      </p:cBhvr>
                                    </p:animEffect>
                                  </p:childTnLst>
                                </p:cTn>
                              </p:par>
                              <p:par>
                                <p:cTn id="9" presetID="12" presetClass="entr" presetSubtype="8" fill="hold" grpId="1"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250"/>
                                        <p:tgtEl>
                                          <p:spTgt spid="14"/>
                                        </p:tgtEl>
                                        <p:attrNameLst>
                                          <p:attrName>ppt_x</p:attrName>
                                        </p:attrNameLst>
                                      </p:cBhvr>
                                      <p:tavLst>
                                        <p:tav tm="0">
                                          <p:val>
                                            <p:strVal val="#ppt_x-#ppt_w*1.125000"/>
                                          </p:val>
                                        </p:tav>
                                        <p:tav tm="100000">
                                          <p:val>
                                            <p:strVal val="#ppt_x"/>
                                          </p:val>
                                        </p:tav>
                                      </p:tavLst>
                                    </p:anim>
                                    <p:animEffect transition="in" filter="wipe(right)">
                                      <p:cBhvr>
                                        <p:cTn id="12" dur="250"/>
                                        <p:tgtEl>
                                          <p:spTgt spid="14"/>
                                        </p:tgtEl>
                                      </p:cBhvr>
                                    </p:animEffect>
                                  </p:childTnLst>
                                </p:cTn>
                              </p:par>
                              <p:par>
                                <p:cTn id="13" presetID="42"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1000"/>
                                        <p:tgtEl>
                                          <p:spTgt spid="13"/>
                                        </p:tgtEl>
                                      </p:cBhvr>
                                    </p:animEffect>
                                    <p:anim calcmode="lin" valueType="num">
                                      <p:cBhvr>
                                        <p:cTn id="16" dur="1000" fill="hold"/>
                                        <p:tgtEl>
                                          <p:spTgt spid="13"/>
                                        </p:tgtEl>
                                        <p:attrNameLst>
                                          <p:attrName>ppt_x</p:attrName>
                                        </p:attrNameLst>
                                      </p:cBhvr>
                                      <p:tavLst>
                                        <p:tav tm="0">
                                          <p:val>
                                            <p:strVal val="#ppt_x"/>
                                          </p:val>
                                        </p:tav>
                                        <p:tav tm="100000">
                                          <p:val>
                                            <p:strVal val="#ppt_x"/>
                                          </p:val>
                                        </p:tav>
                                      </p:tavLst>
                                    </p:anim>
                                    <p:anim calcmode="lin" valueType="num">
                                      <p:cBhvr>
                                        <p:cTn id="17"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E:\曹飞\2017\2017-8-8地铁PPT\6.png6"/>
          <p:cNvPicPr>
            <a:picLocks noChangeAspect="1"/>
          </p:cNvPicPr>
          <p:nvPr/>
        </p:nvPicPr>
        <p:blipFill>
          <a:blip r:embed="rId1" cstate="email"/>
          <a:srcRect/>
          <a:stretch>
            <a:fillRect/>
          </a:stretch>
        </p:blipFill>
        <p:spPr>
          <a:xfrm>
            <a:off x="2261712" y="239317"/>
            <a:ext cx="6463189" cy="343376"/>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pic>
        <p:nvPicPr>
          <p:cNvPr id="13" name="图片 12" descr="E:\曹飞\2017\2017-8-8地铁PPT\7.png7"/>
          <p:cNvPicPr>
            <a:picLocks noChangeAspect="1"/>
          </p:cNvPicPr>
          <p:nvPr/>
        </p:nvPicPr>
        <p:blipFill>
          <a:blip r:embed="rId2" cstate="email"/>
          <a:srcRect/>
          <a:stretch>
            <a:fillRect/>
          </a:stretch>
        </p:blipFill>
        <p:spPr>
          <a:xfrm>
            <a:off x="-6667" y="4477465"/>
            <a:ext cx="9168289" cy="668179"/>
          </a:xfrm>
          <a:prstGeom prst="rect">
            <a:avLst/>
          </a:prstGeom>
        </p:spPr>
      </p:pic>
      <p:sp>
        <p:nvSpPr>
          <p:cNvPr id="4" name="TextBox 3"/>
          <p:cNvSpPr txBox="1"/>
          <p:nvPr/>
        </p:nvSpPr>
        <p:spPr>
          <a:xfrm>
            <a:off x="827584" y="978282"/>
            <a:ext cx="1434128" cy="369332"/>
          </a:xfrm>
          <a:prstGeom prst="rect">
            <a:avLst/>
          </a:prstGeom>
          <a:noFill/>
        </p:spPr>
        <p:txBody>
          <a:bodyPr wrap="square" rtlCol="0">
            <a:spAutoFit/>
          </a:bodyPr>
          <a:lstStyle/>
          <a:p>
            <a:r>
              <a:rPr lang="zh-CN" altLang="en-US" dirty="0" smtClean="0">
                <a:latin typeface="仿宋_GB2312" panose="02010609030101010101" pitchFamily="49" charset="-122"/>
                <a:ea typeface="仿宋_GB2312" panose="02010609030101010101" pitchFamily="49" charset="-122"/>
              </a:rPr>
              <a:t>第二步</a:t>
            </a:r>
            <a:endParaRPr lang="zh-CN" altLang="en-US" dirty="0">
              <a:latin typeface="仿宋_GB2312" panose="02010609030101010101" pitchFamily="49" charset="-122"/>
              <a:ea typeface="仿宋_GB2312" panose="02010609030101010101" pitchFamily="49" charset="-122"/>
            </a:endParaRPr>
          </a:p>
        </p:txBody>
      </p:sp>
      <p:pic>
        <p:nvPicPr>
          <p:cNvPr id="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2072" y="1406497"/>
            <a:ext cx="4000500"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Box 9"/>
          <p:cNvSpPr txBox="1"/>
          <p:nvPr/>
        </p:nvSpPr>
        <p:spPr>
          <a:xfrm>
            <a:off x="5493306" y="1995686"/>
            <a:ext cx="3327165" cy="1477328"/>
          </a:xfrm>
          <a:prstGeom prst="rect">
            <a:avLst/>
          </a:prstGeom>
          <a:noFill/>
        </p:spPr>
        <p:txBody>
          <a:bodyPr wrap="square" rtlCol="0">
            <a:spAutoFit/>
          </a:bodyPr>
          <a:lstStyle/>
          <a:p>
            <a:r>
              <a:rPr lang="zh-CN" altLang="en-US" dirty="0" smtClean="0">
                <a:latin typeface="仿宋_GB2312" panose="02010609030101010101" pitchFamily="49" charset="-122"/>
                <a:ea typeface="仿宋_GB2312" panose="02010609030101010101" pitchFamily="49" charset="-122"/>
              </a:rPr>
              <a:t>    起草“通知、通报” 等下行文以及“请示、报告” 等上行文选择“公司行政发文”。</a:t>
            </a:r>
            <a:endParaRPr lang="en-US" altLang="zh-CN" dirty="0" smtClean="0">
              <a:latin typeface="仿宋_GB2312" panose="02010609030101010101" pitchFamily="49" charset="-122"/>
              <a:ea typeface="仿宋_GB2312" panose="02010609030101010101" pitchFamily="49" charset="-122"/>
            </a:endParaRPr>
          </a:p>
          <a:p>
            <a:r>
              <a:rPr lang="zh-CN" altLang="en-US" dirty="0" smtClean="0">
                <a:latin typeface="仿宋_GB2312" panose="02010609030101010101" pitchFamily="49" charset="-122"/>
                <a:ea typeface="仿宋_GB2312" panose="02010609030101010101" pitchFamily="49" charset="-122"/>
              </a:rPr>
              <a:t>    起草会议纪要选择“会议纪要发文”</a:t>
            </a:r>
            <a:endParaRPr lang="zh-CN" altLang="en-US" dirty="0">
              <a:latin typeface="仿宋_GB2312" panose="02010609030101010101" pitchFamily="49" charset="-122"/>
              <a:ea typeface="仿宋_GB2312" panose="02010609030101010101" pitchFamily="49" charset="-122"/>
            </a:endParaRPr>
          </a:p>
        </p:txBody>
      </p:sp>
      <p:pic>
        <p:nvPicPr>
          <p:cNvPr id="2" name="图片 1"/>
          <p:cNvPicPr>
            <a:picLocks noChangeAspect="1"/>
          </p:cNvPicPr>
          <p:nvPr/>
        </p:nvPicPr>
        <p:blipFill>
          <a:blip r:embed="rId4"/>
          <a:stretch>
            <a:fillRect/>
          </a:stretch>
        </p:blipFill>
        <p:spPr>
          <a:xfrm>
            <a:off x="575945" y="297180"/>
            <a:ext cx="1685925" cy="419100"/>
          </a:xfrm>
          <a:prstGeom prst="rect">
            <a:avLst/>
          </a:prstGeom>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right)">
                                      <p:cBhvr>
                                        <p:cTn id="8" dur="500"/>
                                        <p:tgtEl>
                                          <p:spTgt spid="8"/>
                                        </p:tgtEl>
                                      </p:cBhvr>
                                    </p:animEffect>
                                  </p:childTnLst>
                                </p:cTn>
                              </p:par>
                              <p:par>
                                <p:cTn id="9" presetID="12" presetClass="entr" presetSubtype="8" fill="hold" grpId="1"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250"/>
                                        <p:tgtEl>
                                          <p:spTgt spid="14"/>
                                        </p:tgtEl>
                                        <p:attrNameLst>
                                          <p:attrName>ppt_x</p:attrName>
                                        </p:attrNameLst>
                                      </p:cBhvr>
                                      <p:tavLst>
                                        <p:tav tm="0">
                                          <p:val>
                                            <p:strVal val="#ppt_x-#ppt_w*1.125000"/>
                                          </p:val>
                                        </p:tav>
                                        <p:tav tm="100000">
                                          <p:val>
                                            <p:strVal val="#ppt_x"/>
                                          </p:val>
                                        </p:tav>
                                      </p:tavLst>
                                    </p:anim>
                                    <p:animEffect transition="in" filter="wipe(right)">
                                      <p:cBhvr>
                                        <p:cTn id="12" dur="250"/>
                                        <p:tgtEl>
                                          <p:spTgt spid="14"/>
                                        </p:tgtEl>
                                      </p:cBhvr>
                                    </p:animEffect>
                                  </p:childTnLst>
                                </p:cTn>
                              </p:par>
                              <p:par>
                                <p:cTn id="13" presetID="42"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1000"/>
                                        <p:tgtEl>
                                          <p:spTgt spid="13"/>
                                        </p:tgtEl>
                                      </p:cBhvr>
                                    </p:animEffect>
                                    <p:anim calcmode="lin" valueType="num">
                                      <p:cBhvr>
                                        <p:cTn id="16" dur="1000" fill="hold"/>
                                        <p:tgtEl>
                                          <p:spTgt spid="13"/>
                                        </p:tgtEl>
                                        <p:attrNameLst>
                                          <p:attrName>ppt_x</p:attrName>
                                        </p:attrNameLst>
                                      </p:cBhvr>
                                      <p:tavLst>
                                        <p:tav tm="0">
                                          <p:val>
                                            <p:strVal val="#ppt_x"/>
                                          </p:val>
                                        </p:tav>
                                        <p:tav tm="100000">
                                          <p:val>
                                            <p:strVal val="#ppt_x"/>
                                          </p:val>
                                        </p:tav>
                                      </p:tavLst>
                                    </p:anim>
                                    <p:anim calcmode="lin" valueType="num">
                                      <p:cBhvr>
                                        <p:cTn id="17"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E:\曹飞\2017\2017-8-8地铁PPT\6.png6"/>
          <p:cNvPicPr>
            <a:picLocks noChangeAspect="1"/>
          </p:cNvPicPr>
          <p:nvPr/>
        </p:nvPicPr>
        <p:blipFill>
          <a:blip r:embed="rId1" cstate="email"/>
          <a:srcRect/>
          <a:stretch>
            <a:fillRect/>
          </a:stretch>
        </p:blipFill>
        <p:spPr>
          <a:xfrm>
            <a:off x="2261712" y="239317"/>
            <a:ext cx="6463189" cy="343376"/>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pic>
        <p:nvPicPr>
          <p:cNvPr id="13" name="图片 12" descr="E:\曹飞\2017\2017-8-8地铁PPT\7.png7"/>
          <p:cNvPicPr>
            <a:picLocks noChangeAspect="1"/>
          </p:cNvPicPr>
          <p:nvPr/>
        </p:nvPicPr>
        <p:blipFill>
          <a:blip r:embed="rId2" cstate="email"/>
          <a:srcRect/>
          <a:stretch>
            <a:fillRect/>
          </a:stretch>
        </p:blipFill>
        <p:spPr>
          <a:xfrm>
            <a:off x="-6667" y="4477465"/>
            <a:ext cx="9168289" cy="668179"/>
          </a:xfrm>
          <a:prstGeom prst="rect">
            <a:avLst/>
          </a:prstGeom>
        </p:spPr>
      </p:pic>
      <p:sp>
        <p:nvSpPr>
          <p:cNvPr id="3" name="TextBox 2"/>
          <p:cNvSpPr txBox="1"/>
          <p:nvPr/>
        </p:nvSpPr>
        <p:spPr>
          <a:xfrm>
            <a:off x="5580113" y="1995686"/>
            <a:ext cx="3144788" cy="1477328"/>
          </a:xfrm>
          <a:prstGeom prst="rect">
            <a:avLst/>
          </a:prstGeom>
          <a:noFill/>
        </p:spPr>
        <p:txBody>
          <a:bodyPr wrap="square" rtlCol="0">
            <a:spAutoFit/>
          </a:bodyPr>
          <a:lstStyle/>
          <a:p>
            <a:r>
              <a:rPr lang="zh-CN" altLang="en-US" dirty="0" smtClean="0">
                <a:latin typeface="仿宋_GB2312" panose="02010609030101010101" pitchFamily="49" charset="-122"/>
                <a:ea typeface="仿宋_GB2312" panose="02010609030101010101" pitchFamily="49" charset="-122"/>
              </a:rPr>
              <a:t>    仅填写标题，添加正文并上传附件。</a:t>
            </a:r>
            <a:endParaRPr lang="en-US" altLang="zh-CN" dirty="0" smtClean="0">
              <a:latin typeface="仿宋_GB2312" panose="02010609030101010101" pitchFamily="49" charset="-122"/>
              <a:ea typeface="仿宋_GB2312" panose="02010609030101010101" pitchFamily="49" charset="-122"/>
            </a:endParaRPr>
          </a:p>
          <a:p>
            <a:r>
              <a:rPr lang="zh-CN" altLang="en-US" dirty="0" smtClean="0">
                <a:latin typeface="仿宋_GB2312" panose="02010609030101010101" pitchFamily="49" charset="-122"/>
                <a:ea typeface="仿宋_GB2312" panose="02010609030101010101" pitchFamily="49" charset="-122"/>
              </a:rPr>
              <a:t>    正文与附件要分开上传，方案必须要作为附件上传，具体内容在下一章节讲解。</a:t>
            </a:r>
            <a:endParaRPr lang="zh-CN" altLang="en-US" dirty="0">
              <a:latin typeface="仿宋_GB2312" panose="02010609030101010101" pitchFamily="49" charset="-122"/>
              <a:ea typeface="仿宋_GB2312" panose="02010609030101010101" pitchFamily="49" charset="-122"/>
            </a:endParaRPr>
          </a:p>
        </p:txBody>
      </p:sp>
      <p:sp>
        <p:nvSpPr>
          <p:cNvPr id="11" name="TextBox 10"/>
          <p:cNvSpPr txBox="1"/>
          <p:nvPr/>
        </p:nvSpPr>
        <p:spPr>
          <a:xfrm>
            <a:off x="515542" y="713328"/>
            <a:ext cx="1434128" cy="369332"/>
          </a:xfrm>
          <a:prstGeom prst="rect">
            <a:avLst/>
          </a:prstGeom>
          <a:noFill/>
        </p:spPr>
        <p:txBody>
          <a:bodyPr wrap="square" rtlCol="0">
            <a:spAutoFit/>
          </a:bodyPr>
          <a:lstStyle/>
          <a:p>
            <a:r>
              <a:rPr lang="zh-CN" altLang="en-US" dirty="0" smtClean="0">
                <a:latin typeface="仿宋_GB2312" panose="02010609030101010101" pitchFamily="49" charset="-122"/>
                <a:ea typeface="仿宋_GB2312" panose="02010609030101010101" pitchFamily="49" charset="-122"/>
              </a:rPr>
              <a:t>第三步</a:t>
            </a:r>
            <a:endParaRPr lang="zh-CN" altLang="en-US" dirty="0">
              <a:latin typeface="仿宋_GB2312" panose="02010609030101010101" pitchFamily="49" charset="-122"/>
              <a:ea typeface="仿宋_GB2312" panose="02010609030101010101" pitchFamily="49" charset="-122"/>
            </a:endParaRPr>
          </a:p>
        </p:txBody>
      </p:sp>
      <p:sp>
        <p:nvSpPr>
          <p:cNvPr id="12" name="TextBox 11"/>
          <p:cNvSpPr txBox="1"/>
          <p:nvPr/>
        </p:nvSpPr>
        <p:spPr>
          <a:xfrm>
            <a:off x="1115616" y="1082660"/>
            <a:ext cx="1434128" cy="369332"/>
          </a:xfrm>
          <a:prstGeom prst="rect">
            <a:avLst/>
          </a:prstGeom>
          <a:noFill/>
        </p:spPr>
        <p:txBody>
          <a:bodyPr wrap="square" rtlCol="0">
            <a:spAutoFit/>
          </a:bodyPr>
          <a:lstStyle/>
          <a:p>
            <a:r>
              <a:rPr lang="en-US" altLang="zh-CN" dirty="0" smtClean="0">
                <a:latin typeface="Times New Roman" panose="02020603050405020304" pitchFamily="18" charset="0"/>
                <a:ea typeface="仿宋_GB2312" panose="02010609030101010101" pitchFamily="49" charset="-122"/>
                <a:cs typeface="Times New Roman" panose="02020603050405020304" pitchFamily="18" charset="0"/>
              </a:rPr>
              <a:t>1.</a:t>
            </a:r>
            <a:r>
              <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rPr>
              <a:t>行政发文</a:t>
            </a:r>
            <a:endParaRPr lang="zh-CN" altLang="en-US" dirty="0">
              <a:latin typeface="Times New Roman" panose="02020603050405020304" pitchFamily="18" charset="0"/>
              <a:ea typeface="仿宋_GB2312" panose="02010609030101010101" pitchFamily="49" charset="-122"/>
              <a:cs typeface="Times New Roman" panose="02020603050405020304" pitchFamily="18" charset="0"/>
            </a:endParaRPr>
          </a:p>
        </p:txBody>
      </p:sp>
      <p:pic>
        <p:nvPicPr>
          <p:cNvPr id="2" name="图片 1" descr="微信图片_20200326093609"/>
          <p:cNvPicPr>
            <a:picLocks noChangeAspect="1"/>
          </p:cNvPicPr>
          <p:nvPr/>
        </p:nvPicPr>
        <p:blipFill>
          <a:blip r:embed="rId3"/>
          <a:stretch>
            <a:fillRect/>
          </a:stretch>
        </p:blipFill>
        <p:spPr>
          <a:xfrm>
            <a:off x="919480" y="1452245"/>
            <a:ext cx="4617085" cy="3025140"/>
          </a:xfrm>
          <a:prstGeom prst="rect">
            <a:avLst/>
          </a:prstGeom>
        </p:spPr>
      </p:pic>
      <p:pic>
        <p:nvPicPr>
          <p:cNvPr id="9" name="图片 8"/>
          <p:cNvPicPr>
            <a:picLocks noChangeAspect="1"/>
          </p:cNvPicPr>
          <p:nvPr/>
        </p:nvPicPr>
        <p:blipFill>
          <a:blip r:embed="rId4"/>
          <a:stretch>
            <a:fillRect/>
          </a:stretch>
        </p:blipFill>
        <p:spPr>
          <a:xfrm>
            <a:off x="575945" y="297180"/>
            <a:ext cx="1685925" cy="419100"/>
          </a:xfrm>
          <a:prstGeom prst="rect">
            <a:avLst/>
          </a:prstGeom>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right)">
                                      <p:cBhvr>
                                        <p:cTn id="8" dur="500"/>
                                        <p:tgtEl>
                                          <p:spTgt spid="8"/>
                                        </p:tgtEl>
                                      </p:cBhvr>
                                    </p:animEffect>
                                  </p:childTnLst>
                                </p:cTn>
                              </p:par>
                              <p:par>
                                <p:cTn id="9" presetID="12" presetClass="entr" presetSubtype="8" fill="hold" grpId="1"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250"/>
                                        <p:tgtEl>
                                          <p:spTgt spid="14"/>
                                        </p:tgtEl>
                                        <p:attrNameLst>
                                          <p:attrName>ppt_x</p:attrName>
                                        </p:attrNameLst>
                                      </p:cBhvr>
                                      <p:tavLst>
                                        <p:tav tm="0">
                                          <p:val>
                                            <p:strVal val="#ppt_x-#ppt_w*1.125000"/>
                                          </p:val>
                                        </p:tav>
                                        <p:tav tm="100000">
                                          <p:val>
                                            <p:strVal val="#ppt_x"/>
                                          </p:val>
                                        </p:tav>
                                      </p:tavLst>
                                    </p:anim>
                                    <p:animEffect transition="in" filter="wipe(right)">
                                      <p:cBhvr>
                                        <p:cTn id="12" dur="250"/>
                                        <p:tgtEl>
                                          <p:spTgt spid="14"/>
                                        </p:tgtEl>
                                      </p:cBhvr>
                                    </p:animEffect>
                                  </p:childTnLst>
                                </p:cTn>
                              </p:par>
                              <p:par>
                                <p:cTn id="13" presetID="42"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1000"/>
                                        <p:tgtEl>
                                          <p:spTgt spid="13"/>
                                        </p:tgtEl>
                                      </p:cBhvr>
                                    </p:animEffect>
                                    <p:anim calcmode="lin" valueType="num">
                                      <p:cBhvr>
                                        <p:cTn id="16" dur="1000" fill="hold"/>
                                        <p:tgtEl>
                                          <p:spTgt spid="13"/>
                                        </p:tgtEl>
                                        <p:attrNameLst>
                                          <p:attrName>ppt_x</p:attrName>
                                        </p:attrNameLst>
                                      </p:cBhvr>
                                      <p:tavLst>
                                        <p:tav tm="0">
                                          <p:val>
                                            <p:strVal val="#ppt_x"/>
                                          </p:val>
                                        </p:tav>
                                        <p:tav tm="100000">
                                          <p:val>
                                            <p:strVal val="#ppt_x"/>
                                          </p:val>
                                        </p:tav>
                                      </p:tavLst>
                                    </p:anim>
                                    <p:anim calcmode="lin" valueType="num">
                                      <p:cBhvr>
                                        <p:cTn id="17"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E:\曹飞\2017\2017-8-8地铁PPT\6.png6"/>
          <p:cNvPicPr>
            <a:picLocks noChangeAspect="1"/>
          </p:cNvPicPr>
          <p:nvPr/>
        </p:nvPicPr>
        <p:blipFill>
          <a:blip r:embed="rId1" cstate="email"/>
          <a:srcRect/>
          <a:stretch>
            <a:fillRect/>
          </a:stretch>
        </p:blipFill>
        <p:spPr>
          <a:xfrm>
            <a:off x="2261712" y="239317"/>
            <a:ext cx="6463189" cy="343376"/>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pic>
        <p:nvPicPr>
          <p:cNvPr id="13" name="图片 12" descr="E:\曹飞\2017\2017-8-8地铁PPT\7.png7"/>
          <p:cNvPicPr>
            <a:picLocks noChangeAspect="1"/>
          </p:cNvPicPr>
          <p:nvPr/>
        </p:nvPicPr>
        <p:blipFill>
          <a:blip r:embed="rId2" cstate="email"/>
          <a:srcRect/>
          <a:stretch>
            <a:fillRect/>
          </a:stretch>
        </p:blipFill>
        <p:spPr>
          <a:xfrm>
            <a:off x="-6667" y="4477465"/>
            <a:ext cx="9168289" cy="668179"/>
          </a:xfrm>
          <a:prstGeom prst="rect">
            <a:avLst/>
          </a:prstGeom>
        </p:spPr>
      </p:pic>
      <p:sp>
        <p:nvSpPr>
          <p:cNvPr id="3" name="TextBox 2"/>
          <p:cNvSpPr txBox="1"/>
          <p:nvPr/>
        </p:nvSpPr>
        <p:spPr>
          <a:xfrm>
            <a:off x="5580112" y="1995686"/>
            <a:ext cx="3312367" cy="1200329"/>
          </a:xfrm>
          <a:prstGeom prst="rect">
            <a:avLst/>
          </a:prstGeom>
          <a:noFill/>
        </p:spPr>
        <p:txBody>
          <a:bodyPr wrap="square" rtlCol="0">
            <a:spAutoFit/>
          </a:bodyPr>
          <a:lstStyle/>
          <a:p>
            <a:r>
              <a:rPr lang="zh-CN" altLang="en-US" dirty="0" smtClean="0">
                <a:latin typeface="仿宋_GB2312" panose="02010609030101010101" pitchFamily="49" charset="-122"/>
                <a:ea typeface="仿宋_GB2312" panose="02010609030101010101" pitchFamily="49" charset="-122"/>
              </a:rPr>
              <a:t>    仅填写标题及添加正文。</a:t>
            </a:r>
            <a:endParaRPr lang="en-US" altLang="zh-CN" dirty="0" smtClean="0">
              <a:latin typeface="仿宋_GB2312" panose="02010609030101010101" pitchFamily="49" charset="-122"/>
              <a:ea typeface="仿宋_GB2312" panose="02010609030101010101" pitchFamily="49" charset="-122"/>
            </a:endParaRPr>
          </a:p>
          <a:p>
            <a:r>
              <a:rPr lang="zh-CN" altLang="en-US" dirty="0">
                <a:latin typeface="仿宋_GB2312" panose="02010609030101010101" pitchFamily="49" charset="-122"/>
                <a:ea typeface="仿宋_GB2312" panose="02010609030101010101" pitchFamily="49" charset="-122"/>
              </a:rPr>
              <a:t>会议</a:t>
            </a:r>
            <a:r>
              <a:rPr lang="zh-CN" altLang="en-US" dirty="0" smtClean="0">
                <a:latin typeface="仿宋_GB2312" panose="02010609030101010101" pitchFamily="49" charset="-122"/>
                <a:ea typeface="仿宋_GB2312" panose="02010609030101010101" pitchFamily="49" charset="-122"/>
              </a:rPr>
              <a:t>纪要一般没有附件，会上通过的方案等内容，应以行政发文的方式下发正式通知。</a:t>
            </a:r>
            <a:endParaRPr lang="zh-CN" altLang="en-US" dirty="0">
              <a:latin typeface="仿宋_GB2312" panose="02010609030101010101" pitchFamily="49" charset="-122"/>
              <a:ea typeface="仿宋_GB2312" panose="02010609030101010101" pitchFamily="49" charset="-122"/>
            </a:endParaRPr>
          </a:p>
        </p:txBody>
      </p:sp>
      <p:sp>
        <p:nvSpPr>
          <p:cNvPr id="10" name="TextBox 9"/>
          <p:cNvSpPr txBox="1"/>
          <p:nvPr/>
        </p:nvSpPr>
        <p:spPr>
          <a:xfrm>
            <a:off x="1115616" y="761271"/>
            <a:ext cx="2088232" cy="369332"/>
          </a:xfrm>
          <a:prstGeom prst="rect">
            <a:avLst/>
          </a:prstGeom>
          <a:noFill/>
        </p:spPr>
        <p:txBody>
          <a:bodyPr wrap="square" rtlCol="0">
            <a:spAutoFit/>
          </a:bodyPr>
          <a:lstStyle/>
          <a:p>
            <a:r>
              <a:rPr lang="en-US" altLang="zh-CN" dirty="0" smtClean="0">
                <a:latin typeface="Times New Roman" panose="02020603050405020304" pitchFamily="18" charset="0"/>
                <a:ea typeface="仿宋_GB2312" panose="02010609030101010101" pitchFamily="49" charset="-122"/>
                <a:cs typeface="Times New Roman" panose="02020603050405020304" pitchFamily="18" charset="0"/>
              </a:rPr>
              <a:t>2.</a:t>
            </a:r>
            <a:r>
              <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rPr>
              <a:t>会议纪要发文</a:t>
            </a:r>
            <a:endParaRPr lang="zh-CN" altLang="en-US" dirty="0">
              <a:latin typeface="Times New Roman" panose="02020603050405020304" pitchFamily="18" charset="0"/>
              <a:ea typeface="仿宋_GB2312" panose="02010609030101010101" pitchFamily="49" charset="-122"/>
              <a:cs typeface="Times New Roman" panose="02020603050405020304" pitchFamily="18" charset="0"/>
            </a:endParaRPr>
          </a:p>
        </p:txBody>
      </p:sp>
      <p:pic>
        <p:nvPicPr>
          <p:cNvPr id="9" name="图片 8"/>
          <p:cNvPicPr>
            <a:picLocks noChangeAspect="1"/>
          </p:cNvPicPr>
          <p:nvPr/>
        </p:nvPicPr>
        <p:blipFill>
          <a:blip r:embed="rId3"/>
          <a:stretch>
            <a:fillRect/>
          </a:stretch>
        </p:blipFill>
        <p:spPr>
          <a:xfrm>
            <a:off x="575945" y="297180"/>
            <a:ext cx="1685925" cy="419100"/>
          </a:xfrm>
          <a:prstGeom prst="rect">
            <a:avLst/>
          </a:prstGeom>
        </p:spPr>
      </p:pic>
      <p:pic>
        <p:nvPicPr>
          <p:cNvPr id="2" name="图片 1" descr="2"/>
          <p:cNvPicPr>
            <a:picLocks noChangeAspect="1"/>
          </p:cNvPicPr>
          <p:nvPr/>
        </p:nvPicPr>
        <p:blipFill>
          <a:blip r:embed="rId4"/>
          <a:stretch>
            <a:fillRect/>
          </a:stretch>
        </p:blipFill>
        <p:spPr>
          <a:xfrm>
            <a:off x="822325" y="1355090"/>
            <a:ext cx="4758055" cy="3122295"/>
          </a:xfrm>
          <a:prstGeom prst="rect">
            <a:avLst/>
          </a:prstGeom>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right)">
                                      <p:cBhvr>
                                        <p:cTn id="8" dur="500"/>
                                        <p:tgtEl>
                                          <p:spTgt spid="8"/>
                                        </p:tgtEl>
                                      </p:cBhvr>
                                    </p:animEffect>
                                  </p:childTnLst>
                                </p:cTn>
                              </p:par>
                              <p:par>
                                <p:cTn id="9" presetID="12" presetClass="entr" presetSubtype="8" fill="hold" grpId="1"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250"/>
                                        <p:tgtEl>
                                          <p:spTgt spid="14"/>
                                        </p:tgtEl>
                                        <p:attrNameLst>
                                          <p:attrName>ppt_x</p:attrName>
                                        </p:attrNameLst>
                                      </p:cBhvr>
                                      <p:tavLst>
                                        <p:tav tm="0">
                                          <p:val>
                                            <p:strVal val="#ppt_x-#ppt_w*1.125000"/>
                                          </p:val>
                                        </p:tav>
                                        <p:tav tm="100000">
                                          <p:val>
                                            <p:strVal val="#ppt_x"/>
                                          </p:val>
                                        </p:tav>
                                      </p:tavLst>
                                    </p:anim>
                                    <p:animEffect transition="in" filter="wipe(right)">
                                      <p:cBhvr>
                                        <p:cTn id="12" dur="250"/>
                                        <p:tgtEl>
                                          <p:spTgt spid="14"/>
                                        </p:tgtEl>
                                      </p:cBhvr>
                                    </p:animEffect>
                                  </p:childTnLst>
                                </p:cTn>
                              </p:par>
                              <p:par>
                                <p:cTn id="13" presetID="42"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1000"/>
                                        <p:tgtEl>
                                          <p:spTgt spid="13"/>
                                        </p:tgtEl>
                                      </p:cBhvr>
                                    </p:animEffect>
                                    <p:anim calcmode="lin" valueType="num">
                                      <p:cBhvr>
                                        <p:cTn id="16" dur="1000" fill="hold"/>
                                        <p:tgtEl>
                                          <p:spTgt spid="13"/>
                                        </p:tgtEl>
                                        <p:attrNameLst>
                                          <p:attrName>ppt_x</p:attrName>
                                        </p:attrNameLst>
                                      </p:cBhvr>
                                      <p:tavLst>
                                        <p:tav tm="0">
                                          <p:val>
                                            <p:strVal val="#ppt_x"/>
                                          </p:val>
                                        </p:tav>
                                        <p:tav tm="100000">
                                          <p:val>
                                            <p:strVal val="#ppt_x"/>
                                          </p:val>
                                        </p:tav>
                                      </p:tavLst>
                                    </p:anim>
                                    <p:anim calcmode="lin" valueType="num">
                                      <p:cBhvr>
                                        <p:cTn id="17"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E:\曹飞\2017\2017-8-8地铁PPT\6.png6"/>
          <p:cNvPicPr>
            <a:picLocks noChangeAspect="1"/>
          </p:cNvPicPr>
          <p:nvPr/>
        </p:nvPicPr>
        <p:blipFill>
          <a:blip r:embed="rId1" cstate="email"/>
          <a:srcRect/>
          <a:stretch>
            <a:fillRect/>
          </a:stretch>
        </p:blipFill>
        <p:spPr>
          <a:xfrm>
            <a:off x="2261712" y="239317"/>
            <a:ext cx="6463189" cy="343376"/>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pic>
        <p:nvPicPr>
          <p:cNvPr id="13" name="图片 12" descr="E:\曹飞\2017\2017-8-8地铁PPT\7.png7"/>
          <p:cNvPicPr>
            <a:picLocks noChangeAspect="1"/>
          </p:cNvPicPr>
          <p:nvPr/>
        </p:nvPicPr>
        <p:blipFill>
          <a:blip r:embed="rId2" cstate="email"/>
          <a:srcRect/>
          <a:stretch>
            <a:fillRect/>
          </a:stretch>
        </p:blipFill>
        <p:spPr>
          <a:xfrm>
            <a:off x="-6667" y="4477465"/>
            <a:ext cx="9168289" cy="668179"/>
          </a:xfrm>
          <a:prstGeom prst="rect">
            <a:avLst/>
          </a:prstGeom>
        </p:spPr>
      </p:pic>
      <p:sp>
        <p:nvSpPr>
          <p:cNvPr id="10" name="TextBox 9"/>
          <p:cNvSpPr txBox="1"/>
          <p:nvPr/>
        </p:nvSpPr>
        <p:spPr>
          <a:xfrm>
            <a:off x="1115616" y="1563638"/>
            <a:ext cx="7272808" cy="1754326"/>
          </a:xfrm>
          <a:prstGeom prst="rect">
            <a:avLst/>
          </a:prstGeom>
          <a:noFill/>
        </p:spPr>
        <p:txBody>
          <a:bodyPr wrap="square" rtlCol="0">
            <a:spAutoFit/>
          </a:bodyPr>
          <a:lstStyle/>
          <a:p>
            <a:r>
              <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rPr>
              <a:t>第四步</a:t>
            </a:r>
            <a:endParaRPr lang="en-US" altLang="zh-CN" dirty="0" smtClean="0">
              <a:latin typeface="Times New Roman" panose="02020603050405020304" pitchFamily="18" charset="0"/>
              <a:ea typeface="仿宋_GB2312" panose="02010609030101010101" pitchFamily="49" charset="-122"/>
              <a:cs typeface="Times New Roman" panose="02020603050405020304" pitchFamily="18" charset="0"/>
            </a:endParaRPr>
          </a:p>
          <a:p>
            <a:r>
              <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rPr>
              <a:t>        起草完成后，根据</a:t>
            </a:r>
            <a:r>
              <a:rPr lang="en-US" altLang="zh-CN" dirty="0" smtClean="0">
                <a:latin typeface="Times New Roman" panose="02020603050405020304" pitchFamily="18" charset="0"/>
                <a:ea typeface="仿宋_GB2312" panose="02010609030101010101" pitchFamily="49" charset="-122"/>
                <a:cs typeface="Times New Roman" panose="02020603050405020304" pitchFamily="18" charset="0"/>
              </a:rPr>
              <a:t>OA</a:t>
            </a:r>
            <a:r>
              <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rPr>
              <a:t>流程按步骤流转。</a:t>
            </a:r>
            <a:endParaRPr lang="en-US" altLang="zh-CN" dirty="0" smtClean="0">
              <a:latin typeface="Times New Roman" panose="02020603050405020304" pitchFamily="18" charset="0"/>
              <a:ea typeface="仿宋_GB2312" panose="02010609030101010101" pitchFamily="49" charset="-122"/>
              <a:cs typeface="Times New Roman" panose="02020603050405020304" pitchFamily="18" charset="0"/>
            </a:endParaRPr>
          </a:p>
          <a:p>
            <a:endParaRPr lang="en-US" altLang="zh-CN" dirty="0">
              <a:latin typeface="Times New Roman" panose="02020603050405020304" pitchFamily="18" charset="0"/>
              <a:ea typeface="仿宋_GB2312" panose="02010609030101010101" pitchFamily="49" charset="-122"/>
              <a:cs typeface="Times New Roman" panose="02020603050405020304" pitchFamily="18" charset="0"/>
            </a:endParaRPr>
          </a:p>
          <a:p>
            <a:r>
              <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rPr>
              <a:t>第五步</a:t>
            </a:r>
            <a:endParaRPr lang="en-US" altLang="zh-CN" dirty="0" smtClean="0">
              <a:latin typeface="Times New Roman" panose="02020603050405020304" pitchFamily="18" charset="0"/>
              <a:ea typeface="仿宋_GB2312" panose="02010609030101010101" pitchFamily="49" charset="-122"/>
              <a:cs typeface="Times New Roman" panose="02020603050405020304" pitchFamily="18" charset="0"/>
            </a:endParaRPr>
          </a:p>
          <a:p>
            <a:r>
              <a:rPr lang="en-US" altLang="zh-CN" dirty="0">
                <a:latin typeface="Times New Roman" panose="02020603050405020304" pitchFamily="18" charset="0"/>
                <a:ea typeface="仿宋_GB2312" panose="02010609030101010101" pitchFamily="49" charset="-122"/>
                <a:cs typeface="Times New Roman" panose="02020603050405020304" pitchFamily="18" charset="0"/>
              </a:rPr>
              <a:t> </a:t>
            </a:r>
            <a:r>
              <a:rPr lang="en-US" altLang="zh-CN" dirty="0" smtClean="0">
                <a:latin typeface="Times New Roman" panose="02020603050405020304" pitchFamily="18" charset="0"/>
                <a:ea typeface="仿宋_GB2312" panose="02010609030101010101" pitchFamily="49" charset="-122"/>
                <a:cs typeface="Times New Roman" panose="02020603050405020304" pitchFamily="18" charset="0"/>
              </a:rPr>
              <a:t>       </a:t>
            </a:r>
            <a:r>
              <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rPr>
              <a:t>请示及函等需要加盖公章的红头文件，请在</a:t>
            </a:r>
            <a:r>
              <a:rPr lang="en-US" altLang="zh-CN" dirty="0" smtClean="0">
                <a:latin typeface="Times New Roman" panose="02020603050405020304" pitchFamily="18" charset="0"/>
                <a:ea typeface="仿宋_GB2312" panose="02010609030101010101" pitchFamily="49" charset="-122"/>
                <a:cs typeface="Times New Roman" panose="02020603050405020304" pitchFamily="18" charset="0"/>
              </a:rPr>
              <a:t>OA</a:t>
            </a:r>
            <a:r>
              <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rPr>
              <a:t>系统流程结束后与综合管理部文秘联系领取原件。</a:t>
            </a:r>
            <a:endParaRPr lang="zh-CN" altLang="en-US" dirty="0">
              <a:latin typeface="Times New Roman" panose="02020603050405020304" pitchFamily="18" charset="0"/>
              <a:ea typeface="仿宋_GB2312" panose="02010609030101010101" pitchFamily="49" charset="-122"/>
              <a:cs typeface="Times New Roman" panose="02020603050405020304" pitchFamily="18" charset="0"/>
            </a:endParaRPr>
          </a:p>
        </p:txBody>
      </p:sp>
      <p:pic>
        <p:nvPicPr>
          <p:cNvPr id="9" name="图片 8"/>
          <p:cNvPicPr>
            <a:picLocks noChangeAspect="1"/>
          </p:cNvPicPr>
          <p:nvPr/>
        </p:nvPicPr>
        <p:blipFill>
          <a:blip r:embed="rId3"/>
          <a:stretch>
            <a:fillRect/>
          </a:stretch>
        </p:blipFill>
        <p:spPr>
          <a:xfrm>
            <a:off x="575945" y="297180"/>
            <a:ext cx="1685925" cy="419100"/>
          </a:xfrm>
          <a:prstGeom prst="rect">
            <a:avLst/>
          </a:prstGeom>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right)">
                                      <p:cBhvr>
                                        <p:cTn id="8" dur="500"/>
                                        <p:tgtEl>
                                          <p:spTgt spid="8"/>
                                        </p:tgtEl>
                                      </p:cBhvr>
                                    </p:animEffect>
                                  </p:childTnLst>
                                </p:cTn>
                              </p:par>
                              <p:par>
                                <p:cTn id="9" presetID="12" presetClass="entr" presetSubtype="8" fill="hold" grpId="1"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250"/>
                                        <p:tgtEl>
                                          <p:spTgt spid="14"/>
                                        </p:tgtEl>
                                        <p:attrNameLst>
                                          <p:attrName>ppt_x</p:attrName>
                                        </p:attrNameLst>
                                      </p:cBhvr>
                                      <p:tavLst>
                                        <p:tav tm="0">
                                          <p:val>
                                            <p:strVal val="#ppt_x-#ppt_w*1.125000"/>
                                          </p:val>
                                        </p:tav>
                                        <p:tav tm="100000">
                                          <p:val>
                                            <p:strVal val="#ppt_x"/>
                                          </p:val>
                                        </p:tav>
                                      </p:tavLst>
                                    </p:anim>
                                    <p:animEffect transition="in" filter="wipe(right)">
                                      <p:cBhvr>
                                        <p:cTn id="12" dur="250"/>
                                        <p:tgtEl>
                                          <p:spTgt spid="14"/>
                                        </p:tgtEl>
                                      </p:cBhvr>
                                    </p:animEffect>
                                  </p:childTnLst>
                                </p:cTn>
                              </p:par>
                              <p:par>
                                <p:cTn id="13" presetID="42"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1000"/>
                                        <p:tgtEl>
                                          <p:spTgt spid="13"/>
                                        </p:tgtEl>
                                      </p:cBhvr>
                                    </p:animEffect>
                                    <p:anim calcmode="lin" valueType="num">
                                      <p:cBhvr>
                                        <p:cTn id="16" dur="1000" fill="hold"/>
                                        <p:tgtEl>
                                          <p:spTgt spid="13"/>
                                        </p:tgtEl>
                                        <p:attrNameLst>
                                          <p:attrName>ppt_x</p:attrName>
                                        </p:attrNameLst>
                                      </p:cBhvr>
                                      <p:tavLst>
                                        <p:tav tm="0">
                                          <p:val>
                                            <p:strVal val="#ppt_x"/>
                                          </p:val>
                                        </p:tav>
                                        <p:tav tm="100000">
                                          <p:val>
                                            <p:strVal val="#ppt_x"/>
                                          </p:val>
                                        </p:tav>
                                      </p:tavLst>
                                    </p:anim>
                                    <p:anim calcmode="lin" valueType="num">
                                      <p:cBhvr>
                                        <p:cTn id="17"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1872152" y="1756528"/>
            <a:ext cx="5410663" cy="500137"/>
          </a:xfrm>
          <a:prstGeom prst="rect">
            <a:avLst/>
          </a:prstGeom>
          <a:noFill/>
        </p:spPr>
        <p:txBody>
          <a:bodyPr wrap="square" lIns="68580" tIns="34290" rIns="68580" bIns="34290" rtlCol="0">
            <a:spAutoFit/>
          </a:bodyPr>
          <a:lstStyle/>
          <a:p>
            <a:pPr algn="ctr"/>
            <a:r>
              <a:rPr lang="zh-CN" altLang="en-US" sz="2800" b="1" dirty="0" smtClean="0">
                <a:solidFill>
                  <a:srgbClr val="C09D3C"/>
                </a:solidFill>
                <a:latin typeface="微软雅黑" panose="020B0503020204020204" charset="-122"/>
                <a:ea typeface="微软雅黑" panose="020B0503020204020204" charset="-122"/>
                <a:sym typeface="+mn-ea"/>
              </a:rPr>
              <a:t>常用公文的写法</a:t>
            </a:r>
            <a:endParaRPr lang="zh-CN" altLang="en-US" sz="2800" b="1" dirty="0">
              <a:solidFill>
                <a:schemeClr val="tx1">
                  <a:lumMod val="75000"/>
                  <a:lumOff val="25000"/>
                </a:schemeClr>
              </a:solidFill>
              <a:latin typeface="微软雅黑" panose="020B0503020204020204" charset="-122"/>
              <a:ea typeface="微软雅黑" panose="020B0503020204020204" charset="-122"/>
              <a:sym typeface="+mn-ea"/>
            </a:endParaRPr>
          </a:p>
        </p:txBody>
      </p:sp>
      <p:pic>
        <p:nvPicPr>
          <p:cNvPr id="4" name="图片 3" descr="E:\曹飞\2017\2017-8-8地铁PPT\6.png6"/>
          <p:cNvPicPr>
            <a:picLocks noChangeAspect="1"/>
          </p:cNvPicPr>
          <p:nvPr/>
        </p:nvPicPr>
        <p:blipFill>
          <a:blip r:embed="rId1" cstate="email"/>
          <a:srcRect/>
          <a:stretch>
            <a:fillRect/>
          </a:stretch>
        </p:blipFill>
        <p:spPr>
          <a:xfrm>
            <a:off x="2261712" y="239317"/>
            <a:ext cx="6463189" cy="343376"/>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pic>
        <p:nvPicPr>
          <p:cNvPr id="13" name="图片 12" descr="E:\曹飞\2017\2017-8-8地铁PPT\7.png7"/>
          <p:cNvPicPr>
            <a:picLocks noChangeAspect="1"/>
          </p:cNvPicPr>
          <p:nvPr/>
        </p:nvPicPr>
        <p:blipFill>
          <a:blip r:embed="rId2" cstate="email"/>
          <a:srcRect/>
          <a:stretch>
            <a:fillRect/>
          </a:stretch>
        </p:blipFill>
        <p:spPr>
          <a:xfrm>
            <a:off x="-6667" y="4477465"/>
            <a:ext cx="9168289" cy="668179"/>
          </a:xfrm>
          <a:prstGeom prst="rect">
            <a:avLst/>
          </a:prstGeom>
        </p:spPr>
      </p:pic>
      <p:sp>
        <p:nvSpPr>
          <p:cNvPr id="5" name="矩形 4"/>
          <p:cNvSpPr/>
          <p:nvPr/>
        </p:nvSpPr>
        <p:spPr>
          <a:xfrm>
            <a:off x="1084421" y="1292647"/>
            <a:ext cx="6975158" cy="1135087"/>
          </a:xfrm>
          <a:prstGeom prst="rect">
            <a:avLst/>
          </a:prstGeom>
          <a:noFill/>
          <a:ln w="50800" cmpd="thickThin">
            <a:solidFill>
              <a:srgbClr val="C09D3C"/>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6" name="矩形 5"/>
          <p:cNvSpPr/>
          <p:nvPr/>
        </p:nvSpPr>
        <p:spPr>
          <a:xfrm rot="2700000">
            <a:off x="4243864" y="964034"/>
            <a:ext cx="656273" cy="656273"/>
          </a:xfrm>
          <a:prstGeom prst="rect">
            <a:avLst/>
          </a:prstGeom>
          <a:solidFill>
            <a:srgbClr val="C09D3C"/>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7" name="文本框 6"/>
          <p:cNvSpPr txBox="1"/>
          <p:nvPr/>
        </p:nvSpPr>
        <p:spPr>
          <a:xfrm>
            <a:off x="4322445" y="940222"/>
            <a:ext cx="510064" cy="557973"/>
          </a:xfrm>
          <a:prstGeom prst="rect">
            <a:avLst/>
          </a:prstGeom>
          <a:noFill/>
        </p:spPr>
        <p:txBody>
          <a:bodyPr wrap="square" lIns="68580" tIns="34290" rIns="68580" bIns="34290" rtlCol="0">
            <a:spAutoFit/>
          </a:bodyPr>
          <a:lstStyle/>
          <a:p>
            <a:pPr algn="ctr">
              <a:lnSpc>
                <a:spcPct val="150000"/>
              </a:lnSpc>
            </a:pPr>
            <a:r>
              <a:rPr lang="zh-CN" altLang="en-US" sz="2400" b="1" dirty="0" smtClean="0">
                <a:solidFill>
                  <a:schemeClr val="bg1"/>
                </a:solidFill>
                <a:latin typeface="微软雅黑" panose="020B0503020204020204" charset="-122"/>
                <a:ea typeface="微软雅黑" panose="020B0503020204020204" charset="-122"/>
                <a:sym typeface="+mn-ea"/>
              </a:rPr>
              <a:t>二</a:t>
            </a:r>
            <a:endParaRPr lang="zh-CN" altLang="en-US" sz="2400" b="1" dirty="0">
              <a:solidFill>
                <a:schemeClr val="bg1"/>
              </a:solidFill>
              <a:latin typeface="微软雅黑" panose="020B0503020204020204" charset="-122"/>
              <a:ea typeface="微软雅黑" panose="020B0503020204020204" charset="-122"/>
              <a:sym typeface="+mn-ea"/>
            </a:endParaRPr>
          </a:p>
        </p:txBody>
      </p:sp>
      <p:sp>
        <p:nvSpPr>
          <p:cNvPr id="12" name="TextBox 24"/>
          <p:cNvSpPr txBox="1"/>
          <p:nvPr/>
        </p:nvSpPr>
        <p:spPr>
          <a:xfrm>
            <a:off x="3148727" y="2875579"/>
            <a:ext cx="2846546" cy="2267921"/>
          </a:xfrm>
          <a:prstGeom prst="rect">
            <a:avLst/>
          </a:prstGeom>
          <a:noFill/>
        </p:spPr>
        <p:txBody>
          <a:bodyPr wrap="square" lIns="51428" tIns="25714" rIns="51428" bIns="25714" rtlCol="0">
            <a:spAutoFit/>
          </a:bodyPr>
          <a:lstStyle/>
          <a:p>
            <a:pPr indent="457200"/>
            <a:r>
              <a:rPr lang="zh-CN" altLang="en-US" sz="2400" b="1" dirty="0" smtClean="0">
                <a:solidFill>
                  <a:srgbClr val="C09D3C"/>
                </a:solidFill>
                <a:latin typeface="微软雅黑" panose="020B0503020204020204" charset="-122"/>
                <a:ea typeface="微软雅黑" panose="020B0503020204020204" charset="-122"/>
              </a:rPr>
              <a:t>一、会议纪要</a:t>
            </a:r>
            <a:endParaRPr lang="en-US" altLang="zh-CN" sz="2400" b="1" dirty="0" smtClean="0">
              <a:solidFill>
                <a:srgbClr val="C09D3C"/>
              </a:solidFill>
              <a:latin typeface="微软雅黑" panose="020B0503020204020204" charset="-122"/>
              <a:ea typeface="微软雅黑" panose="020B0503020204020204" charset="-122"/>
            </a:endParaRPr>
          </a:p>
          <a:p>
            <a:pPr indent="457200"/>
            <a:r>
              <a:rPr lang="zh-CN" altLang="en-US" sz="2400" b="1" dirty="0" smtClean="0">
                <a:solidFill>
                  <a:srgbClr val="C09D3C"/>
                </a:solidFill>
                <a:latin typeface="微软雅黑" panose="020B0503020204020204" charset="-122"/>
                <a:ea typeface="微软雅黑" panose="020B0503020204020204" charset="-122"/>
              </a:rPr>
              <a:t>二</a:t>
            </a:r>
            <a:r>
              <a:rPr lang="zh-CN" altLang="en-US" sz="2400" b="1" dirty="0">
                <a:solidFill>
                  <a:srgbClr val="C09D3C"/>
                </a:solidFill>
                <a:latin typeface="微软雅黑" panose="020B0503020204020204" charset="-122"/>
                <a:ea typeface="微软雅黑" panose="020B0503020204020204" charset="-122"/>
              </a:rPr>
              <a:t>、</a:t>
            </a:r>
            <a:r>
              <a:rPr lang="zh-CN" altLang="en-US" sz="2400" b="1" dirty="0" smtClean="0">
                <a:solidFill>
                  <a:srgbClr val="C09D3C"/>
                </a:solidFill>
                <a:latin typeface="微软雅黑" panose="020B0503020204020204" charset="-122"/>
                <a:ea typeface="微软雅黑" panose="020B0503020204020204" charset="-122"/>
              </a:rPr>
              <a:t>请示</a:t>
            </a:r>
            <a:endParaRPr lang="en-US" altLang="zh-CN" sz="2400" b="1" dirty="0">
              <a:solidFill>
                <a:srgbClr val="C09D3C"/>
              </a:solidFill>
              <a:latin typeface="微软雅黑" panose="020B0503020204020204" charset="-122"/>
              <a:ea typeface="微软雅黑" panose="020B0503020204020204" charset="-122"/>
            </a:endParaRPr>
          </a:p>
          <a:p>
            <a:pPr indent="457200"/>
            <a:r>
              <a:rPr lang="zh-CN" altLang="en-US" sz="2400" b="1" dirty="0">
                <a:solidFill>
                  <a:srgbClr val="C09D3C"/>
                </a:solidFill>
                <a:latin typeface="微软雅黑" panose="020B0503020204020204" charset="-122"/>
                <a:ea typeface="微软雅黑" panose="020B0503020204020204" charset="-122"/>
              </a:rPr>
              <a:t>三、</a:t>
            </a:r>
            <a:r>
              <a:rPr lang="zh-CN" altLang="en-US" sz="2400" b="1" dirty="0" smtClean="0">
                <a:solidFill>
                  <a:srgbClr val="C09D3C"/>
                </a:solidFill>
                <a:latin typeface="微软雅黑" panose="020B0503020204020204" charset="-122"/>
                <a:ea typeface="微软雅黑" panose="020B0503020204020204" charset="-122"/>
              </a:rPr>
              <a:t>报告</a:t>
            </a:r>
            <a:endParaRPr lang="en-US" altLang="zh-CN" sz="2400" b="1" dirty="0" smtClean="0">
              <a:solidFill>
                <a:srgbClr val="C09D3C"/>
              </a:solidFill>
              <a:latin typeface="微软雅黑" panose="020B0503020204020204" charset="-122"/>
              <a:ea typeface="微软雅黑" panose="020B0503020204020204" charset="-122"/>
            </a:endParaRPr>
          </a:p>
          <a:p>
            <a:pPr indent="457200"/>
            <a:r>
              <a:rPr lang="zh-CN" altLang="en-US" sz="2400" b="1" dirty="0" smtClean="0">
                <a:solidFill>
                  <a:srgbClr val="C09D3C"/>
                </a:solidFill>
                <a:latin typeface="微软雅黑" panose="020B0503020204020204" charset="-122"/>
                <a:ea typeface="微软雅黑" panose="020B0503020204020204" charset="-122"/>
              </a:rPr>
              <a:t>四、通知</a:t>
            </a:r>
            <a:endParaRPr lang="en-US" altLang="zh-CN" sz="2400" b="1" dirty="0">
              <a:solidFill>
                <a:srgbClr val="C09D3C"/>
              </a:solidFill>
              <a:latin typeface="微软雅黑" panose="020B0503020204020204" charset="-122"/>
              <a:ea typeface="微软雅黑" panose="020B0503020204020204" charset="-122"/>
            </a:endParaRPr>
          </a:p>
          <a:p>
            <a:pPr indent="457200"/>
            <a:r>
              <a:rPr lang="zh-CN" altLang="en-US" sz="2400" b="1" dirty="0" smtClean="0">
                <a:solidFill>
                  <a:srgbClr val="C09D3C"/>
                </a:solidFill>
                <a:latin typeface="微软雅黑" panose="020B0503020204020204" charset="-122"/>
                <a:ea typeface="微软雅黑" panose="020B0503020204020204" charset="-122"/>
              </a:rPr>
              <a:t>五、</a:t>
            </a:r>
            <a:r>
              <a:rPr lang="zh-CN" altLang="en-US" sz="2400" b="1" dirty="0">
                <a:solidFill>
                  <a:srgbClr val="C09D3C"/>
                </a:solidFill>
                <a:latin typeface="微软雅黑" panose="020B0503020204020204" charset="-122"/>
                <a:ea typeface="微软雅黑" panose="020B0503020204020204" charset="-122"/>
              </a:rPr>
              <a:t>函</a:t>
            </a:r>
            <a:endParaRPr lang="en-US" altLang="zh-CN" sz="2400" b="1" dirty="0">
              <a:solidFill>
                <a:srgbClr val="C09D3C"/>
              </a:solidFill>
              <a:latin typeface="微软雅黑" panose="020B0503020204020204" charset="-122"/>
              <a:ea typeface="微软雅黑" panose="020B0503020204020204" charset="-122"/>
            </a:endParaRPr>
          </a:p>
          <a:p>
            <a:pPr algn="ctr"/>
            <a:endParaRPr lang="zh-CN" altLang="en-US" sz="2400" b="1" dirty="0">
              <a:solidFill>
                <a:schemeClr val="tx1">
                  <a:lumMod val="75000"/>
                  <a:lumOff val="25000"/>
                </a:schemeClr>
              </a:solidFill>
              <a:latin typeface="微软雅黑" panose="020B0503020204020204" charset="-122"/>
              <a:ea typeface="微软雅黑" panose="020B0503020204020204" charset="-122"/>
              <a:sym typeface="+mn-ea"/>
            </a:endParaRPr>
          </a:p>
        </p:txBody>
      </p:sp>
      <p:pic>
        <p:nvPicPr>
          <p:cNvPr id="9" name="图片 8"/>
          <p:cNvPicPr>
            <a:picLocks noChangeAspect="1"/>
          </p:cNvPicPr>
          <p:nvPr/>
        </p:nvPicPr>
        <p:blipFill>
          <a:blip r:embed="rId3"/>
          <a:stretch>
            <a:fillRect/>
          </a:stretch>
        </p:blipFill>
        <p:spPr>
          <a:xfrm>
            <a:off x="575945" y="297180"/>
            <a:ext cx="1685925" cy="4191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prism dir="u"/>
      </p:transition>
    </mc:Choice>
    <mc:Fallback>
      <p:transition>
        <p:fade/>
      </p:transition>
    </mc:Fallback>
  </mc:AlternateContent>
  <p:timing>
    <p:tnLst>
      <p:par>
        <p:cTn id="1" dur="indefinite" restart="never" nodeType="tmRoot"/>
      </p:par>
    </p:tnLst>
    <p:bldLst>
      <p:bldP spid="1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C:\Users\TCSJ\Desktop\地铁PPT\bg2.pngbg2"/>
          <p:cNvPicPr>
            <a:picLocks noChangeAspect="1"/>
          </p:cNvPicPr>
          <p:nvPr/>
        </p:nvPicPr>
        <p:blipFill>
          <a:blip r:embed="rId1"/>
          <a:srcRect/>
          <a:stretch>
            <a:fillRect/>
          </a:stretch>
        </p:blipFill>
        <p:spPr>
          <a:xfrm>
            <a:off x="-7144" y="-20538"/>
            <a:ext cx="9158288" cy="5152073"/>
          </a:xfrm>
          <a:prstGeom prst="rect">
            <a:avLst/>
          </a:prstGeom>
        </p:spPr>
      </p:pic>
      <p:pic>
        <p:nvPicPr>
          <p:cNvPr id="3" name="图片 2" descr="E:\曹飞\2017\2017-8-8地铁PPT\5.png5"/>
          <p:cNvPicPr>
            <a:picLocks noChangeAspect="1"/>
          </p:cNvPicPr>
          <p:nvPr/>
        </p:nvPicPr>
        <p:blipFill>
          <a:blip r:embed="rId2" cstate="email"/>
          <a:srcRect/>
          <a:stretch>
            <a:fillRect/>
          </a:stretch>
        </p:blipFill>
        <p:spPr>
          <a:xfrm>
            <a:off x="-2210752" y="-2100739"/>
            <a:ext cx="7341394" cy="8766810"/>
          </a:xfrm>
          <a:prstGeom prst="rect">
            <a:avLst/>
          </a:prstGeom>
        </p:spPr>
      </p:pic>
      <p:pic>
        <p:nvPicPr>
          <p:cNvPr id="10" name="图片 9" descr="E:\曹飞\2017\2017-8-8地铁PPT\3.png3"/>
          <p:cNvPicPr>
            <a:picLocks noChangeAspect="1"/>
          </p:cNvPicPr>
          <p:nvPr/>
        </p:nvPicPr>
        <p:blipFill>
          <a:blip r:embed="rId3" cstate="email"/>
          <a:srcRect/>
          <a:stretch>
            <a:fillRect/>
          </a:stretch>
        </p:blipFill>
        <p:spPr>
          <a:xfrm>
            <a:off x="653415" y="4402218"/>
            <a:ext cx="8497729" cy="382429"/>
          </a:xfrm>
          <a:prstGeom prst="rect">
            <a:avLst/>
          </a:prstGeom>
        </p:spPr>
      </p:pic>
      <p:sp>
        <p:nvSpPr>
          <p:cNvPr id="9" name="Freeform 5"/>
          <p:cNvSpPr/>
          <p:nvPr/>
        </p:nvSpPr>
        <p:spPr bwMode="auto">
          <a:xfrm>
            <a:off x="4808220" y="2646521"/>
            <a:ext cx="1236345" cy="1493520"/>
          </a:xfrm>
          <a:custGeom>
            <a:avLst/>
            <a:gdLst>
              <a:gd name="T0" fmla="*/ 1625 w 1625"/>
              <a:gd name="T1" fmla="*/ 1477 h 1623"/>
              <a:gd name="T2" fmla="*/ 1625 w 1625"/>
              <a:gd name="T3" fmla="*/ 1623 h 1623"/>
              <a:gd name="T4" fmla="*/ 0 w 1625"/>
              <a:gd name="T5" fmla="*/ 1623 h 1623"/>
              <a:gd name="T6" fmla="*/ 0 w 1625"/>
              <a:gd name="T7" fmla="*/ 0 h 1623"/>
              <a:gd name="T8" fmla="*/ 1625 w 1625"/>
              <a:gd name="T9" fmla="*/ 0 h 1623"/>
              <a:gd name="T10" fmla="*/ 1625 w 1625"/>
              <a:gd name="T11" fmla="*/ 608 h 1623"/>
            </a:gdLst>
            <a:ahLst/>
            <a:cxnLst>
              <a:cxn ang="0">
                <a:pos x="T0" y="T1"/>
              </a:cxn>
              <a:cxn ang="0">
                <a:pos x="T2" y="T3"/>
              </a:cxn>
              <a:cxn ang="0">
                <a:pos x="T4" y="T5"/>
              </a:cxn>
              <a:cxn ang="0">
                <a:pos x="T6" y="T7"/>
              </a:cxn>
              <a:cxn ang="0">
                <a:pos x="T8" y="T9"/>
              </a:cxn>
              <a:cxn ang="0">
                <a:pos x="T10" y="T11"/>
              </a:cxn>
            </a:cxnLst>
            <a:rect l="0" t="0" r="r" b="b"/>
            <a:pathLst>
              <a:path w="1625" h="1623">
                <a:moveTo>
                  <a:pt x="1625" y="1477"/>
                </a:moveTo>
                <a:lnTo>
                  <a:pt x="1625" y="1623"/>
                </a:lnTo>
                <a:lnTo>
                  <a:pt x="0" y="1623"/>
                </a:lnTo>
                <a:lnTo>
                  <a:pt x="0" y="0"/>
                </a:lnTo>
                <a:lnTo>
                  <a:pt x="1625" y="0"/>
                </a:lnTo>
                <a:lnTo>
                  <a:pt x="1625" y="608"/>
                </a:lnTo>
              </a:path>
            </a:pathLst>
          </a:custGeom>
          <a:noFill/>
          <a:ln w="76200" cap="flat">
            <a:solidFill>
              <a:srgbClr val="C09D3C"/>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lstStyle/>
          <a:p>
            <a:endParaRPr lang="zh-CN" altLang="en-US">
              <a:solidFill>
                <a:prstClr val="black"/>
              </a:solidFill>
              <a:latin typeface="Arial" panose="020B0604020202020204"/>
              <a:ea typeface="微软雅黑" panose="020B0503020204020204" charset="-122"/>
              <a:sym typeface="Arial" panose="020B0604020202020204"/>
            </a:endParaRPr>
          </a:p>
        </p:txBody>
      </p:sp>
      <p:sp>
        <p:nvSpPr>
          <p:cNvPr id="7" name="TextBox 24"/>
          <p:cNvSpPr txBox="1"/>
          <p:nvPr/>
        </p:nvSpPr>
        <p:spPr>
          <a:xfrm>
            <a:off x="5938362" y="3442653"/>
            <a:ext cx="2846546" cy="421262"/>
          </a:xfrm>
          <a:prstGeom prst="rect">
            <a:avLst/>
          </a:prstGeom>
          <a:noFill/>
        </p:spPr>
        <p:txBody>
          <a:bodyPr wrap="square" lIns="51428" tIns="25714" rIns="51428" bIns="25714" rtlCol="0">
            <a:spAutoFit/>
          </a:bodyPr>
          <a:lstStyle/>
          <a:p>
            <a:pPr algn="ctr"/>
            <a:r>
              <a:rPr lang="zh-CN" altLang="en-US" sz="2400" b="1" dirty="0" smtClean="0">
                <a:solidFill>
                  <a:srgbClr val="C09D3C"/>
                </a:solidFill>
                <a:latin typeface="微软雅黑" panose="020B0503020204020204" charset="-122"/>
                <a:ea typeface="微软雅黑" panose="020B0503020204020204" charset="-122"/>
                <a:sym typeface="+mn-ea"/>
              </a:rPr>
              <a:t>会议纪要</a:t>
            </a:r>
            <a:endParaRPr lang="zh-CN" altLang="en-US" sz="2400" b="1" dirty="0">
              <a:solidFill>
                <a:schemeClr val="tx1">
                  <a:lumMod val="75000"/>
                  <a:lumOff val="25000"/>
                </a:schemeClr>
              </a:solidFill>
              <a:latin typeface="微软雅黑" panose="020B0503020204020204" charset="-122"/>
              <a:ea typeface="微软雅黑" panose="020B0503020204020204" charset="-122"/>
              <a:sym typeface="+mn-ea"/>
            </a:endParaRPr>
          </a:p>
        </p:txBody>
      </p:sp>
      <p:cxnSp>
        <p:nvCxnSpPr>
          <p:cNvPr id="11" name="直接连接符 10"/>
          <p:cNvCxnSpPr/>
          <p:nvPr/>
        </p:nvCxnSpPr>
        <p:spPr>
          <a:xfrm>
            <a:off x="6000274" y="3896678"/>
            <a:ext cx="2676182" cy="0"/>
          </a:xfrm>
          <a:prstGeom prst="line">
            <a:avLst/>
          </a:prstGeom>
          <a:ln w="34925">
            <a:solidFill>
              <a:srgbClr val="C09D3C"/>
            </a:solidFill>
          </a:ln>
        </p:spPr>
        <p:style>
          <a:lnRef idx="1">
            <a:srgbClr val="814E67"/>
          </a:lnRef>
          <a:fillRef idx="0">
            <a:srgbClr val="814E67"/>
          </a:fillRef>
          <a:effectRef idx="0">
            <a:srgbClr val="814E67"/>
          </a:effectRef>
          <a:fontRef idx="minor">
            <a:srgbClr val="000000"/>
          </a:fontRef>
        </p:style>
      </p:cxnSp>
      <p:sp>
        <p:nvSpPr>
          <p:cNvPr id="14" name="TextBox 24"/>
          <p:cNvSpPr txBox="1"/>
          <p:nvPr/>
        </p:nvSpPr>
        <p:spPr>
          <a:xfrm>
            <a:off x="4932522" y="3074194"/>
            <a:ext cx="1312069" cy="1065848"/>
          </a:xfrm>
          <a:prstGeom prst="rect">
            <a:avLst/>
          </a:prstGeom>
          <a:noFill/>
        </p:spPr>
        <p:txBody>
          <a:bodyPr wrap="square" lIns="51428" tIns="25714" rIns="51428" bIns="25714" rtlCol="0">
            <a:spAutoFit/>
          </a:bodyPr>
          <a:lstStyle/>
          <a:p>
            <a:r>
              <a:rPr lang="en-US" altLang="zh-CN" sz="6600" dirty="0" smtClean="0">
                <a:solidFill>
                  <a:srgbClr val="C09D3C"/>
                </a:solidFill>
                <a:latin typeface="Arial" panose="020B0604020202020204"/>
                <a:ea typeface="微软雅黑" panose="020B0503020204020204" charset="-122"/>
                <a:sym typeface="Arial" panose="020B0604020202020204"/>
              </a:rPr>
              <a:t>01</a:t>
            </a:r>
            <a:endParaRPr lang="en-US" altLang="zh-CN" sz="6600" dirty="0">
              <a:solidFill>
                <a:srgbClr val="C09D3C"/>
              </a:solidFill>
              <a:latin typeface="Arial" panose="020B0604020202020204"/>
              <a:ea typeface="微软雅黑" panose="020B0503020204020204" charset="-122"/>
              <a:sym typeface="Arial" panose="020B0604020202020204"/>
            </a:endParaRPr>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E:\曹飞\2017\2017-8-8地铁PPT\6.png6"/>
          <p:cNvPicPr>
            <a:picLocks noChangeAspect="1"/>
          </p:cNvPicPr>
          <p:nvPr/>
        </p:nvPicPr>
        <p:blipFill>
          <a:blip r:embed="rId1" cstate="email"/>
          <a:srcRect/>
          <a:stretch>
            <a:fillRect/>
          </a:stretch>
        </p:blipFill>
        <p:spPr>
          <a:xfrm>
            <a:off x="2261712" y="239317"/>
            <a:ext cx="6463189" cy="343376"/>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pic>
        <p:nvPicPr>
          <p:cNvPr id="13" name="图片 12" descr="E:\曹飞\2017\2017-8-8地铁PPT\7.png7"/>
          <p:cNvPicPr>
            <a:picLocks noChangeAspect="1"/>
          </p:cNvPicPr>
          <p:nvPr/>
        </p:nvPicPr>
        <p:blipFill>
          <a:blip r:embed="rId2" cstate="email"/>
          <a:srcRect/>
          <a:stretch>
            <a:fillRect/>
          </a:stretch>
        </p:blipFill>
        <p:spPr>
          <a:xfrm>
            <a:off x="-6667" y="4477465"/>
            <a:ext cx="9168289" cy="668179"/>
          </a:xfrm>
          <a:prstGeom prst="rect">
            <a:avLst/>
          </a:prstGeom>
        </p:spPr>
      </p:pic>
      <p:sp>
        <p:nvSpPr>
          <p:cNvPr id="10" name="TextBox 9"/>
          <p:cNvSpPr txBox="1"/>
          <p:nvPr/>
        </p:nvSpPr>
        <p:spPr>
          <a:xfrm>
            <a:off x="907415" y="1002665"/>
            <a:ext cx="7480935" cy="2832735"/>
          </a:xfrm>
          <a:prstGeom prst="rect">
            <a:avLst/>
          </a:prstGeom>
          <a:noFill/>
        </p:spPr>
        <p:txBody>
          <a:bodyPr wrap="square" rtlCol="0">
            <a:spAutoFit/>
          </a:bodyPr>
          <a:lstStyle/>
          <a:p>
            <a:pPr marL="342900" indent="-342900">
              <a:lnSpc>
                <a:spcPct val="90000"/>
              </a:lnSpc>
              <a:spcBef>
                <a:spcPct val="20000"/>
              </a:spcBef>
              <a:buClr>
                <a:srgbClr val="0066CC"/>
              </a:buClr>
            </a:pPr>
            <a:r>
              <a:rPr lang="zh-CN" altLang="en-US" kern="0" dirty="0" smtClean="0">
                <a:latin typeface="黑体" panose="02010609060101010101" pitchFamily="49" charset="-122"/>
                <a:ea typeface="黑体" panose="02010609060101010101" pitchFamily="49" charset="-122"/>
              </a:rPr>
              <a:t>    一</a:t>
            </a:r>
            <a:r>
              <a:rPr lang="zh-CN" altLang="en-US" kern="0" dirty="0">
                <a:latin typeface="黑体" panose="02010609060101010101" pitchFamily="49" charset="-122"/>
                <a:ea typeface="黑体" panose="02010609060101010101" pitchFamily="49" charset="-122"/>
              </a:rPr>
              <a:t>、会议</a:t>
            </a:r>
            <a:r>
              <a:rPr lang="zh-CN" altLang="en-US" kern="0" dirty="0" smtClean="0">
                <a:latin typeface="黑体" panose="02010609060101010101" pitchFamily="49" charset="-122"/>
                <a:ea typeface="黑体" panose="02010609060101010101" pitchFamily="49" charset="-122"/>
              </a:rPr>
              <a:t>纪要的含义及类别</a:t>
            </a:r>
            <a:r>
              <a:rPr lang="en-US" altLang="zh-CN" dirty="0" smtClean="0">
                <a:latin typeface="仿宋_GB2312" panose="02010609030101010101" pitchFamily="49" charset="-122"/>
                <a:ea typeface="仿宋_GB2312" panose="02010609030101010101" pitchFamily="49" charset="-122"/>
              </a:rPr>
              <a:t>    </a:t>
            </a:r>
            <a:endParaRPr lang="en-US" altLang="zh-CN" dirty="0" smtClean="0">
              <a:latin typeface="仿宋_GB2312" panose="02010609030101010101" pitchFamily="49" charset="-122"/>
              <a:ea typeface="仿宋_GB2312" panose="02010609030101010101" pitchFamily="49" charset="-122"/>
            </a:endParaRPr>
          </a:p>
          <a:p>
            <a:r>
              <a:rPr lang="zh-CN" altLang="en-US" dirty="0" smtClean="0">
                <a:latin typeface="仿宋_GB2312" panose="02010609030101010101" pitchFamily="49" charset="-122"/>
                <a:ea typeface="仿宋_GB2312" panose="02010609030101010101" pitchFamily="49" charset="-122"/>
              </a:rPr>
              <a:t>    </a:t>
            </a:r>
            <a:endParaRPr lang="zh-CN" altLang="en-US" dirty="0" smtClean="0">
              <a:latin typeface="仿宋_GB2312" panose="02010609030101010101" pitchFamily="49" charset="-122"/>
              <a:ea typeface="仿宋_GB2312" panose="02010609030101010101" pitchFamily="49" charset="-122"/>
            </a:endParaRPr>
          </a:p>
          <a:p>
            <a:r>
              <a:rPr lang="zh-CN" altLang="en-US" dirty="0" smtClean="0">
                <a:latin typeface="仿宋_GB2312" panose="02010609030101010101" pitchFamily="49" charset="-122"/>
                <a:ea typeface="仿宋_GB2312" panose="02010609030101010101" pitchFamily="49" charset="-122"/>
              </a:rPr>
              <a:t>    会议纪要是将会议的主要情况和研究、解决的主要问题进行归纳、概括而形成的一种公务文件。会议纪要的作用是用来传达会议的议定事项和主要精神，要求与会单位共同遵守和执行。</a:t>
            </a:r>
            <a:endParaRPr lang="zh-CN" altLang="en-US" dirty="0" smtClean="0">
              <a:latin typeface="仿宋_GB2312" panose="02010609030101010101" pitchFamily="49" charset="-122"/>
              <a:ea typeface="仿宋_GB2312" panose="02010609030101010101" pitchFamily="49" charset="-122"/>
            </a:endParaRPr>
          </a:p>
          <a:p>
            <a:r>
              <a:rPr lang="zh-CN" altLang="en-US" dirty="0" smtClean="0">
                <a:latin typeface="仿宋_GB2312" panose="02010609030101010101" pitchFamily="49" charset="-122"/>
                <a:ea typeface="仿宋_GB2312" panose="02010609030101010101" pitchFamily="49" charset="-122"/>
              </a:rPr>
              <a:t>    一是专题性会议纪要</a:t>
            </a:r>
            <a:r>
              <a:rPr lang="zh-CN" altLang="en-US" dirty="0">
                <a:latin typeface="仿宋_GB2312" panose="02010609030101010101" pitchFamily="49" charset="-122"/>
                <a:ea typeface="仿宋_GB2312" panose="02010609030101010101" pitchFamily="49" charset="-122"/>
              </a:rPr>
              <a:t>；</a:t>
            </a:r>
            <a:endParaRPr lang="zh-CN" altLang="en-US" dirty="0">
              <a:latin typeface="仿宋_GB2312" panose="02010609030101010101" pitchFamily="49" charset="-122"/>
              <a:ea typeface="仿宋_GB2312" panose="02010609030101010101" pitchFamily="49" charset="-122"/>
            </a:endParaRPr>
          </a:p>
          <a:p>
            <a:r>
              <a:rPr lang="zh-CN" altLang="en-US" dirty="0" smtClean="0">
                <a:latin typeface="仿宋_GB2312" panose="02010609030101010101" pitchFamily="49" charset="-122"/>
                <a:ea typeface="仿宋_GB2312" panose="02010609030101010101" pitchFamily="49" charset="-122"/>
              </a:rPr>
              <a:t>    二是日常工作会议纪要</a:t>
            </a:r>
            <a:r>
              <a:rPr lang="zh-CN" altLang="en-US" dirty="0">
                <a:latin typeface="仿宋_GB2312" panose="02010609030101010101" pitchFamily="49" charset="-122"/>
                <a:ea typeface="仿宋_GB2312" panose="02010609030101010101" pitchFamily="49" charset="-122"/>
              </a:rPr>
              <a:t>；</a:t>
            </a:r>
            <a:endParaRPr lang="zh-CN" altLang="en-US" dirty="0">
              <a:latin typeface="仿宋_GB2312" panose="02010609030101010101" pitchFamily="49" charset="-122"/>
              <a:ea typeface="仿宋_GB2312" panose="02010609030101010101" pitchFamily="49" charset="-122"/>
            </a:endParaRPr>
          </a:p>
          <a:p>
            <a:r>
              <a:rPr lang="zh-CN" altLang="en-US" dirty="0" smtClean="0">
                <a:latin typeface="仿宋_GB2312" panose="02010609030101010101" pitchFamily="49" charset="-122"/>
                <a:ea typeface="仿宋_GB2312" panose="02010609030101010101" pitchFamily="49" charset="-122"/>
              </a:rPr>
              <a:t>    三是协议性会议纪要</a:t>
            </a:r>
            <a:r>
              <a:rPr lang="zh-CN" altLang="en-US" dirty="0">
                <a:latin typeface="仿宋_GB2312" panose="02010609030101010101" pitchFamily="49" charset="-122"/>
                <a:ea typeface="仿宋_GB2312" panose="02010609030101010101" pitchFamily="49" charset="-122"/>
              </a:rPr>
              <a:t>，</a:t>
            </a:r>
            <a:r>
              <a:rPr lang="zh-CN" altLang="en-US" dirty="0" smtClean="0">
                <a:latin typeface="仿宋_GB2312" panose="02010609030101010101" pitchFamily="49" charset="-122"/>
                <a:ea typeface="仿宋_GB2312" panose="02010609030101010101" pitchFamily="49" charset="-122"/>
              </a:rPr>
              <a:t>如</a:t>
            </a:r>
            <a:r>
              <a:rPr lang="en-US" altLang="zh-CN" dirty="0" smtClean="0">
                <a:latin typeface="仿宋_GB2312" panose="02010609030101010101" pitchFamily="49" charset="-122"/>
                <a:ea typeface="仿宋_GB2312" panose="02010609030101010101" pitchFamily="49" charset="-122"/>
              </a:rPr>
              <a:t>XX</a:t>
            </a:r>
            <a:r>
              <a:rPr lang="zh-CN" altLang="en-US" dirty="0" smtClean="0">
                <a:latin typeface="仿宋_GB2312" panose="02010609030101010101" pitchFamily="49" charset="-122"/>
                <a:ea typeface="仿宋_GB2312" panose="02010609030101010101" pitchFamily="49" charset="-122"/>
              </a:rPr>
              <a:t>协调会</a:t>
            </a:r>
            <a:r>
              <a:rPr lang="zh-CN" altLang="en-US" dirty="0">
                <a:latin typeface="仿宋_GB2312" panose="02010609030101010101" pitchFamily="49" charset="-122"/>
                <a:ea typeface="仿宋_GB2312" panose="02010609030101010101" pitchFamily="49" charset="-122"/>
              </a:rPr>
              <a:t>；</a:t>
            </a:r>
            <a:endParaRPr lang="zh-CN" altLang="en-US" dirty="0">
              <a:latin typeface="仿宋_GB2312" panose="02010609030101010101" pitchFamily="49" charset="-122"/>
              <a:ea typeface="仿宋_GB2312" panose="02010609030101010101" pitchFamily="49" charset="-122"/>
            </a:endParaRPr>
          </a:p>
          <a:p>
            <a:r>
              <a:rPr lang="zh-CN" altLang="en-US" dirty="0" smtClean="0">
                <a:latin typeface="仿宋_GB2312" panose="02010609030101010101" pitchFamily="49" charset="-122"/>
                <a:ea typeface="仿宋_GB2312" panose="02010609030101010101" pitchFamily="49" charset="-122"/>
              </a:rPr>
              <a:t>    四是研讨性会议纪要，如</a:t>
            </a:r>
            <a:r>
              <a:rPr lang="en-US" altLang="zh-CN" dirty="0" smtClean="0">
                <a:latin typeface="仿宋_GB2312" panose="02010609030101010101" pitchFamily="49" charset="-122"/>
                <a:ea typeface="仿宋_GB2312" panose="02010609030101010101" pitchFamily="49" charset="-122"/>
              </a:rPr>
              <a:t>XX</a:t>
            </a:r>
            <a:r>
              <a:rPr lang="zh-CN" altLang="en-US" dirty="0" smtClean="0">
                <a:latin typeface="仿宋_GB2312" panose="02010609030101010101" pitchFamily="49" charset="-122"/>
                <a:ea typeface="仿宋_GB2312" panose="02010609030101010101" pitchFamily="49" charset="-122"/>
              </a:rPr>
              <a:t>座谈会。</a:t>
            </a:r>
            <a:endParaRPr lang="en-US" altLang="zh-CN" dirty="0" smtClean="0">
              <a:latin typeface="仿宋_GB2312" panose="02010609030101010101" pitchFamily="49" charset="-122"/>
              <a:ea typeface="仿宋_GB2312" panose="02010609030101010101" pitchFamily="49" charset="-122"/>
            </a:endParaRPr>
          </a:p>
          <a:p>
            <a:endParaRPr lang="zh-CN" altLang="zh-CN" dirty="0">
              <a:latin typeface="仿宋_GB2312" panose="02010609030101010101" pitchFamily="49" charset="-122"/>
              <a:ea typeface="仿宋_GB2312" panose="02010609030101010101" pitchFamily="49" charset="-122"/>
            </a:endParaRPr>
          </a:p>
        </p:txBody>
      </p:sp>
      <p:pic>
        <p:nvPicPr>
          <p:cNvPr id="9" name="图片 8"/>
          <p:cNvPicPr>
            <a:picLocks noChangeAspect="1"/>
          </p:cNvPicPr>
          <p:nvPr/>
        </p:nvPicPr>
        <p:blipFill>
          <a:blip r:embed="rId3"/>
          <a:stretch>
            <a:fillRect/>
          </a:stretch>
        </p:blipFill>
        <p:spPr>
          <a:xfrm>
            <a:off x="575945" y="297180"/>
            <a:ext cx="1685925" cy="419100"/>
          </a:xfrm>
          <a:prstGeom prst="rect">
            <a:avLst/>
          </a:prstGeom>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right)">
                                      <p:cBhvr>
                                        <p:cTn id="8" dur="500"/>
                                        <p:tgtEl>
                                          <p:spTgt spid="8"/>
                                        </p:tgtEl>
                                      </p:cBhvr>
                                    </p:animEffect>
                                  </p:childTnLst>
                                </p:cTn>
                              </p:par>
                              <p:par>
                                <p:cTn id="9" presetID="12" presetClass="entr" presetSubtype="8" fill="hold" grpId="1"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250"/>
                                        <p:tgtEl>
                                          <p:spTgt spid="14"/>
                                        </p:tgtEl>
                                        <p:attrNameLst>
                                          <p:attrName>ppt_x</p:attrName>
                                        </p:attrNameLst>
                                      </p:cBhvr>
                                      <p:tavLst>
                                        <p:tav tm="0">
                                          <p:val>
                                            <p:strVal val="#ppt_x-#ppt_w*1.125000"/>
                                          </p:val>
                                        </p:tav>
                                        <p:tav tm="100000">
                                          <p:val>
                                            <p:strVal val="#ppt_x"/>
                                          </p:val>
                                        </p:tav>
                                      </p:tavLst>
                                    </p:anim>
                                    <p:animEffect transition="in" filter="wipe(right)">
                                      <p:cBhvr>
                                        <p:cTn id="12" dur="250"/>
                                        <p:tgtEl>
                                          <p:spTgt spid="14"/>
                                        </p:tgtEl>
                                      </p:cBhvr>
                                    </p:animEffect>
                                  </p:childTnLst>
                                </p:cTn>
                              </p:par>
                              <p:par>
                                <p:cTn id="13" presetID="42"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1000"/>
                                        <p:tgtEl>
                                          <p:spTgt spid="13"/>
                                        </p:tgtEl>
                                      </p:cBhvr>
                                    </p:animEffect>
                                    <p:anim calcmode="lin" valueType="num">
                                      <p:cBhvr>
                                        <p:cTn id="16" dur="1000" fill="hold"/>
                                        <p:tgtEl>
                                          <p:spTgt spid="13"/>
                                        </p:tgtEl>
                                        <p:attrNameLst>
                                          <p:attrName>ppt_x</p:attrName>
                                        </p:attrNameLst>
                                      </p:cBhvr>
                                      <p:tavLst>
                                        <p:tav tm="0">
                                          <p:val>
                                            <p:strVal val="#ppt_x"/>
                                          </p:val>
                                        </p:tav>
                                        <p:tav tm="100000">
                                          <p:val>
                                            <p:strVal val="#ppt_x"/>
                                          </p:val>
                                        </p:tav>
                                      </p:tavLst>
                                    </p:anim>
                                    <p:anim calcmode="lin" valueType="num">
                                      <p:cBhvr>
                                        <p:cTn id="17"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E:\曹飞\2017\2017-8-8地铁PPT\6.png6"/>
          <p:cNvPicPr>
            <a:picLocks noChangeAspect="1"/>
          </p:cNvPicPr>
          <p:nvPr/>
        </p:nvPicPr>
        <p:blipFill>
          <a:blip r:embed="rId1" cstate="email"/>
          <a:srcRect/>
          <a:stretch>
            <a:fillRect/>
          </a:stretch>
        </p:blipFill>
        <p:spPr>
          <a:xfrm>
            <a:off x="2261712" y="239317"/>
            <a:ext cx="6463189" cy="343376"/>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pic>
        <p:nvPicPr>
          <p:cNvPr id="13" name="图片 12" descr="E:\曹飞\2017\2017-8-8地铁PPT\7.png7"/>
          <p:cNvPicPr>
            <a:picLocks noChangeAspect="1"/>
          </p:cNvPicPr>
          <p:nvPr/>
        </p:nvPicPr>
        <p:blipFill>
          <a:blip r:embed="rId2" cstate="email"/>
          <a:srcRect/>
          <a:stretch>
            <a:fillRect/>
          </a:stretch>
        </p:blipFill>
        <p:spPr>
          <a:xfrm>
            <a:off x="-6667" y="4477465"/>
            <a:ext cx="9168289" cy="668179"/>
          </a:xfrm>
          <a:prstGeom prst="rect">
            <a:avLst/>
          </a:prstGeom>
        </p:spPr>
      </p:pic>
      <p:sp>
        <p:nvSpPr>
          <p:cNvPr id="10" name="TextBox 9"/>
          <p:cNvSpPr txBox="1"/>
          <p:nvPr/>
        </p:nvSpPr>
        <p:spPr>
          <a:xfrm>
            <a:off x="941073" y="1203598"/>
            <a:ext cx="7272808" cy="3110230"/>
          </a:xfrm>
          <a:prstGeom prst="rect">
            <a:avLst/>
          </a:prstGeom>
          <a:noFill/>
        </p:spPr>
        <p:txBody>
          <a:bodyPr wrap="square" rtlCol="0">
            <a:spAutoFit/>
          </a:bodyPr>
          <a:lstStyle/>
          <a:p>
            <a:pPr marL="342900" indent="-342900">
              <a:lnSpc>
                <a:spcPct val="90000"/>
              </a:lnSpc>
              <a:spcBef>
                <a:spcPct val="20000"/>
              </a:spcBef>
              <a:buClr>
                <a:srgbClr val="0066CC"/>
              </a:buClr>
            </a:pPr>
            <a:r>
              <a:rPr lang="zh-CN" altLang="en-US" kern="0" dirty="0" smtClean="0">
                <a:latin typeface="黑体" panose="02010609060101010101" pitchFamily="49" charset="-122"/>
                <a:ea typeface="黑体" panose="02010609060101010101" pitchFamily="49" charset="-122"/>
              </a:rPr>
              <a:t>    二、会议</a:t>
            </a:r>
            <a:r>
              <a:rPr lang="zh-CN" altLang="en-US" kern="0" dirty="0">
                <a:latin typeface="黑体" panose="02010609060101010101" pitchFamily="49" charset="-122"/>
                <a:ea typeface="黑体" panose="02010609060101010101" pitchFamily="49" charset="-122"/>
              </a:rPr>
              <a:t>纪要的写法</a:t>
            </a:r>
            <a:endParaRPr lang="zh-CN" altLang="en-US" kern="0" dirty="0">
              <a:latin typeface="黑体" panose="02010609060101010101" pitchFamily="49" charset="-122"/>
              <a:ea typeface="黑体" panose="02010609060101010101" pitchFamily="49" charset="-122"/>
            </a:endParaRPr>
          </a:p>
          <a:p>
            <a:r>
              <a:rPr lang="en-US" altLang="zh-CN" dirty="0" smtClean="0">
                <a:latin typeface="仿宋_GB2312" panose="02010609030101010101" pitchFamily="49" charset="-122"/>
                <a:ea typeface="仿宋_GB2312" panose="02010609030101010101" pitchFamily="49" charset="-122"/>
              </a:rPr>
              <a:t>    1.</a:t>
            </a:r>
            <a:r>
              <a:rPr lang="zh-CN" altLang="zh-CN" dirty="0" smtClean="0">
                <a:latin typeface="仿宋_GB2312" panose="02010609030101010101" pitchFamily="49" charset="-122"/>
                <a:ea typeface="仿宋_GB2312" panose="02010609030101010101" pitchFamily="49" charset="-122"/>
              </a:rPr>
              <a:t>正文</a:t>
            </a:r>
            <a:endParaRPr lang="en-US" altLang="zh-CN" dirty="0" smtClean="0">
              <a:latin typeface="仿宋_GB2312" panose="02010609030101010101" pitchFamily="49" charset="-122"/>
              <a:ea typeface="仿宋_GB2312" panose="02010609030101010101" pitchFamily="49" charset="-122"/>
            </a:endParaRPr>
          </a:p>
          <a:p>
            <a:r>
              <a:rPr lang="en-US" altLang="zh-CN" dirty="0">
                <a:latin typeface="仿宋_GB2312" panose="02010609030101010101" pitchFamily="49" charset="-122"/>
                <a:ea typeface="仿宋_GB2312" panose="02010609030101010101" pitchFamily="49" charset="-122"/>
              </a:rPr>
              <a:t> </a:t>
            </a:r>
            <a:r>
              <a:rPr lang="en-US" altLang="zh-CN" dirty="0" smtClean="0">
                <a:latin typeface="仿宋_GB2312" panose="02010609030101010101" pitchFamily="49" charset="-122"/>
                <a:ea typeface="仿宋_GB2312" panose="02010609030101010101" pitchFamily="49" charset="-122"/>
              </a:rPr>
              <a:t>   </a:t>
            </a:r>
            <a:r>
              <a:rPr lang="zh-CN" altLang="zh-CN" dirty="0" smtClean="0">
                <a:latin typeface="仿宋_GB2312" panose="02010609030101010101" pitchFamily="49" charset="-122"/>
                <a:ea typeface="仿宋_GB2312" panose="02010609030101010101" pitchFamily="49" charset="-122"/>
              </a:rPr>
              <a:t>一般采用总分式的结构方法。总述部分，即全文的导言、导语，也即会议概况，一般简要地交代会议的时间、地点、主持单位、参加人员、会议议题、会议情况、结果以及对会议的评价。然后用</a:t>
            </a:r>
            <a:r>
              <a:rPr lang="en-US" altLang="zh-CN" dirty="0" smtClean="0">
                <a:latin typeface="仿宋_GB2312" panose="02010609030101010101" pitchFamily="49" charset="-122"/>
                <a:ea typeface="仿宋_GB2312" panose="02010609030101010101" pitchFamily="49" charset="-122"/>
              </a:rPr>
              <a:t>“</a:t>
            </a:r>
            <a:r>
              <a:rPr lang="zh-CN" altLang="zh-CN" dirty="0" smtClean="0">
                <a:latin typeface="仿宋_GB2312" panose="02010609030101010101" pitchFamily="49" charset="-122"/>
                <a:ea typeface="仿宋_GB2312" panose="02010609030101010101" pitchFamily="49" charset="-122"/>
              </a:rPr>
              <a:t>现纪要如下</a:t>
            </a:r>
            <a:r>
              <a:rPr lang="en-US" altLang="zh-CN" dirty="0" smtClean="0">
                <a:latin typeface="仿宋_GB2312" panose="02010609030101010101" pitchFamily="49" charset="-122"/>
                <a:ea typeface="仿宋_GB2312" panose="02010609030101010101" pitchFamily="49" charset="-122"/>
              </a:rPr>
              <a:t>”</a:t>
            </a:r>
            <a:r>
              <a:rPr lang="zh-CN" altLang="zh-CN" dirty="0" smtClean="0">
                <a:latin typeface="仿宋_GB2312" panose="02010609030101010101" pitchFamily="49" charset="-122"/>
                <a:ea typeface="仿宋_GB2312" panose="02010609030101010101" pitchFamily="49" charset="-122"/>
              </a:rPr>
              <a:t>的固定语句开启下文。</a:t>
            </a:r>
            <a:endParaRPr lang="en-US" altLang="zh-CN" dirty="0" smtClean="0">
              <a:latin typeface="仿宋_GB2312" panose="02010609030101010101" pitchFamily="49" charset="-122"/>
              <a:ea typeface="仿宋_GB2312" panose="02010609030101010101" pitchFamily="49" charset="-122"/>
            </a:endParaRPr>
          </a:p>
          <a:p>
            <a:endParaRPr lang="en-US" altLang="zh-CN" dirty="0" smtClean="0">
              <a:latin typeface="仿宋_GB2312" panose="02010609030101010101" pitchFamily="49" charset="-122"/>
              <a:ea typeface="仿宋_GB2312" panose="02010609030101010101" pitchFamily="49" charset="-122"/>
            </a:endParaRPr>
          </a:p>
          <a:p>
            <a:r>
              <a:rPr lang="zh-CN" altLang="en-US" dirty="0" smtClean="0">
                <a:latin typeface="仿宋_GB2312" panose="02010609030101010101" pitchFamily="49" charset="-122"/>
                <a:ea typeface="仿宋_GB2312" panose="02010609030101010101" pitchFamily="49" charset="-122"/>
              </a:rPr>
              <a:t>如：</a:t>
            </a:r>
            <a:endParaRPr lang="en-US" altLang="zh-CN" dirty="0" smtClean="0">
              <a:latin typeface="仿宋_GB2312" panose="02010609030101010101" pitchFamily="49" charset="-122"/>
              <a:ea typeface="仿宋_GB2312" panose="02010609030101010101" pitchFamily="49" charset="-122"/>
            </a:endParaRPr>
          </a:p>
          <a:p>
            <a:r>
              <a:rPr lang="en-US" altLang="zh-CN" dirty="0" smtClean="0">
                <a:latin typeface="仿宋_GB2312" panose="02010609030101010101" pitchFamily="49" charset="-122"/>
                <a:ea typeface="仿宋_GB2312" panose="02010609030101010101" pitchFamily="49" charset="-122"/>
              </a:rPr>
              <a:t>    3</a:t>
            </a:r>
            <a:r>
              <a:rPr lang="zh-CN" altLang="en-US" dirty="0" smtClean="0">
                <a:latin typeface="仿宋_GB2312" panose="02010609030101010101" pitchFamily="49" charset="-122"/>
                <a:ea typeface="仿宋_GB2312" panose="02010609030101010101" pitchFamily="49" charset="-122"/>
              </a:rPr>
              <a:t>月</a:t>
            </a:r>
            <a:r>
              <a:rPr lang="en-US" altLang="zh-CN" dirty="0" smtClean="0">
                <a:latin typeface="仿宋_GB2312" panose="02010609030101010101" pitchFamily="49" charset="-122"/>
                <a:ea typeface="仿宋_GB2312" panose="02010609030101010101" pitchFamily="49" charset="-122"/>
              </a:rPr>
              <a:t>31</a:t>
            </a:r>
            <a:r>
              <a:rPr lang="zh-CN" altLang="en-US" dirty="0" smtClean="0">
                <a:latin typeface="仿宋_GB2312" panose="02010609030101010101" pitchFamily="49" charset="-122"/>
                <a:ea typeface="仿宋_GB2312" panose="02010609030101010101" pitchFamily="49" charset="-122"/>
              </a:rPr>
              <a:t>日上午，运营分公司党委书记、总经理刘宏泰在郑东车辆段第一会议室主持召开分公司周例会，听取各部门工作汇报，安排部署近期运营生产工作。现将会议确定的主要内容纪要如下：</a:t>
            </a:r>
            <a:endParaRPr lang="zh-CN" altLang="zh-CN" dirty="0">
              <a:latin typeface="仿宋_GB2312" panose="02010609030101010101" pitchFamily="49" charset="-122"/>
              <a:ea typeface="仿宋_GB2312" panose="02010609030101010101" pitchFamily="49" charset="-122"/>
            </a:endParaRPr>
          </a:p>
        </p:txBody>
      </p:sp>
      <p:pic>
        <p:nvPicPr>
          <p:cNvPr id="9" name="图片 8"/>
          <p:cNvPicPr>
            <a:picLocks noChangeAspect="1"/>
          </p:cNvPicPr>
          <p:nvPr/>
        </p:nvPicPr>
        <p:blipFill>
          <a:blip r:embed="rId3"/>
          <a:stretch>
            <a:fillRect/>
          </a:stretch>
        </p:blipFill>
        <p:spPr>
          <a:xfrm>
            <a:off x="575945" y="297180"/>
            <a:ext cx="1685925" cy="419100"/>
          </a:xfrm>
          <a:prstGeom prst="rect">
            <a:avLst/>
          </a:prstGeom>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right)">
                                      <p:cBhvr>
                                        <p:cTn id="8" dur="500"/>
                                        <p:tgtEl>
                                          <p:spTgt spid="8"/>
                                        </p:tgtEl>
                                      </p:cBhvr>
                                    </p:animEffect>
                                  </p:childTnLst>
                                </p:cTn>
                              </p:par>
                              <p:par>
                                <p:cTn id="9" presetID="12" presetClass="entr" presetSubtype="8" fill="hold" grpId="1"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250"/>
                                        <p:tgtEl>
                                          <p:spTgt spid="14"/>
                                        </p:tgtEl>
                                        <p:attrNameLst>
                                          <p:attrName>ppt_x</p:attrName>
                                        </p:attrNameLst>
                                      </p:cBhvr>
                                      <p:tavLst>
                                        <p:tav tm="0">
                                          <p:val>
                                            <p:strVal val="#ppt_x-#ppt_w*1.125000"/>
                                          </p:val>
                                        </p:tav>
                                        <p:tav tm="100000">
                                          <p:val>
                                            <p:strVal val="#ppt_x"/>
                                          </p:val>
                                        </p:tav>
                                      </p:tavLst>
                                    </p:anim>
                                    <p:animEffect transition="in" filter="wipe(right)">
                                      <p:cBhvr>
                                        <p:cTn id="12" dur="250"/>
                                        <p:tgtEl>
                                          <p:spTgt spid="14"/>
                                        </p:tgtEl>
                                      </p:cBhvr>
                                    </p:animEffect>
                                  </p:childTnLst>
                                </p:cTn>
                              </p:par>
                              <p:par>
                                <p:cTn id="13" presetID="42"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1000"/>
                                        <p:tgtEl>
                                          <p:spTgt spid="13"/>
                                        </p:tgtEl>
                                      </p:cBhvr>
                                    </p:animEffect>
                                    <p:anim calcmode="lin" valueType="num">
                                      <p:cBhvr>
                                        <p:cTn id="16" dur="1000" fill="hold"/>
                                        <p:tgtEl>
                                          <p:spTgt spid="13"/>
                                        </p:tgtEl>
                                        <p:attrNameLst>
                                          <p:attrName>ppt_x</p:attrName>
                                        </p:attrNameLst>
                                      </p:cBhvr>
                                      <p:tavLst>
                                        <p:tav tm="0">
                                          <p:val>
                                            <p:strVal val="#ppt_x"/>
                                          </p:val>
                                        </p:tav>
                                        <p:tav tm="100000">
                                          <p:val>
                                            <p:strVal val="#ppt_x"/>
                                          </p:val>
                                        </p:tav>
                                      </p:tavLst>
                                    </p:anim>
                                    <p:anim calcmode="lin" valueType="num">
                                      <p:cBhvr>
                                        <p:cTn id="17"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E:\曹飞\2017\2017-8-8地铁PPT\6.png6"/>
          <p:cNvPicPr>
            <a:picLocks noChangeAspect="1"/>
          </p:cNvPicPr>
          <p:nvPr/>
        </p:nvPicPr>
        <p:blipFill>
          <a:blip r:embed="rId1" cstate="email"/>
          <a:srcRect/>
          <a:stretch>
            <a:fillRect/>
          </a:stretch>
        </p:blipFill>
        <p:spPr>
          <a:xfrm>
            <a:off x="2261712" y="239317"/>
            <a:ext cx="6463189" cy="343376"/>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pic>
        <p:nvPicPr>
          <p:cNvPr id="13" name="图片 12" descr="E:\曹飞\2017\2017-8-8地铁PPT\7.png7"/>
          <p:cNvPicPr>
            <a:picLocks noChangeAspect="1"/>
          </p:cNvPicPr>
          <p:nvPr/>
        </p:nvPicPr>
        <p:blipFill>
          <a:blip r:embed="rId2" cstate="email"/>
          <a:srcRect/>
          <a:stretch>
            <a:fillRect/>
          </a:stretch>
        </p:blipFill>
        <p:spPr>
          <a:xfrm>
            <a:off x="-6667" y="4477465"/>
            <a:ext cx="9168289" cy="668179"/>
          </a:xfrm>
          <a:prstGeom prst="rect">
            <a:avLst/>
          </a:prstGeom>
        </p:spPr>
      </p:pic>
      <p:sp>
        <p:nvSpPr>
          <p:cNvPr id="10" name="TextBox 9"/>
          <p:cNvSpPr txBox="1"/>
          <p:nvPr/>
        </p:nvSpPr>
        <p:spPr>
          <a:xfrm>
            <a:off x="941073" y="1203598"/>
            <a:ext cx="7272808" cy="2583180"/>
          </a:xfrm>
          <a:prstGeom prst="rect">
            <a:avLst/>
          </a:prstGeom>
          <a:noFill/>
        </p:spPr>
        <p:txBody>
          <a:bodyPr wrap="square" rtlCol="0">
            <a:spAutoFit/>
          </a:bodyPr>
          <a:lstStyle/>
          <a:p>
            <a:pPr marL="342900" indent="-342900">
              <a:lnSpc>
                <a:spcPct val="90000"/>
              </a:lnSpc>
              <a:spcBef>
                <a:spcPct val="20000"/>
              </a:spcBef>
              <a:buClr>
                <a:srgbClr val="0066CC"/>
              </a:buClr>
            </a:pPr>
            <a:r>
              <a:rPr lang="en-US" altLang="zh-CN" dirty="0" smtClean="0">
                <a:latin typeface="仿宋_GB2312" panose="02010609030101010101" pitchFamily="49" charset="-122"/>
                <a:ea typeface="仿宋_GB2312" panose="02010609030101010101" pitchFamily="49" charset="-122"/>
              </a:rPr>
              <a:t>    </a:t>
            </a:r>
            <a:r>
              <a:rPr lang="zh-CN" altLang="en-US" kern="0" dirty="0" smtClean="0">
                <a:latin typeface="黑体" panose="02010609060101010101" pitchFamily="49" charset="-122"/>
                <a:ea typeface="黑体" panose="02010609060101010101" pitchFamily="49" charset="-122"/>
              </a:rPr>
              <a:t>三、会议</a:t>
            </a:r>
            <a:r>
              <a:rPr lang="zh-CN" altLang="en-US" kern="0" dirty="0">
                <a:latin typeface="黑体" panose="02010609060101010101" pitchFamily="49" charset="-122"/>
                <a:ea typeface="黑体" panose="02010609060101010101" pitchFamily="49" charset="-122"/>
              </a:rPr>
              <a:t>纪要与相近文种的区别</a:t>
            </a:r>
            <a:endParaRPr lang="zh-CN" altLang="en-US" kern="0" dirty="0">
              <a:latin typeface="黑体" panose="02010609060101010101" pitchFamily="49" charset="-122"/>
              <a:ea typeface="黑体" panose="02010609060101010101" pitchFamily="49" charset="-122"/>
            </a:endParaRPr>
          </a:p>
          <a:p>
            <a:pPr marL="342900" indent="-342900">
              <a:lnSpc>
                <a:spcPct val="90000"/>
              </a:lnSpc>
              <a:spcBef>
                <a:spcPct val="20000"/>
              </a:spcBef>
              <a:buClr>
                <a:srgbClr val="0066CC"/>
              </a:buClr>
            </a:pPr>
            <a:endParaRPr lang="en-US" altLang="zh-CN" dirty="0" smtClean="0">
              <a:latin typeface="Times New Roman" panose="02020603050405020304" pitchFamily="18" charset="0"/>
              <a:ea typeface="仿宋_GB2312" panose="02010609030101010101" pitchFamily="49" charset="-122"/>
              <a:cs typeface="Times New Roman" panose="02020603050405020304" pitchFamily="18" charset="0"/>
            </a:endParaRPr>
          </a:p>
          <a:p>
            <a:r>
              <a:rPr lang="en-US" altLang="zh-CN" dirty="0">
                <a:latin typeface="Times New Roman" panose="02020603050405020304" pitchFamily="18" charset="0"/>
                <a:ea typeface="仿宋_GB2312" panose="02010609030101010101" pitchFamily="49" charset="-122"/>
                <a:cs typeface="Times New Roman" panose="02020603050405020304" pitchFamily="18" charset="0"/>
              </a:rPr>
              <a:t> </a:t>
            </a:r>
            <a:r>
              <a:rPr lang="en-US" altLang="zh-CN" dirty="0" smtClean="0">
                <a:latin typeface="Times New Roman" panose="02020603050405020304" pitchFamily="18" charset="0"/>
                <a:ea typeface="仿宋_GB2312" panose="02010609030101010101" pitchFamily="49" charset="-122"/>
                <a:cs typeface="Times New Roman" panose="02020603050405020304" pitchFamily="18" charset="0"/>
              </a:rPr>
              <a:t>        1.</a:t>
            </a:r>
            <a:r>
              <a:rPr lang="zh-CN" altLang="zh-CN" dirty="0" smtClean="0">
                <a:latin typeface="Times New Roman" panose="02020603050405020304" pitchFamily="18" charset="0"/>
                <a:ea typeface="仿宋_GB2312" panose="02010609030101010101" pitchFamily="49" charset="-122"/>
                <a:cs typeface="Times New Roman" panose="02020603050405020304" pitchFamily="18" charset="0"/>
              </a:rPr>
              <a:t>会议决议是按照法定多数表决通过的</a:t>
            </a:r>
            <a:r>
              <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rPr>
              <a:t>有决策性、权威性的一种公文，一般分为批准性决议和部署性决议。</a:t>
            </a:r>
            <a:endParaRPr lang="en-US" altLang="zh-CN" dirty="0" smtClean="0">
              <a:latin typeface="Times New Roman" panose="02020603050405020304" pitchFamily="18" charset="0"/>
              <a:ea typeface="仿宋_GB2312" panose="02010609030101010101" pitchFamily="49" charset="-122"/>
              <a:cs typeface="Times New Roman" panose="02020603050405020304" pitchFamily="18" charset="0"/>
            </a:endParaRPr>
          </a:p>
          <a:p>
            <a:r>
              <a:rPr lang="en-US" altLang="zh-CN" dirty="0" smtClean="0">
                <a:latin typeface="Times New Roman" panose="02020603050405020304" pitchFamily="18" charset="0"/>
                <a:ea typeface="仿宋_GB2312" panose="02010609030101010101" pitchFamily="49" charset="-122"/>
                <a:cs typeface="Times New Roman" panose="02020603050405020304" pitchFamily="18" charset="0"/>
              </a:rPr>
              <a:t>         2.</a:t>
            </a:r>
            <a:r>
              <a:rPr lang="zh-CN" altLang="zh-CN" dirty="0" smtClean="0">
                <a:latin typeface="Times New Roman" panose="02020603050405020304" pitchFamily="18" charset="0"/>
                <a:ea typeface="仿宋_GB2312" panose="02010609030101010101" pitchFamily="49" charset="-122"/>
                <a:cs typeface="Times New Roman" panose="02020603050405020304" pitchFamily="18" charset="0"/>
              </a:rPr>
              <a:t>会议纪录是完成纪要写作的客观原始材料之一，经过筛选、整理的会议记录才能写入纪要</a:t>
            </a:r>
            <a:r>
              <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rPr>
              <a:t>；</a:t>
            </a:r>
            <a:endParaRPr lang="en-US" altLang="zh-CN" dirty="0" smtClean="0">
              <a:latin typeface="Times New Roman" panose="02020603050405020304" pitchFamily="18" charset="0"/>
              <a:ea typeface="仿宋_GB2312" panose="02010609030101010101" pitchFamily="49" charset="-122"/>
              <a:cs typeface="Times New Roman" panose="02020603050405020304" pitchFamily="18" charset="0"/>
            </a:endParaRPr>
          </a:p>
          <a:p>
            <a:r>
              <a:rPr lang="en-US" altLang="zh-CN" dirty="0" smtClean="0">
                <a:latin typeface="Times New Roman" panose="02020603050405020304" pitchFamily="18" charset="0"/>
                <a:ea typeface="仿宋_GB2312" panose="02010609030101010101" pitchFamily="49" charset="-122"/>
                <a:cs typeface="Times New Roman" panose="02020603050405020304" pitchFamily="18" charset="0"/>
              </a:rPr>
              <a:t>         3.</a:t>
            </a:r>
            <a:r>
              <a:rPr lang="zh-CN" altLang="zh-CN" dirty="0" smtClean="0">
                <a:latin typeface="Times New Roman" panose="02020603050405020304" pitchFamily="18" charset="0"/>
                <a:ea typeface="仿宋_GB2312" panose="02010609030101010101" pitchFamily="49" charset="-122"/>
                <a:cs typeface="Times New Roman" panose="02020603050405020304" pitchFamily="18" charset="0"/>
              </a:rPr>
              <a:t>会议简报主要用于反映会议动态，整体概况，所载内容只有参考性，不像会议纪要那样兼有反映情况、沟通信息功能的同时具有</a:t>
            </a:r>
            <a:r>
              <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rPr>
              <a:t>一定的权威性。</a:t>
            </a:r>
            <a:endParaRPr lang="zh-CN" altLang="zh-CN" dirty="0">
              <a:latin typeface="Times New Roman" panose="02020603050405020304" pitchFamily="18" charset="0"/>
              <a:ea typeface="仿宋_GB2312" panose="02010609030101010101" pitchFamily="49" charset="-122"/>
              <a:cs typeface="Times New Roman" panose="02020603050405020304" pitchFamily="18" charset="0"/>
            </a:endParaRPr>
          </a:p>
        </p:txBody>
      </p:sp>
      <p:pic>
        <p:nvPicPr>
          <p:cNvPr id="9" name="图片 8"/>
          <p:cNvPicPr>
            <a:picLocks noChangeAspect="1"/>
          </p:cNvPicPr>
          <p:nvPr/>
        </p:nvPicPr>
        <p:blipFill>
          <a:blip r:embed="rId3"/>
          <a:stretch>
            <a:fillRect/>
          </a:stretch>
        </p:blipFill>
        <p:spPr>
          <a:xfrm>
            <a:off x="575945" y="297180"/>
            <a:ext cx="1685925" cy="419100"/>
          </a:xfrm>
          <a:prstGeom prst="rect">
            <a:avLst/>
          </a:prstGeom>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right)">
                                      <p:cBhvr>
                                        <p:cTn id="8" dur="500"/>
                                        <p:tgtEl>
                                          <p:spTgt spid="8"/>
                                        </p:tgtEl>
                                      </p:cBhvr>
                                    </p:animEffect>
                                  </p:childTnLst>
                                </p:cTn>
                              </p:par>
                              <p:par>
                                <p:cTn id="9" presetID="12" presetClass="entr" presetSubtype="8" fill="hold" grpId="1"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250"/>
                                        <p:tgtEl>
                                          <p:spTgt spid="14"/>
                                        </p:tgtEl>
                                        <p:attrNameLst>
                                          <p:attrName>ppt_x</p:attrName>
                                        </p:attrNameLst>
                                      </p:cBhvr>
                                      <p:tavLst>
                                        <p:tav tm="0">
                                          <p:val>
                                            <p:strVal val="#ppt_x-#ppt_w*1.125000"/>
                                          </p:val>
                                        </p:tav>
                                        <p:tav tm="100000">
                                          <p:val>
                                            <p:strVal val="#ppt_x"/>
                                          </p:val>
                                        </p:tav>
                                      </p:tavLst>
                                    </p:anim>
                                    <p:animEffect transition="in" filter="wipe(right)">
                                      <p:cBhvr>
                                        <p:cTn id="12" dur="250"/>
                                        <p:tgtEl>
                                          <p:spTgt spid="14"/>
                                        </p:tgtEl>
                                      </p:cBhvr>
                                    </p:animEffect>
                                  </p:childTnLst>
                                </p:cTn>
                              </p:par>
                              <p:par>
                                <p:cTn id="13" presetID="42"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1000"/>
                                        <p:tgtEl>
                                          <p:spTgt spid="13"/>
                                        </p:tgtEl>
                                      </p:cBhvr>
                                    </p:animEffect>
                                    <p:anim calcmode="lin" valueType="num">
                                      <p:cBhvr>
                                        <p:cTn id="16" dur="1000" fill="hold"/>
                                        <p:tgtEl>
                                          <p:spTgt spid="13"/>
                                        </p:tgtEl>
                                        <p:attrNameLst>
                                          <p:attrName>ppt_x</p:attrName>
                                        </p:attrNameLst>
                                      </p:cBhvr>
                                      <p:tavLst>
                                        <p:tav tm="0">
                                          <p:val>
                                            <p:strVal val="#ppt_x"/>
                                          </p:val>
                                        </p:tav>
                                        <p:tav tm="100000">
                                          <p:val>
                                            <p:strVal val="#ppt_x"/>
                                          </p:val>
                                        </p:tav>
                                      </p:tavLst>
                                    </p:anim>
                                    <p:anim calcmode="lin" valueType="num">
                                      <p:cBhvr>
                                        <p:cTn id="17"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C:\Users\TCSJ\Desktop\地铁PPT\bg2.pngbg2"/>
          <p:cNvPicPr>
            <a:picLocks noChangeAspect="1"/>
          </p:cNvPicPr>
          <p:nvPr/>
        </p:nvPicPr>
        <p:blipFill>
          <a:blip r:embed="rId1"/>
          <a:srcRect/>
          <a:stretch>
            <a:fillRect/>
          </a:stretch>
        </p:blipFill>
        <p:spPr>
          <a:xfrm>
            <a:off x="-7144" y="-20538"/>
            <a:ext cx="9158288" cy="5152073"/>
          </a:xfrm>
          <a:prstGeom prst="rect">
            <a:avLst/>
          </a:prstGeom>
        </p:spPr>
      </p:pic>
      <p:pic>
        <p:nvPicPr>
          <p:cNvPr id="3" name="图片 2" descr="E:\曹飞\2017\2017-8-8地铁PPT\5.png5"/>
          <p:cNvPicPr>
            <a:picLocks noChangeAspect="1"/>
          </p:cNvPicPr>
          <p:nvPr/>
        </p:nvPicPr>
        <p:blipFill>
          <a:blip r:embed="rId2" cstate="email"/>
          <a:srcRect/>
          <a:stretch>
            <a:fillRect/>
          </a:stretch>
        </p:blipFill>
        <p:spPr>
          <a:xfrm>
            <a:off x="-2210752" y="-2100739"/>
            <a:ext cx="7341394" cy="8766810"/>
          </a:xfrm>
          <a:prstGeom prst="rect">
            <a:avLst/>
          </a:prstGeom>
        </p:spPr>
      </p:pic>
      <p:pic>
        <p:nvPicPr>
          <p:cNvPr id="10" name="图片 9" descr="E:\曹飞\2017\2017-8-8地铁PPT\3.png3"/>
          <p:cNvPicPr>
            <a:picLocks noChangeAspect="1"/>
          </p:cNvPicPr>
          <p:nvPr/>
        </p:nvPicPr>
        <p:blipFill>
          <a:blip r:embed="rId3" cstate="email"/>
          <a:srcRect/>
          <a:stretch>
            <a:fillRect/>
          </a:stretch>
        </p:blipFill>
        <p:spPr>
          <a:xfrm>
            <a:off x="653415" y="4402218"/>
            <a:ext cx="8497729" cy="382429"/>
          </a:xfrm>
          <a:prstGeom prst="rect">
            <a:avLst/>
          </a:prstGeom>
        </p:spPr>
      </p:pic>
      <p:sp>
        <p:nvSpPr>
          <p:cNvPr id="9" name="Freeform 5"/>
          <p:cNvSpPr/>
          <p:nvPr/>
        </p:nvSpPr>
        <p:spPr bwMode="auto">
          <a:xfrm>
            <a:off x="4808220" y="2646521"/>
            <a:ext cx="1236345" cy="1493520"/>
          </a:xfrm>
          <a:custGeom>
            <a:avLst/>
            <a:gdLst>
              <a:gd name="T0" fmla="*/ 1625 w 1625"/>
              <a:gd name="T1" fmla="*/ 1477 h 1623"/>
              <a:gd name="T2" fmla="*/ 1625 w 1625"/>
              <a:gd name="T3" fmla="*/ 1623 h 1623"/>
              <a:gd name="T4" fmla="*/ 0 w 1625"/>
              <a:gd name="T5" fmla="*/ 1623 h 1623"/>
              <a:gd name="T6" fmla="*/ 0 w 1625"/>
              <a:gd name="T7" fmla="*/ 0 h 1623"/>
              <a:gd name="T8" fmla="*/ 1625 w 1625"/>
              <a:gd name="T9" fmla="*/ 0 h 1623"/>
              <a:gd name="T10" fmla="*/ 1625 w 1625"/>
              <a:gd name="T11" fmla="*/ 608 h 1623"/>
            </a:gdLst>
            <a:ahLst/>
            <a:cxnLst>
              <a:cxn ang="0">
                <a:pos x="T0" y="T1"/>
              </a:cxn>
              <a:cxn ang="0">
                <a:pos x="T2" y="T3"/>
              </a:cxn>
              <a:cxn ang="0">
                <a:pos x="T4" y="T5"/>
              </a:cxn>
              <a:cxn ang="0">
                <a:pos x="T6" y="T7"/>
              </a:cxn>
              <a:cxn ang="0">
                <a:pos x="T8" y="T9"/>
              </a:cxn>
              <a:cxn ang="0">
                <a:pos x="T10" y="T11"/>
              </a:cxn>
            </a:cxnLst>
            <a:rect l="0" t="0" r="r" b="b"/>
            <a:pathLst>
              <a:path w="1625" h="1623">
                <a:moveTo>
                  <a:pt x="1625" y="1477"/>
                </a:moveTo>
                <a:lnTo>
                  <a:pt x="1625" y="1623"/>
                </a:lnTo>
                <a:lnTo>
                  <a:pt x="0" y="1623"/>
                </a:lnTo>
                <a:lnTo>
                  <a:pt x="0" y="0"/>
                </a:lnTo>
                <a:lnTo>
                  <a:pt x="1625" y="0"/>
                </a:lnTo>
                <a:lnTo>
                  <a:pt x="1625" y="608"/>
                </a:lnTo>
              </a:path>
            </a:pathLst>
          </a:custGeom>
          <a:noFill/>
          <a:ln w="76200" cap="flat">
            <a:solidFill>
              <a:srgbClr val="C09D3C"/>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lstStyle/>
          <a:p>
            <a:endParaRPr lang="zh-CN" altLang="en-US">
              <a:solidFill>
                <a:prstClr val="black"/>
              </a:solidFill>
              <a:latin typeface="Arial" panose="020B0604020202020204"/>
              <a:ea typeface="微软雅黑" panose="020B0503020204020204" charset="-122"/>
              <a:sym typeface="Arial" panose="020B0604020202020204"/>
            </a:endParaRPr>
          </a:p>
        </p:txBody>
      </p:sp>
      <p:sp>
        <p:nvSpPr>
          <p:cNvPr id="7" name="TextBox 24"/>
          <p:cNvSpPr txBox="1"/>
          <p:nvPr/>
        </p:nvSpPr>
        <p:spPr>
          <a:xfrm>
            <a:off x="5938362" y="3442653"/>
            <a:ext cx="2846546" cy="421262"/>
          </a:xfrm>
          <a:prstGeom prst="rect">
            <a:avLst/>
          </a:prstGeom>
          <a:noFill/>
        </p:spPr>
        <p:txBody>
          <a:bodyPr wrap="square" lIns="51428" tIns="25714" rIns="51428" bIns="25714" rtlCol="0">
            <a:spAutoFit/>
          </a:bodyPr>
          <a:lstStyle/>
          <a:p>
            <a:pPr algn="ctr"/>
            <a:r>
              <a:rPr lang="zh-CN" altLang="en-US" sz="2400" b="1" dirty="0" smtClean="0">
                <a:solidFill>
                  <a:srgbClr val="C09D3C"/>
                </a:solidFill>
                <a:latin typeface="微软雅黑" panose="020B0503020204020204" charset="-122"/>
                <a:ea typeface="微软雅黑" panose="020B0503020204020204" charset="-122"/>
                <a:sym typeface="+mn-ea"/>
              </a:rPr>
              <a:t>请示</a:t>
            </a:r>
            <a:endParaRPr lang="zh-CN" altLang="en-US" sz="2400" b="1" dirty="0">
              <a:solidFill>
                <a:schemeClr val="tx1">
                  <a:lumMod val="75000"/>
                  <a:lumOff val="25000"/>
                </a:schemeClr>
              </a:solidFill>
              <a:latin typeface="微软雅黑" panose="020B0503020204020204" charset="-122"/>
              <a:ea typeface="微软雅黑" panose="020B0503020204020204" charset="-122"/>
              <a:sym typeface="+mn-ea"/>
            </a:endParaRPr>
          </a:p>
        </p:txBody>
      </p:sp>
      <p:cxnSp>
        <p:nvCxnSpPr>
          <p:cNvPr id="11" name="直接连接符 10"/>
          <p:cNvCxnSpPr/>
          <p:nvPr/>
        </p:nvCxnSpPr>
        <p:spPr>
          <a:xfrm>
            <a:off x="6000274" y="3896678"/>
            <a:ext cx="2676182" cy="0"/>
          </a:xfrm>
          <a:prstGeom prst="line">
            <a:avLst/>
          </a:prstGeom>
          <a:ln w="34925">
            <a:solidFill>
              <a:srgbClr val="C09D3C"/>
            </a:solidFill>
          </a:ln>
        </p:spPr>
        <p:style>
          <a:lnRef idx="1">
            <a:srgbClr val="814E67"/>
          </a:lnRef>
          <a:fillRef idx="0">
            <a:srgbClr val="814E67"/>
          </a:fillRef>
          <a:effectRef idx="0">
            <a:srgbClr val="814E67"/>
          </a:effectRef>
          <a:fontRef idx="minor">
            <a:srgbClr val="000000"/>
          </a:fontRef>
        </p:style>
      </p:cxnSp>
      <p:sp>
        <p:nvSpPr>
          <p:cNvPr id="14" name="TextBox 24"/>
          <p:cNvSpPr txBox="1"/>
          <p:nvPr/>
        </p:nvSpPr>
        <p:spPr>
          <a:xfrm>
            <a:off x="4932522" y="3074194"/>
            <a:ext cx="1312069" cy="1065848"/>
          </a:xfrm>
          <a:prstGeom prst="rect">
            <a:avLst/>
          </a:prstGeom>
          <a:noFill/>
        </p:spPr>
        <p:txBody>
          <a:bodyPr wrap="square" lIns="51428" tIns="25714" rIns="51428" bIns="25714" rtlCol="0">
            <a:spAutoFit/>
          </a:bodyPr>
          <a:lstStyle/>
          <a:p>
            <a:r>
              <a:rPr lang="en-US" altLang="zh-CN" sz="6600" dirty="0" smtClean="0">
                <a:solidFill>
                  <a:srgbClr val="C09D3C"/>
                </a:solidFill>
                <a:latin typeface="Arial" panose="020B0604020202020204"/>
                <a:ea typeface="微软雅黑" panose="020B0503020204020204" charset="-122"/>
                <a:sym typeface="Arial" panose="020B0604020202020204"/>
              </a:rPr>
              <a:t>02</a:t>
            </a:r>
            <a:endParaRPr lang="en-US" altLang="zh-CN" sz="6600" dirty="0">
              <a:solidFill>
                <a:srgbClr val="C09D3C"/>
              </a:solidFill>
              <a:latin typeface="Arial" panose="020B0604020202020204"/>
              <a:ea typeface="微软雅黑" panose="020B0503020204020204" charset="-122"/>
              <a:sym typeface="Arial" panose="020B0604020202020204"/>
            </a:endParaRPr>
          </a:p>
        </p:txBody>
      </p:sp>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E:\曹飞\2017\2017-8-8地铁PPT\6.png6"/>
          <p:cNvPicPr>
            <a:picLocks noChangeAspect="1"/>
          </p:cNvPicPr>
          <p:nvPr/>
        </p:nvPicPr>
        <p:blipFill>
          <a:blip r:embed="rId1" cstate="email"/>
          <a:srcRect/>
          <a:stretch>
            <a:fillRect/>
          </a:stretch>
        </p:blipFill>
        <p:spPr>
          <a:xfrm>
            <a:off x="2261712" y="239317"/>
            <a:ext cx="6463189" cy="343376"/>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pic>
        <p:nvPicPr>
          <p:cNvPr id="13" name="图片 12" descr="E:\曹飞\2017\2017-8-8地铁PPT\7.png7"/>
          <p:cNvPicPr>
            <a:picLocks noChangeAspect="1"/>
          </p:cNvPicPr>
          <p:nvPr/>
        </p:nvPicPr>
        <p:blipFill>
          <a:blip r:embed="rId2" cstate="email"/>
          <a:srcRect/>
          <a:stretch>
            <a:fillRect/>
          </a:stretch>
        </p:blipFill>
        <p:spPr>
          <a:xfrm>
            <a:off x="-6667" y="4477465"/>
            <a:ext cx="9168289" cy="668179"/>
          </a:xfrm>
          <a:prstGeom prst="rect">
            <a:avLst/>
          </a:prstGeom>
        </p:spPr>
      </p:pic>
      <p:sp>
        <p:nvSpPr>
          <p:cNvPr id="10" name="TextBox 9"/>
          <p:cNvSpPr txBox="1"/>
          <p:nvPr/>
        </p:nvSpPr>
        <p:spPr>
          <a:xfrm>
            <a:off x="941073" y="1203598"/>
            <a:ext cx="7272808" cy="3242310"/>
          </a:xfrm>
          <a:prstGeom prst="rect">
            <a:avLst/>
          </a:prstGeom>
          <a:noFill/>
        </p:spPr>
        <p:txBody>
          <a:bodyPr wrap="square" rtlCol="0">
            <a:spAutoFit/>
          </a:bodyPr>
          <a:lstStyle/>
          <a:p>
            <a:pPr marL="342900" indent="-342900">
              <a:lnSpc>
                <a:spcPct val="90000"/>
              </a:lnSpc>
              <a:spcBef>
                <a:spcPct val="20000"/>
              </a:spcBef>
              <a:buClr>
                <a:srgbClr val="0066CC"/>
              </a:buClr>
            </a:pPr>
            <a:r>
              <a:rPr lang="zh-CN" altLang="en-US" dirty="0" smtClean="0">
                <a:latin typeface="黑体" panose="02010609060101010101" pitchFamily="49" charset="-122"/>
                <a:ea typeface="黑体" panose="02010609060101010101" pitchFamily="49" charset="-122"/>
              </a:rPr>
              <a:t>    一、请示的含义及类别</a:t>
            </a:r>
            <a:endParaRPr lang="en-US" altLang="zh-CN" dirty="0" smtClean="0">
              <a:latin typeface="黑体" panose="02010609060101010101" pitchFamily="49" charset="-122"/>
              <a:ea typeface="黑体" panose="02010609060101010101" pitchFamily="49" charset="-122"/>
            </a:endParaRPr>
          </a:p>
          <a:p>
            <a:pPr marL="342900" indent="-342900">
              <a:lnSpc>
                <a:spcPct val="90000"/>
              </a:lnSpc>
              <a:spcBef>
                <a:spcPct val="20000"/>
              </a:spcBef>
              <a:buClr>
                <a:srgbClr val="0066CC"/>
              </a:buClr>
            </a:pPr>
            <a:r>
              <a:rPr lang="en-US" altLang="zh-CN" dirty="0" smtClean="0">
                <a:latin typeface="Times New Roman" panose="02020603050405020304" pitchFamily="18" charset="0"/>
                <a:ea typeface="仿宋_GB2312" panose="02010609030101010101" pitchFamily="49" charset="-122"/>
                <a:cs typeface="Times New Roman" panose="02020603050405020304" pitchFamily="18" charset="0"/>
              </a:rPr>
              <a:t>        </a:t>
            </a:r>
            <a:r>
              <a:rPr lang="zh-CN" altLang="zh-CN" dirty="0" smtClean="0">
                <a:latin typeface="Times New Roman" panose="02020603050405020304" pitchFamily="18" charset="0"/>
                <a:ea typeface="仿宋_GB2312" panose="02010609030101010101" pitchFamily="49" charset="-122"/>
                <a:cs typeface="Times New Roman" panose="02020603050405020304" pitchFamily="18" charset="0"/>
              </a:rPr>
              <a:t>请示是向上级领导或单位请求指示、批准时使用的一种上行文种</a:t>
            </a:r>
            <a:r>
              <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rPr>
              <a:t>。</a:t>
            </a:r>
            <a:endParaRPr lang="en-US" altLang="zh-CN" dirty="0" smtClean="0">
              <a:latin typeface="Times New Roman" panose="02020603050405020304" pitchFamily="18" charset="0"/>
              <a:ea typeface="仿宋_GB2312" panose="02010609030101010101" pitchFamily="49" charset="-122"/>
              <a:cs typeface="Times New Roman" panose="02020603050405020304" pitchFamily="18" charset="0"/>
            </a:endParaRPr>
          </a:p>
          <a:p>
            <a:pPr indent="-342900">
              <a:lnSpc>
                <a:spcPct val="90000"/>
              </a:lnSpc>
              <a:buClr>
                <a:srgbClr val="0066CC"/>
              </a:buClr>
            </a:pPr>
            <a:r>
              <a:rPr lang="en-US" altLang="zh-CN" dirty="0" smtClean="0">
                <a:latin typeface="Times New Roman" panose="02020603050405020304" pitchFamily="18" charset="0"/>
                <a:ea typeface="仿宋_GB2312" panose="02010609030101010101" pitchFamily="49" charset="-122"/>
                <a:cs typeface="Times New Roman" panose="02020603050405020304" pitchFamily="18" charset="0"/>
              </a:rPr>
              <a:t>         1.</a:t>
            </a:r>
            <a:r>
              <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rPr>
              <a:t>请求指示的请示。即在工作中遇到疑难问题，需要请求上级指示或裁决。</a:t>
            </a:r>
            <a:endPar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endParaRPr>
          </a:p>
          <a:p>
            <a:pPr indent="-342900">
              <a:lnSpc>
                <a:spcPct val="90000"/>
              </a:lnSpc>
              <a:buClr>
                <a:srgbClr val="0066CC"/>
              </a:buClr>
            </a:pPr>
            <a:r>
              <a:rPr lang="en-US" altLang="zh-CN" dirty="0" smtClean="0">
                <a:latin typeface="Times New Roman" panose="02020603050405020304" pitchFamily="18" charset="0"/>
                <a:ea typeface="仿宋_GB2312" panose="02010609030101010101" pitchFamily="49" charset="-122"/>
                <a:cs typeface="Times New Roman" panose="02020603050405020304" pitchFamily="18" charset="0"/>
              </a:rPr>
              <a:t>         2.</a:t>
            </a:r>
            <a:r>
              <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rPr>
              <a:t>请求批准的请示。凡需要经上级领导机关审定或批准的事项，必须发文请求上级机关批准，批准后才能实施。</a:t>
            </a:r>
            <a:endPar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endParaRPr>
          </a:p>
          <a:p>
            <a:pPr indent="-342900">
              <a:lnSpc>
                <a:spcPct val="90000"/>
              </a:lnSpc>
              <a:buClr>
                <a:srgbClr val="0066CC"/>
              </a:buClr>
            </a:pPr>
            <a:r>
              <a:rPr lang="en-US" altLang="zh-CN" dirty="0" smtClean="0">
                <a:latin typeface="Times New Roman" panose="02020603050405020304" pitchFamily="18" charset="0"/>
                <a:ea typeface="仿宋_GB2312" panose="02010609030101010101" pitchFamily="49" charset="-122"/>
                <a:cs typeface="Times New Roman" panose="02020603050405020304" pitchFamily="18" charset="0"/>
              </a:rPr>
              <a:t>         3.</a:t>
            </a:r>
            <a:r>
              <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rPr>
              <a:t>请示解决的请示。在工作中遇到人、财、物方面的困难，需向上级请示，请求解决。</a:t>
            </a:r>
            <a:endPar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endParaRPr>
          </a:p>
          <a:p>
            <a:pPr indent="-342900">
              <a:lnSpc>
                <a:spcPct val="90000"/>
              </a:lnSpc>
              <a:buClr>
                <a:srgbClr val="0066CC"/>
              </a:buClr>
            </a:pPr>
            <a:r>
              <a:rPr lang="en-US" altLang="zh-CN" dirty="0" smtClean="0">
                <a:latin typeface="Times New Roman" panose="02020603050405020304" pitchFamily="18" charset="0"/>
                <a:ea typeface="仿宋_GB2312" panose="02010609030101010101" pitchFamily="49" charset="-122"/>
                <a:cs typeface="Times New Roman" panose="02020603050405020304" pitchFamily="18" charset="0"/>
              </a:rPr>
              <a:t>         4.</a:t>
            </a:r>
            <a:r>
              <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rPr>
              <a:t>批转性请示。请示上级对自己单位给下属机关或其他不相隶属的同级机关的指示文件予以批准并转发。</a:t>
            </a:r>
            <a:endPar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endParaRPr>
          </a:p>
          <a:p>
            <a:pPr marL="342900" indent="-342900">
              <a:lnSpc>
                <a:spcPct val="90000"/>
              </a:lnSpc>
              <a:spcBef>
                <a:spcPct val="20000"/>
              </a:spcBef>
              <a:buClr>
                <a:srgbClr val="0066CC"/>
              </a:buClr>
            </a:pPr>
            <a:endParaRPr lang="en-US" altLang="zh-CN" dirty="0" smtClean="0">
              <a:latin typeface="仿宋_GB2312" panose="02010609030101010101" pitchFamily="49" charset="-122"/>
              <a:ea typeface="仿宋_GB2312" panose="02010609030101010101" pitchFamily="49" charset="-122"/>
            </a:endParaRPr>
          </a:p>
          <a:p>
            <a:pPr marL="342900" indent="-342900">
              <a:lnSpc>
                <a:spcPct val="90000"/>
              </a:lnSpc>
              <a:spcBef>
                <a:spcPct val="20000"/>
              </a:spcBef>
              <a:buClr>
                <a:srgbClr val="0066CC"/>
              </a:buClr>
            </a:pPr>
            <a:endParaRPr lang="en-US" altLang="zh-CN" dirty="0" smtClean="0">
              <a:latin typeface="仿宋_GB2312" panose="02010609030101010101" pitchFamily="49" charset="-122"/>
              <a:ea typeface="仿宋_GB2312" panose="02010609030101010101" pitchFamily="49" charset="-122"/>
              <a:cs typeface="Times New Roman" panose="02020603050405020304" pitchFamily="18" charset="0"/>
            </a:endParaRPr>
          </a:p>
        </p:txBody>
      </p:sp>
      <p:pic>
        <p:nvPicPr>
          <p:cNvPr id="9" name="图片 8"/>
          <p:cNvPicPr>
            <a:picLocks noChangeAspect="1"/>
          </p:cNvPicPr>
          <p:nvPr/>
        </p:nvPicPr>
        <p:blipFill>
          <a:blip r:embed="rId3"/>
          <a:stretch>
            <a:fillRect/>
          </a:stretch>
        </p:blipFill>
        <p:spPr>
          <a:xfrm>
            <a:off x="575945" y="297180"/>
            <a:ext cx="1685925" cy="419100"/>
          </a:xfrm>
          <a:prstGeom prst="rect">
            <a:avLst/>
          </a:prstGeom>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right)">
                                      <p:cBhvr>
                                        <p:cTn id="8" dur="500"/>
                                        <p:tgtEl>
                                          <p:spTgt spid="8"/>
                                        </p:tgtEl>
                                      </p:cBhvr>
                                    </p:animEffect>
                                  </p:childTnLst>
                                </p:cTn>
                              </p:par>
                              <p:par>
                                <p:cTn id="9" presetID="12" presetClass="entr" presetSubtype="8" fill="hold" grpId="1"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250"/>
                                        <p:tgtEl>
                                          <p:spTgt spid="14"/>
                                        </p:tgtEl>
                                        <p:attrNameLst>
                                          <p:attrName>ppt_x</p:attrName>
                                        </p:attrNameLst>
                                      </p:cBhvr>
                                      <p:tavLst>
                                        <p:tav tm="0">
                                          <p:val>
                                            <p:strVal val="#ppt_x-#ppt_w*1.125000"/>
                                          </p:val>
                                        </p:tav>
                                        <p:tav tm="100000">
                                          <p:val>
                                            <p:strVal val="#ppt_x"/>
                                          </p:val>
                                        </p:tav>
                                      </p:tavLst>
                                    </p:anim>
                                    <p:animEffect transition="in" filter="wipe(right)">
                                      <p:cBhvr>
                                        <p:cTn id="12" dur="250"/>
                                        <p:tgtEl>
                                          <p:spTgt spid="14"/>
                                        </p:tgtEl>
                                      </p:cBhvr>
                                    </p:animEffect>
                                  </p:childTnLst>
                                </p:cTn>
                              </p:par>
                              <p:par>
                                <p:cTn id="13" presetID="42"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1000"/>
                                        <p:tgtEl>
                                          <p:spTgt spid="13"/>
                                        </p:tgtEl>
                                      </p:cBhvr>
                                    </p:animEffect>
                                    <p:anim calcmode="lin" valueType="num">
                                      <p:cBhvr>
                                        <p:cTn id="16" dur="1000" fill="hold"/>
                                        <p:tgtEl>
                                          <p:spTgt spid="13"/>
                                        </p:tgtEl>
                                        <p:attrNameLst>
                                          <p:attrName>ppt_x</p:attrName>
                                        </p:attrNameLst>
                                      </p:cBhvr>
                                      <p:tavLst>
                                        <p:tav tm="0">
                                          <p:val>
                                            <p:strVal val="#ppt_x"/>
                                          </p:val>
                                        </p:tav>
                                        <p:tav tm="100000">
                                          <p:val>
                                            <p:strVal val="#ppt_x"/>
                                          </p:val>
                                        </p:tav>
                                      </p:tavLst>
                                    </p:anim>
                                    <p:anim calcmode="lin" valueType="num">
                                      <p:cBhvr>
                                        <p:cTn id="17"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E:\曹飞\2017\2017-8-8地铁PPT\6.png6"/>
          <p:cNvPicPr>
            <a:picLocks noChangeAspect="1"/>
          </p:cNvPicPr>
          <p:nvPr/>
        </p:nvPicPr>
        <p:blipFill>
          <a:blip r:embed="rId1" cstate="email"/>
          <a:srcRect/>
          <a:stretch>
            <a:fillRect/>
          </a:stretch>
        </p:blipFill>
        <p:spPr>
          <a:xfrm>
            <a:off x="2261712" y="239317"/>
            <a:ext cx="6463189" cy="343376"/>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pic>
        <p:nvPicPr>
          <p:cNvPr id="13" name="图片 12" descr="E:\曹飞\2017\2017-8-8地铁PPT\7.png7"/>
          <p:cNvPicPr>
            <a:picLocks noChangeAspect="1"/>
          </p:cNvPicPr>
          <p:nvPr/>
        </p:nvPicPr>
        <p:blipFill>
          <a:blip r:embed="rId2" cstate="email"/>
          <a:srcRect/>
          <a:stretch>
            <a:fillRect/>
          </a:stretch>
        </p:blipFill>
        <p:spPr>
          <a:xfrm>
            <a:off x="-6667" y="4477465"/>
            <a:ext cx="9168289" cy="668179"/>
          </a:xfrm>
          <a:prstGeom prst="rect">
            <a:avLst/>
          </a:prstGeom>
        </p:spPr>
      </p:pic>
      <p:sp>
        <p:nvSpPr>
          <p:cNvPr id="10" name="TextBox 9"/>
          <p:cNvSpPr txBox="1"/>
          <p:nvPr/>
        </p:nvSpPr>
        <p:spPr>
          <a:xfrm>
            <a:off x="362585" y="716280"/>
            <a:ext cx="8118475" cy="4208780"/>
          </a:xfrm>
          <a:prstGeom prst="rect">
            <a:avLst/>
          </a:prstGeom>
          <a:noFill/>
        </p:spPr>
        <p:txBody>
          <a:bodyPr wrap="square" rtlCol="0">
            <a:spAutoFit/>
          </a:bodyPr>
          <a:lstStyle/>
          <a:p>
            <a:pPr marL="342900" indent="-342900">
              <a:lnSpc>
                <a:spcPct val="90000"/>
              </a:lnSpc>
              <a:spcBef>
                <a:spcPct val="20000"/>
              </a:spcBef>
              <a:buClr>
                <a:srgbClr val="0066CC"/>
              </a:buClr>
            </a:pPr>
            <a:r>
              <a:rPr lang="zh-CN" altLang="en-US" dirty="0" smtClean="0">
                <a:latin typeface="黑体" panose="02010609060101010101" pitchFamily="49" charset="-122"/>
                <a:ea typeface="黑体" panose="02010609060101010101" pitchFamily="49" charset="-122"/>
              </a:rPr>
              <a:t>       二、请示的特点</a:t>
            </a:r>
            <a:endParaRPr lang="en-US" altLang="zh-CN" dirty="0" smtClean="0">
              <a:latin typeface="黑体" panose="02010609060101010101" pitchFamily="49" charset="-122"/>
              <a:ea typeface="黑体" panose="02010609060101010101" pitchFamily="49" charset="-122"/>
            </a:endParaRPr>
          </a:p>
          <a:p>
            <a:pPr marL="342900" indent="-342900">
              <a:lnSpc>
                <a:spcPct val="90000"/>
              </a:lnSpc>
              <a:spcBef>
                <a:spcPct val="20000"/>
              </a:spcBef>
              <a:buClr>
                <a:srgbClr val="0066CC"/>
              </a:buClr>
            </a:pPr>
            <a:r>
              <a:rPr lang="en-US" altLang="zh-CN" dirty="0" smtClean="0">
                <a:latin typeface="Times New Roman" panose="02020603050405020304" pitchFamily="18" charset="0"/>
                <a:ea typeface="仿宋_GB2312" panose="02010609030101010101" pitchFamily="49" charset="-122"/>
                <a:cs typeface="Times New Roman" panose="02020603050405020304" pitchFamily="18" charset="0"/>
              </a:rPr>
              <a:t>              1.</a:t>
            </a:r>
            <a:r>
              <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rPr>
              <a:t>单一性。这包括三个方面：一是请示的行文方向单一性，即只有下级机关向上级机关行文时才能使用请示文种；二是请示内容的单一性，即请示只能一文一事，不同的事件不能写在同一个请示中；三是主送机关的单一性，即请示只能主送一个上级机关，若须送其他上级机关，应当采取抄送的形式。</a:t>
            </a:r>
            <a:endParaRPr lang="en-US" altLang="zh-CN" dirty="0" smtClean="0">
              <a:latin typeface="Times New Roman" panose="02020603050405020304" pitchFamily="18" charset="0"/>
              <a:ea typeface="仿宋_GB2312" panose="02010609030101010101" pitchFamily="49" charset="-122"/>
              <a:cs typeface="Times New Roman" panose="02020603050405020304" pitchFamily="18" charset="0"/>
            </a:endParaRPr>
          </a:p>
          <a:p>
            <a:pPr marL="342900" indent="-342900">
              <a:lnSpc>
                <a:spcPct val="90000"/>
              </a:lnSpc>
              <a:spcBef>
                <a:spcPct val="20000"/>
              </a:spcBef>
              <a:buClr>
                <a:srgbClr val="0066CC"/>
              </a:buClr>
            </a:pPr>
            <a:r>
              <a:rPr lang="en-US" altLang="zh-CN" dirty="0" smtClean="0">
                <a:latin typeface="Times New Roman" panose="02020603050405020304" pitchFamily="18" charset="0"/>
                <a:ea typeface="仿宋_GB2312" panose="02010609030101010101" pitchFamily="49" charset="-122"/>
                <a:cs typeface="Times New Roman" panose="02020603050405020304" pitchFamily="18" charset="0"/>
              </a:rPr>
              <a:t>               2.</a:t>
            </a:r>
            <a:r>
              <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rPr>
              <a:t>请求性。请示是下级机关为请求上级机关批准某一事项，或解决某个问题而制发的，上级机关应对其予以批复。请示的批复特性在一定程度上隐隐具有强制意味，即无论上级机关同意与否，都要进行批复。</a:t>
            </a:r>
            <a:endPar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endParaRPr>
          </a:p>
          <a:p>
            <a:pPr marL="342900" indent="-342900">
              <a:lnSpc>
                <a:spcPct val="90000"/>
              </a:lnSpc>
              <a:spcBef>
                <a:spcPct val="20000"/>
              </a:spcBef>
              <a:buClr>
                <a:srgbClr val="0066CC"/>
              </a:buClr>
            </a:pPr>
            <a:r>
              <a:rPr lang="en-US" altLang="zh-CN" dirty="0" smtClean="0">
                <a:latin typeface="Times New Roman" panose="02020603050405020304" pitchFamily="18" charset="0"/>
                <a:ea typeface="仿宋_GB2312" panose="02010609030101010101" pitchFamily="49" charset="-122"/>
                <a:cs typeface="Times New Roman" panose="02020603050405020304" pitchFamily="18" charset="0"/>
              </a:rPr>
              <a:t>               3.</a:t>
            </a:r>
            <a:r>
              <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rPr>
              <a:t>预先性。这是针对行文时间而言的，即请示必须在事前行文，不允许“先斩后奏”。</a:t>
            </a:r>
            <a:endPar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endParaRPr>
          </a:p>
          <a:p>
            <a:pPr marL="342900" indent="-342900">
              <a:lnSpc>
                <a:spcPct val="90000"/>
              </a:lnSpc>
              <a:spcBef>
                <a:spcPct val="20000"/>
              </a:spcBef>
              <a:buClr>
                <a:srgbClr val="0066CC"/>
              </a:buClr>
            </a:pPr>
            <a:r>
              <a:rPr lang="en-US" altLang="zh-CN" dirty="0" smtClean="0">
                <a:latin typeface="Times New Roman" panose="02020603050405020304" pitchFamily="18" charset="0"/>
                <a:ea typeface="仿宋_GB2312" panose="02010609030101010101" pitchFamily="49" charset="-122"/>
                <a:cs typeface="Times New Roman" panose="02020603050405020304" pitchFamily="18" charset="0"/>
              </a:rPr>
              <a:t>              4.</a:t>
            </a:r>
            <a:r>
              <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rPr>
              <a:t>时效性。请示所涉及的问题都有一定的迫切性，应该及时写作、及时发出、及时批复。</a:t>
            </a:r>
            <a:endPar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endParaRPr>
          </a:p>
          <a:p>
            <a:pPr marL="342900" indent="-342900">
              <a:lnSpc>
                <a:spcPct val="90000"/>
              </a:lnSpc>
              <a:spcBef>
                <a:spcPct val="20000"/>
              </a:spcBef>
              <a:buClr>
                <a:srgbClr val="0066CC"/>
              </a:buClr>
            </a:pPr>
            <a:endPar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endParaRPr>
          </a:p>
          <a:p>
            <a:pPr marL="342900" indent="-342900">
              <a:lnSpc>
                <a:spcPct val="90000"/>
              </a:lnSpc>
              <a:spcBef>
                <a:spcPct val="20000"/>
              </a:spcBef>
              <a:buClr>
                <a:srgbClr val="0066CC"/>
              </a:buClr>
            </a:pPr>
            <a:endParaRPr lang="en-US" altLang="zh-CN" dirty="0" smtClean="0">
              <a:latin typeface="仿宋_GB2312" panose="02010609030101010101" pitchFamily="49" charset="-122"/>
              <a:ea typeface="仿宋_GB2312" panose="02010609030101010101" pitchFamily="49" charset="-122"/>
            </a:endParaRPr>
          </a:p>
          <a:p>
            <a:pPr marL="342900" indent="-342900">
              <a:lnSpc>
                <a:spcPct val="90000"/>
              </a:lnSpc>
              <a:spcBef>
                <a:spcPct val="20000"/>
              </a:spcBef>
              <a:buClr>
                <a:srgbClr val="0066CC"/>
              </a:buClr>
            </a:pPr>
            <a:endParaRPr lang="en-US" altLang="zh-CN" dirty="0" smtClean="0">
              <a:latin typeface="仿宋_GB2312" panose="02010609030101010101" pitchFamily="49" charset="-122"/>
              <a:ea typeface="仿宋_GB2312" panose="02010609030101010101" pitchFamily="49" charset="-122"/>
              <a:cs typeface="Times New Roman" panose="02020603050405020304" pitchFamily="18" charset="0"/>
            </a:endParaRPr>
          </a:p>
        </p:txBody>
      </p:sp>
      <p:pic>
        <p:nvPicPr>
          <p:cNvPr id="9" name="图片 8"/>
          <p:cNvPicPr>
            <a:picLocks noChangeAspect="1"/>
          </p:cNvPicPr>
          <p:nvPr/>
        </p:nvPicPr>
        <p:blipFill>
          <a:blip r:embed="rId3"/>
          <a:stretch>
            <a:fillRect/>
          </a:stretch>
        </p:blipFill>
        <p:spPr>
          <a:xfrm>
            <a:off x="575945" y="297180"/>
            <a:ext cx="1685925" cy="419100"/>
          </a:xfrm>
          <a:prstGeom prst="rect">
            <a:avLst/>
          </a:prstGeom>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right)">
                                      <p:cBhvr>
                                        <p:cTn id="8" dur="500"/>
                                        <p:tgtEl>
                                          <p:spTgt spid="8"/>
                                        </p:tgtEl>
                                      </p:cBhvr>
                                    </p:animEffect>
                                  </p:childTnLst>
                                </p:cTn>
                              </p:par>
                              <p:par>
                                <p:cTn id="9" presetID="12" presetClass="entr" presetSubtype="8" fill="hold" grpId="1"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250"/>
                                        <p:tgtEl>
                                          <p:spTgt spid="14"/>
                                        </p:tgtEl>
                                        <p:attrNameLst>
                                          <p:attrName>ppt_x</p:attrName>
                                        </p:attrNameLst>
                                      </p:cBhvr>
                                      <p:tavLst>
                                        <p:tav tm="0">
                                          <p:val>
                                            <p:strVal val="#ppt_x-#ppt_w*1.125000"/>
                                          </p:val>
                                        </p:tav>
                                        <p:tav tm="100000">
                                          <p:val>
                                            <p:strVal val="#ppt_x"/>
                                          </p:val>
                                        </p:tav>
                                      </p:tavLst>
                                    </p:anim>
                                    <p:animEffect transition="in" filter="wipe(right)">
                                      <p:cBhvr>
                                        <p:cTn id="12" dur="250"/>
                                        <p:tgtEl>
                                          <p:spTgt spid="14"/>
                                        </p:tgtEl>
                                      </p:cBhvr>
                                    </p:animEffect>
                                  </p:childTnLst>
                                </p:cTn>
                              </p:par>
                              <p:par>
                                <p:cTn id="13" presetID="42"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1000"/>
                                        <p:tgtEl>
                                          <p:spTgt spid="13"/>
                                        </p:tgtEl>
                                      </p:cBhvr>
                                    </p:animEffect>
                                    <p:anim calcmode="lin" valueType="num">
                                      <p:cBhvr>
                                        <p:cTn id="16" dur="1000" fill="hold"/>
                                        <p:tgtEl>
                                          <p:spTgt spid="13"/>
                                        </p:tgtEl>
                                        <p:attrNameLst>
                                          <p:attrName>ppt_x</p:attrName>
                                        </p:attrNameLst>
                                      </p:cBhvr>
                                      <p:tavLst>
                                        <p:tav tm="0">
                                          <p:val>
                                            <p:strVal val="#ppt_x"/>
                                          </p:val>
                                        </p:tav>
                                        <p:tav tm="100000">
                                          <p:val>
                                            <p:strVal val="#ppt_x"/>
                                          </p:val>
                                        </p:tav>
                                      </p:tavLst>
                                    </p:anim>
                                    <p:anim calcmode="lin" valueType="num">
                                      <p:cBhvr>
                                        <p:cTn id="17"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115616" y="861453"/>
            <a:ext cx="5760641" cy="339725"/>
          </a:xfrm>
          <a:prstGeom prst="rect">
            <a:avLst/>
          </a:prstGeom>
          <a:noFill/>
        </p:spPr>
        <p:txBody>
          <a:bodyPr wrap="square" rtlCol="0">
            <a:spAutoFit/>
          </a:bodyPr>
          <a:lstStyle/>
          <a:p>
            <a:pPr marL="342900" indent="-342900">
              <a:lnSpc>
                <a:spcPct val="90000"/>
              </a:lnSpc>
              <a:spcBef>
                <a:spcPct val="20000"/>
              </a:spcBef>
              <a:buClr>
                <a:srgbClr val="0066CC"/>
              </a:buClr>
            </a:pPr>
            <a:r>
              <a:rPr kumimoji="0" lang="zh-CN" altLang="en-US" kern="0" dirty="0">
                <a:latin typeface="黑体" panose="02010609060101010101" pitchFamily="49" charset="-122"/>
                <a:ea typeface="黑体" panose="02010609060101010101" pitchFamily="49" charset="-122"/>
              </a:rPr>
              <a:t>三、请示的结构</a:t>
            </a:r>
            <a:endParaRPr kumimoji="0" lang="zh-CN" altLang="en-US" kern="0" dirty="0">
              <a:latin typeface="黑体" panose="02010609060101010101" pitchFamily="49" charset="-122"/>
              <a:ea typeface="黑体" panose="02010609060101010101" pitchFamily="49" charset="-122"/>
            </a:endParaRPr>
          </a:p>
        </p:txBody>
      </p:sp>
      <p:sp>
        <p:nvSpPr>
          <p:cNvPr id="2" name="TextBox 1"/>
          <p:cNvSpPr txBox="1"/>
          <p:nvPr/>
        </p:nvSpPr>
        <p:spPr>
          <a:xfrm>
            <a:off x="793750" y="1254125"/>
            <a:ext cx="7450455" cy="3138170"/>
          </a:xfrm>
          <a:prstGeom prst="rect">
            <a:avLst/>
          </a:prstGeom>
          <a:noFill/>
        </p:spPr>
        <p:txBody>
          <a:bodyPr wrap="square" rtlCol="0">
            <a:spAutoFit/>
          </a:bodyPr>
          <a:lstStyle/>
          <a:p>
            <a:r>
              <a:rPr lang="en-US" altLang="zh-CN" dirty="0"/>
              <a:t>        </a:t>
            </a:r>
            <a:r>
              <a:rPr lang="zh-CN" altLang="zh-CN" dirty="0"/>
              <a:t>请示一般由标题、主送机关、正文、落款四部分组成。</a:t>
            </a:r>
            <a:endParaRPr lang="zh-CN" altLang="zh-CN" dirty="0"/>
          </a:p>
          <a:p>
            <a:r>
              <a:rPr lang="en-US" altLang="zh-CN" dirty="0" smtClean="0"/>
              <a:t>        </a:t>
            </a:r>
            <a:r>
              <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rPr>
              <a:t>1.标题。</a:t>
            </a:r>
            <a:endPar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endParaRPr>
          </a:p>
          <a:p>
            <a:r>
              <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rPr>
              <a:t>        通常由发文机关、事由、文种三要素组成，如《郑州地铁集团有限公司运营分公司关于开展***工作的请示》。拟写请示标题，必须着力写好“事由”，要简明扼要地表述出请示的中心意向。</a:t>
            </a:r>
            <a:endPar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endParaRPr>
          </a:p>
          <a:p>
            <a:r>
              <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rPr>
              <a:t>         2.主送机关。</a:t>
            </a:r>
            <a:endPar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endParaRPr>
          </a:p>
          <a:p>
            <a:r>
              <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rPr>
              <a:t>        请示的主送机关就是负责受理和答复请示的机关。请示在确定主送机关时，要注意三点：一是主送机关只能有一个，即抬头一般只能写一个主送机关。如需同时送其他机关，应当采取抄送的形式。二是抬头为机关名称的，只能送上级机关，不能送领导个人。三是原则上不得越级打请示。</a:t>
            </a:r>
            <a:endPar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endParaRPr>
          </a:p>
        </p:txBody>
      </p:sp>
      <p:pic>
        <p:nvPicPr>
          <p:cNvPr id="8" name="图片 7" descr="E:\曹飞\2017\2017-8-8地铁PPT\6.png6"/>
          <p:cNvPicPr>
            <a:picLocks noChangeAspect="1"/>
          </p:cNvPicPr>
          <p:nvPr/>
        </p:nvPicPr>
        <p:blipFill>
          <a:blip r:embed="rId1" cstate="email"/>
          <a:srcRect/>
          <a:stretch>
            <a:fillRect/>
          </a:stretch>
        </p:blipFill>
        <p:spPr>
          <a:xfrm>
            <a:off x="2261712" y="239317"/>
            <a:ext cx="6463189" cy="343376"/>
          </a:xfrm>
          <a:prstGeom prst="rect">
            <a:avLst/>
          </a:prstGeom>
        </p:spPr>
      </p:pic>
      <p:pic>
        <p:nvPicPr>
          <p:cNvPr id="9" name="图片 8"/>
          <p:cNvPicPr>
            <a:picLocks noChangeAspect="1"/>
          </p:cNvPicPr>
          <p:nvPr/>
        </p:nvPicPr>
        <p:blipFill>
          <a:blip r:embed="rId2"/>
          <a:stretch>
            <a:fillRect/>
          </a:stretch>
        </p:blipFill>
        <p:spPr>
          <a:xfrm>
            <a:off x="575945" y="297180"/>
            <a:ext cx="1685925" cy="419100"/>
          </a:xfrm>
          <a:prstGeom prst="rect">
            <a:avLst/>
          </a:prstGeom>
        </p:spPr>
      </p:pic>
      <p:pic>
        <p:nvPicPr>
          <p:cNvPr id="13" name="图片 12" descr="E:\曹飞\2017\2017-8-8地铁PPT\7.png7"/>
          <p:cNvPicPr>
            <a:picLocks noChangeAspect="1"/>
          </p:cNvPicPr>
          <p:nvPr/>
        </p:nvPicPr>
        <p:blipFill>
          <a:blip r:embed="rId3" cstate="email"/>
          <a:srcRect/>
          <a:stretch>
            <a:fillRect/>
          </a:stretch>
        </p:blipFill>
        <p:spPr>
          <a:xfrm>
            <a:off x="-6667" y="4477465"/>
            <a:ext cx="9168289" cy="668179"/>
          </a:xfrm>
          <a:prstGeom prst="rect">
            <a:avLst/>
          </a:prstGeom>
        </p:spPr>
      </p:pic>
      <p:sp>
        <p:nvSpPr>
          <p:cNvPr id="14" name="文本框 13"/>
          <p:cNvSpPr txBox="1"/>
          <p:nvPr/>
        </p:nvSpPr>
        <p:spPr>
          <a:xfrm>
            <a:off x="5577840" y="220980"/>
            <a:ext cx="2358390" cy="252730"/>
          </a:xfrm>
          <a:prstGeom prst="rect">
            <a:avLst/>
          </a:prstGeom>
          <a:noFill/>
        </p:spPr>
        <p:txBody>
          <a:bodyPr wrap="square" lIns="68580" tIns="34290" rIns="68580" bIns="34290" rtlCol="0">
            <a:spAutoFit/>
          </a:bodyPr>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right)">
                                      <p:cBhvr>
                                        <p:cTn id="8" dur="500"/>
                                        <p:tgtEl>
                                          <p:spTgt spid="8"/>
                                        </p:tgtEl>
                                      </p:cBhvr>
                                    </p:animEffect>
                                  </p:childTnLst>
                                </p:cTn>
                              </p:par>
                              <p:par>
                                <p:cTn id="9" presetID="42"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1000"/>
                                        <p:tgtEl>
                                          <p:spTgt spid="13"/>
                                        </p:tgtEl>
                                      </p:cBhvr>
                                    </p:animEffect>
                                    <p:anim calcmode="lin" valueType="num">
                                      <p:cBhvr>
                                        <p:cTn id="12" dur="1000" fill="hold"/>
                                        <p:tgtEl>
                                          <p:spTgt spid="13"/>
                                        </p:tgtEl>
                                        <p:attrNameLst>
                                          <p:attrName>ppt_x</p:attrName>
                                        </p:attrNameLst>
                                      </p:cBhvr>
                                      <p:tavLst>
                                        <p:tav tm="0">
                                          <p:val>
                                            <p:strVal val="#ppt_x"/>
                                          </p:val>
                                        </p:tav>
                                        <p:tav tm="100000">
                                          <p:val>
                                            <p:strVal val="#ppt_x"/>
                                          </p:val>
                                        </p:tav>
                                      </p:tavLst>
                                    </p:anim>
                                    <p:anim calcmode="lin" valueType="num">
                                      <p:cBhvr>
                                        <p:cTn id="13" dur="1000" fill="hold"/>
                                        <p:tgtEl>
                                          <p:spTgt spid="13"/>
                                        </p:tgtEl>
                                        <p:attrNameLst>
                                          <p:attrName>ppt_y</p:attrName>
                                        </p:attrNameLst>
                                      </p:cBhvr>
                                      <p:tavLst>
                                        <p:tav tm="0">
                                          <p:val>
                                            <p:strVal val="#ppt_y+.1"/>
                                          </p:val>
                                        </p:tav>
                                        <p:tav tm="100000">
                                          <p:val>
                                            <p:strVal val="#ppt_y"/>
                                          </p:val>
                                        </p:tav>
                                      </p:tavLst>
                                    </p:anim>
                                  </p:childTnLst>
                                </p:cTn>
                              </p:par>
                              <p:par>
                                <p:cTn id="14" presetID="12" presetClass="entr" presetSubtype="8" fill="hold" grpId="1" nodeType="withEffect">
                                  <p:stCondLst>
                                    <p:cond delay="0"/>
                                  </p:stCondLst>
                                  <p:childTnLst>
                                    <p:set>
                                      <p:cBhvr>
                                        <p:cTn id="15" dur="1" fill="hold">
                                          <p:stCondLst>
                                            <p:cond delay="0"/>
                                          </p:stCondLst>
                                        </p:cTn>
                                        <p:tgtEl>
                                          <p:spTgt spid="14"/>
                                        </p:tgtEl>
                                        <p:attrNameLst>
                                          <p:attrName>style.visibility</p:attrName>
                                        </p:attrNameLst>
                                      </p:cBhvr>
                                      <p:to>
                                        <p:strVal val="visible"/>
                                      </p:to>
                                    </p:set>
                                    <p:anim calcmode="lin" valueType="num">
                                      <p:cBhvr additive="base">
                                        <p:cTn id="16" dur="250"/>
                                        <p:tgtEl>
                                          <p:spTgt spid="14"/>
                                        </p:tgtEl>
                                        <p:attrNameLst>
                                          <p:attrName>ppt_x</p:attrName>
                                        </p:attrNameLst>
                                      </p:cBhvr>
                                      <p:tavLst>
                                        <p:tav tm="0">
                                          <p:val>
                                            <p:strVal val="#ppt_x-#ppt_w*1.125000"/>
                                          </p:val>
                                        </p:tav>
                                        <p:tav tm="100000">
                                          <p:val>
                                            <p:strVal val="#ppt_x"/>
                                          </p:val>
                                        </p:tav>
                                      </p:tavLst>
                                    </p:anim>
                                    <p:animEffect transition="in" filter="wipe(right)">
                                      <p:cBhvr>
                                        <p:cTn id="17"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82345" y="861695"/>
            <a:ext cx="5894070" cy="339725"/>
          </a:xfrm>
          <a:prstGeom prst="rect">
            <a:avLst/>
          </a:prstGeom>
          <a:noFill/>
        </p:spPr>
        <p:txBody>
          <a:bodyPr wrap="square" rtlCol="0">
            <a:spAutoFit/>
          </a:bodyPr>
          <a:lstStyle/>
          <a:p>
            <a:pPr marL="342900" indent="-342900">
              <a:lnSpc>
                <a:spcPct val="90000"/>
              </a:lnSpc>
              <a:spcBef>
                <a:spcPct val="20000"/>
              </a:spcBef>
              <a:buClr>
                <a:srgbClr val="0066CC"/>
              </a:buClr>
            </a:pPr>
            <a:r>
              <a:rPr kumimoji="0" lang="zh-CN" altLang="en-US" kern="0" dirty="0">
                <a:latin typeface="黑体" panose="02010609060101010101" pitchFamily="49" charset="-122"/>
                <a:ea typeface="黑体" panose="02010609060101010101" pitchFamily="49" charset="-122"/>
              </a:rPr>
              <a:t>三、请示的结构</a:t>
            </a:r>
            <a:endParaRPr kumimoji="0" lang="zh-CN" altLang="en-US" kern="0" dirty="0">
              <a:latin typeface="黑体" panose="02010609060101010101" pitchFamily="49" charset="-122"/>
              <a:ea typeface="黑体" panose="02010609060101010101" pitchFamily="49" charset="-122"/>
            </a:endParaRPr>
          </a:p>
        </p:txBody>
      </p:sp>
      <p:sp>
        <p:nvSpPr>
          <p:cNvPr id="2" name="TextBox 1"/>
          <p:cNvSpPr txBox="1"/>
          <p:nvPr/>
        </p:nvSpPr>
        <p:spPr>
          <a:xfrm>
            <a:off x="467544" y="1253868"/>
            <a:ext cx="7776864" cy="2584450"/>
          </a:xfrm>
          <a:prstGeom prst="rect">
            <a:avLst/>
          </a:prstGeom>
          <a:noFill/>
        </p:spPr>
        <p:txBody>
          <a:bodyPr wrap="square" rtlCol="0">
            <a:spAutoFit/>
          </a:bodyPr>
          <a:lstStyle/>
          <a:p>
            <a:pPr algn="l">
              <a:buClrTx/>
              <a:buSzTx/>
              <a:buFontTx/>
            </a:pPr>
            <a:r>
              <a:rPr lang="en-US" altLang="zh-CN" dirty="0" smtClean="0"/>
              <a:t>        </a:t>
            </a:r>
            <a:r>
              <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rPr>
              <a:t> 3.正文。正文部分是请示的核心内容，它要表明以下三方面的事项：</a:t>
            </a:r>
            <a:endPar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endParaRPr>
          </a:p>
          <a:p>
            <a:pPr algn="l">
              <a:buClrTx/>
              <a:buSzTx/>
              <a:buFontTx/>
            </a:pPr>
            <a:r>
              <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rPr>
              <a:t>      （1）请示缘由。在写法上，一般采取叙事与说理相结合的表达方式，叙事要简练，说理戒空洞。通常用“理由+依据”的表述句。</a:t>
            </a:r>
            <a:endPar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endParaRPr>
          </a:p>
          <a:p>
            <a:pPr algn="l">
              <a:buClrTx/>
              <a:buSzTx/>
              <a:buFontTx/>
            </a:pPr>
            <a:r>
              <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sym typeface="+mn-ea"/>
              </a:rPr>
              <a:t>     （2）</a:t>
            </a:r>
            <a:r>
              <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rPr>
              <a:t>请示事项。即请示的具体内容，这是请示的最核心、最重要的部分。写请示事项，要注意两点：一是明确。即要直截了当，明白显露，切忌隐约其辞、含蓄不明。二是要具体，对于请示事项的表述要细致入微，清晰明确。</a:t>
            </a:r>
            <a:endPar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endParaRPr>
          </a:p>
          <a:p>
            <a:pPr algn="l">
              <a:buClrTx/>
              <a:buSzTx/>
              <a:buFontTx/>
            </a:pPr>
            <a:r>
              <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sym typeface="+mn-ea"/>
              </a:rPr>
              <a:t>      （3）</a:t>
            </a:r>
            <a:r>
              <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rPr>
              <a:t>结语。请示有固定的结语，通常写法为：“妥否，请批示”、“以上如无不妥，请批转有关单位执行”等等。</a:t>
            </a:r>
            <a:endPar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endParaRPr>
          </a:p>
          <a:p>
            <a:pPr algn="l">
              <a:buClrTx/>
              <a:buSzTx/>
              <a:buFontTx/>
            </a:pPr>
            <a:r>
              <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sym typeface="+mn-ea"/>
              </a:rPr>
              <a:t>      （4）</a:t>
            </a:r>
            <a:r>
              <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rPr>
              <a:t>落款。发文机关和成文日期写在正文之后右下方。</a:t>
            </a:r>
            <a:endPar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endParaRPr>
          </a:p>
        </p:txBody>
      </p:sp>
      <p:pic>
        <p:nvPicPr>
          <p:cNvPr id="13" name="图片 12" descr="E:\曹飞\2017\2017-8-8地铁PPT\7.png7"/>
          <p:cNvPicPr>
            <a:picLocks noChangeAspect="1"/>
          </p:cNvPicPr>
          <p:nvPr/>
        </p:nvPicPr>
        <p:blipFill>
          <a:blip r:embed="rId1" cstate="email"/>
          <a:srcRect/>
          <a:stretch>
            <a:fillRect/>
          </a:stretch>
        </p:blipFill>
        <p:spPr>
          <a:xfrm>
            <a:off x="-6667" y="4477465"/>
            <a:ext cx="9168289" cy="668179"/>
          </a:xfrm>
          <a:prstGeom prst="rect">
            <a:avLst/>
          </a:prstGeom>
        </p:spPr>
      </p:pic>
      <p:pic>
        <p:nvPicPr>
          <p:cNvPr id="8" name="图片 7" descr="E:\曹飞\2017\2017-8-8地铁PPT\6.png6"/>
          <p:cNvPicPr>
            <a:picLocks noChangeAspect="1"/>
          </p:cNvPicPr>
          <p:nvPr/>
        </p:nvPicPr>
        <p:blipFill>
          <a:blip r:embed="rId2" cstate="email"/>
          <a:srcRect/>
          <a:stretch>
            <a:fillRect/>
          </a:stretch>
        </p:blipFill>
        <p:spPr>
          <a:xfrm>
            <a:off x="2261712" y="239317"/>
            <a:ext cx="6463189" cy="343376"/>
          </a:xfrm>
          <a:prstGeom prst="rect">
            <a:avLst/>
          </a:prstGeom>
        </p:spPr>
      </p:pic>
      <p:pic>
        <p:nvPicPr>
          <p:cNvPr id="9" name="图片 8"/>
          <p:cNvPicPr>
            <a:picLocks noChangeAspect="1"/>
          </p:cNvPicPr>
          <p:nvPr/>
        </p:nvPicPr>
        <p:blipFill>
          <a:blip r:embed="rId3"/>
          <a:stretch>
            <a:fillRect/>
          </a:stretch>
        </p:blipFill>
        <p:spPr>
          <a:xfrm>
            <a:off x="575945" y="297180"/>
            <a:ext cx="1685925" cy="419100"/>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par>
                                <p:cTn id="10" presetID="12" presetClass="entr" presetSubtype="8"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p:tgtEl>
                                          <p:spTgt spid="8"/>
                                        </p:tgtEl>
                                        <p:attrNameLst>
                                          <p:attrName>ppt_x</p:attrName>
                                        </p:attrNameLst>
                                      </p:cBhvr>
                                      <p:tavLst>
                                        <p:tav tm="0">
                                          <p:val>
                                            <p:strVal val="#ppt_x-#ppt_w*1.125000"/>
                                          </p:val>
                                        </p:tav>
                                        <p:tav tm="100000">
                                          <p:val>
                                            <p:strVal val="#ppt_x"/>
                                          </p:val>
                                        </p:tav>
                                      </p:tavLst>
                                    </p:anim>
                                    <p:animEffect transition="in" filter="wipe(right)">
                                      <p:cBhvr>
                                        <p:cTn id="13" dur="500"/>
                                        <p:tgtEl>
                                          <p:spTgt spid="8"/>
                                        </p:tgtEl>
                                      </p:cBhvr>
                                    </p:animEffect>
                                  </p:childTnLst>
                                </p:cTn>
                              </p:par>
                              <p:par>
                                <p:cTn id="14" presetID="12" presetClass="entr" presetSubtype="8" fill="hold" grpId="1" nodeType="withEffect">
                                  <p:stCondLst>
                                    <p:cond delay="0"/>
                                  </p:stCondLst>
                                  <p:childTnLst>
                                    <p:set>
                                      <p:cBhvr>
                                        <p:cTn id="15" dur="1" fill="hold">
                                          <p:stCondLst>
                                            <p:cond delay="0"/>
                                          </p:stCondLst>
                                        </p:cTn>
                                        <p:tgtEl>
                                          <p:spTgt spid="14"/>
                                        </p:tgtEl>
                                        <p:attrNameLst>
                                          <p:attrName>style.visibility</p:attrName>
                                        </p:attrNameLst>
                                      </p:cBhvr>
                                      <p:to>
                                        <p:strVal val="visible"/>
                                      </p:to>
                                    </p:set>
                                    <p:anim calcmode="lin" valueType="num">
                                      <p:cBhvr additive="base">
                                        <p:cTn id="16" dur="250"/>
                                        <p:tgtEl>
                                          <p:spTgt spid="14"/>
                                        </p:tgtEl>
                                        <p:attrNameLst>
                                          <p:attrName>ppt_x</p:attrName>
                                        </p:attrNameLst>
                                      </p:cBhvr>
                                      <p:tavLst>
                                        <p:tav tm="0">
                                          <p:val>
                                            <p:strVal val="#ppt_x-#ppt_w*1.125000"/>
                                          </p:val>
                                        </p:tav>
                                        <p:tav tm="100000">
                                          <p:val>
                                            <p:strVal val="#ppt_x"/>
                                          </p:val>
                                        </p:tav>
                                      </p:tavLst>
                                    </p:anim>
                                    <p:animEffect transition="in" filter="wipe(right)">
                                      <p:cBhvr>
                                        <p:cTn id="17"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Lst>
  </p:timing>
</p:sld>
</file>

<file path=ppt/slides/slide3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Box 2"/>
          <p:cNvSpPr txBox="1"/>
          <p:nvPr/>
        </p:nvSpPr>
        <p:spPr>
          <a:xfrm>
            <a:off x="1115616" y="861453"/>
            <a:ext cx="5760641" cy="339725"/>
          </a:xfrm>
          <a:prstGeom prst="rect">
            <a:avLst/>
          </a:prstGeom>
          <a:noFill/>
        </p:spPr>
        <p:txBody>
          <a:bodyPr wrap="square" rtlCol="0">
            <a:spAutoFit/>
          </a:bodyPr>
          <a:lstStyle/>
          <a:p>
            <a:pPr marL="342900" indent="-342900">
              <a:lnSpc>
                <a:spcPct val="90000"/>
              </a:lnSpc>
              <a:spcBef>
                <a:spcPct val="20000"/>
              </a:spcBef>
              <a:buClr>
                <a:srgbClr val="0066CC"/>
              </a:buClr>
            </a:pPr>
            <a:r>
              <a:rPr kumimoji="0" lang="zh-CN" altLang="en-US" kern="0" dirty="0">
                <a:latin typeface="黑体" panose="02010609060101010101" pitchFamily="49" charset="-122"/>
                <a:ea typeface="黑体" panose="02010609060101010101" pitchFamily="49" charset="-122"/>
              </a:rPr>
              <a:t>四、请示的写作技法</a:t>
            </a:r>
            <a:endParaRPr kumimoji="0" lang="zh-CN" altLang="en-US" kern="0" dirty="0">
              <a:latin typeface="黑体" panose="02010609060101010101" pitchFamily="49" charset="-122"/>
              <a:ea typeface="黑体" panose="02010609060101010101" pitchFamily="49" charset="-122"/>
            </a:endParaRPr>
          </a:p>
        </p:txBody>
      </p:sp>
      <p:sp>
        <p:nvSpPr>
          <p:cNvPr id="2" name="TextBox 1"/>
          <p:cNvSpPr txBox="1"/>
          <p:nvPr/>
        </p:nvSpPr>
        <p:spPr>
          <a:xfrm>
            <a:off x="710565" y="1254125"/>
            <a:ext cx="7461885" cy="2306955"/>
          </a:xfrm>
          <a:prstGeom prst="rect">
            <a:avLst/>
          </a:prstGeom>
          <a:noFill/>
        </p:spPr>
        <p:txBody>
          <a:bodyPr wrap="square" rtlCol="0">
            <a:spAutoFit/>
          </a:bodyPr>
          <a:lstStyle/>
          <a:p>
            <a:endParaRPr lang="en-US" altLang="zh-CN" dirty="0" smtClean="0"/>
          </a:p>
          <a:p>
            <a:r>
              <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rPr>
              <a:t>         1.请示的目的要明确</a:t>
            </a:r>
            <a:endPar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endParaRPr>
          </a:p>
          <a:p>
            <a:r>
              <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rPr>
              <a:t>        无论是哪一种请示，都应做到既提出问题，又要有自己的看法或处理意见，这将在一定程度上为领导提供参考意见，从而有利于请示的快速批复。</a:t>
            </a:r>
            <a:endPar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endParaRPr>
          </a:p>
          <a:p>
            <a:r>
              <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rPr>
              <a:t>        2.请示的理由要充分</a:t>
            </a:r>
            <a:endPar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endParaRPr>
          </a:p>
          <a:p>
            <a:r>
              <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rPr>
              <a:t>        如果理由写不清楚，请示的事项就缺乏坚实的依据。这将直接影响请示能否被批复，从而影响工作的开展。</a:t>
            </a:r>
            <a:endPar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endParaRPr>
          </a:p>
        </p:txBody>
      </p:sp>
      <p:pic>
        <p:nvPicPr>
          <p:cNvPr id="9" name="图片 8"/>
          <p:cNvPicPr>
            <a:picLocks noChangeAspect="1"/>
          </p:cNvPicPr>
          <p:nvPr/>
        </p:nvPicPr>
        <p:blipFill>
          <a:blip r:embed="rId1"/>
          <a:stretch>
            <a:fillRect/>
          </a:stretch>
        </p:blipFill>
        <p:spPr>
          <a:xfrm>
            <a:off x="575945" y="297180"/>
            <a:ext cx="1685925" cy="419100"/>
          </a:xfrm>
          <a:prstGeom prst="rect">
            <a:avLst/>
          </a:prstGeom>
        </p:spPr>
      </p:pic>
      <p:pic>
        <p:nvPicPr>
          <p:cNvPr id="8" name="图片 7" descr="E:\曹飞\2017\2017-8-8地铁PPT\6.png6"/>
          <p:cNvPicPr>
            <a:picLocks noChangeAspect="1"/>
          </p:cNvPicPr>
          <p:nvPr/>
        </p:nvPicPr>
        <p:blipFill>
          <a:blip r:embed="rId2" cstate="email"/>
          <a:srcRect/>
          <a:stretch>
            <a:fillRect/>
          </a:stretch>
        </p:blipFill>
        <p:spPr>
          <a:xfrm>
            <a:off x="2261712" y="239317"/>
            <a:ext cx="6463189" cy="343376"/>
          </a:xfrm>
          <a:prstGeom prst="rect">
            <a:avLst/>
          </a:prstGeom>
        </p:spPr>
      </p:pic>
      <p:pic>
        <p:nvPicPr>
          <p:cNvPr id="13" name="图片 12" descr="E:\曹飞\2017\2017-8-8地铁PPT\7.png7"/>
          <p:cNvPicPr>
            <a:picLocks noChangeAspect="1"/>
          </p:cNvPicPr>
          <p:nvPr/>
        </p:nvPicPr>
        <p:blipFill>
          <a:blip r:embed="rId3" cstate="email"/>
          <a:srcRect/>
          <a:stretch>
            <a:fillRect/>
          </a:stretch>
        </p:blipFill>
        <p:spPr>
          <a:xfrm>
            <a:off x="-6667" y="4477465"/>
            <a:ext cx="9168289" cy="668179"/>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right)">
                                      <p:cBhvr>
                                        <p:cTn id="8" dur="500"/>
                                        <p:tgtEl>
                                          <p:spTgt spid="8"/>
                                        </p:tgtEl>
                                      </p:cBhvr>
                                    </p:animEffect>
                                  </p:childTnLst>
                                </p:cTn>
                              </p:par>
                              <p:par>
                                <p:cTn id="9" presetID="42"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1000"/>
                                        <p:tgtEl>
                                          <p:spTgt spid="13"/>
                                        </p:tgtEl>
                                      </p:cBhvr>
                                    </p:animEffect>
                                    <p:anim calcmode="lin" valueType="num">
                                      <p:cBhvr>
                                        <p:cTn id="12" dur="1000" fill="hold"/>
                                        <p:tgtEl>
                                          <p:spTgt spid="13"/>
                                        </p:tgtEl>
                                        <p:attrNameLst>
                                          <p:attrName>ppt_x</p:attrName>
                                        </p:attrNameLst>
                                      </p:cBhvr>
                                      <p:tavLst>
                                        <p:tav tm="0">
                                          <p:val>
                                            <p:strVal val="#ppt_x"/>
                                          </p:val>
                                        </p:tav>
                                        <p:tav tm="100000">
                                          <p:val>
                                            <p:strVal val="#ppt_x"/>
                                          </p:val>
                                        </p:tav>
                                      </p:tavLst>
                                    </p:anim>
                                    <p:anim calcmode="lin" valueType="num">
                                      <p:cBhvr>
                                        <p:cTn id="13" dur="1000" fill="hold"/>
                                        <p:tgtEl>
                                          <p:spTgt spid="13"/>
                                        </p:tgtEl>
                                        <p:attrNameLst>
                                          <p:attrName>ppt_y</p:attrName>
                                        </p:attrNameLst>
                                      </p:cBhvr>
                                      <p:tavLst>
                                        <p:tav tm="0">
                                          <p:val>
                                            <p:strVal val="#ppt_y+.1"/>
                                          </p:val>
                                        </p:tav>
                                        <p:tav tm="100000">
                                          <p:val>
                                            <p:strVal val="#ppt_y"/>
                                          </p:val>
                                        </p:tav>
                                      </p:tavLst>
                                    </p:anim>
                                  </p:childTnLst>
                                </p:cTn>
                              </p:par>
                              <p:par>
                                <p:cTn id="14" presetID="12" presetClass="entr" presetSubtype="8" fill="hold" grpId="1" nodeType="withEffect">
                                  <p:stCondLst>
                                    <p:cond delay="0"/>
                                  </p:stCondLst>
                                  <p:childTnLst>
                                    <p:set>
                                      <p:cBhvr>
                                        <p:cTn id="15" dur="1" fill="hold">
                                          <p:stCondLst>
                                            <p:cond delay="0"/>
                                          </p:stCondLst>
                                        </p:cTn>
                                        <p:tgtEl>
                                          <p:spTgt spid="14"/>
                                        </p:tgtEl>
                                        <p:attrNameLst>
                                          <p:attrName>style.visibility</p:attrName>
                                        </p:attrNameLst>
                                      </p:cBhvr>
                                      <p:to>
                                        <p:strVal val="visible"/>
                                      </p:to>
                                    </p:set>
                                    <p:anim calcmode="lin" valueType="num">
                                      <p:cBhvr additive="base">
                                        <p:cTn id="16" dur="250"/>
                                        <p:tgtEl>
                                          <p:spTgt spid="14"/>
                                        </p:tgtEl>
                                        <p:attrNameLst>
                                          <p:attrName>ppt_x</p:attrName>
                                        </p:attrNameLst>
                                      </p:cBhvr>
                                      <p:tavLst>
                                        <p:tav tm="0">
                                          <p:val>
                                            <p:strVal val="#ppt_x-#ppt_w*1.125000"/>
                                          </p:val>
                                        </p:tav>
                                        <p:tav tm="100000">
                                          <p:val>
                                            <p:strVal val="#ppt_x"/>
                                          </p:val>
                                        </p:tav>
                                      </p:tavLst>
                                    </p:anim>
                                    <p:animEffect transition="in" filter="wipe(right)">
                                      <p:cBhvr>
                                        <p:cTn id="17"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359535" y="861695"/>
            <a:ext cx="5516880" cy="339725"/>
          </a:xfrm>
          <a:prstGeom prst="rect">
            <a:avLst/>
          </a:prstGeom>
          <a:noFill/>
        </p:spPr>
        <p:txBody>
          <a:bodyPr wrap="square" rtlCol="0">
            <a:spAutoFit/>
          </a:bodyPr>
          <a:lstStyle/>
          <a:p>
            <a:pPr marL="342900" indent="-342900">
              <a:lnSpc>
                <a:spcPct val="90000"/>
              </a:lnSpc>
              <a:spcBef>
                <a:spcPct val="20000"/>
              </a:spcBef>
              <a:buClr>
                <a:srgbClr val="0066CC"/>
              </a:buClr>
            </a:pPr>
            <a:r>
              <a:rPr kumimoji="0" lang="zh-CN" altLang="en-US" kern="0" dirty="0">
                <a:latin typeface="黑体" panose="02010609060101010101" pitchFamily="49" charset="-122"/>
                <a:ea typeface="黑体" panose="02010609060101010101" pitchFamily="49" charset="-122"/>
              </a:rPr>
              <a:t>四、请示的写作技法</a:t>
            </a:r>
            <a:endParaRPr kumimoji="0" lang="zh-CN" altLang="en-US" kern="0" dirty="0">
              <a:latin typeface="黑体" panose="02010609060101010101" pitchFamily="49" charset="-122"/>
              <a:ea typeface="黑体" panose="02010609060101010101" pitchFamily="49" charset="-122"/>
            </a:endParaRPr>
          </a:p>
        </p:txBody>
      </p:sp>
      <p:sp>
        <p:nvSpPr>
          <p:cNvPr id="2" name="TextBox 1"/>
          <p:cNvSpPr txBox="1"/>
          <p:nvPr/>
        </p:nvSpPr>
        <p:spPr>
          <a:xfrm>
            <a:off x="772795" y="1254125"/>
            <a:ext cx="7526020" cy="2306955"/>
          </a:xfrm>
          <a:prstGeom prst="rect">
            <a:avLst/>
          </a:prstGeom>
          <a:noFill/>
        </p:spPr>
        <p:txBody>
          <a:bodyPr wrap="square" rtlCol="0">
            <a:spAutoFit/>
          </a:bodyPr>
          <a:lstStyle/>
          <a:p>
            <a:r>
              <a:rPr lang="en-US" altLang="zh-CN" dirty="0" smtClean="0"/>
              <a:t>          </a:t>
            </a:r>
            <a:r>
              <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rPr>
              <a:t>3.要把握请示的内在逻辑</a:t>
            </a:r>
            <a:endPar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endParaRPr>
          </a:p>
          <a:p>
            <a:r>
              <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rPr>
              <a:t>         请示不论文字长短，其内在逻辑是由“为什么要请示”和“请示什么问题”两个层面组成。所谓“为什么要请示”，通常包括请示的背景和缘由；所谓“请示什么问题”，即要求上级机关为我们解决什么问题及怎样来解决。</a:t>
            </a:r>
            <a:endPar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endParaRPr>
          </a:p>
          <a:p>
            <a:r>
              <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rPr>
              <a:t>         4.要把握语言分寸</a:t>
            </a:r>
            <a:endPar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endParaRPr>
          </a:p>
          <a:p>
            <a:r>
              <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rPr>
              <a:t>         由于请示是上行文，是呈送给上级机关领导看的，因此，请示的语气要庄重，用词要谦敬。</a:t>
            </a:r>
            <a:endPar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endParaRPr>
          </a:p>
        </p:txBody>
      </p:sp>
      <p:pic>
        <p:nvPicPr>
          <p:cNvPr id="9" name="图片 8"/>
          <p:cNvPicPr>
            <a:picLocks noChangeAspect="1"/>
          </p:cNvPicPr>
          <p:nvPr/>
        </p:nvPicPr>
        <p:blipFill>
          <a:blip r:embed="rId1"/>
          <a:stretch>
            <a:fillRect/>
          </a:stretch>
        </p:blipFill>
        <p:spPr>
          <a:xfrm>
            <a:off x="575945" y="297180"/>
            <a:ext cx="1685925" cy="419100"/>
          </a:xfrm>
          <a:prstGeom prst="rect">
            <a:avLst/>
          </a:prstGeom>
        </p:spPr>
      </p:pic>
      <p:pic>
        <p:nvPicPr>
          <p:cNvPr id="8" name="图片 7" descr="E:\曹飞\2017\2017-8-8地铁PPT\6.png6"/>
          <p:cNvPicPr>
            <a:picLocks noChangeAspect="1"/>
          </p:cNvPicPr>
          <p:nvPr/>
        </p:nvPicPr>
        <p:blipFill>
          <a:blip r:embed="rId2" cstate="email"/>
          <a:srcRect/>
          <a:stretch>
            <a:fillRect/>
          </a:stretch>
        </p:blipFill>
        <p:spPr>
          <a:xfrm>
            <a:off x="2261712" y="239317"/>
            <a:ext cx="6463189" cy="343376"/>
          </a:xfrm>
          <a:prstGeom prst="rect">
            <a:avLst/>
          </a:prstGeom>
        </p:spPr>
      </p:pic>
      <p:pic>
        <p:nvPicPr>
          <p:cNvPr id="13" name="图片 12" descr="E:\曹飞\2017\2017-8-8地铁PPT\7.png7"/>
          <p:cNvPicPr>
            <a:picLocks noChangeAspect="1"/>
          </p:cNvPicPr>
          <p:nvPr/>
        </p:nvPicPr>
        <p:blipFill>
          <a:blip r:embed="rId3" cstate="email"/>
          <a:srcRect/>
          <a:stretch>
            <a:fillRect/>
          </a:stretch>
        </p:blipFill>
        <p:spPr>
          <a:xfrm>
            <a:off x="-6667" y="4477465"/>
            <a:ext cx="9168289" cy="668179"/>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right)">
                                      <p:cBhvr>
                                        <p:cTn id="8" dur="500"/>
                                        <p:tgtEl>
                                          <p:spTgt spid="8"/>
                                        </p:tgtEl>
                                      </p:cBhvr>
                                    </p:animEffect>
                                  </p:childTnLst>
                                </p:cTn>
                              </p:par>
                              <p:par>
                                <p:cTn id="9" presetID="42"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1000"/>
                                        <p:tgtEl>
                                          <p:spTgt spid="13"/>
                                        </p:tgtEl>
                                      </p:cBhvr>
                                    </p:animEffect>
                                    <p:anim calcmode="lin" valueType="num">
                                      <p:cBhvr>
                                        <p:cTn id="12" dur="1000" fill="hold"/>
                                        <p:tgtEl>
                                          <p:spTgt spid="13"/>
                                        </p:tgtEl>
                                        <p:attrNameLst>
                                          <p:attrName>ppt_x</p:attrName>
                                        </p:attrNameLst>
                                      </p:cBhvr>
                                      <p:tavLst>
                                        <p:tav tm="0">
                                          <p:val>
                                            <p:strVal val="#ppt_x"/>
                                          </p:val>
                                        </p:tav>
                                        <p:tav tm="100000">
                                          <p:val>
                                            <p:strVal val="#ppt_x"/>
                                          </p:val>
                                        </p:tav>
                                      </p:tavLst>
                                    </p:anim>
                                    <p:anim calcmode="lin" valueType="num">
                                      <p:cBhvr>
                                        <p:cTn id="13" dur="1000" fill="hold"/>
                                        <p:tgtEl>
                                          <p:spTgt spid="13"/>
                                        </p:tgtEl>
                                        <p:attrNameLst>
                                          <p:attrName>ppt_y</p:attrName>
                                        </p:attrNameLst>
                                      </p:cBhvr>
                                      <p:tavLst>
                                        <p:tav tm="0">
                                          <p:val>
                                            <p:strVal val="#ppt_y+.1"/>
                                          </p:val>
                                        </p:tav>
                                        <p:tav tm="100000">
                                          <p:val>
                                            <p:strVal val="#ppt_y"/>
                                          </p:val>
                                        </p:tav>
                                      </p:tavLst>
                                    </p:anim>
                                  </p:childTnLst>
                                </p:cTn>
                              </p:par>
                              <p:par>
                                <p:cTn id="14" presetID="12" presetClass="entr" presetSubtype="8" fill="hold" grpId="1" nodeType="withEffect">
                                  <p:stCondLst>
                                    <p:cond delay="0"/>
                                  </p:stCondLst>
                                  <p:childTnLst>
                                    <p:set>
                                      <p:cBhvr>
                                        <p:cTn id="15" dur="1" fill="hold">
                                          <p:stCondLst>
                                            <p:cond delay="0"/>
                                          </p:stCondLst>
                                        </p:cTn>
                                        <p:tgtEl>
                                          <p:spTgt spid="14"/>
                                        </p:tgtEl>
                                        <p:attrNameLst>
                                          <p:attrName>style.visibility</p:attrName>
                                        </p:attrNameLst>
                                      </p:cBhvr>
                                      <p:to>
                                        <p:strVal val="visible"/>
                                      </p:to>
                                    </p:set>
                                    <p:anim calcmode="lin" valueType="num">
                                      <p:cBhvr additive="base">
                                        <p:cTn id="16" dur="250"/>
                                        <p:tgtEl>
                                          <p:spTgt spid="14"/>
                                        </p:tgtEl>
                                        <p:attrNameLst>
                                          <p:attrName>ppt_x</p:attrName>
                                        </p:attrNameLst>
                                      </p:cBhvr>
                                      <p:tavLst>
                                        <p:tav tm="0">
                                          <p:val>
                                            <p:strVal val="#ppt_x-#ppt_w*1.125000"/>
                                          </p:val>
                                        </p:tav>
                                        <p:tav tm="100000">
                                          <p:val>
                                            <p:strVal val="#ppt_x"/>
                                          </p:val>
                                        </p:tav>
                                      </p:tavLst>
                                    </p:anim>
                                    <p:animEffect transition="in" filter="wipe(right)">
                                      <p:cBhvr>
                                        <p:cTn id="17"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4"/>
          <p:cNvSpPr txBox="1">
            <a:spLocks noChangeArrowheads="1"/>
          </p:cNvSpPr>
          <p:nvPr/>
        </p:nvSpPr>
        <p:spPr bwMode="auto">
          <a:xfrm>
            <a:off x="971550" y="1383618"/>
            <a:ext cx="7488238" cy="2614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en-US" altLang="zh-CN" sz="1800" dirty="0">
                <a:latin typeface="Arial" panose="020B0604020202020204" pitchFamily="34" charset="0"/>
              </a:rPr>
              <a:t>                   </a:t>
            </a:r>
            <a:r>
              <a:rPr kumimoji="0" lang="zh-CN" altLang="en-US" sz="2000" dirty="0">
                <a:latin typeface="黑体" panose="02010609060101010101" pitchFamily="49" charset="-122"/>
                <a:ea typeface="黑体" panose="02010609060101010101" pitchFamily="49" charset="-122"/>
                <a:cs typeface="黑体" panose="02010609060101010101" pitchFamily="49" charset="-122"/>
              </a:rPr>
              <a:t>标题（机关</a:t>
            </a:r>
            <a:r>
              <a:rPr kumimoji="0" lang="en-US" altLang="zh-CN" sz="2000" dirty="0">
                <a:latin typeface="黑体" panose="02010609060101010101" pitchFamily="49" charset="-122"/>
                <a:ea typeface="黑体" panose="02010609060101010101" pitchFamily="49" charset="-122"/>
                <a:cs typeface="黑体" panose="02010609060101010101" pitchFamily="49" charset="-122"/>
              </a:rPr>
              <a:t>+</a:t>
            </a:r>
            <a:r>
              <a:rPr kumimoji="0" lang="zh-CN" altLang="en-US" sz="2000" dirty="0">
                <a:latin typeface="黑体" panose="02010609060101010101" pitchFamily="49" charset="-122"/>
                <a:ea typeface="黑体" panose="02010609060101010101" pitchFamily="49" charset="-122"/>
                <a:cs typeface="黑体" panose="02010609060101010101" pitchFamily="49" charset="-122"/>
              </a:rPr>
              <a:t>事由</a:t>
            </a:r>
            <a:r>
              <a:rPr kumimoji="0" lang="en-US" altLang="zh-CN" sz="2000" dirty="0">
                <a:latin typeface="黑体" panose="02010609060101010101" pitchFamily="49" charset="-122"/>
                <a:ea typeface="黑体" panose="02010609060101010101" pitchFamily="49" charset="-122"/>
                <a:cs typeface="黑体" panose="02010609060101010101" pitchFamily="49" charset="-122"/>
              </a:rPr>
              <a:t>+</a:t>
            </a:r>
            <a:r>
              <a:rPr kumimoji="0" lang="zh-CN" altLang="en-US" sz="2000" dirty="0">
                <a:latin typeface="黑体" panose="02010609060101010101" pitchFamily="49" charset="-122"/>
                <a:ea typeface="黑体" panose="02010609060101010101" pitchFamily="49" charset="-122"/>
                <a:cs typeface="黑体" panose="02010609060101010101" pitchFamily="49" charset="-122"/>
              </a:rPr>
              <a:t>文种、事由</a:t>
            </a:r>
            <a:r>
              <a:rPr kumimoji="0" lang="en-US" altLang="zh-CN" sz="2000" dirty="0">
                <a:latin typeface="黑体" panose="02010609060101010101" pitchFamily="49" charset="-122"/>
                <a:ea typeface="黑体" panose="02010609060101010101" pitchFamily="49" charset="-122"/>
                <a:cs typeface="黑体" panose="02010609060101010101" pitchFamily="49" charset="-122"/>
              </a:rPr>
              <a:t>+</a:t>
            </a:r>
            <a:r>
              <a:rPr kumimoji="0" lang="zh-CN" altLang="en-US" sz="2000" dirty="0">
                <a:latin typeface="黑体" panose="02010609060101010101" pitchFamily="49" charset="-122"/>
                <a:ea typeface="黑体" panose="02010609060101010101" pitchFamily="49" charset="-122"/>
                <a:cs typeface="黑体" panose="02010609060101010101" pitchFamily="49" charset="-122"/>
              </a:rPr>
              <a:t>文种）</a:t>
            </a:r>
            <a:endParaRPr kumimoji="0" lang="zh-CN" altLang="en-US" b="1" dirty="0">
              <a:latin typeface="仿宋_GB2312" panose="02010609030101010101" pitchFamily="49" charset="-122"/>
              <a:ea typeface="仿宋_GB2312" panose="02010609030101010101" pitchFamily="49" charset="-122"/>
            </a:endParaRPr>
          </a:p>
          <a:p>
            <a:pPr eaLnBrk="1" hangingPunct="1">
              <a:spcBef>
                <a:spcPct val="50000"/>
              </a:spcBef>
            </a:pPr>
            <a:r>
              <a:rPr kumimoji="0" lang="zh-CN" altLang="en-US" sz="1800" dirty="0" smtClean="0">
                <a:ea typeface="仿宋_GB2312" panose="02010609030101010101" pitchFamily="49" charset="-122"/>
                <a:cs typeface="Times New Roman" panose="02020603050405020304" pitchFamily="18" charset="0"/>
              </a:rPr>
              <a:t>主送机关</a:t>
            </a:r>
            <a:r>
              <a:rPr kumimoji="0" lang="zh-CN" altLang="en-US" sz="1800" dirty="0" smtClean="0">
                <a:ea typeface="仿宋_GB2312" panose="02010609030101010101" pitchFamily="49" charset="-122"/>
                <a:cs typeface="Times New Roman" panose="02020603050405020304" pitchFamily="18" charset="0"/>
                <a:sym typeface="Wingdings" panose="05000000000000000000" pitchFamily="2" charset="2"/>
              </a:rPr>
              <a:t>（</a:t>
            </a:r>
            <a:r>
              <a:rPr kumimoji="0" lang="zh-CN" altLang="en-US" sz="1800" dirty="0" smtClean="0">
                <a:ea typeface="仿宋_GB2312" panose="02010609030101010101" pitchFamily="49" charset="-122"/>
                <a:cs typeface="Times New Roman" panose="02020603050405020304" pitchFamily="18" charset="0"/>
              </a:rPr>
              <a:t>只有一个主送机关，不能多头请示，不要越级请示）</a:t>
            </a:r>
            <a:endParaRPr kumimoji="0" lang="zh-CN" altLang="en-US" sz="1800" dirty="0" smtClean="0">
              <a:ea typeface="仿宋_GB2312" panose="02010609030101010101" pitchFamily="49" charset="-122"/>
              <a:cs typeface="Times New Roman" panose="02020603050405020304" pitchFamily="18" charset="0"/>
            </a:endParaRPr>
          </a:p>
          <a:p>
            <a:pPr eaLnBrk="1" hangingPunct="1">
              <a:spcBef>
                <a:spcPct val="50000"/>
              </a:spcBef>
            </a:pPr>
            <a:r>
              <a:rPr kumimoji="0" lang="zh-CN" altLang="en-US" sz="1800" dirty="0" smtClean="0">
                <a:ea typeface="仿宋_GB2312" panose="02010609030101010101" pitchFamily="49" charset="-122"/>
                <a:cs typeface="Times New Roman" panose="02020603050405020304" pitchFamily="18" charset="0"/>
              </a:rPr>
              <a:t>        请示缘由+请示事项</a:t>
            </a:r>
            <a:endParaRPr kumimoji="0" lang="zh-CN" altLang="en-US" sz="1800" dirty="0" smtClean="0">
              <a:ea typeface="仿宋_GB2312" panose="02010609030101010101" pitchFamily="49" charset="-122"/>
              <a:cs typeface="Times New Roman" panose="02020603050405020304" pitchFamily="18" charset="0"/>
            </a:endParaRPr>
          </a:p>
          <a:p>
            <a:pPr eaLnBrk="1" hangingPunct="1">
              <a:spcBef>
                <a:spcPct val="50000"/>
              </a:spcBef>
            </a:pPr>
            <a:r>
              <a:rPr kumimoji="0" lang="zh-CN" altLang="en-US" sz="1800" dirty="0" smtClean="0">
                <a:ea typeface="仿宋_GB2312" panose="02010609030101010101" pitchFamily="49" charset="-122"/>
                <a:cs typeface="Times New Roman" panose="02020603050405020304" pitchFamily="18" charset="0"/>
              </a:rPr>
              <a:t>        结语（妥否，请批示）</a:t>
            </a:r>
            <a:endParaRPr kumimoji="0" lang="zh-CN" altLang="en-US" sz="1800" dirty="0" smtClean="0">
              <a:ea typeface="仿宋_GB2312" panose="02010609030101010101" pitchFamily="49" charset="-122"/>
              <a:cs typeface="Times New Roman" panose="02020603050405020304" pitchFamily="18" charset="0"/>
            </a:endParaRPr>
          </a:p>
          <a:p>
            <a:pPr eaLnBrk="1" hangingPunct="1">
              <a:spcBef>
                <a:spcPct val="50000"/>
              </a:spcBef>
            </a:pPr>
            <a:r>
              <a:rPr kumimoji="0" lang="en-US" altLang="zh-CN" b="1" dirty="0">
                <a:latin typeface="仿宋_GB2312" panose="02010609030101010101" pitchFamily="49" charset="-122"/>
                <a:ea typeface="仿宋_GB2312" panose="02010609030101010101" pitchFamily="49" charset="-122"/>
              </a:rPr>
              <a:t> </a:t>
            </a:r>
            <a:r>
              <a:rPr kumimoji="0" lang="en-US" altLang="zh-CN" b="1" dirty="0" smtClean="0">
                <a:latin typeface="仿宋_GB2312" panose="02010609030101010101" pitchFamily="49" charset="-122"/>
                <a:ea typeface="仿宋_GB2312" panose="02010609030101010101" pitchFamily="49" charset="-122"/>
              </a:rPr>
              <a:t>                               </a:t>
            </a:r>
            <a:r>
              <a:rPr kumimoji="0" lang="zh-CN" altLang="en-US" sz="1800" dirty="0" smtClean="0">
                <a:ea typeface="仿宋_GB2312" panose="02010609030101010101" pitchFamily="49" charset="-122"/>
                <a:cs typeface="Times New Roman" panose="02020603050405020304" pitchFamily="18" charset="0"/>
              </a:rPr>
              <a:t>机关署名 </a:t>
            </a:r>
            <a:endParaRPr kumimoji="0" lang="zh-CN" altLang="en-US" sz="1800" dirty="0" smtClean="0">
              <a:ea typeface="仿宋_GB2312" panose="02010609030101010101" pitchFamily="49" charset="-122"/>
              <a:cs typeface="Times New Roman" panose="02020603050405020304" pitchFamily="18" charset="0"/>
            </a:endParaRPr>
          </a:p>
          <a:p>
            <a:pPr eaLnBrk="1" hangingPunct="1">
              <a:spcBef>
                <a:spcPct val="50000"/>
              </a:spcBef>
            </a:pPr>
            <a:r>
              <a:rPr kumimoji="0" lang="zh-CN" altLang="en-US" sz="1800" dirty="0" smtClean="0">
                <a:ea typeface="仿宋_GB2312" panose="02010609030101010101" pitchFamily="49" charset="-122"/>
                <a:cs typeface="Times New Roman" panose="02020603050405020304" pitchFamily="18" charset="0"/>
              </a:rPr>
              <a:t>                                                                                       成文时间</a:t>
            </a:r>
            <a:endParaRPr kumimoji="0" lang="zh-CN" altLang="en-US" sz="1800" dirty="0" smtClean="0">
              <a:ea typeface="仿宋_GB2312" panose="02010609030101010101" pitchFamily="49" charset="-122"/>
              <a:cs typeface="Times New Roman" panose="02020603050405020304" pitchFamily="18" charset="0"/>
            </a:endParaRPr>
          </a:p>
        </p:txBody>
      </p:sp>
      <p:pic>
        <p:nvPicPr>
          <p:cNvPr id="9" name="图片 8"/>
          <p:cNvPicPr>
            <a:picLocks noChangeAspect="1"/>
          </p:cNvPicPr>
          <p:nvPr/>
        </p:nvPicPr>
        <p:blipFill>
          <a:blip r:embed="rId1"/>
          <a:stretch>
            <a:fillRect/>
          </a:stretch>
        </p:blipFill>
        <p:spPr>
          <a:xfrm>
            <a:off x="575945" y="297180"/>
            <a:ext cx="1685925" cy="419100"/>
          </a:xfrm>
          <a:prstGeom prst="rect">
            <a:avLst/>
          </a:prstGeom>
        </p:spPr>
      </p:pic>
      <p:pic>
        <p:nvPicPr>
          <p:cNvPr id="8" name="图片 7" descr="E:\曹飞\2017\2017-8-8地铁PPT\6.png6"/>
          <p:cNvPicPr>
            <a:picLocks noChangeAspect="1"/>
          </p:cNvPicPr>
          <p:nvPr/>
        </p:nvPicPr>
        <p:blipFill>
          <a:blip r:embed="rId2" cstate="email"/>
          <a:srcRect/>
          <a:stretch>
            <a:fillRect/>
          </a:stretch>
        </p:blipFill>
        <p:spPr>
          <a:xfrm>
            <a:off x="2261712" y="239317"/>
            <a:ext cx="6463189" cy="343376"/>
          </a:xfrm>
          <a:prstGeom prst="rect">
            <a:avLst/>
          </a:prstGeom>
        </p:spPr>
      </p:pic>
      <p:pic>
        <p:nvPicPr>
          <p:cNvPr id="13" name="图片 12" descr="E:\曹飞\2017\2017-8-8地铁PPT\7.png7"/>
          <p:cNvPicPr>
            <a:picLocks noChangeAspect="1"/>
          </p:cNvPicPr>
          <p:nvPr/>
        </p:nvPicPr>
        <p:blipFill>
          <a:blip r:embed="rId3" cstate="email"/>
          <a:srcRect/>
          <a:stretch>
            <a:fillRect/>
          </a:stretch>
        </p:blipFill>
        <p:spPr>
          <a:xfrm>
            <a:off x="-6667" y="4477465"/>
            <a:ext cx="9168289" cy="668179"/>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4" presetClass="entr" presetSubtype="0" accel="100000" fill="hold"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p:cTn id="7" dur="1000" fill="hold"/>
                                        <p:tgtEl>
                                          <p:spTgt spid="6">
                                            <p:txEl>
                                              <p:pRg st="0" end="0"/>
                                            </p:txEl>
                                          </p:spTgt>
                                        </p:tgtEl>
                                        <p:attrNameLst>
                                          <p:attrName>ppt_w</p:attrName>
                                        </p:attrNameLst>
                                      </p:cBhvr>
                                      <p:tavLst>
                                        <p:tav tm="0">
                                          <p:val>
                                            <p:strVal val="#ppt_w*0.05"/>
                                          </p:val>
                                        </p:tav>
                                        <p:tav tm="100000">
                                          <p:val>
                                            <p:strVal val="#ppt_w"/>
                                          </p:val>
                                        </p:tav>
                                      </p:tavLst>
                                    </p:anim>
                                    <p:anim calcmode="lin" valueType="num">
                                      <p:cBhvr>
                                        <p:cTn id="8" dur="1000" fill="hold"/>
                                        <p:tgtEl>
                                          <p:spTgt spid="6">
                                            <p:txEl>
                                              <p:pRg st="0" end="0"/>
                                            </p:txEl>
                                          </p:spTgt>
                                        </p:tgtEl>
                                        <p:attrNameLst>
                                          <p:attrName>ppt_h</p:attrName>
                                        </p:attrNameLst>
                                      </p:cBhvr>
                                      <p:tavLst>
                                        <p:tav tm="0">
                                          <p:val>
                                            <p:strVal val="#ppt_h"/>
                                          </p:val>
                                        </p:tav>
                                        <p:tav tm="100000">
                                          <p:val>
                                            <p:strVal val="#ppt_h"/>
                                          </p:val>
                                        </p:tav>
                                      </p:tavLst>
                                    </p:anim>
                                    <p:anim calcmode="lin" valueType="num">
                                      <p:cBhvr>
                                        <p:cTn id="9" dur="1000" fill="hold"/>
                                        <p:tgtEl>
                                          <p:spTgt spid="6">
                                            <p:txEl>
                                              <p:pRg st="0" end="0"/>
                                            </p:txEl>
                                          </p:spTgt>
                                        </p:tgtEl>
                                        <p:attrNameLst>
                                          <p:attrName>ppt_x</p:attrName>
                                        </p:attrNameLst>
                                      </p:cBhvr>
                                      <p:tavLst>
                                        <p:tav tm="0">
                                          <p:val>
                                            <p:strVal val="#ppt_x-.2"/>
                                          </p:val>
                                        </p:tav>
                                        <p:tav tm="100000">
                                          <p:val>
                                            <p:strVal val="#ppt_x"/>
                                          </p:val>
                                        </p:tav>
                                      </p:tavLst>
                                    </p:anim>
                                    <p:anim calcmode="lin" valueType="num">
                                      <p:cBhvr>
                                        <p:cTn id="10" dur="1000" fill="hold"/>
                                        <p:tgtEl>
                                          <p:spTgt spid="6">
                                            <p:txEl>
                                              <p:pRg st="0" end="0"/>
                                            </p:txEl>
                                          </p:spTgt>
                                        </p:tgtEl>
                                        <p:attrNameLst>
                                          <p:attrName>ppt_y</p:attrName>
                                        </p:attrNameLst>
                                      </p:cBhvr>
                                      <p:tavLst>
                                        <p:tav tm="0">
                                          <p:val>
                                            <p:strVal val="#ppt_y"/>
                                          </p:val>
                                        </p:tav>
                                        <p:tav tm="100000">
                                          <p:val>
                                            <p:strVal val="#ppt_y"/>
                                          </p:val>
                                        </p:tav>
                                      </p:tavLst>
                                    </p:anim>
                                    <p:animEffect transition="in" filter="fade">
                                      <p:cBhvr>
                                        <p:cTn id="11" dur="1000"/>
                                        <p:tgtEl>
                                          <p:spTgt spid="6">
                                            <p:txEl>
                                              <p:pRg st="0" end="0"/>
                                            </p:txEl>
                                          </p:spTgt>
                                        </p:tgtEl>
                                      </p:cBhvr>
                                    </p:animEffect>
                                  </p:childTnLst>
                                </p:cTn>
                              </p:par>
                            </p:childTnLst>
                          </p:cTn>
                        </p:par>
                        <p:par>
                          <p:cTn id="12" fill="hold">
                            <p:stCondLst>
                              <p:cond delay="1000"/>
                            </p:stCondLst>
                            <p:childTnLst>
                              <p:par>
                                <p:cTn id="13" presetID="22" presetClass="entr" presetSubtype="4" fill="hold" nodeType="after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animEffect transition="in" filter="wipe(down)">
                                      <p:cBhvr>
                                        <p:cTn id="15" dur="500"/>
                                        <p:tgtEl>
                                          <p:spTgt spid="6">
                                            <p:txEl>
                                              <p:pRg st="1" end="1"/>
                                            </p:txEl>
                                          </p:spTgt>
                                        </p:tgtEl>
                                      </p:cBhvr>
                                    </p:animEffect>
                                  </p:childTnLst>
                                </p:cTn>
                              </p:par>
                            </p:childTnLst>
                          </p:cTn>
                        </p:par>
                        <p:par>
                          <p:cTn id="16" fill="hold">
                            <p:stCondLst>
                              <p:cond delay="1500"/>
                            </p:stCondLst>
                            <p:childTnLst>
                              <p:par>
                                <p:cTn id="17" presetID="22" presetClass="entr" presetSubtype="2" fill="hold" nodeType="after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animEffect transition="in" filter="wipe(right)">
                                      <p:cBhvr>
                                        <p:cTn id="19" dur="1000"/>
                                        <p:tgtEl>
                                          <p:spTgt spid="6">
                                            <p:txEl>
                                              <p:pRg st="2" end="2"/>
                                            </p:txEl>
                                          </p:spTgt>
                                        </p:tgtEl>
                                      </p:cBhvr>
                                    </p:animEffect>
                                  </p:childTnLst>
                                </p:cTn>
                              </p:par>
                            </p:childTnLst>
                          </p:cTn>
                        </p:par>
                        <p:par>
                          <p:cTn id="20" fill="hold">
                            <p:stCondLst>
                              <p:cond delay="2500"/>
                            </p:stCondLst>
                            <p:childTnLst>
                              <p:par>
                                <p:cTn id="21" presetID="22" presetClass="entr" presetSubtype="1" fill="hold" nodeType="afterEffect">
                                  <p:stCondLst>
                                    <p:cond delay="0"/>
                                  </p:stCondLst>
                                  <p:childTnLst>
                                    <p:set>
                                      <p:cBhvr>
                                        <p:cTn id="22" dur="1" fill="hold">
                                          <p:stCondLst>
                                            <p:cond delay="0"/>
                                          </p:stCondLst>
                                        </p:cTn>
                                        <p:tgtEl>
                                          <p:spTgt spid="6">
                                            <p:txEl>
                                              <p:pRg st="3" end="3"/>
                                            </p:txEl>
                                          </p:spTgt>
                                        </p:tgtEl>
                                        <p:attrNameLst>
                                          <p:attrName>style.visibility</p:attrName>
                                        </p:attrNameLst>
                                      </p:cBhvr>
                                      <p:to>
                                        <p:strVal val="visible"/>
                                      </p:to>
                                    </p:set>
                                    <p:animEffect transition="in" filter="wipe(up)">
                                      <p:cBhvr>
                                        <p:cTn id="23" dur="1000"/>
                                        <p:tgtEl>
                                          <p:spTgt spid="6">
                                            <p:txEl>
                                              <p:pRg st="3" end="3"/>
                                            </p:txEl>
                                          </p:spTgt>
                                        </p:tgtEl>
                                      </p:cBhvr>
                                    </p:animEffect>
                                  </p:childTnLst>
                                </p:cTn>
                              </p:par>
                            </p:childTnLst>
                          </p:cTn>
                        </p:par>
                        <p:par>
                          <p:cTn id="24" fill="hold">
                            <p:stCondLst>
                              <p:cond delay="3500"/>
                            </p:stCondLst>
                            <p:childTnLst>
                              <p:par>
                                <p:cTn id="25" presetID="22" presetClass="entr" presetSubtype="1" fill="hold" nodeType="after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wipe(up)">
                                      <p:cBhvr>
                                        <p:cTn id="27" dur="1000"/>
                                        <p:tgtEl>
                                          <p:spTgt spid="6">
                                            <p:txEl>
                                              <p:pRg st="4" end="4"/>
                                            </p:txEl>
                                          </p:spTgt>
                                        </p:tgtEl>
                                      </p:cBhvr>
                                    </p:animEffect>
                                  </p:childTnLst>
                                </p:cTn>
                              </p:par>
                            </p:childTnLst>
                          </p:cTn>
                        </p:par>
                        <p:par>
                          <p:cTn id="28" fill="hold">
                            <p:stCondLst>
                              <p:cond delay="4500"/>
                            </p:stCondLst>
                            <p:childTnLst>
                              <p:par>
                                <p:cTn id="29" presetID="22" presetClass="entr" presetSubtype="4" fill="hold" nodeType="afterEffect">
                                  <p:stCondLst>
                                    <p:cond delay="0"/>
                                  </p:stCondLst>
                                  <p:childTnLst>
                                    <p:set>
                                      <p:cBhvr>
                                        <p:cTn id="30" dur="1" fill="hold">
                                          <p:stCondLst>
                                            <p:cond delay="0"/>
                                          </p:stCondLst>
                                        </p:cTn>
                                        <p:tgtEl>
                                          <p:spTgt spid="6">
                                            <p:txEl>
                                              <p:pRg st="5" end="5"/>
                                            </p:txEl>
                                          </p:spTgt>
                                        </p:tgtEl>
                                        <p:attrNameLst>
                                          <p:attrName>style.visibility</p:attrName>
                                        </p:attrNameLst>
                                      </p:cBhvr>
                                      <p:to>
                                        <p:strVal val="visible"/>
                                      </p:to>
                                    </p:set>
                                    <p:animEffect transition="in" filter="wipe(down)">
                                      <p:cBhvr>
                                        <p:cTn id="31" dur="500"/>
                                        <p:tgtEl>
                                          <p:spTgt spid="6">
                                            <p:txEl>
                                              <p:pRg st="5" end="5"/>
                                            </p:txEl>
                                          </p:spTgt>
                                        </p:tgtEl>
                                      </p:cBhvr>
                                    </p:animEffect>
                                  </p:childTnLst>
                                </p:cTn>
                              </p:par>
                              <p:par>
                                <p:cTn id="32" presetID="12" presetClass="entr" presetSubtype="8" fill="hold" nodeType="withEffect">
                                  <p:stCondLst>
                                    <p:cond delay="0"/>
                                  </p:stCondLst>
                                  <p:childTnLst>
                                    <p:set>
                                      <p:cBhvr>
                                        <p:cTn id="33" dur="1" fill="hold">
                                          <p:stCondLst>
                                            <p:cond delay="0"/>
                                          </p:stCondLst>
                                        </p:cTn>
                                        <p:tgtEl>
                                          <p:spTgt spid="8"/>
                                        </p:tgtEl>
                                        <p:attrNameLst>
                                          <p:attrName>style.visibility</p:attrName>
                                        </p:attrNameLst>
                                      </p:cBhvr>
                                      <p:to>
                                        <p:strVal val="visible"/>
                                      </p:to>
                                    </p:set>
                                    <p:anim calcmode="lin" valueType="num">
                                      <p:cBhvr additive="base">
                                        <p:cTn id="34" dur="500"/>
                                        <p:tgtEl>
                                          <p:spTgt spid="8"/>
                                        </p:tgtEl>
                                        <p:attrNameLst>
                                          <p:attrName>ppt_x</p:attrName>
                                        </p:attrNameLst>
                                      </p:cBhvr>
                                      <p:tavLst>
                                        <p:tav tm="0">
                                          <p:val>
                                            <p:strVal val="#ppt_x-#ppt_w*1.125000"/>
                                          </p:val>
                                        </p:tav>
                                        <p:tav tm="100000">
                                          <p:val>
                                            <p:strVal val="#ppt_x"/>
                                          </p:val>
                                        </p:tav>
                                      </p:tavLst>
                                    </p:anim>
                                    <p:animEffect transition="in" filter="wipe(right)">
                                      <p:cBhvr>
                                        <p:cTn id="35" dur="500"/>
                                        <p:tgtEl>
                                          <p:spTgt spid="8"/>
                                        </p:tgtEl>
                                      </p:cBhvr>
                                    </p:animEffect>
                                  </p:childTnLst>
                                </p:cTn>
                              </p:par>
                              <p:par>
                                <p:cTn id="36" presetID="42" presetClass="entr" presetSubtype="0" fill="hold"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1000"/>
                                        <p:tgtEl>
                                          <p:spTgt spid="13"/>
                                        </p:tgtEl>
                                      </p:cBhvr>
                                    </p:animEffect>
                                    <p:anim calcmode="lin" valueType="num">
                                      <p:cBhvr>
                                        <p:cTn id="39" dur="1000" fill="hold"/>
                                        <p:tgtEl>
                                          <p:spTgt spid="13"/>
                                        </p:tgtEl>
                                        <p:attrNameLst>
                                          <p:attrName>ppt_x</p:attrName>
                                        </p:attrNameLst>
                                      </p:cBhvr>
                                      <p:tavLst>
                                        <p:tav tm="0">
                                          <p:val>
                                            <p:strVal val="#ppt_x"/>
                                          </p:val>
                                        </p:tav>
                                        <p:tav tm="100000">
                                          <p:val>
                                            <p:strVal val="#ppt_x"/>
                                          </p:val>
                                        </p:tav>
                                      </p:tavLst>
                                    </p:anim>
                                    <p:anim calcmode="lin" valueType="num">
                                      <p:cBhvr>
                                        <p:cTn id="40" dur="1000" fill="hold"/>
                                        <p:tgtEl>
                                          <p:spTgt spid="13"/>
                                        </p:tgtEl>
                                        <p:attrNameLst>
                                          <p:attrName>ppt_y</p:attrName>
                                        </p:attrNameLst>
                                      </p:cBhvr>
                                      <p:tavLst>
                                        <p:tav tm="0">
                                          <p:val>
                                            <p:strVal val="#ppt_y+.1"/>
                                          </p:val>
                                        </p:tav>
                                        <p:tav tm="100000">
                                          <p:val>
                                            <p:strVal val="#ppt_y"/>
                                          </p:val>
                                        </p:tav>
                                      </p:tavLst>
                                    </p:anim>
                                  </p:childTnLst>
                                </p:cTn>
                              </p:par>
                              <p:par>
                                <p:cTn id="41" presetID="12" presetClass="entr" presetSubtype="8" fill="hold" grpId="1" nodeType="withEffect">
                                  <p:stCondLst>
                                    <p:cond delay="0"/>
                                  </p:stCondLst>
                                  <p:childTnLst>
                                    <p:set>
                                      <p:cBhvr>
                                        <p:cTn id="42" dur="1" fill="hold">
                                          <p:stCondLst>
                                            <p:cond delay="0"/>
                                          </p:stCondLst>
                                        </p:cTn>
                                        <p:tgtEl>
                                          <p:spTgt spid="14"/>
                                        </p:tgtEl>
                                        <p:attrNameLst>
                                          <p:attrName>style.visibility</p:attrName>
                                        </p:attrNameLst>
                                      </p:cBhvr>
                                      <p:to>
                                        <p:strVal val="visible"/>
                                      </p:to>
                                    </p:set>
                                    <p:anim calcmode="lin" valueType="num">
                                      <p:cBhvr additive="base">
                                        <p:cTn id="43" dur="250"/>
                                        <p:tgtEl>
                                          <p:spTgt spid="14"/>
                                        </p:tgtEl>
                                        <p:attrNameLst>
                                          <p:attrName>ppt_x</p:attrName>
                                        </p:attrNameLst>
                                      </p:cBhvr>
                                      <p:tavLst>
                                        <p:tav tm="0">
                                          <p:val>
                                            <p:strVal val="#ppt_x-#ppt_w*1.125000"/>
                                          </p:val>
                                        </p:tav>
                                        <p:tav tm="100000">
                                          <p:val>
                                            <p:strVal val="#ppt_x"/>
                                          </p:val>
                                        </p:tav>
                                      </p:tavLst>
                                    </p:anim>
                                    <p:animEffect transition="in" filter="wipe(right)">
                                      <p:cBhvr>
                                        <p:cTn id="44"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E:\曹飞\2017\2017-8-8地铁PPT\6.png6"/>
          <p:cNvPicPr>
            <a:picLocks noChangeAspect="1"/>
          </p:cNvPicPr>
          <p:nvPr/>
        </p:nvPicPr>
        <p:blipFill>
          <a:blip r:embed="rId1" cstate="email"/>
          <a:srcRect/>
          <a:stretch>
            <a:fillRect/>
          </a:stretch>
        </p:blipFill>
        <p:spPr>
          <a:xfrm>
            <a:off x="2261712" y="239317"/>
            <a:ext cx="6463189" cy="343376"/>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pic>
        <p:nvPicPr>
          <p:cNvPr id="13" name="图片 12" descr="E:\曹飞\2017\2017-8-8地铁PPT\7.png7"/>
          <p:cNvPicPr>
            <a:picLocks noChangeAspect="1"/>
          </p:cNvPicPr>
          <p:nvPr/>
        </p:nvPicPr>
        <p:blipFill>
          <a:blip r:embed="rId2" cstate="email"/>
          <a:srcRect/>
          <a:stretch>
            <a:fillRect/>
          </a:stretch>
        </p:blipFill>
        <p:spPr>
          <a:xfrm>
            <a:off x="-6667" y="4477465"/>
            <a:ext cx="9168289" cy="668179"/>
          </a:xfrm>
          <a:prstGeom prst="rect">
            <a:avLst/>
          </a:prstGeom>
        </p:spPr>
      </p:pic>
      <p:sp>
        <p:nvSpPr>
          <p:cNvPr id="10" name="TextBox 9"/>
          <p:cNvSpPr txBox="1"/>
          <p:nvPr/>
        </p:nvSpPr>
        <p:spPr>
          <a:xfrm>
            <a:off x="935355" y="1184275"/>
            <a:ext cx="7690485" cy="3876675"/>
          </a:xfrm>
          <a:prstGeom prst="rect">
            <a:avLst/>
          </a:prstGeom>
          <a:noFill/>
        </p:spPr>
        <p:txBody>
          <a:bodyPr wrap="square" rtlCol="0">
            <a:spAutoFit/>
          </a:bodyPr>
          <a:lstStyle/>
          <a:p>
            <a:pPr marL="342900" indent="-342900" algn="ctr">
              <a:lnSpc>
                <a:spcPct val="90000"/>
              </a:lnSpc>
              <a:spcBef>
                <a:spcPct val="20000"/>
              </a:spcBef>
              <a:buClr>
                <a:srgbClr val="0066CC"/>
              </a:buClr>
            </a:pPr>
            <a:r>
              <a:rPr lang="zh-CN" altLang="en-US" dirty="0" smtClean="0">
                <a:latin typeface="黑体" panose="02010609060101010101" pitchFamily="49" charset="-122"/>
                <a:ea typeface="黑体" panose="02010609060101010101" pitchFamily="49" charset="-122"/>
              </a:rPr>
              <a:t>关于购买办公用品的请示</a:t>
            </a:r>
            <a:endParaRPr lang="zh-CN" altLang="en-US" dirty="0" smtClean="0">
              <a:latin typeface="黑体" panose="02010609060101010101" pitchFamily="49" charset="-122"/>
              <a:ea typeface="黑体" panose="02010609060101010101" pitchFamily="49" charset="-122"/>
            </a:endParaRPr>
          </a:p>
          <a:p>
            <a:pPr marL="342900" indent="-342900">
              <a:lnSpc>
                <a:spcPct val="90000"/>
              </a:lnSpc>
              <a:spcBef>
                <a:spcPct val="20000"/>
              </a:spcBef>
              <a:buClr>
                <a:srgbClr val="0066CC"/>
              </a:buClr>
            </a:pPr>
            <a:r>
              <a:rPr lang="zh-CN" altLang="en-US" dirty="0" smtClean="0">
                <a:latin typeface="黑体" panose="02010609060101010101" pitchFamily="49" charset="-122"/>
                <a:ea typeface="黑体" panose="02010609060101010101" pitchFamily="49" charset="-122"/>
              </a:rPr>
              <a:t>　　</a:t>
            </a:r>
            <a:endParaRPr lang="zh-CN" altLang="en-US" dirty="0" smtClean="0">
              <a:latin typeface="黑体" panose="02010609060101010101" pitchFamily="49" charset="-122"/>
              <a:ea typeface="黑体" panose="02010609060101010101" pitchFamily="49" charset="-122"/>
            </a:endParaRPr>
          </a:p>
          <a:p>
            <a:pPr marL="342900" indent="-342900">
              <a:lnSpc>
                <a:spcPct val="90000"/>
              </a:lnSpc>
              <a:spcBef>
                <a:spcPct val="20000"/>
              </a:spcBef>
              <a:buClr>
                <a:srgbClr val="0066CC"/>
              </a:buClr>
            </a:pPr>
            <a:r>
              <a:rPr lang="zh-CN" altLang="en-US" dirty="0" smtClean="0">
                <a:latin typeface="黑体" panose="02010609060101010101" pitchFamily="49" charset="-122"/>
                <a:ea typeface="黑体" panose="02010609060101010101" pitchFamily="49" charset="-122"/>
              </a:rPr>
              <a:t>　　</a:t>
            </a:r>
            <a:r>
              <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rPr>
              <a:t>公司领导：</a:t>
            </a:r>
            <a:endPar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endParaRPr>
          </a:p>
          <a:p>
            <a:pPr marL="342900" indent="-342900">
              <a:lnSpc>
                <a:spcPct val="90000"/>
              </a:lnSpc>
              <a:spcBef>
                <a:spcPct val="20000"/>
              </a:spcBef>
              <a:buClr>
                <a:srgbClr val="0066CC"/>
              </a:buClr>
            </a:pPr>
            <a:r>
              <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rPr>
              <a:t>　　       因工作需要(或其他理由，可罗列数条)，某某部门需购买*****办公用品：***，预计多少钱；****，预计多少钱；。。。以上合计共需*****元。</a:t>
            </a:r>
            <a:endPar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endParaRPr>
          </a:p>
          <a:p>
            <a:pPr marL="342900" indent="-342900">
              <a:lnSpc>
                <a:spcPct val="90000"/>
              </a:lnSpc>
              <a:spcBef>
                <a:spcPct val="20000"/>
              </a:spcBef>
              <a:buClr>
                <a:srgbClr val="0066CC"/>
              </a:buClr>
            </a:pPr>
            <a:r>
              <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rPr>
              <a:t>　　      妥否，请批示。</a:t>
            </a:r>
            <a:endPar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endParaRPr>
          </a:p>
          <a:p>
            <a:pPr marL="342900" indent="-342900">
              <a:lnSpc>
                <a:spcPct val="90000"/>
              </a:lnSpc>
              <a:spcBef>
                <a:spcPct val="20000"/>
              </a:spcBef>
              <a:buClr>
                <a:srgbClr val="0066CC"/>
              </a:buClr>
            </a:pPr>
            <a:r>
              <a:rPr lang="zh-CN" altLang="en-US" dirty="0" smtClean="0">
                <a:latin typeface="黑体" panose="02010609060101010101" pitchFamily="49" charset="-122"/>
                <a:ea typeface="黑体" panose="02010609060101010101" pitchFamily="49" charset="-122"/>
              </a:rPr>
              <a:t>　　</a:t>
            </a:r>
            <a:endParaRPr lang="zh-CN" altLang="en-US" dirty="0" smtClean="0">
              <a:latin typeface="黑体" panose="02010609060101010101" pitchFamily="49" charset="-122"/>
              <a:ea typeface="黑体" panose="02010609060101010101" pitchFamily="49" charset="-122"/>
            </a:endParaRPr>
          </a:p>
          <a:p>
            <a:pPr marL="342900" indent="-342900">
              <a:lnSpc>
                <a:spcPct val="90000"/>
              </a:lnSpc>
              <a:spcBef>
                <a:spcPct val="20000"/>
              </a:spcBef>
              <a:buClr>
                <a:srgbClr val="0066CC"/>
              </a:buClr>
            </a:pPr>
            <a:r>
              <a:rPr lang="zh-CN" altLang="en-US" dirty="0" smtClean="0">
                <a:latin typeface="黑体" panose="02010609060101010101" pitchFamily="49" charset="-122"/>
                <a:ea typeface="黑体" panose="02010609060101010101" pitchFamily="49" charset="-122"/>
              </a:rPr>
              <a:t>　　                                            </a:t>
            </a:r>
            <a:r>
              <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rPr>
              <a:t>****部门</a:t>
            </a:r>
            <a:endPar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endParaRPr>
          </a:p>
          <a:p>
            <a:pPr marL="342900" indent="-342900">
              <a:lnSpc>
                <a:spcPct val="90000"/>
              </a:lnSpc>
              <a:spcBef>
                <a:spcPct val="20000"/>
              </a:spcBef>
              <a:buClr>
                <a:srgbClr val="0066CC"/>
              </a:buClr>
            </a:pPr>
            <a:r>
              <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rPr>
              <a:t>　　                                                                                       *年*月*日</a:t>
            </a:r>
            <a:endPar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endParaRPr>
          </a:p>
          <a:p>
            <a:pPr marL="342900" indent="-342900">
              <a:lnSpc>
                <a:spcPct val="90000"/>
              </a:lnSpc>
              <a:spcBef>
                <a:spcPct val="20000"/>
              </a:spcBef>
              <a:buClr>
                <a:srgbClr val="0066CC"/>
              </a:buClr>
            </a:pPr>
            <a:endPar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endParaRPr>
          </a:p>
          <a:p>
            <a:pPr marL="342900" indent="-342900">
              <a:lnSpc>
                <a:spcPct val="90000"/>
              </a:lnSpc>
              <a:spcBef>
                <a:spcPct val="20000"/>
              </a:spcBef>
              <a:buClr>
                <a:srgbClr val="0066CC"/>
              </a:buClr>
            </a:pPr>
            <a:endParaRPr lang="en-US" altLang="zh-CN" dirty="0" smtClean="0">
              <a:latin typeface="仿宋_GB2312" panose="02010609030101010101" pitchFamily="49" charset="-122"/>
              <a:ea typeface="仿宋_GB2312" panose="02010609030101010101" pitchFamily="49" charset="-122"/>
            </a:endParaRPr>
          </a:p>
          <a:p>
            <a:pPr marL="342900" indent="-342900">
              <a:lnSpc>
                <a:spcPct val="90000"/>
              </a:lnSpc>
              <a:spcBef>
                <a:spcPct val="20000"/>
              </a:spcBef>
              <a:buClr>
                <a:srgbClr val="0066CC"/>
              </a:buClr>
            </a:pPr>
            <a:endParaRPr lang="en-US" altLang="zh-CN" dirty="0" smtClean="0">
              <a:latin typeface="仿宋_GB2312" panose="02010609030101010101" pitchFamily="49" charset="-122"/>
              <a:ea typeface="仿宋_GB2312" panose="02010609030101010101" pitchFamily="49" charset="-122"/>
              <a:cs typeface="Times New Roman" panose="02020603050405020304" pitchFamily="18" charset="0"/>
            </a:endParaRPr>
          </a:p>
        </p:txBody>
      </p:sp>
      <p:pic>
        <p:nvPicPr>
          <p:cNvPr id="9" name="图片 8"/>
          <p:cNvPicPr>
            <a:picLocks noChangeAspect="1"/>
          </p:cNvPicPr>
          <p:nvPr/>
        </p:nvPicPr>
        <p:blipFill>
          <a:blip r:embed="rId3"/>
          <a:stretch>
            <a:fillRect/>
          </a:stretch>
        </p:blipFill>
        <p:spPr>
          <a:xfrm>
            <a:off x="575945" y="297180"/>
            <a:ext cx="1685925" cy="419100"/>
          </a:xfrm>
          <a:prstGeom prst="rect">
            <a:avLst/>
          </a:prstGeom>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right)">
                                      <p:cBhvr>
                                        <p:cTn id="8" dur="500"/>
                                        <p:tgtEl>
                                          <p:spTgt spid="8"/>
                                        </p:tgtEl>
                                      </p:cBhvr>
                                    </p:animEffect>
                                  </p:childTnLst>
                                </p:cTn>
                              </p:par>
                              <p:par>
                                <p:cTn id="9" presetID="12" presetClass="entr" presetSubtype="8" fill="hold" grpId="1"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250"/>
                                        <p:tgtEl>
                                          <p:spTgt spid="14"/>
                                        </p:tgtEl>
                                        <p:attrNameLst>
                                          <p:attrName>ppt_x</p:attrName>
                                        </p:attrNameLst>
                                      </p:cBhvr>
                                      <p:tavLst>
                                        <p:tav tm="0">
                                          <p:val>
                                            <p:strVal val="#ppt_x-#ppt_w*1.125000"/>
                                          </p:val>
                                        </p:tav>
                                        <p:tav tm="100000">
                                          <p:val>
                                            <p:strVal val="#ppt_x"/>
                                          </p:val>
                                        </p:tav>
                                      </p:tavLst>
                                    </p:anim>
                                    <p:animEffect transition="in" filter="wipe(right)">
                                      <p:cBhvr>
                                        <p:cTn id="12" dur="250"/>
                                        <p:tgtEl>
                                          <p:spTgt spid="14"/>
                                        </p:tgtEl>
                                      </p:cBhvr>
                                    </p:animEffect>
                                  </p:childTnLst>
                                </p:cTn>
                              </p:par>
                              <p:par>
                                <p:cTn id="13" presetID="42"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1000"/>
                                        <p:tgtEl>
                                          <p:spTgt spid="13"/>
                                        </p:tgtEl>
                                      </p:cBhvr>
                                    </p:animEffect>
                                    <p:anim calcmode="lin" valueType="num">
                                      <p:cBhvr>
                                        <p:cTn id="16" dur="1000" fill="hold"/>
                                        <p:tgtEl>
                                          <p:spTgt spid="13"/>
                                        </p:tgtEl>
                                        <p:attrNameLst>
                                          <p:attrName>ppt_x</p:attrName>
                                        </p:attrNameLst>
                                      </p:cBhvr>
                                      <p:tavLst>
                                        <p:tav tm="0">
                                          <p:val>
                                            <p:strVal val="#ppt_x"/>
                                          </p:val>
                                        </p:tav>
                                        <p:tav tm="100000">
                                          <p:val>
                                            <p:strVal val="#ppt_x"/>
                                          </p:val>
                                        </p:tav>
                                      </p:tavLst>
                                    </p:anim>
                                    <p:anim calcmode="lin" valueType="num">
                                      <p:cBhvr>
                                        <p:cTn id="17"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E:\曹飞\2017\2017-8-8地铁PPT\6.png6"/>
          <p:cNvPicPr>
            <a:picLocks noChangeAspect="1"/>
          </p:cNvPicPr>
          <p:nvPr/>
        </p:nvPicPr>
        <p:blipFill>
          <a:blip r:embed="rId1" cstate="email"/>
          <a:srcRect/>
          <a:stretch>
            <a:fillRect/>
          </a:stretch>
        </p:blipFill>
        <p:spPr>
          <a:xfrm>
            <a:off x="2261712" y="239317"/>
            <a:ext cx="6463189" cy="343376"/>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pic>
        <p:nvPicPr>
          <p:cNvPr id="13" name="图片 12" descr="E:\曹飞\2017\2017-8-8地铁PPT\7.png7"/>
          <p:cNvPicPr>
            <a:picLocks noChangeAspect="1"/>
          </p:cNvPicPr>
          <p:nvPr/>
        </p:nvPicPr>
        <p:blipFill>
          <a:blip r:embed="rId2" cstate="email"/>
          <a:srcRect/>
          <a:stretch>
            <a:fillRect/>
          </a:stretch>
        </p:blipFill>
        <p:spPr>
          <a:xfrm>
            <a:off x="-6667" y="4477465"/>
            <a:ext cx="9168289" cy="668179"/>
          </a:xfrm>
          <a:prstGeom prst="rect">
            <a:avLst/>
          </a:prstGeom>
        </p:spPr>
      </p:pic>
      <p:sp>
        <p:nvSpPr>
          <p:cNvPr id="10" name="TextBox 9"/>
          <p:cNvSpPr txBox="1"/>
          <p:nvPr/>
        </p:nvSpPr>
        <p:spPr>
          <a:xfrm>
            <a:off x="640080" y="1203325"/>
            <a:ext cx="7957820" cy="4594860"/>
          </a:xfrm>
          <a:prstGeom prst="rect">
            <a:avLst/>
          </a:prstGeom>
          <a:noFill/>
        </p:spPr>
        <p:txBody>
          <a:bodyPr wrap="square" rtlCol="0">
            <a:spAutoFit/>
          </a:bodyPr>
          <a:lstStyle/>
          <a:p>
            <a:pPr marL="342900" indent="-342900" algn="ctr">
              <a:lnSpc>
                <a:spcPct val="90000"/>
              </a:lnSpc>
              <a:spcBef>
                <a:spcPct val="20000"/>
              </a:spcBef>
              <a:buClr>
                <a:srgbClr val="0066CC"/>
              </a:buClr>
            </a:pPr>
            <a:r>
              <a:rPr lang="zh-CN" altLang="en-US" dirty="0" smtClean="0">
                <a:latin typeface="黑体" panose="02010609060101010101" pitchFamily="49" charset="-122"/>
                <a:ea typeface="黑体" panose="02010609060101010101" pitchFamily="49" charset="-122"/>
              </a:rPr>
              <a:t>关于在全国开展基本农田保护工作的请示</a:t>
            </a:r>
            <a:endParaRPr lang="zh-CN" altLang="en-US" dirty="0" smtClean="0">
              <a:latin typeface="黑体" panose="02010609060101010101" pitchFamily="49" charset="-122"/>
              <a:ea typeface="黑体" panose="02010609060101010101" pitchFamily="49" charset="-122"/>
            </a:endParaRPr>
          </a:p>
          <a:p>
            <a:pPr marL="342900" indent="-342900">
              <a:lnSpc>
                <a:spcPct val="90000"/>
              </a:lnSpc>
              <a:spcBef>
                <a:spcPct val="20000"/>
              </a:spcBef>
              <a:buClr>
                <a:srgbClr val="0066CC"/>
              </a:buClr>
            </a:pPr>
            <a:r>
              <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rPr>
              <a:t>国务院：</a:t>
            </a:r>
            <a:endPar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endParaRPr>
          </a:p>
          <a:p>
            <a:pPr marL="342900" indent="-342900">
              <a:lnSpc>
                <a:spcPct val="90000"/>
              </a:lnSpc>
              <a:spcBef>
                <a:spcPct val="20000"/>
              </a:spcBef>
              <a:buClr>
                <a:srgbClr val="0066CC"/>
              </a:buClr>
            </a:pPr>
            <a:r>
              <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rPr>
              <a:t>        为了全面贯彻落实党的十三届八中全会精神，巩固和发展划定基本农田保</a:t>
            </a:r>
            <a:endPar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endParaRPr>
          </a:p>
          <a:p>
            <a:pPr marL="342900" indent="-342900">
              <a:lnSpc>
                <a:spcPct val="90000"/>
              </a:lnSpc>
              <a:spcBef>
                <a:spcPct val="20000"/>
              </a:spcBef>
              <a:buClr>
                <a:srgbClr val="0066CC"/>
              </a:buClr>
            </a:pPr>
            <a:r>
              <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rPr>
              <a:t>护区这项工作的成果，拟在全国推广这一做法。具体意见如下：</a:t>
            </a:r>
            <a:endPar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endParaRPr>
          </a:p>
          <a:p>
            <a:pPr marL="342900" indent="-342900">
              <a:lnSpc>
                <a:spcPct val="90000"/>
              </a:lnSpc>
              <a:spcBef>
                <a:spcPct val="20000"/>
              </a:spcBef>
              <a:buClr>
                <a:srgbClr val="0066CC"/>
              </a:buClr>
            </a:pPr>
            <a:r>
              <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rPr>
              <a:t>       一、明确指导思想，加强组织领导。………………</a:t>
            </a:r>
            <a:endPar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endParaRPr>
          </a:p>
          <a:p>
            <a:pPr marL="342900" indent="-342900">
              <a:lnSpc>
                <a:spcPct val="90000"/>
              </a:lnSpc>
              <a:spcBef>
                <a:spcPct val="20000"/>
              </a:spcBef>
              <a:buClr>
                <a:srgbClr val="0066CC"/>
              </a:buClr>
            </a:pPr>
            <a:r>
              <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rPr>
              <a:t>       二、根据不同地区确定保护重点。………………</a:t>
            </a:r>
            <a:endPar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endParaRPr>
          </a:p>
          <a:p>
            <a:pPr marL="342900" indent="-342900">
              <a:lnSpc>
                <a:spcPct val="90000"/>
              </a:lnSpc>
              <a:spcBef>
                <a:spcPct val="20000"/>
              </a:spcBef>
              <a:buClr>
                <a:srgbClr val="0066CC"/>
              </a:buClr>
            </a:pPr>
            <a:r>
              <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rPr>
              <a:t>       三、建立基本农田的保护制度及地方补偿制度。</a:t>
            </a:r>
            <a:endPar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endParaRPr>
          </a:p>
          <a:p>
            <a:pPr marL="342900" indent="-342900">
              <a:lnSpc>
                <a:spcPct val="90000"/>
              </a:lnSpc>
              <a:spcBef>
                <a:spcPct val="20000"/>
              </a:spcBef>
              <a:buClr>
                <a:srgbClr val="0066CC"/>
              </a:buClr>
            </a:pPr>
            <a:r>
              <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rPr>
              <a:t>       以上意见已商得国家计委、财政部、建设部等部门意见，如无不妥，请批</a:t>
            </a:r>
            <a:endPar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endParaRPr>
          </a:p>
          <a:p>
            <a:pPr marL="342900" indent="-342900">
              <a:lnSpc>
                <a:spcPct val="90000"/>
              </a:lnSpc>
              <a:spcBef>
                <a:spcPct val="20000"/>
              </a:spcBef>
              <a:buClr>
                <a:srgbClr val="0066CC"/>
              </a:buClr>
            </a:pPr>
            <a:r>
              <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rPr>
              <a:t>转各地区、各部门执行。</a:t>
            </a:r>
            <a:endPar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endParaRPr>
          </a:p>
          <a:p>
            <a:pPr marL="342900" indent="-342900" algn="r">
              <a:lnSpc>
                <a:spcPct val="90000"/>
              </a:lnSpc>
              <a:spcBef>
                <a:spcPct val="20000"/>
              </a:spcBef>
              <a:buClr>
                <a:srgbClr val="0066CC"/>
              </a:buClr>
            </a:pPr>
            <a:endPar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endParaRPr>
          </a:p>
          <a:p>
            <a:pPr marL="342900" indent="-342900" algn="ctr">
              <a:lnSpc>
                <a:spcPct val="90000"/>
              </a:lnSpc>
              <a:spcBef>
                <a:spcPct val="20000"/>
              </a:spcBef>
              <a:buClr>
                <a:srgbClr val="0066CC"/>
              </a:buClr>
            </a:pPr>
            <a:r>
              <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rPr>
              <a:t>                                                                                国家土地管理局</a:t>
            </a:r>
            <a:endPar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endParaRPr>
          </a:p>
          <a:p>
            <a:pPr marL="342900" indent="-342900" algn="ctr">
              <a:lnSpc>
                <a:spcPct val="90000"/>
              </a:lnSpc>
              <a:spcBef>
                <a:spcPct val="20000"/>
              </a:spcBef>
              <a:buClr>
                <a:srgbClr val="0066CC"/>
              </a:buClr>
            </a:pPr>
            <a:r>
              <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rPr>
              <a:t>                                                                                     X年X月X日</a:t>
            </a:r>
            <a:endPar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endParaRPr>
          </a:p>
          <a:p>
            <a:pPr marL="342900" indent="-342900">
              <a:lnSpc>
                <a:spcPct val="90000"/>
              </a:lnSpc>
              <a:spcBef>
                <a:spcPct val="20000"/>
              </a:spcBef>
              <a:buClr>
                <a:srgbClr val="0066CC"/>
              </a:buClr>
            </a:pPr>
            <a:endPar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endParaRPr>
          </a:p>
          <a:p>
            <a:pPr marL="342900" indent="-342900">
              <a:lnSpc>
                <a:spcPct val="90000"/>
              </a:lnSpc>
              <a:spcBef>
                <a:spcPct val="20000"/>
              </a:spcBef>
              <a:buClr>
                <a:srgbClr val="0066CC"/>
              </a:buClr>
            </a:pPr>
            <a:endParaRPr lang="en-US" altLang="zh-CN" dirty="0" smtClean="0">
              <a:latin typeface="仿宋_GB2312" panose="02010609030101010101" pitchFamily="49" charset="-122"/>
              <a:ea typeface="仿宋_GB2312" panose="02010609030101010101" pitchFamily="49" charset="-122"/>
            </a:endParaRPr>
          </a:p>
          <a:p>
            <a:pPr marL="342900" indent="-342900">
              <a:lnSpc>
                <a:spcPct val="90000"/>
              </a:lnSpc>
              <a:spcBef>
                <a:spcPct val="20000"/>
              </a:spcBef>
              <a:buClr>
                <a:srgbClr val="0066CC"/>
              </a:buClr>
            </a:pPr>
            <a:endParaRPr lang="en-US" altLang="zh-CN" dirty="0" smtClean="0">
              <a:latin typeface="仿宋_GB2312" panose="02010609030101010101" pitchFamily="49" charset="-122"/>
              <a:ea typeface="仿宋_GB2312" panose="02010609030101010101" pitchFamily="49" charset="-122"/>
              <a:cs typeface="Times New Roman" panose="02020603050405020304" pitchFamily="18" charset="0"/>
            </a:endParaRPr>
          </a:p>
        </p:txBody>
      </p:sp>
      <p:pic>
        <p:nvPicPr>
          <p:cNvPr id="9" name="图片 8"/>
          <p:cNvPicPr>
            <a:picLocks noChangeAspect="1"/>
          </p:cNvPicPr>
          <p:nvPr/>
        </p:nvPicPr>
        <p:blipFill>
          <a:blip r:embed="rId3"/>
          <a:stretch>
            <a:fillRect/>
          </a:stretch>
        </p:blipFill>
        <p:spPr>
          <a:xfrm>
            <a:off x="575945" y="297180"/>
            <a:ext cx="1685925" cy="419100"/>
          </a:xfrm>
          <a:prstGeom prst="rect">
            <a:avLst/>
          </a:prstGeom>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right)">
                                      <p:cBhvr>
                                        <p:cTn id="8" dur="500"/>
                                        <p:tgtEl>
                                          <p:spTgt spid="8"/>
                                        </p:tgtEl>
                                      </p:cBhvr>
                                    </p:animEffect>
                                  </p:childTnLst>
                                </p:cTn>
                              </p:par>
                              <p:par>
                                <p:cTn id="9" presetID="12" presetClass="entr" presetSubtype="8" fill="hold" grpId="1"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250"/>
                                        <p:tgtEl>
                                          <p:spTgt spid="14"/>
                                        </p:tgtEl>
                                        <p:attrNameLst>
                                          <p:attrName>ppt_x</p:attrName>
                                        </p:attrNameLst>
                                      </p:cBhvr>
                                      <p:tavLst>
                                        <p:tav tm="0">
                                          <p:val>
                                            <p:strVal val="#ppt_x-#ppt_w*1.125000"/>
                                          </p:val>
                                        </p:tav>
                                        <p:tav tm="100000">
                                          <p:val>
                                            <p:strVal val="#ppt_x"/>
                                          </p:val>
                                        </p:tav>
                                      </p:tavLst>
                                    </p:anim>
                                    <p:animEffect transition="in" filter="wipe(right)">
                                      <p:cBhvr>
                                        <p:cTn id="12" dur="250"/>
                                        <p:tgtEl>
                                          <p:spTgt spid="14"/>
                                        </p:tgtEl>
                                      </p:cBhvr>
                                    </p:animEffect>
                                  </p:childTnLst>
                                </p:cTn>
                              </p:par>
                              <p:par>
                                <p:cTn id="13" presetID="42"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1000"/>
                                        <p:tgtEl>
                                          <p:spTgt spid="13"/>
                                        </p:tgtEl>
                                      </p:cBhvr>
                                    </p:animEffect>
                                    <p:anim calcmode="lin" valueType="num">
                                      <p:cBhvr>
                                        <p:cTn id="16" dur="1000" fill="hold"/>
                                        <p:tgtEl>
                                          <p:spTgt spid="13"/>
                                        </p:tgtEl>
                                        <p:attrNameLst>
                                          <p:attrName>ppt_x</p:attrName>
                                        </p:attrNameLst>
                                      </p:cBhvr>
                                      <p:tavLst>
                                        <p:tav tm="0">
                                          <p:val>
                                            <p:strVal val="#ppt_x"/>
                                          </p:val>
                                        </p:tav>
                                        <p:tav tm="100000">
                                          <p:val>
                                            <p:strVal val="#ppt_x"/>
                                          </p:val>
                                        </p:tav>
                                      </p:tavLst>
                                    </p:anim>
                                    <p:anim calcmode="lin" valueType="num">
                                      <p:cBhvr>
                                        <p:cTn id="17"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4"/>
          <p:cNvSpPr txBox="1">
            <a:spLocks noChangeArrowheads="1"/>
          </p:cNvSpPr>
          <p:nvPr/>
        </p:nvSpPr>
        <p:spPr bwMode="auto">
          <a:xfrm>
            <a:off x="508000" y="897255"/>
            <a:ext cx="7806690" cy="2163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342900" indent="-342900" eaLnBrk="1" hangingPunct="1">
              <a:lnSpc>
                <a:spcPct val="90000"/>
              </a:lnSpc>
              <a:spcBef>
                <a:spcPct val="20000"/>
              </a:spcBef>
              <a:buClr>
                <a:srgbClr val="0066CC"/>
              </a:buClr>
            </a:pPr>
            <a:r>
              <a:rPr kumimoji="0" lang="en-US" altLang="zh-CN" sz="1800" dirty="0">
                <a:latin typeface="Arial" panose="020B0604020202020204" pitchFamily="34" charset="0"/>
              </a:rPr>
              <a:t>      </a:t>
            </a:r>
            <a:r>
              <a:rPr kumimoji="0" lang="zh-CN" altLang="en-US" sz="1800" b="1" kern="0" dirty="0">
                <a:latin typeface="黑体" panose="02010609060101010101" pitchFamily="49" charset="-122"/>
                <a:ea typeface="黑体" panose="02010609060101010101" pitchFamily="49" charset="-122"/>
              </a:rPr>
              <a:t>五、请示与函的区别</a:t>
            </a:r>
            <a:endParaRPr kumimoji="0" lang="zh-CN" altLang="en-US" sz="1800" b="1" kern="0" dirty="0">
              <a:latin typeface="黑体" panose="02010609060101010101" pitchFamily="49" charset="-122"/>
              <a:ea typeface="黑体" panose="02010609060101010101" pitchFamily="49" charset="-122"/>
            </a:endParaRPr>
          </a:p>
          <a:p>
            <a:pPr marL="342900" indent="-342900" algn="l" eaLnBrk="1" hangingPunct="1">
              <a:lnSpc>
                <a:spcPct val="90000"/>
              </a:lnSpc>
              <a:spcBef>
                <a:spcPct val="20000"/>
              </a:spcBef>
              <a:buClr>
                <a:srgbClr val="0066CC"/>
              </a:buClr>
              <a:buSzTx/>
              <a:buNone/>
            </a:pPr>
            <a:endParaRPr kumimoji="0" lang="zh-CN" altLang="en-US" sz="1800" dirty="0" smtClean="0">
              <a:ea typeface="仿宋_GB2312" panose="02010609030101010101" pitchFamily="49" charset="-122"/>
              <a:cs typeface="Times New Roman" panose="02020603050405020304" pitchFamily="18" charset="0"/>
            </a:endParaRPr>
          </a:p>
          <a:p>
            <a:pPr marL="342900" indent="-342900" algn="l" eaLnBrk="1" hangingPunct="1">
              <a:lnSpc>
                <a:spcPct val="90000"/>
              </a:lnSpc>
              <a:spcBef>
                <a:spcPct val="20000"/>
              </a:spcBef>
              <a:buClr>
                <a:srgbClr val="0066CC"/>
              </a:buClr>
              <a:buSzTx/>
              <a:buNone/>
            </a:pPr>
            <a:r>
              <a:rPr kumimoji="0" lang="zh-CN" altLang="en-US" sz="1800" dirty="0" smtClean="0">
                <a:ea typeface="仿宋_GB2312" panose="02010609030101010101" pitchFamily="49" charset="-122"/>
                <a:cs typeface="Times New Roman" panose="02020603050405020304" pitchFamily="18" charset="0"/>
              </a:rPr>
              <a:t>        1.请示专门用于相互隶属的上下级之间；而平行机关和不相隶属的机</a:t>
            </a:r>
            <a:endParaRPr kumimoji="0" lang="zh-CN" altLang="en-US" sz="1800" dirty="0" smtClean="0">
              <a:ea typeface="仿宋_GB2312" panose="02010609030101010101" pitchFamily="49" charset="-122"/>
              <a:cs typeface="Times New Roman" panose="02020603050405020304" pitchFamily="18" charset="0"/>
            </a:endParaRPr>
          </a:p>
          <a:p>
            <a:pPr marL="342900" indent="-342900" algn="l" eaLnBrk="1" hangingPunct="1">
              <a:lnSpc>
                <a:spcPct val="90000"/>
              </a:lnSpc>
              <a:spcBef>
                <a:spcPct val="20000"/>
              </a:spcBef>
              <a:buClr>
                <a:srgbClr val="0066CC"/>
              </a:buClr>
              <a:buSzTx/>
              <a:buNone/>
            </a:pPr>
            <a:r>
              <a:rPr kumimoji="0" lang="zh-CN" altLang="en-US" sz="1800" dirty="0" smtClean="0">
                <a:ea typeface="仿宋_GB2312" panose="02010609030101010101" pitchFamily="49" charset="-122"/>
                <a:cs typeface="Times New Roman" panose="02020603050405020304" pitchFamily="18" charset="0"/>
              </a:rPr>
              <a:t>关请求批准事项，均应用函。</a:t>
            </a:r>
            <a:endParaRPr kumimoji="0" lang="zh-CN" altLang="en-US" sz="1800" dirty="0" smtClean="0">
              <a:ea typeface="仿宋_GB2312" panose="02010609030101010101" pitchFamily="49" charset="-122"/>
              <a:cs typeface="Times New Roman" panose="02020603050405020304" pitchFamily="18" charset="0"/>
            </a:endParaRPr>
          </a:p>
          <a:p>
            <a:pPr marL="342900" indent="-342900" algn="l" eaLnBrk="1" hangingPunct="1">
              <a:lnSpc>
                <a:spcPct val="90000"/>
              </a:lnSpc>
              <a:spcBef>
                <a:spcPct val="20000"/>
              </a:spcBef>
              <a:buClr>
                <a:srgbClr val="0066CC"/>
              </a:buClr>
              <a:buSzTx/>
              <a:buNone/>
            </a:pPr>
            <a:r>
              <a:rPr kumimoji="0" lang="zh-CN" altLang="en-US" sz="1800" dirty="0" smtClean="0">
                <a:ea typeface="仿宋_GB2312" panose="02010609030101010101" pitchFamily="49" charset="-122"/>
                <a:cs typeface="Times New Roman" panose="02020603050405020304" pitchFamily="18" charset="0"/>
              </a:rPr>
              <a:t>        2.请示的适用范围较小，只能用于向上级机关请求批复；函的适用范</a:t>
            </a:r>
            <a:endParaRPr kumimoji="0" lang="zh-CN" altLang="en-US" sz="1800" dirty="0" smtClean="0">
              <a:ea typeface="仿宋_GB2312" panose="02010609030101010101" pitchFamily="49" charset="-122"/>
              <a:cs typeface="Times New Roman" panose="02020603050405020304" pitchFamily="18" charset="0"/>
            </a:endParaRPr>
          </a:p>
          <a:p>
            <a:pPr marL="342900" indent="-342900" algn="l" eaLnBrk="1" hangingPunct="1">
              <a:lnSpc>
                <a:spcPct val="90000"/>
              </a:lnSpc>
              <a:spcBef>
                <a:spcPct val="20000"/>
              </a:spcBef>
              <a:buClr>
                <a:srgbClr val="0066CC"/>
              </a:buClr>
              <a:buSzTx/>
              <a:buNone/>
            </a:pPr>
            <a:r>
              <a:rPr kumimoji="0" lang="zh-CN" altLang="en-US" sz="1800" dirty="0" smtClean="0">
                <a:ea typeface="仿宋_GB2312" panose="02010609030101010101" pitchFamily="49" charset="-122"/>
                <a:cs typeface="Times New Roman" panose="02020603050405020304" pitchFamily="18" charset="0"/>
              </a:rPr>
              <a:t>围较广，在相互隶属的上下级之间、平行机关和不相隶属的机关之间均</a:t>
            </a:r>
            <a:endParaRPr kumimoji="0" lang="zh-CN" altLang="en-US" sz="1800" dirty="0" smtClean="0">
              <a:ea typeface="仿宋_GB2312" panose="02010609030101010101" pitchFamily="49" charset="-122"/>
              <a:cs typeface="Times New Roman" panose="02020603050405020304" pitchFamily="18" charset="0"/>
            </a:endParaRPr>
          </a:p>
          <a:p>
            <a:pPr marL="342900" indent="-342900" algn="l" eaLnBrk="1" hangingPunct="1">
              <a:lnSpc>
                <a:spcPct val="90000"/>
              </a:lnSpc>
              <a:spcBef>
                <a:spcPct val="20000"/>
              </a:spcBef>
              <a:buClr>
                <a:srgbClr val="0066CC"/>
              </a:buClr>
              <a:buSzTx/>
              <a:buNone/>
            </a:pPr>
            <a:r>
              <a:rPr kumimoji="0" lang="zh-CN" altLang="en-US" sz="1800" dirty="0" smtClean="0">
                <a:ea typeface="仿宋_GB2312" panose="02010609030101010101" pitchFamily="49" charset="-122"/>
                <a:cs typeface="Times New Roman" panose="02020603050405020304" pitchFamily="18" charset="0"/>
              </a:rPr>
              <a:t>可使用。</a:t>
            </a:r>
            <a:endParaRPr kumimoji="0" lang="zh-CN" altLang="en-US" sz="1800" dirty="0" smtClean="0">
              <a:ea typeface="仿宋_GB2312" panose="02010609030101010101" pitchFamily="49" charset="-122"/>
              <a:cs typeface="Times New Roman" panose="02020603050405020304" pitchFamily="18" charset="0"/>
            </a:endParaRPr>
          </a:p>
        </p:txBody>
      </p:sp>
      <p:pic>
        <p:nvPicPr>
          <p:cNvPr id="9" name="图片 8"/>
          <p:cNvPicPr>
            <a:picLocks noChangeAspect="1"/>
          </p:cNvPicPr>
          <p:nvPr/>
        </p:nvPicPr>
        <p:blipFill>
          <a:blip r:embed="rId1"/>
          <a:stretch>
            <a:fillRect/>
          </a:stretch>
        </p:blipFill>
        <p:spPr>
          <a:xfrm>
            <a:off x="575945" y="297180"/>
            <a:ext cx="1685925" cy="419100"/>
          </a:xfrm>
          <a:prstGeom prst="rect">
            <a:avLst/>
          </a:prstGeom>
        </p:spPr>
      </p:pic>
      <p:pic>
        <p:nvPicPr>
          <p:cNvPr id="8" name="图片 7" descr="E:\曹飞\2017\2017-8-8地铁PPT\6.png6"/>
          <p:cNvPicPr>
            <a:picLocks noChangeAspect="1"/>
          </p:cNvPicPr>
          <p:nvPr/>
        </p:nvPicPr>
        <p:blipFill>
          <a:blip r:embed="rId2" cstate="email"/>
          <a:srcRect/>
          <a:stretch>
            <a:fillRect/>
          </a:stretch>
        </p:blipFill>
        <p:spPr>
          <a:xfrm>
            <a:off x="2261712" y="239317"/>
            <a:ext cx="6463189" cy="343376"/>
          </a:xfrm>
          <a:prstGeom prst="rect">
            <a:avLst/>
          </a:prstGeom>
        </p:spPr>
      </p:pic>
      <p:pic>
        <p:nvPicPr>
          <p:cNvPr id="13" name="图片 12" descr="E:\曹飞\2017\2017-8-8地铁PPT\7.png7"/>
          <p:cNvPicPr>
            <a:picLocks noChangeAspect="1"/>
          </p:cNvPicPr>
          <p:nvPr/>
        </p:nvPicPr>
        <p:blipFill>
          <a:blip r:embed="rId3" cstate="email"/>
          <a:srcRect/>
          <a:stretch>
            <a:fillRect/>
          </a:stretch>
        </p:blipFill>
        <p:spPr>
          <a:xfrm>
            <a:off x="-6667" y="4477465"/>
            <a:ext cx="9168289" cy="668179"/>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4" presetClass="entr" presetSubtype="0" accel="100000" fill="hold"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p:cTn id="7" dur="1000" fill="hold"/>
                                        <p:tgtEl>
                                          <p:spTgt spid="6">
                                            <p:txEl>
                                              <p:pRg st="0" end="0"/>
                                            </p:txEl>
                                          </p:spTgt>
                                        </p:tgtEl>
                                        <p:attrNameLst>
                                          <p:attrName>ppt_w</p:attrName>
                                        </p:attrNameLst>
                                      </p:cBhvr>
                                      <p:tavLst>
                                        <p:tav tm="0">
                                          <p:val>
                                            <p:strVal val="#ppt_w*0.05"/>
                                          </p:val>
                                        </p:tav>
                                        <p:tav tm="100000">
                                          <p:val>
                                            <p:strVal val="#ppt_w"/>
                                          </p:val>
                                        </p:tav>
                                      </p:tavLst>
                                    </p:anim>
                                    <p:anim calcmode="lin" valueType="num">
                                      <p:cBhvr>
                                        <p:cTn id="8" dur="1000" fill="hold"/>
                                        <p:tgtEl>
                                          <p:spTgt spid="6">
                                            <p:txEl>
                                              <p:pRg st="0" end="0"/>
                                            </p:txEl>
                                          </p:spTgt>
                                        </p:tgtEl>
                                        <p:attrNameLst>
                                          <p:attrName>ppt_h</p:attrName>
                                        </p:attrNameLst>
                                      </p:cBhvr>
                                      <p:tavLst>
                                        <p:tav tm="0">
                                          <p:val>
                                            <p:strVal val="#ppt_h"/>
                                          </p:val>
                                        </p:tav>
                                        <p:tav tm="100000">
                                          <p:val>
                                            <p:strVal val="#ppt_h"/>
                                          </p:val>
                                        </p:tav>
                                      </p:tavLst>
                                    </p:anim>
                                    <p:anim calcmode="lin" valueType="num">
                                      <p:cBhvr>
                                        <p:cTn id="9" dur="1000" fill="hold"/>
                                        <p:tgtEl>
                                          <p:spTgt spid="6">
                                            <p:txEl>
                                              <p:pRg st="0" end="0"/>
                                            </p:txEl>
                                          </p:spTgt>
                                        </p:tgtEl>
                                        <p:attrNameLst>
                                          <p:attrName>ppt_x</p:attrName>
                                        </p:attrNameLst>
                                      </p:cBhvr>
                                      <p:tavLst>
                                        <p:tav tm="0">
                                          <p:val>
                                            <p:strVal val="#ppt_x-.2"/>
                                          </p:val>
                                        </p:tav>
                                        <p:tav tm="100000">
                                          <p:val>
                                            <p:strVal val="#ppt_x"/>
                                          </p:val>
                                        </p:tav>
                                      </p:tavLst>
                                    </p:anim>
                                    <p:anim calcmode="lin" valueType="num">
                                      <p:cBhvr>
                                        <p:cTn id="10" dur="1000" fill="hold"/>
                                        <p:tgtEl>
                                          <p:spTgt spid="6">
                                            <p:txEl>
                                              <p:pRg st="0" end="0"/>
                                            </p:txEl>
                                          </p:spTgt>
                                        </p:tgtEl>
                                        <p:attrNameLst>
                                          <p:attrName>ppt_y</p:attrName>
                                        </p:attrNameLst>
                                      </p:cBhvr>
                                      <p:tavLst>
                                        <p:tav tm="0">
                                          <p:val>
                                            <p:strVal val="#ppt_y"/>
                                          </p:val>
                                        </p:tav>
                                        <p:tav tm="100000">
                                          <p:val>
                                            <p:strVal val="#ppt_y"/>
                                          </p:val>
                                        </p:tav>
                                      </p:tavLst>
                                    </p:anim>
                                    <p:animEffect transition="in" filter="fade">
                                      <p:cBhvr>
                                        <p:cTn id="11" dur="1000"/>
                                        <p:tgtEl>
                                          <p:spTgt spid="6">
                                            <p:txEl>
                                              <p:pRg st="0" end="0"/>
                                            </p:txEl>
                                          </p:spTgt>
                                        </p:tgtEl>
                                      </p:cBhvr>
                                    </p:animEffect>
                                  </p:childTnLst>
                                </p:cTn>
                              </p:par>
                            </p:childTnLst>
                          </p:cTn>
                        </p:par>
                        <p:par>
                          <p:cTn id="12" fill="hold">
                            <p:stCondLst>
                              <p:cond delay="1000"/>
                            </p:stCondLst>
                            <p:childTnLst>
                              <p:par>
                                <p:cTn id="13" presetID="54" presetClass="entr" presetSubtype="0" accel="100000" fill="hold"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 calcmode="lin" valueType="num">
                                      <p:cBhvr>
                                        <p:cTn id="15" dur="1000" fill="hold"/>
                                        <p:tgtEl>
                                          <p:spTgt spid="6">
                                            <p:txEl>
                                              <p:pRg st="2" end="2"/>
                                            </p:txEl>
                                          </p:spTgt>
                                        </p:tgtEl>
                                        <p:attrNameLst>
                                          <p:attrName>ppt_w</p:attrName>
                                        </p:attrNameLst>
                                      </p:cBhvr>
                                      <p:tavLst>
                                        <p:tav tm="0">
                                          <p:val>
                                            <p:strVal val="#ppt_w*0.05"/>
                                          </p:val>
                                        </p:tav>
                                        <p:tav tm="100000">
                                          <p:val>
                                            <p:strVal val="#ppt_w"/>
                                          </p:val>
                                        </p:tav>
                                      </p:tavLst>
                                    </p:anim>
                                    <p:anim calcmode="lin" valueType="num">
                                      <p:cBhvr>
                                        <p:cTn id="16" dur="1000" fill="hold"/>
                                        <p:tgtEl>
                                          <p:spTgt spid="6">
                                            <p:txEl>
                                              <p:pRg st="2" end="2"/>
                                            </p:txEl>
                                          </p:spTgt>
                                        </p:tgtEl>
                                        <p:attrNameLst>
                                          <p:attrName>ppt_h</p:attrName>
                                        </p:attrNameLst>
                                      </p:cBhvr>
                                      <p:tavLst>
                                        <p:tav tm="0">
                                          <p:val>
                                            <p:strVal val="#ppt_h"/>
                                          </p:val>
                                        </p:tav>
                                        <p:tav tm="100000">
                                          <p:val>
                                            <p:strVal val="#ppt_h"/>
                                          </p:val>
                                        </p:tav>
                                      </p:tavLst>
                                    </p:anim>
                                    <p:anim calcmode="lin" valueType="num">
                                      <p:cBhvr>
                                        <p:cTn id="17" dur="1000" fill="hold"/>
                                        <p:tgtEl>
                                          <p:spTgt spid="6">
                                            <p:txEl>
                                              <p:pRg st="2" end="2"/>
                                            </p:txEl>
                                          </p:spTgt>
                                        </p:tgtEl>
                                        <p:attrNameLst>
                                          <p:attrName>ppt_x</p:attrName>
                                        </p:attrNameLst>
                                      </p:cBhvr>
                                      <p:tavLst>
                                        <p:tav tm="0">
                                          <p:val>
                                            <p:strVal val="#ppt_x-.2"/>
                                          </p:val>
                                        </p:tav>
                                        <p:tav tm="100000">
                                          <p:val>
                                            <p:strVal val="#ppt_x"/>
                                          </p:val>
                                        </p:tav>
                                      </p:tavLst>
                                    </p:anim>
                                    <p:anim calcmode="lin" valueType="num">
                                      <p:cBhvr>
                                        <p:cTn id="18" dur="1000" fill="hold"/>
                                        <p:tgtEl>
                                          <p:spTgt spid="6">
                                            <p:txEl>
                                              <p:pRg st="2" end="2"/>
                                            </p:txEl>
                                          </p:spTgt>
                                        </p:tgtEl>
                                        <p:attrNameLst>
                                          <p:attrName>ppt_y</p:attrName>
                                        </p:attrNameLst>
                                      </p:cBhvr>
                                      <p:tavLst>
                                        <p:tav tm="0">
                                          <p:val>
                                            <p:strVal val="#ppt_y"/>
                                          </p:val>
                                        </p:tav>
                                        <p:tav tm="100000">
                                          <p:val>
                                            <p:strVal val="#ppt_y"/>
                                          </p:val>
                                        </p:tav>
                                      </p:tavLst>
                                    </p:anim>
                                    <p:animEffect transition="in" filter="fade">
                                      <p:cBhvr>
                                        <p:cTn id="19" dur="1000"/>
                                        <p:tgtEl>
                                          <p:spTgt spid="6">
                                            <p:txEl>
                                              <p:pRg st="2" end="2"/>
                                            </p:txEl>
                                          </p:spTgt>
                                        </p:tgtEl>
                                      </p:cBhvr>
                                    </p:animEffect>
                                  </p:childTnLst>
                                </p:cTn>
                              </p:par>
                            </p:childTnLst>
                          </p:cTn>
                        </p:par>
                        <p:par>
                          <p:cTn id="20" fill="hold">
                            <p:stCondLst>
                              <p:cond delay="2000"/>
                            </p:stCondLst>
                            <p:childTnLst>
                              <p:par>
                                <p:cTn id="21" presetID="54" presetClass="entr" presetSubtype="0" accel="100000" fill="hold" nodeType="afterEffect">
                                  <p:stCondLst>
                                    <p:cond delay="0"/>
                                  </p:stCondLst>
                                  <p:childTnLst>
                                    <p:set>
                                      <p:cBhvr>
                                        <p:cTn id="22" dur="1" fill="hold">
                                          <p:stCondLst>
                                            <p:cond delay="0"/>
                                          </p:stCondLst>
                                        </p:cTn>
                                        <p:tgtEl>
                                          <p:spTgt spid="6">
                                            <p:txEl>
                                              <p:pRg st="3" end="3"/>
                                            </p:txEl>
                                          </p:spTgt>
                                        </p:tgtEl>
                                        <p:attrNameLst>
                                          <p:attrName>style.visibility</p:attrName>
                                        </p:attrNameLst>
                                      </p:cBhvr>
                                      <p:to>
                                        <p:strVal val="visible"/>
                                      </p:to>
                                    </p:set>
                                    <p:anim calcmode="lin" valueType="num">
                                      <p:cBhvr>
                                        <p:cTn id="23" dur="1000" fill="hold"/>
                                        <p:tgtEl>
                                          <p:spTgt spid="6">
                                            <p:txEl>
                                              <p:pRg st="3" end="3"/>
                                            </p:txEl>
                                          </p:spTgt>
                                        </p:tgtEl>
                                        <p:attrNameLst>
                                          <p:attrName>ppt_w</p:attrName>
                                        </p:attrNameLst>
                                      </p:cBhvr>
                                      <p:tavLst>
                                        <p:tav tm="0">
                                          <p:val>
                                            <p:strVal val="#ppt_w*0.05"/>
                                          </p:val>
                                        </p:tav>
                                        <p:tav tm="100000">
                                          <p:val>
                                            <p:strVal val="#ppt_w"/>
                                          </p:val>
                                        </p:tav>
                                      </p:tavLst>
                                    </p:anim>
                                    <p:anim calcmode="lin" valueType="num">
                                      <p:cBhvr>
                                        <p:cTn id="24" dur="1000" fill="hold"/>
                                        <p:tgtEl>
                                          <p:spTgt spid="6">
                                            <p:txEl>
                                              <p:pRg st="3" end="3"/>
                                            </p:txEl>
                                          </p:spTgt>
                                        </p:tgtEl>
                                        <p:attrNameLst>
                                          <p:attrName>ppt_h</p:attrName>
                                        </p:attrNameLst>
                                      </p:cBhvr>
                                      <p:tavLst>
                                        <p:tav tm="0">
                                          <p:val>
                                            <p:strVal val="#ppt_h"/>
                                          </p:val>
                                        </p:tav>
                                        <p:tav tm="100000">
                                          <p:val>
                                            <p:strVal val="#ppt_h"/>
                                          </p:val>
                                        </p:tav>
                                      </p:tavLst>
                                    </p:anim>
                                    <p:anim calcmode="lin" valueType="num">
                                      <p:cBhvr>
                                        <p:cTn id="25" dur="1000" fill="hold"/>
                                        <p:tgtEl>
                                          <p:spTgt spid="6">
                                            <p:txEl>
                                              <p:pRg st="3" end="3"/>
                                            </p:txEl>
                                          </p:spTgt>
                                        </p:tgtEl>
                                        <p:attrNameLst>
                                          <p:attrName>ppt_x</p:attrName>
                                        </p:attrNameLst>
                                      </p:cBhvr>
                                      <p:tavLst>
                                        <p:tav tm="0">
                                          <p:val>
                                            <p:strVal val="#ppt_x-.2"/>
                                          </p:val>
                                        </p:tav>
                                        <p:tav tm="100000">
                                          <p:val>
                                            <p:strVal val="#ppt_x"/>
                                          </p:val>
                                        </p:tav>
                                      </p:tavLst>
                                    </p:anim>
                                    <p:anim calcmode="lin" valueType="num">
                                      <p:cBhvr>
                                        <p:cTn id="26" dur="1000" fill="hold"/>
                                        <p:tgtEl>
                                          <p:spTgt spid="6">
                                            <p:txEl>
                                              <p:pRg st="3" end="3"/>
                                            </p:txEl>
                                          </p:spTgt>
                                        </p:tgtEl>
                                        <p:attrNameLst>
                                          <p:attrName>ppt_y</p:attrName>
                                        </p:attrNameLst>
                                      </p:cBhvr>
                                      <p:tavLst>
                                        <p:tav tm="0">
                                          <p:val>
                                            <p:strVal val="#ppt_y"/>
                                          </p:val>
                                        </p:tav>
                                        <p:tav tm="100000">
                                          <p:val>
                                            <p:strVal val="#ppt_y"/>
                                          </p:val>
                                        </p:tav>
                                      </p:tavLst>
                                    </p:anim>
                                    <p:animEffect transition="in" filter="fade">
                                      <p:cBhvr>
                                        <p:cTn id="27" dur="1000"/>
                                        <p:tgtEl>
                                          <p:spTgt spid="6">
                                            <p:txEl>
                                              <p:pRg st="3" end="3"/>
                                            </p:txEl>
                                          </p:spTgt>
                                        </p:tgtEl>
                                      </p:cBhvr>
                                    </p:animEffect>
                                  </p:childTnLst>
                                </p:cTn>
                              </p:par>
                            </p:childTnLst>
                          </p:cTn>
                        </p:par>
                        <p:par>
                          <p:cTn id="28" fill="hold">
                            <p:stCondLst>
                              <p:cond delay="3000"/>
                            </p:stCondLst>
                            <p:childTnLst>
                              <p:par>
                                <p:cTn id="29" presetID="54" presetClass="entr" presetSubtype="0" accel="100000" fill="hold" nodeType="afterEffect">
                                  <p:stCondLst>
                                    <p:cond delay="0"/>
                                  </p:stCondLst>
                                  <p:childTnLst>
                                    <p:set>
                                      <p:cBhvr>
                                        <p:cTn id="30" dur="1" fill="hold">
                                          <p:stCondLst>
                                            <p:cond delay="0"/>
                                          </p:stCondLst>
                                        </p:cTn>
                                        <p:tgtEl>
                                          <p:spTgt spid="6">
                                            <p:txEl>
                                              <p:pRg st="4" end="4"/>
                                            </p:txEl>
                                          </p:spTgt>
                                        </p:tgtEl>
                                        <p:attrNameLst>
                                          <p:attrName>style.visibility</p:attrName>
                                        </p:attrNameLst>
                                      </p:cBhvr>
                                      <p:to>
                                        <p:strVal val="visible"/>
                                      </p:to>
                                    </p:set>
                                    <p:anim calcmode="lin" valueType="num">
                                      <p:cBhvr>
                                        <p:cTn id="31" dur="1000" fill="hold"/>
                                        <p:tgtEl>
                                          <p:spTgt spid="6">
                                            <p:txEl>
                                              <p:pRg st="4" end="4"/>
                                            </p:txEl>
                                          </p:spTgt>
                                        </p:tgtEl>
                                        <p:attrNameLst>
                                          <p:attrName>ppt_w</p:attrName>
                                        </p:attrNameLst>
                                      </p:cBhvr>
                                      <p:tavLst>
                                        <p:tav tm="0">
                                          <p:val>
                                            <p:strVal val="#ppt_w*0.05"/>
                                          </p:val>
                                        </p:tav>
                                        <p:tav tm="100000">
                                          <p:val>
                                            <p:strVal val="#ppt_w"/>
                                          </p:val>
                                        </p:tav>
                                      </p:tavLst>
                                    </p:anim>
                                    <p:anim calcmode="lin" valueType="num">
                                      <p:cBhvr>
                                        <p:cTn id="32" dur="1000" fill="hold"/>
                                        <p:tgtEl>
                                          <p:spTgt spid="6">
                                            <p:txEl>
                                              <p:pRg st="4" end="4"/>
                                            </p:txEl>
                                          </p:spTgt>
                                        </p:tgtEl>
                                        <p:attrNameLst>
                                          <p:attrName>ppt_h</p:attrName>
                                        </p:attrNameLst>
                                      </p:cBhvr>
                                      <p:tavLst>
                                        <p:tav tm="0">
                                          <p:val>
                                            <p:strVal val="#ppt_h"/>
                                          </p:val>
                                        </p:tav>
                                        <p:tav tm="100000">
                                          <p:val>
                                            <p:strVal val="#ppt_h"/>
                                          </p:val>
                                        </p:tav>
                                      </p:tavLst>
                                    </p:anim>
                                    <p:anim calcmode="lin" valueType="num">
                                      <p:cBhvr>
                                        <p:cTn id="33" dur="1000" fill="hold"/>
                                        <p:tgtEl>
                                          <p:spTgt spid="6">
                                            <p:txEl>
                                              <p:pRg st="4" end="4"/>
                                            </p:txEl>
                                          </p:spTgt>
                                        </p:tgtEl>
                                        <p:attrNameLst>
                                          <p:attrName>ppt_x</p:attrName>
                                        </p:attrNameLst>
                                      </p:cBhvr>
                                      <p:tavLst>
                                        <p:tav tm="0">
                                          <p:val>
                                            <p:strVal val="#ppt_x-.2"/>
                                          </p:val>
                                        </p:tav>
                                        <p:tav tm="100000">
                                          <p:val>
                                            <p:strVal val="#ppt_x"/>
                                          </p:val>
                                        </p:tav>
                                      </p:tavLst>
                                    </p:anim>
                                    <p:anim calcmode="lin" valueType="num">
                                      <p:cBhvr>
                                        <p:cTn id="34" dur="1000" fill="hold"/>
                                        <p:tgtEl>
                                          <p:spTgt spid="6">
                                            <p:txEl>
                                              <p:pRg st="4" end="4"/>
                                            </p:txEl>
                                          </p:spTgt>
                                        </p:tgtEl>
                                        <p:attrNameLst>
                                          <p:attrName>ppt_y</p:attrName>
                                        </p:attrNameLst>
                                      </p:cBhvr>
                                      <p:tavLst>
                                        <p:tav tm="0">
                                          <p:val>
                                            <p:strVal val="#ppt_y"/>
                                          </p:val>
                                        </p:tav>
                                        <p:tav tm="100000">
                                          <p:val>
                                            <p:strVal val="#ppt_y"/>
                                          </p:val>
                                        </p:tav>
                                      </p:tavLst>
                                    </p:anim>
                                    <p:animEffect transition="in" filter="fade">
                                      <p:cBhvr>
                                        <p:cTn id="35" dur="1000"/>
                                        <p:tgtEl>
                                          <p:spTgt spid="6">
                                            <p:txEl>
                                              <p:pRg st="4" end="4"/>
                                            </p:txEl>
                                          </p:spTgt>
                                        </p:tgtEl>
                                      </p:cBhvr>
                                    </p:animEffect>
                                  </p:childTnLst>
                                </p:cTn>
                              </p:par>
                            </p:childTnLst>
                          </p:cTn>
                        </p:par>
                        <p:par>
                          <p:cTn id="36" fill="hold">
                            <p:stCondLst>
                              <p:cond delay="4000"/>
                            </p:stCondLst>
                            <p:childTnLst>
                              <p:par>
                                <p:cTn id="37" presetID="54" presetClass="entr" presetSubtype="0" accel="100000" fill="hold" nodeType="afterEffect">
                                  <p:stCondLst>
                                    <p:cond delay="0"/>
                                  </p:stCondLst>
                                  <p:childTnLst>
                                    <p:set>
                                      <p:cBhvr>
                                        <p:cTn id="38" dur="1" fill="hold">
                                          <p:stCondLst>
                                            <p:cond delay="0"/>
                                          </p:stCondLst>
                                        </p:cTn>
                                        <p:tgtEl>
                                          <p:spTgt spid="6">
                                            <p:txEl>
                                              <p:pRg st="5" end="5"/>
                                            </p:txEl>
                                          </p:spTgt>
                                        </p:tgtEl>
                                        <p:attrNameLst>
                                          <p:attrName>style.visibility</p:attrName>
                                        </p:attrNameLst>
                                      </p:cBhvr>
                                      <p:to>
                                        <p:strVal val="visible"/>
                                      </p:to>
                                    </p:set>
                                    <p:anim calcmode="lin" valueType="num">
                                      <p:cBhvr>
                                        <p:cTn id="39" dur="1000" fill="hold"/>
                                        <p:tgtEl>
                                          <p:spTgt spid="6">
                                            <p:txEl>
                                              <p:pRg st="5" end="5"/>
                                            </p:txEl>
                                          </p:spTgt>
                                        </p:tgtEl>
                                        <p:attrNameLst>
                                          <p:attrName>ppt_w</p:attrName>
                                        </p:attrNameLst>
                                      </p:cBhvr>
                                      <p:tavLst>
                                        <p:tav tm="0">
                                          <p:val>
                                            <p:strVal val="#ppt_w*0.05"/>
                                          </p:val>
                                        </p:tav>
                                        <p:tav tm="100000">
                                          <p:val>
                                            <p:strVal val="#ppt_w"/>
                                          </p:val>
                                        </p:tav>
                                      </p:tavLst>
                                    </p:anim>
                                    <p:anim calcmode="lin" valueType="num">
                                      <p:cBhvr>
                                        <p:cTn id="40" dur="1000" fill="hold"/>
                                        <p:tgtEl>
                                          <p:spTgt spid="6">
                                            <p:txEl>
                                              <p:pRg st="5" end="5"/>
                                            </p:txEl>
                                          </p:spTgt>
                                        </p:tgtEl>
                                        <p:attrNameLst>
                                          <p:attrName>ppt_h</p:attrName>
                                        </p:attrNameLst>
                                      </p:cBhvr>
                                      <p:tavLst>
                                        <p:tav tm="0">
                                          <p:val>
                                            <p:strVal val="#ppt_h"/>
                                          </p:val>
                                        </p:tav>
                                        <p:tav tm="100000">
                                          <p:val>
                                            <p:strVal val="#ppt_h"/>
                                          </p:val>
                                        </p:tav>
                                      </p:tavLst>
                                    </p:anim>
                                    <p:anim calcmode="lin" valueType="num">
                                      <p:cBhvr>
                                        <p:cTn id="41" dur="1000" fill="hold"/>
                                        <p:tgtEl>
                                          <p:spTgt spid="6">
                                            <p:txEl>
                                              <p:pRg st="5" end="5"/>
                                            </p:txEl>
                                          </p:spTgt>
                                        </p:tgtEl>
                                        <p:attrNameLst>
                                          <p:attrName>ppt_x</p:attrName>
                                        </p:attrNameLst>
                                      </p:cBhvr>
                                      <p:tavLst>
                                        <p:tav tm="0">
                                          <p:val>
                                            <p:strVal val="#ppt_x-.2"/>
                                          </p:val>
                                        </p:tav>
                                        <p:tav tm="100000">
                                          <p:val>
                                            <p:strVal val="#ppt_x"/>
                                          </p:val>
                                        </p:tav>
                                      </p:tavLst>
                                    </p:anim>
                                    <p:anim calcmode="lin" valueType="num">
                                      <p:cBhvr>
                                        <p:cTn id="42" dur="1000" fill="hold"/>
                                        <p:tgtEl>
                                          <p:spTgt spid="6">
                                            <p:txEl>
                                              <p:pRg st="5" end="5"/>
                                            </p:txEl>
                                          </p:spTgt>
                                        </p:tgtEl>
                                        <p:attrNameLst>
                                          <p:attrName>ppt_y</p:attrName>
                                        </p:attrNameLst>
                                      </p:cBhvr>
                                      <p:tavLst>
                                        <p:tav tm="0">
                                          <p:val>
                                            <p:strVal val="#ppt_y"/>
                                          </p:val>
                                        </p:tav>
                                        <p:tav tm="100000">
                                          <p:val>
                                            <p:strVal val="#ppt_y"/>
                                          </p:val>
                                        </p:tav>
                                      </p:tavLst>
                                    </p:anim>
                                    <p:animEffect transition="in" filter="fade">
                                      <p:cBhvr>
                                        <p:cTn id="43" dur="1000"/>
                                        <p:tgtEl>
                                          <p:spTgt spid="6">
                                            <p:txEl>
                                              <p:pRg st="5" end="5"/>
                                            </p:txEl>
                                          </p:spTgt>
                                        </p:tgtEl>
                                      </p:cBhvr>
                                    </p:animEffect>
                                  </p:childTnLst>
                                </p:cTn>
                              </p:par>
                            </p:childTnLst>
                          </p:cTn>
                        </p:par>
                        <p:par>
                          <p:cTn id="44" fill="hold">
                            <p:stCondLst>
                              <p:cond delay="5000"/>
                            </p:stCondLst>
                            <p:childTnLst>
                              <p:par>
                                <p:cTn id="45" presetID="54" presetClass="entr" presetSubtype="0" accel="100000" fill="hold" nodeType="afterEffect">
                                  <p:stCondLst>
                                    <p:cond delay="0"/>
                                  </p:stCondLst>
                                  <p:childTnLst>
                                    <p:set>
                                      <p:cBhvr>
                                        <p:cTn id="46" dur="1" fill="hold">
                                          <p:stCondLst>
                                            <p:cond delay="0"/>
                                          </p:stCondLst>
                                        </p:cTn>
                                        <p:tgtEl>
                                          <p:spTgt spid="6">
                                            <p:txEl>
                                              <p:pRg st="6" end="6"/>
                                            </p:txEl>
                                          </p:spTgt>
                                        </p:tgtEl>
                                        <p:attrNameLst>
                                          <p:attrName>style.visibility</p:attrName>
                                        </p:attrNameLst>
                                      </p:cBhvr>
                                      <p:to>
                                        <p:strVal val="visible"/>
                                      </p:to>
                                    </p:set>
                                    <p:anim calcmode="lin" valueType="num">
                                      <p:cBhvr>
                                        <p:cTn id="47" dur="1000" fill="hold"/>
                                        <p:tgtEl>
                                          <p:spTgt spid="6">
                                            <p:txEl>
                                              <p:pRg st="6" end="6"/>
                                            </p:txEl>
                                          </p:spTgt>
                                        </p:tgtEl>
                                        <p:attrNameLst>
                                          <p:attrName>ppt_w</p:attrName>
                                        </p:attrNameLst>
                                      </p:cBhvr>
                                      <p:tavLst>
                                        <p:tav tm="0">
                                          <p:val>
                                            <p:strVal val="#ppt_w*0.05"/>
                                          </p:val>
                                        </p:tav>
                                        <p:tav tm="100000">
                                          <p:val>
                                            <p:strVal val="#ppt_w"/>
                                          </p:val>
                                        </p:tav>
                                      </p:tavLst>
                                    </p:anim>
                                    <p:anim calcmode="lin" valueType="num">
                                      <p:cBhvr>
                                        <p:cTn id="48" dur="1000" fill="hold"/>
                                        <p:tgtEl>
                                          <p:spTgt spid="6">
                                            <p:txEl>
                                              <p:pRg st="6" end="6"/>
                                            </p:txEl>
                                          </p:spTgt>
                                        </p:tgtEl>
                                        <p:attrNameLst>
                                          <p:attrName>ppt_h</p:attrName>
                                        </p:attrNameLst>
                                      </p:cBhvr>
                                      <p:tavLst>
                                        <p:tav tm="0">
                                          <p:val>
                                            <p:strVal val="#ppt_h"/>
                                          </p:val>
                                        </p:tav>
                                        <p:tav tm="100000">
                                          <p:val>
                                            <p:strVal val="#ppt_h"/>
                                          </p:val>
                                        </p:tav>
                                      </p:tavLst>
                                    </p:anim>
                                    <p:anim calcmode="lin" valueType="num">
                                      <p:cBhvr>
                                        <p:cTn id="49" dur="1000" fill="hold"/>
                                        <p:tgtEl>
                                          <p:spTgt spid="6">
                                            <p:txEl>
                                              <p:pRg st="6" end="6"/>
                                            </p:txEl>
                                          </p:spTgt>
                                        </p:tgtEl>
                                        <p:attrNameLst>
                                          <p:attrName>ppt_x</p:attrName>
                                        </p:attrNameLst>
                                      </p:cBhvr>
                                      <p:tavLst>
                                        <p:tav tm="0">
                                          <p:val>
                                            <p:strVal val="#ppt_x-.2"/>
                                          </p:val>
                                        </p:tav>
                                        <p:tav tm="100000">
                                          <p:val>
                                            <p:strVal val="#ppt_x"/>
                                          </p:val>
                                        </p:tav>
                                      </p:tavLst>
                                    </p:anim>
                                    <p:anim calcmode="lin" valueType="num">
                                      <p:cBhvr>
                                        <p:cTn id="50" dur="1000" fill="hold"/>
                                        <p:tgtEl>
                                          <p:spTgt spid="6">
                                            <p:txEl>
                                              <p:pRg st="6" end="6"/>
                                            </p:txEl>
                                          </p:spTgt>
                                        </p:tgtEl>
                                        <p:attrNameLst>
                                          <p:attrName>ppt_y</p:attrName>
                                        </p:attrNameLst>
                                      </p:cBhvr>
                                      <p:tavLst>
                                        <p:tav tm="0">
                                          <p:val>
                                            <p:strVal val="#ppt_y"/>
                                          </p:val>
                                        </p:tav>
                                        <p:tav tm="100000">
                                          <p:val>
                                            <p:strVal val="#ppt_y"/>
                                          </p:val>
                                        </p:tav>
                                      </p:tavLst>
                                    </p:anim>
                                    <p:animEffect transition="in" filter="fade">
                                      <p:cBhvr>
                                        <p:cTn id="51" dur="1000"/>
                                        <p:tgtEl>
                                          <p:spTgt spid="6">
                                            <p:txEl>
                                              <p:pRg st="6" end="6"/>
                                            </p:txEl>
                                          </p:spTgt>
                                        </p:tgtEl>
                                      </p:cBhvr>
                                    </p:animEffect>
                                  </p:childTnLst>
                                </p:cTn>
                              </p:par>
                              <p:par>
                                <p:cTn id="52" presetID="12" presetClass="entr" presetSubtype="8" fill="hold" nodeType="withEffect">
                                  <p:stCondLst>
                                    <p:cond delay="0"/>
                                  </p:stCondLst>
                                  <p:childTnLst>
                                    <p:set>
                                      <p:cBhvr>
                                        <p:cTn id="53" dur="1" fill="hold">
                                          <p:stCondLst>
                                            <p:cond delay="0"/>
                                          </p:stCondLst>
                                        </p:cTn>
                                        <p:tgtEl>
                                          <p:spTgt spid="8"/>
                                        </p:tgtEl>
                                        <p:attrNameLst>
                                          <p:attrName>style.visibility</p:attrName>
                                        </p:attrNameLst>
                                      </p:cBhvr>
                                      <p:to>
                                        <p:strVal val="visible"/>
                                      </p:to>
                                    </p:set>
                                    <p:anim calcmode="lin" valueType="num">
                                      <p:cBhvr additive="base">
                                        <p:cTn id="54" dur="500"/>
                                        <p:tgtEl>
                                          <p:spTgt spid="8"/>
                                        </p:tgtEl>
                                        <p:attrNameLst>
                                          <p:attrName>ppt_x</p:attrName>
                                        </p:attrNameLst>
                                      </p:cBhvr>
                                      <p:tavLst>
                                        <p:tav tm="0">
                                          <p:val>
                                            <p:strVal val="#ppt_x-#ppt_w*1.125000"/>
                                          </p:val>
                                        </p:tav>
                                        <p:tav tm="100000">
                                          <p:val>
                                            <p:strVal val="#ppt_x"/>
                                          </p:val>
                                        </p:tav>
                                      </p:tavLst>
                                    </p:anim>
                                    <p:animEffect transition="in" filter="wipe(right)">
                                      <p:cBhvr>
                                        <p:cTn id="55" dur="500"/>
                                        <p:tgtEl>
                                          <p:spTgt spid="8"/>
                                        </p:tgtEl>
                                      </p:cBhvr>
                                    </p:animEffect>
                                  </p:childTnLst>
                                </p:cTn>
                              </p:par>
                              <p:par>
                                <p:cTn id="56" presetID="42" presetClass="entr" presetSubtype="0" fill="hold" nodeType="withEffect">
                                  <p:stCondLst>
                                    <p:cond delay="0"/>
                                  </p:stCondLst>
                                  <p:childTnLst>
                                    <p:set>
                                      <p:cBhvr>
                                        <p:cTn id="57" dur="1" fill="hold">
                                          <p:stCondLst>
                                            <p:cond delay="0"/>
                                          </p:stCondLst>
                                        </p:cTn>
                                        <p:tgtEl>
                                          <p:spTgt spid="13"/>
                                        </p:tgtEl>
                                        <p:attrNameLst>
                                          <p:attrName>style.visibility</p:attrName>
                                        </p:attrNameLst>
                                      </p:cBhvr>
                                      <p:to>
                                        <p:strVal val="visible"/>
                                      </p:to>
                                    </p:set>
                                    <p:animEffect transition="in" filter="fade">
                                      <p:cBhvr>
                                        <p:cTn id="58" dur="1000"/>
                                        <p:tgtEl>
                                          <p:spTgt spid="13"/>
                                        </p:tgtEl>
                                      </p:cBhvr>
                                    </p:animEffect>
                                    <p:anim calcmode="lin" valueType="num">
                                      <p:cBhvr>
                                        <p:cTn id="59" dur="1000" fill="hold"/>
                                        <p:tgtEl>
                                          <p:spTgt spid="13"/>
                                        </p:tgtEl>
                                        <p:attrNameLst>
                                          <p:attrName>ppt_x</p:attrName>
                                        </p:attrNameLst>
                                      </p:cBhvr>
                                      <p:tavLst>
                                        <p:tav tm="0">
                                          <p:val>
                                            <p:strVal val="#ppt_x"/>
                                          </p:val>
                                        </p:tav>
                                        <p:tav tm="100000">
                                          <p:val>
                                            <p:strVal val="#ppt_x"/>
                                          </p:val>
                                        </p:tav>
                                      </p:tavLst>
                                    </p:anim>
                                    <p:anim calcmode="lin" valueType="num">
                                      <p:cBhvr>
                                        <p:cTn id="60" dur="1000" fill="hold"/>
                                        <p:tgtEl>
                                          <p:spTgt spid="13"/>
                                        </p:tgtEl>
                                        <p:attrNameLst>
                                          <p:attrName>ppt_y</p:attrName>
                                        </p:attrNameLst>
                                      </p:cBhvr>
                                      <p:tavLst>
                                        <p:tav tm="0">
                                          <p:val>
                                            <p:strVal val="#ppt_y+.1"/>
                                          </p:val>
                                        </p:tav>
                                        <p:tav tm="100000">
                                          <p:val>
                                            <p:strVal val="#ppt_y"/>
                                          </p:val>
                                        </p:tav>
                                      </p:tavLst>
                                    </p:anim>
                                  </p:childTnLst>
                                </p:cTn>
                              </p:par>
                              <p:par>
                                <p:cTn id="61" presetID="12" presetClass="entr" presetSubtype="8" fill="hold" grpId="1" nodeType="withEffect">
                                  <p:stCondLst>
                                    <p:cond delay="0"/>
                                  </p:stCondLst>
                                  <p:childTnLst>
                                    <p:set>
                                      <p:cBhvr>
                                        <p:cTn id="62" dur="1" fill="hold">
                                          <p:stCondLst>
                                            <p:cond delay="0"/>
                                          </p:stCondLst>
                                        </p:cTn>
                                        <p:tgtEl>
                                          <p:spTgt spid="14"/>
                                        </p:tgtEl>
                                        <p:attrNameLst>
                                          <p:attrName>style.visibility</p:attrName>
                                        </p:attrNameLst>
                                      </p:cBhvr>
                                      <p:to>
                                        <p:strVal val="visible"/>
                                      </p:to>
                                    </p:set>
                                    <p:anim calcmode="lin" valueType="num">
                                      <p:cBhvr additive="base">
                                        <p:cTn id="63" dur="250"/>
                                        <p:tgtEl>
                                          <p:spTgt spid="14"/>
                                        </p:tgtEl>
                                        <p:attrNameLst>
                                          <p:attrName>ppt_x</p:attrName>
                                        </p:attrNameLst>
                                      </p:cBhvr>
                                      <p:tavLst>
                                        <p:tav tm="0">
                                          <p:val>
                                            <p:strVal val="#ppt_x-#ppt_w*1.125000"/>
                                          </p:val>
                                        </p:tav>
                                        <p:tav tm="100000">
                                          <p:val>
                                            <p:strVal val="#ppt_x"/>
                                          </p:val>
                                        </p:tav>
                                      </p:tavLst>
                                    </p:anim>
                                    <p:animEffect transition="in" filter="wipe(right)">
                                      <p:cBhvr>
                                        <p:cTn id="64"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C:\Users\TCSJ\Desktop\地铁PPT\bg2.pngbg2"/>
          <p:cNvPicPr>
            <a:picLocks noChangeAspect="1"/>
          </p:cNvPicPr>
          <p:nvPr/>
        </p:nvPicPr>
        <p:blipFill>
          <a:blip r:embed="rId1"/>
          <a:srcRect/>
          <a:stretch>
            <a:fillRect/>
          </a:stretch>
        </p:blipFill>
        <p:spPr>
          <a:xfrm>
            <a:off x="-7144" y="30949"/>
            <a:ext cx="9158288" cy="5152073"/>
          </a:xfrm>
          <a:prstGeom prst="rect">
            <a:avLst/>
          </a:prstGeom>
        </p:spPr>
      </p:pic>
      <p:pic>
        <p:nvPicPr>
          <p:cNvPr id="3" name="图片 2" descr="E:\曹飞\2017\2017-8-8地铁PPT\5.png5"/>
          <p:cNvPicPr>
            <a:picLocks noChangeAspect="1"/>
          </p:cNvPicPr>
          <p:nvPr/>
        </p:nvPicPr>
        <p:blipFill>
          <a:blip r:embed="rId2" cstate="email"/>
          <a:srcRect/>
          <a:stretch>
            <a:fillRect/>
          </a:stretch>
        </p:blipFill>
        <p:spPr>
          <a:xfrm>
            <a:off x="-2210752" y="-2100739"/>
            <a:ext cx="7341394" cy="8766810"/>
          </a:xfrm>
          <a:prstGeom prst="rect">
            <a:avLst/>
          </a:prstGeom>
        </p:spPr>
      </p:pic>
      <p:pic>
        <p:nvPicPr>
          <p:cNvPr id="10" name="图片 9" descr="E:\曹飞\2017\2017-8-8地铁PPT\3.png3"/>
          <p:cNvPicPr>
            <a:picLocks noChangeAspect="1"/>
          </p:cNvPicPr>
          <p:nvPr/>
        </p:nvPicPr>
        <p:blipFill>
          <a:blip r:embed="rId3" cstate="email"/>
          <a:srcRect/>
          <a:stretch>
            <a:fillRect/>
          </a:stretch>
        </p:blipFill>
        <p:spPr>
          <a:xfrm>
            <a:off x="653415" y="4402218"/>
            <a:ext cx="8497729" cy="382429"/>
          </a:xfrm>
          <a:prstGeom prst="rect">
            <a:avLst/>
          </a:prstGeom>
        </p:spPr>
      </p:pic>
      <p:sp>
        <p:nvSpPr>
          <p:cNvPr id="9" name="Freeform 5"/>
          <p:cNvSpPr/>
          <p:nvPr/>
        </p:nvSpPr>
        <p:spPr bwMode="auto">
          <a:xfrm>
            <a:off x="4808220" y="2646521"/>
            <a:ext cx="1236345" cy="1493520"/>
          </a:xfrm>
          <a:custGeom>
            <a:avLst/>
            <a:gdLst>
              <a:gd name="T0" fmla="*/ 1625 w 1625"/>
              <a:gd name="T1" fmla="*/ 1477 h 1623"/>
              <a:gd name="T2" fmla="*/ 1625 w 1625"/>
              <a:gd name="T3" fmla="*/ 1623 h 1623"/>
              <a:gd name="T4" fmla="*/ 0 w 1625"/>
              <a:gd name="T5" fmla="*/ 1623 h 1623"/>
              <a:gd name="T6" fmla="*/ 0 w 1625"/>
              <a:gd name="T7" fmla="*/ 0 h 1623"/>
              <a:gd name="T8" fmla="*/ 1625 w 1625"/>
              <a:gd name="T9" fmla="*/ 0 h 1623"/>
              <a:gd name="T10" fmla="*/ 1625 w 1625"/>
              <a:gd name="T11" fmla="*/ 608 h 1623"/>
            </a:gdLst>
            <a:ahLst/>
            <a:cxnLst>
              <a:cxn ang="0">
                <a:pos x="T0" y="T1"/>
              </a:cxn>
              <a:cxn ang="0">
                <a:pos x="T2" y="T3"/>
              </a:cxn>
              <a:cxn ang="0">
                <a:pos x="T4" y="T5"/>
              </a:cxn>
              <a:cxn ang="0">
                <a:pos x="T6" y="T7"/>
              </a:cxn>
              <a:cxn ang="0">
                <a:pos x="T8" y="T9"/>
              </a:cxn>
              <a:cxn ang="0">
                <a:pos x="T10" y="T11"/>
              </a:cxn>
            </a:cxnLst>
            <a:rect l="0" t="0" r="r" b="b"/>
            <a:pathLst>
              <a:path w="1625" h="1623">
                <a:moveTo>
                  <a:pt x="1625" y="1477"/>
                </a:moveTo>
                <a:lnTo>
                  <a:pt x="1625" y="1623"/>
                </a:lnTo>
                <a:lnTo>
                  <a:pt x="0" y="1623"/>
                </a:lnTo>
                <a:lnTo>
                  <a:pt x="0" y="0"/>
                </a:lnTo>
                <a:lnTo>
                  <a:pt x="1625" y="0"/>
                </a:lnTo>
                <a:lnTo>
                  <a:pt x="1625" y="608"/>
                </a:lnTo>
              </a:path>
            </a:pathLst>
          </a:custGeom>
          <a:noFill/>
          <a:ln w="76200" cap="flat">
            <a:solidFill>
              <a:srgbClr val="C09D3C"/>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lstStyle/>
          <a:p>
            <a:endParaRPr lang="zh-CN" altLang="en-US">
              <a:solidFill>
                <a:prstClr val="black"/>
              </a:solidFill>
              <a:latin typeface="Arial" panose="020B0604020202020204"/>
              <a:ea typeface="微软雅黑" panose="020B0503020204020204" charset="-122"/>
              <a:sym typeface="Arial" panose="020B0604020202020204"/>
            </a:endParaRPr>
          </a:p>
        </p:txBody>
      </p:sp>
      <p:sp>
        <p:nvSpPr>
          <p:cNvPr id="7" name="TextBox 24"/>
          <p:cNvSpPr txBox="1"/>
          <p:nvPr/>
        </p:nvSpPr>
        <p:spPr>
          <a:xfrm>
            <a:off x="5938362" y="3442653"/>
            <a:ext cx="2846546" cy="421262"/>
          </a:xfrm>
          <a:prstGeom prst="rect">
            <a:avLst/>
          </a:prstGeom>
          <a:noFill/>
        </p:spPr>
        <p:txBody>
          <a:bodyPr wrap="square" lIns="51428" tIns="25714" rIns="51428" bIns="25714" rtlCol="0">
            <a:spAutoFit/>
          </a:bodyPr>
          <a:lstStyle/>
          <a:p>
            <a:pPr algn="ctr"/>
            <a:r>
              <a:rPr lang="zh-CN" altLang="en-US" sz="2400" b="1" dirty="0" smtClean="0">
                <a:solidFill>
                  <a:srgbClr val="C09D3C"/>
                </a:solidFill>
                <a:latin typeface="微软雅黑" panose="020B0503020204020204" charset="-122"/>
                <a:ea typeface="微软雅黑" panose="020B0503020204020204" charset="-122"/>
                <a:sym typeface="+mn-ea"/>
              </a:rPr>
              <a:t>报告</a:t>
            </a:r>
            <a:endParaRPr lang="zh-CN" altLang="en-US" sz="2400" b="1" dirty="0">
              <a:solidFill>
                <a:schemeClr val="tx1">
                  <a:lumMod val="75000"/>
                  <a:lumOff val="25000"/>
                </a:schemeClr>
              </a:solidFill>
              <a:latin typeface="微软雅黑" panose="020B0503020204020204" charset="-122"/>
              <a:ea typeface="微软雅黑" panose="020B0503020204020204" charset="-122"/>
              <a:sym typeface="+mn-ea"/>
            </a:endParaRPr>
          </a:p>
        </p:txBody>
      </p:sp>
      <p:cxnSp>
        <p:nvCxnSpPr>
          <p:cNvPr id="11" name="直接连接符 10"/>
          <p:cNvCxnSpPr/>
          <p:nvPr/>
        </p:nvCxnSpPr>
        <p:spPr>
          <a:xfrm>
            <a:off x="6000274" y="3896678"/>
            <a:ext cx="2676182" cy="0"/>
          </a:xfrm>
          <a:prstGeom prst="line">
            <a:avLst/>
          </a:prstGeom>
          <a:ln w="34925">
            <a:solidFill>
              <a:srgbClr val="C09D3C"/>
            </a:solidFill>
          </a:ln>
        </p:spPr>
        <p:style>
          <a:lnRef idx="1">
            <a:srgbClr val="814E67"/>
          </a:lnRef>
          <a:fillRef idx="0">
            <a:srgbClr val="814E67"/>
          </a:fillRef>
          <a:effectRef idx="0">
            <a:srgbClr val="814E67"/>
          </a:effectRef>
          <a:fontRef idx="minor">
            <a:srgbClr val="000000"/>
          </a:fontRef>
        </p:style>
      </p:cxnSp>
      <p:sp>
        <p:nvSpPr>
          <p:cNvPr id="14" name="TextBox 24"/>
          <p:cNvSpPr txBox="1"/>
          <p:nvPr/>
        </p:nvSpPr>
        <p:spPr>
          <a:xfrm>
            <a:off x="4932522" y="3074194"/>
            <a:ext cx="1312069" cy="1065848"/>
          </a:xfrm>
          <a:prstGeom prst="rect">
            <a:avLst/>
          </a:prstGeom>
          <a:noFill/>
        </p:spPr>
        <p:txBody>
          <a:bodyPr wrap="square" lIns="51428" tIns="25714" rIns="51428" bIns="25714" rtlCol="0">
            <a:spAutoFit/>
          </a:bodyPr>
          <a:lstStyle/>
          <a:p>
            <a:r>
              <a:rPr lang="en-US" altLang="zh-CN" sz="6600" dirty="0" smtClean="0">
                <a:solidFill>
                  <a:srgbClr val="C09D3C"/>
                </a:solidFill>
                <a:latin typeface="Arial" panose="020B0604020202020204"/>
                <a:ea typeface="微软雅黑" panose="020B0503020204020204" charset="-122"/>
                <a:sym typeface="Arial" panose="020B0604020202020204"/>
              </a:rPr>
              <a:t>03</a:t>
            </a:r>
            <a:endParaRPr lang="en-US" altLang="zh-CN" sz="6600" dirty="0">
              <a:solidFill>
                <a:srgbClr val="C09D3C"/>
              </a:solidFill>
              <a:latin typeface="Arial" panose="020B0604020202020204"/>
              <a:ea typeface="微软雅黑" panose="020B0503020204020204" charset="-122"/>
              <a:sym typeface="Arial" panose="020B0604020202020204"/>
            </a:endParaRPr>
          </a:p>
        </p:txBody>
      </p:sp>
    </p:spTree>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E:\曹飞\2017\2017-8-8地铁PPT\6.png6"/>
          <p:cNvPicPr>
            <a:picLocks noChangeAspect="1"/>
          </p:cNvPicPr>
          <p:nvPr/>
        </p:nvPicPr>
        <p:blipFill>
          <a:blip r:embed="rId1" cstate="email"/>
          <a:srcRect/>
          <a:stretch>
            <a:fillRect/>
          </a:stretch>
        </p:blipFill>
        <p:spPr>
          <a:xfrm>
            <a:off x="2261712" y="239317"/>
            <a:ext cx="6463189" cy="343376"/>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pic>
        <p:nvPicPr>
          <p:cNvPr id="13" name="图片 12" descr="E:\曹飞\2017\2017-8-8地铁PPT\7.png7"/>
          <p:cNvPicPr>
            <a:picLocks noChangeAspect="1"/>
          </p:cNvPicPr>
          <p:nvPr/>
        </p:nvPicPr>
        <p:blipFill>
          <a:blip r:embed="rId2" cstate="email"/>
          <a:srcRect/>
          <a:stretch>
            <a:fillRect/>
          </a:stretch>
        </p:blipFill>
        <p:spPr>
          <a:xfrm>
            <a:off x="-6667" y="4477465"/>
            <a:ext cx="9168289" cy="668179"/>
          </a:xfrm>
          <a:prstGeom prst="rect">
            <a:avLst/>
          </a:prstGeom>
        </p:spPr>
      </p:pic>
      <p:sp>
        <p:nvSpPr>
          <p:cNvPr id="10" name="TextBox 9"/>
          <p:cNvSpPr txBox="1"/>
          <p:nvPr/>
        </p:nvSpPr>
        <p:spPr>
          <a:xfrm>
            <a:off x="941073" y="1203598"/>
            <a:ext cx="7272808" cy="1804670"/>
          </a:xfrm>
          <a:prstGeom prst="rect">
            <a:avLst/>
          </a:prstGeom>
          <a:noFill/>
        </p:spPr>
        <p:txBody>
          <a:bodyPr wrap="square" rtlCol="0">
            <a:spAutoFit/>
          </a:bodyPr>
          <a:lstStyle/>
          <a:p>
            <a:pPr marL="342900" indent="-342900">
              <a:lnSpc>
                <a:spcPct val="90000"/>
              </a:lnSpc>
              <a:spcBef>
                <a:spcPct val="20000"/>
              </a:spcBef>
              <a:buClr>
                <a:srgbClr val="0066CC"/>
              </a:buClr>
            </a:pPr>
            <a:r>
              <a:rPr lang="en-US" altLang="zh-CN" b="1" dirty="0" smtClean="0">
                <a:latin typeface="黑体" panose="02010609060101010101" pitchFamily="49" charset="-122"/>
                <a:ea typeface="黑体" panose="02010609060101010101" pitchFamily="49" charset="-122"/>
              </a:rPr>
              <a:t>    </a:t>
            </a:r>
            <a:r>
              <a:rPr lang="zh-CN" altLang="en-US" b="1" dirty="0" smtClean="0">
                <a:latin typeface="黑体" panose="02010609060101010101" pitchFamily="49" charset="-122"/>
                <a:ea typeface="黑体" panose="02010609060101010101" pitchFamily="49" charset="-122"/>
              </a:rPr>
              <a:t>报告的含义</a:t>
            </a:r>
            <a:endParaRPr lang="zh-CN" altLang="en-US" dirty="0" smtClean="0">
              <a:latin typeface="黑体" panose="02010609060101010101" pitchFamily="49" charset="-122"/>
              <a:ea typeface="黑体" panose="02010609060101010101" pitchFamily="49" charset="-122"/>
            </a:endParaRPr>
          </a:p>
          <a:p>
            <a:pPr>
              <a:lnSpc>
                <a:spcPct val="90000"/>
              </a:lnSpc>
              <a:buClr>
                <a:srgbClr val="0066CC"/>
              </a:buClr>
            </a:pPr>
            <a:r>
              <a:rPr lang="en-US" altLang="zh-CN" dirty="0" smtClean="0"/>
              <a:t>        </a:t>
            </a:r>
            <a:endParaRPr lang="en-US" altLang="zh-CN" dirty="0" smtClean="0"/>
          </a:p>
          <a:p>
            <a:pPr marL="342900" indent="-342900" algn="l">
              <a:lnSpc>
                <a:spcPct val="90000"/>
              </a:lnSpc>
              <a:spcBef>
                <a:spcPct val="20000"/>
              </a:spcBef>
              <a:buClr>
                <a:srgbClr val="0066CC"/>
              </a:buClr>
              <a:buSzTx/>
              <a:buNone/>
            </a:pPr>
            <a:r>
              <a:rPr lang="en-US" altLang="zh-CN" dirty="0" smtClean="0"/>
              <a:t>         </a:t>
            </a:r>
            <a:r>
              <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rPr>
              <a:t>报告适用于向上级机关汇报工作、反映情况、提出意见或者建议，</a:t>
            </a:r>
            <a:endPar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endParaRPr>
          </a:p>
          <a:p>
            <a:pPr marL="342900" indent="-342900" algn="l">
              <a:lnSpc>
                <a:spcPct val="90000"/>
              </a:lnSpc>
              <a:spcBef>
                <a:spcPct val="20000"/>
              </a:spcBef>
              <a:buClr>
                <a:srgbClr val="0066CC"/>
              </a:buClr>
              <a:buSzTx/>
              <a:buNone/>
            </a:pPr>
            <a:r>
              <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rPr>
              <a:t>答复上级机关的询问。报告属上行文，一般产生于事情过程中或事后。</a:t>
            </a:r>
            <a:endPar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endParaRPr>
          </a:p>
          <a:p>
            <a:pPr marL="342900" indent="-342900">
              <a:lnSpc>
                <a:spcPct val="90000"/>
              </a:lnSpc>
              <a:spcBef>
                <a:spcPct val="20000"/>
              </a:spcBef>
              <a:buClr>
                <a:srgbClr val="0066CC"/>
              </a:buClr>
            </a:pPr>
            <a:endParaRPr lang="en-US" altLang="zh-CN" dirty="0" smtClean="0">
              <a:latin typeface="仿宋_GB2312" panose="02010609030101010101" pitchFamily="49" charset="-122"/>
              <a:ea typeface="仿宋_GB2312" panose="02010609030101010101" pitchFamily="49" charset="-122"/>
            </a:endParaRPr>
          </a:p>
          <a:p>
            <a:pPr marL="342900" indent="-342900">
              <a:lnSpc>
                <a:spcPct val="90000"/>
              </a:lnSpc>
              <a:spcBef>
                <a:spcPct val="20000"/>
              </a:spcBef>
              <a:buClr>
                <a:srgbClr val="0066CC"/>
              </a:buClr>
            </a:pPr>
            <a:endParaRPr lang="en-US" altLang="zh-CN" dirty="0" smtClean="0">
              <a:latin typeface="仿宋_GB2312" panose="02010609030101010101" pitchFamily="49" charset="-122"/>
              <a:ea typeface="仿宋_GB2312" panose="02010609030101010101" pitchFamily="49" charset="-122"/>
              <a:cs typeface="Times New Roman" panose="02020603050405020304" pitchFamily="18" charset="0"/>
            </a:endParaRPr>
          </a:p>
        </p:txBody>
      </p:sp>
      <p:pic>
        <p:nvPicPr>
          <p:cNvPr id="9" name="图片 8"/>
          <p:cNvPicPr>
            <a:picLocks noChangeAspect="1"/>
          </p:cNvPicPr>
          <p:nvPr/>
        </p:nvPicPr>
        <p:blipFill>
          <a:blip r:embed="rId3"/>
          <a:stretch>
            <a:fillRect/>
          </a:stretch>
        </p:blipFill>
        <p:spPr>
          <a:xfrm>
            <a:off x="575945" y="297180"/>
            <a:ext cx="1685925" cy="419100"/>
          </a:xfrm>
          <a:prstGeom prst="rect">
            <a:avLst/>
          </a:prstGeom>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right)">
                                      <p:cBhvr>
                                        <p:cTn id="8" dur="500"/>
                                        <p:tgtEl>
                                          <p:spTgt spid="8"/>
                                        </p:tgtEl>
                                      </p:cBhvr>
                                    </p:animEffect>
                                  </p:childTnLst>
                                </p:cTn>
                              </p:par>
                              <p:par>
                                <p:cTn id="9" presetID="12" presetClass="entr" presetSubtype="8" fill="hold" grpId="1"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250"/>
                                        <p:tgtEl>
                                          <p:spTgt spid="14"/>
                                        </p:tgtEl>
                                        <p:attrNameLst>
                                          <p:attrName>ppt_x</p:attrName>
                                        </p:attrNameLst>
                                      </p:cBhvr>
                                      <p:tavLst>
                                        <p:tav tm="0">
                                          <p:val>
                                            <p:strVal val="#ppt_x-#ppt_w*1.125000"/>
                                          </p:val>
                                        </p:tav>
                                        <p:tav tm="100000">
                                          <p:val>
                                            <p:strVal val="#ppt_x"/>
                                          </p:val>
                                        </p:tav>
                                      </p:tavLst>
                                    </p:anim>
                                    <p:animEffect transition="in" filter="wipe(right)">
                                      <p:cBhvr>
                                        <p:cTn id="12" dur="250"/>
                                        <p:tgtEl>
                                          <p:spTgt spid="14"/>
                                        </p:tgtEl>
                                      </p:cBhvr>
                                    </p:animEffect>
                                  </p:childTnLst>
                                </p:cTn>
                              </p:par>
                              <p:par>
                                <p:cTn id="13" presetID="42"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1000"/>
                                        <p:tgtEl>
                                          <p:spTgt spid="13"/>
                                        </p:tgtEl>
                                      </p:cBhvr>
                                    </p:animEffect>
                                    <p:anim calcmode="lin" valueType="num">
                                      <p:cBhvr>
                                        <p:cTn id="16" dur="1000" fill="hold"/>
                                        <p:tgtEl>
                                          <p:spTgt spid="13"/>
                                        </p:tgtEl>
                                        <p:attrNameLst>
                                          <p:attrName>ppt_x</p:attrName>
                                        </p:attrNameLst>
                                      </p:cBhvr>
                                      <p:tavLst>
                                        <p:tav tm="0">
                                          <p:val>
                                            <p:strVal val="#ppt_x"/>
                                          </p:val>
                                        </p:tav>
                                        <p:tav tm="100000">
                                          <p:val>
                                            <p:strVal val="#ppt_x"/>
                                          </p:val>
                                        </p:tav>
                                      </p:tavLst>
                                    </p:anim>
                                    <p:anim calcmode="lin" valueType="num">
                                      <p:cBhvr>
                                        <p:cTn id="17"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7" name="Rectangle 3"/>
          <p:cNvSpPr>
            <a:spLocks noGrp="1" noChangeArrowheads="1"/>
          </p:cNvSpPr>
          <p:nvPr>
            <p:ph idx="1"/>
          </p:nvPr>
        </p:nvSpPr>
        <p:spPr>
          <a:xfrm>
            <a:off x="472440" y="1031240"/>
            <a:ext cx="8492490" cy="3646805"/>
          </a:xfrm>
        </p:spPr>
        <p:txBody>
          <a:bodyPr>
            <a:normAutofit/>
          </a:bodyPr>
          <a:lstStyle/>
          <a:p>
            <a:pPr eaLnBrk="1" hangingPunct="1">
              <a:lnSpc>
                <a:spcPct val="90000"/>
              </a:lnSpc>
              <a:buClr>
                <a:srgbClr val="0066CC"/>
              </a:buClr>
              <a:buFont typeface="Wingdings" panose="05000000000000000000" pitchFamily="2" charset="2"/>
              <a:buNone/>
            </a:pPr>
            <a:r>
              <a:rPr lang="en-US" altLang="zh-CN" sz="1945" b="1" dirty="0">
                <a:latin typeface="黑体" panose="02010609060101010101" pitchFamily="49" charset="-122"/>
                <a:ea typeface="黑体" panose="02010609060101010101" pitchFamily="49" charset="-122"/>
                <a:cs typeface="黑体" panose="02010609060101010101" pitchFamily="49" charset="-122"/>
              </a:rPr>
              <a:t>       </a:t>
            </a:r>
            <a:r>
              <a:rPr lang="zh-CN" altLang="en-US" sz="1800" b="1" dirty="0">
                <a:latin typeface="黑体" panose="02010609060101010101" pitchFamily="49" charset="-122"/>
                <a:ea typeface="黑体" panose="02010609060101010101" pitchFamily="49" charset="-122"/>
                <a:cs typeface="黑体" panose="02010609060101010101" pitchFamily="49" charset="-122"/>
              </a:rPr>
              <a:t>一、报告的特点</a:t>
            </a:r>
            <a:r>
              <a:rPr lang="zh-CN" altLang="en-US" sz="1945" b="1" dirty="0">
                <a:latin typeface="黑体" panose="02010609060101010101" pitchFamily="49" charset="-122"/>
                <a:ea typeface="黑体" panose="02010609060101010101" pitchFamily="49" charset="-122"/>
                <a:cs typeface="黑体" panose="02010609060101010101" pitchFamily="49" charset="-122"/>
              </a:rPr>
              <a:t> </a:t>
            </a:r>
            <a:endParaRPr lang="zh-CN" altLang="en-US" sz="1945" b="1" dirty="0">
              <a:latin typeface="黑体" panose="02010609060101010101" pitchFamily="49" charset="-122"/>
              <a:ea typeface="黑体" panose="02010609060101010101" pitchFamily="49" charset="-122"/>
              <a:cs typeface="黑体" panose="02010609060101010101" pitchFamily="49" charset="-122"/>
            </a:endParaRPr>
          </a:p>
          <a:p>
            <a:pPr algn="l" eaLnBrk="1" hangingPunct="1">
              <a:lnSpc>
                <a:spcPct val="90000"/>
              </a:lnSpc>
              <a:buClr>
                <a:srgbClr val="0066CC"/>
              </a:buClr>
              <a:buSzTx/>
              <a:buFont typeface="Wingdings" panose="05000000000000000000" pitchFamily="2" charset="2"/>
              <a:buNone/>
            </a:pPr>
            <a:r>
              <a:rPr lang="zh-CN" altLang="en-US" sz="2400" dirty="0" smtClean="0"/>
              <a:t>        </a:t>
            </a:r>
            <a:r>
              <a:rPr lang="zh-CN" altLang="en-US" sz="1800" dirty="0" smtClean="0">
                <a:latin typeface="Times New Roman" panose="02020603050405020304" pitchFamily="18" charset="0"/>
                <a:ea typeface="仿宋_GB2312" panose="02010609030101010101" pitchFamily="49" charset="-122"/>
                <a:cs typeface="Times New Roman" panose="02020603050405020304" pitchFamily="18" charset="0"/>
              </a:rPr>
              <a:t>     1.单向性 。报告是下级机关向上级机关上行文，不需要上级机关给予批复。在这方面，报告和请示有较大的不同。请示具有双向性特点，必须有批复与之相对应，报告则是单向性行文，不需要任何相对应的文件。</a:t>
            </a:r>
            <a:endParaRPr lang="zh-CN" altLang="en-US" sz="1800" dirty="0" smtClean="0">
              <a:latin typeface="Times New Roman" panose="02020603050405020304" pitchFamily="18" charset="0"/>
              <a:ea typeface="仿宋_GB2312" panose="02010609030101010101" pitchFamily="49" charset="-122"/>
              <a:cs typeface="Times New Roman" panose="02020603050405020304" pitchFamily="18" charset="0"/>
            </a:endParaRPr>
          </a:p>
          <a:p>
            <a:pPr algn="l" eaLnBrk="1" hangingPunct="1">
              <a:lnSpc>
                <a:spcPct val="90000"/>
              </a:lnSpc>
              <a:buClr>
                <a:srgbClr val="0066CC"/>
              </a:buClr>
              <a:buSzTx/>
              <a:buFont typeface="Wingdings" panose="05000000000000000000" pitchFamily="2" charset="2"/>
              <a:buNone/>
            </a:pPr>
            <a:r>
              <a:rPr lang="zh-CN" altLang="en-US" sz="1800" dirty="0" smtClean="0">
                <a:latin typeface="Times New Roman" panose="02020603050405020304" pitchFamily="18" charset="0"/>
                <a:ea typeface="仿宋_GB2312" panose="02010609030101010101" pitchFamily="49" charset="-122"/>
                <a:cs typeface="Times New Roman" panose="02020603050405020304" pitchFamily="18" charset="0"/>
              </a:rPr>
              <a:t>               2.陈述性。报告在汇报工作、反映情况时，所表达的内容和使用的语言都是陈述性的。本单位遵照上级的指示，做了什么工作、怎样做的这些工作、取得了哪些成绩、还存在哪些不足，必然要一一向上级陈述。反映情况时，也要把时间、地点、人物、事件、原因、结果叙述清楚，向上级机关提供准确的现实性信息。即便是提出建议的报告，也要在汇报情况的基础上，才能深入一步提出建议来。 </a:t>
            </a:r>
            <a:endParaRPr lang="zh-CN" altLang="en-US" sz="1800" dirty="0" smtClean="0">
              <a:latin typeface="Times New Roman" panose="02020603050405020304" pitchFamily="18" charset="0"/>
              <a:ea typeface="仿宋_GB2312" panose="02010609030101010101" pitchFamily="49" charset="-122"/>
              <a:cs typeface="Times New Roman" panose="02020603050405020304" pitchFamily="18" charset="0"/>
            </a:endParaRPr>
          </a:p>
          <a:p>
            <a:pPr algn="l" eaLnBrk="1" hangingPunct="1">
              <a:lnSpc>
                <a:spcPct val="90000"/>
              </a:lnSpc>
              <a:buClr>
                <a:srgbClr val="0066CC"/>
              </a:buClr>
              <a:buSzTx/>
              <a:buFont typeface="Wingdings" panose="05000000000000000000" pitchFamily="2" charset="2"/>
              <a:buNone/>
            </a:pPr>
            <a:r>
              <a:rPr lang="zh-CN" altLang="en-US" sz="1800" dirty="0" smtClean="0">
                <a:latin typeface="Times New Roman" panose="02020603050405020304" pitchFamily="18" charset="0"/>
                <a:ea typeface="仿宋_GB2312" panose="02010609030101010101" pitchFamily="49" charset="-122"/>
                <a:cs typeface="Times New Roman" panose="02020603050405020304" pitchFamily="18" charset="0"/>
              </a:rPr>
              <a:t>               3.事后性 。在机关工作中，有“事前请示，事后报告”的说法。多数报告，都是在开展了一段时间的工作之后，或是在某种情况发生之后向上级作出的汇报。但建议报告没有明显的事后性特点，应该尽量超前一些 。</a:t>
            </a:r>
            <a:endParaRPr lang="zh-CN" altLang="en-US" sz="1800" dirty="0" smtClean="0">
              <a:latin typeface="Times New Roman" panose="02020603050405020304" pitchFamily="18" charset="0"/>
              <a:ea typeface="仿宋_GB2312" panose="02010609030101010101" pitchFamily="49" charset="-122"/>
              <a:cs typeface="Times New Roman" panose="02020603050405020304" pitchFamily="18" charset="0"/>
            </a:endParaRPr>
          </a:p>
        </p:txBody>
      </p:sp>
      <p:pic>
        <p:nvPicPr>
          <p:cNvPr id="13" name="图片 12" descr="E:\曹飞\2017\2017-8-8地铁PPT\7.png7"/>
          <p:cNvPicPr>
            <a:picLocks noChangeAspect="1"/>
          </p:cNvPicPr>
          <p:nvPr/>
        </p:nvPicPr>
        <p:blipFill>
          <a:blip r:embed="rId1" cstate="email"/>
          <a:srcRect/>
          <a:stretch>
            <a:fillRect/>
          </a:stretch>
        </p:blipFill>
        <p:spPr>
          <a:xfrm>
            <a:off x="-6667" y="4477465"/>
            <a:ext cx="9168289" cy="668179"/>
          </a:xfrm>
          <a:prstGeom prst="rect">
            <a:avLst/>
          </a:prstGeom>
        </p:spPr>
      </p:pic>
      <p:pic>
        <p:nvPicPr>
          <p:cNvPr id="8" name="图片 7" descr="E:\曹飞\2017\2017-8-8地铁PPT\6.png6"/>
          <p:cNvPicPr>
            <a:picLocks noChangeAspect="1"/>
          </p:cNvPicPr>
          <p:nvPr/>
        </p:nvPicPr>
        <p:blipFill>
          <a:blip r:embed="rId2" cstate="email"/>
          <a:srcRect/>
          <a:stretch>
            <a:fillRect/>
          </a:stretch>
        </p:blipFill>
        <p:spPr>
          <a:xfrm>
            <a:off x="2261712" y="230427"/>
            <a:ext cx="6463189" cy="343376"/>
          </a:xfrm>
          <a:prstGeom prst="rect">
            <a:avLst/>
          </a:prstGeom>
        </p:spPr>
      </p:pic>
      <p:pic>
        <p:nvPicPr>
          <p:cNvPr id="9" name="图片 8"/>
          <p:cNvPicPr>
            <a:picLocks noChangeAspect="1"/>
          </p:cNvPicPr>
          <p:nvPr/>
        </p:nvPicPr>
        <p:blipFill>
          <a:blip r:embed="rId3"/>
          <a:stretch>
            <a:fillRect/>
          </a:stretch>
        </p:blipFill>
        <p:spPr>
          <a:xfrm>
            <a:off x="575945" y="297180"/>
            <a:ext cx="1685925" cy="419100"/>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9507">
                                            <p:txEl>
                                              <p:pRg st="1" end="1"/>
                                            </p:txEl>
                                          </p:spTgt>
                                        </p:tgtEl>
                                        <p:attrNameLst>
                                          <p:attrName>style.visibility</p:attrName>
                                        </p:attrNameLst>
                                      </p:cBhvr>
                                      <p:to>
                                        <p:strVal val="visible"/>
                                      </p:to>
                                    </p:set>
                                    <p:animEffect transition="in" filter="blinds(horizontal)">
                                      <p:cBhvr>
                                        <p:cTn id="7" dur="500"/>
                                        <p:tgtEl>
                                          <p:spTgt spid="14950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49507">
                                            <p:txEl>
                                              <p:pRg st="2" end="2"/>
                                            </p:txEl>
                                          </p:spTgt>
                                        </p:tgtEl>
                                        <p:attrNameLst>
                                          <p:attrName>style.visibility</p:attrName>
                                        </p:attrNameLst>
                                      </p:cBhvr>
                                      <p:to>
                                        <p:strVal val="visible"/>
                                      </p:to>
                                    </p:set>
                                    <p:animEffect transition="in" filter="blinds(horizontal)">
                                      <p:cBhvr>
                                        <p:cTn id="12" dur="500"/>
                                        <p:tgtEl>
                                          <p:spTgt spid="14950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49507">
                                            <p:txEl>
                                              <p:pRg st="3" end="3"/>
                                            </p:txEl>
                                          </p:spTgt>
                                        </p:tgtEl>
                                        <p:attrNameLst>
                                          <p:attrName>style.visibility</p:attrName>
                                        </p:attrNameLst>
                                      </p:cBhvr>
                                      <p:to>
                                        <p:strVal val="visible"/>
                                      </p:to>
                                    </p:set>
                                    <p:animEffect transition="in" filter="blinds(horizontal)">
                                      <p:cBhvr>
                                        <p:cTn id="17" dur="500"/>
                                        <p:tgtEl>
                                          <p:spTgt spid="149507">
                                            <p:txEl>
                                              <p:pRg st="3" end="3"/>
                                            </p:txEl>
                                          </p:spTgt>
                                        </p:tgtEl>
                                      </p:cBhvr>
                                    </p:animEffect>
                                  </p:childTnLst>
                                </p:cTn>
                              </p:par>
                              <p:par>
                                <p:cTn id="18" presetID="42" presetClass="entr" presetSubtype="0" fill="hold"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1000"/>
                                        <p:tgtEl>
                                          <p:spTgt spid="13"/>
                                        </p:tgtEl>
                                      </p:cBhvr>
                                    </p:animEffect>
                                    <p:anim calcmode="lin" valueType="num">
                                      <p:cBhvr>
                                        <p:cTn id="21" dur="1000" fill="hold"/>
                                        <p:tgtEl>
                                          <p:spTgt spid="13"/>
                                        </p:tgtEl>
                                        <p:attrNameLst>
                                          <p:attrName>ppt_x</p:attrName>
                                        </p:attrNameLst>
                                      </p:cBhvr>
                                      <p:tavLst>
                                        <p:tav tm="0">
                                          <p:val>
                                            <p:strVal val="#ppt_x"/>
                                          </p:val>
                                        </p:tav>
                                        <p:tav tm="100000">
                                          <p:val>
                                            <p:strVal val="#ppt_x"/>
                                          </p:val>
                                        </p:tav>
                                      </p:tavLst>
                                    </p:anim>
                                    <p:anim calcmode="lin" valueType="num">
                                      <p:cBhvr>
                                        <p:cTn id="22" dur="1000" fill="hold"/>
                                        <p:tgtEl>
                                          <p:spTgt spid="13"/>
                                        </p:tgtEl>
                                        <p:attrNameLst>
                                          <p:attrName>ppt_y</p:attrName>
                                        </p:attrNameLst>
                                      </p:cBhvr>
                                      <p:tavLst>
                                        <p:tav tm="0">
                                          <p:val>
                                            <p:strVal val="#ppt_y+.1"/>
                                          </p:val>
                                        </p:tav>
                                        <p:tav tm="100000">
                                          <p:val>
                                            <p:strVal val="#ppt_y"/>
                                          </p:val>
                                        </p:tav>
                                      </p:tavLst>
                                    </p:anim>
                                  </p:childTnLst>
                                </p:cTn>
                              </p:par>
                              <p:par>
                                <p:cTn id="23" presetID="12" presetClass="entr" presetSubtype="8" fill="hold" nodeType="with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p:tgtEl>
                                          <p:spTgt spid="8"/>
                                        </p:tgtEl>
                                        <p:attrNameLst>
                                          <p:attrName>ppt_x</p:attrName>
                                        </p:attrNameLst>
                                      </p:cBhvr>
                                      <p:tavLst>
                                        <p:tav tm="0">
                                          <p:val>
                                            <p:strVal val="#ppt_x-#ppt_w*1.125000"/>
                                          </p:val>
                                        </p:tav>
                                        <p:tav tm="100000">
                                          <p:val>
                                            <p:strVal val="#ppt_x"/>
                                          </p:val>
                                        </p:tav>
                                      </p:tavLst>
                                    </p:anim>
                                    <p:animEffect transition="in" filter="wipe(right)">
                                      <p:cBhvr>
                                        <p:cTn id="26" dur="500"/>
                                        <p:tgtEl>
                                          <p:spTgt spid="8"/>
                                        </p:tgtEl>
                                      </p:cBhvr>
                                    </p:animEffect>
                                  </p:childTnLst>
                                </p:cTn>
                              </p:par>
                              <p:par>
                                <p:cTn id="27" presetID="12" presetClass="entr" presetSubtype="8" fill="hold" grpId="1" nodeType="withEffect">
                                  <p:stCondLst>
                                    <p:cond delay="0"/>
                                  </p:stCondLst>
                                  <p:childTnLst>
                                    <p:set>
                                      <p:cBhvr>
                                        <p:cTn id="28" dur="1" fill="hold">
                                          <p:stCondLst>
                                            <p:cond delay="0"/>
                                          </p:stCondLst>
                                        </p:cTn>
                                        <p:tgtEl>
                                          <p:spTgt spid="14"/>
                                        </p:tgtEl>
                                        <p:attrNameLst>
                                          <p:attrName>style.visibility</p:attrName>
                                        </p:attrNameLst>
                                      </p:cBhvr>
                                      <p:to>
                                        <p:strVal val="visible"/>
                                      </p:to>
                                    </p:set>
                                    <p:anim calcmode="lin" valueType="num">
                                      <p:cBhvr additive="base">
                                        <p:cTn id="29" dur="250"/>
                                        <p:tgtEl>
                                          <p:spTgt spid="14"/>
                                        </p:tgtEl>
                                        <p:attrNameLst>
                                          <p:attrName>ppt_x</p:attrName>
                                        </p:attrNameLst>
                                      </p:cBhvr>
                                      <p:tavLst>
                                        <p:tav tm="0">
                                          <p:val>
                                            <p:strVal val="#ppt_x-#ppt_w*1.125000"/>
                                          </p:val>
                                        </p:tav>
                                        <p:tav tm="100000">
                                          <p:val>
                                            <p:strVal val="#ppt_x"/>
                                          </p:val>
                                        </p:tav>
                                      </p:tavLst>
                                    </p:anim>
                                    <p:animEffect transition="in" filter="wipe(right)">
                                      <p:cBhvr>
                                        <p:cTn id="3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3"/>
          <p:cNvSpPr>
            <a:spLocks noGrp="1" noChangeArrowheads="1"/>
          </p:cNvSpPr>
          <p:nvPr>
            <p:ph idx="1"/>
          </p:nvPr>
        </p:nvSpPr>
        <p:spPr>
          <a:xfrm>
            <a:off x="998220" y="914400"/>
            <a:ext cx="7606030" cy="3709670"/>
          </a:xfrm>
        </p:spPr>
        <p:txBody>
          <a:bodyPr>
            <a:normAutofit/>
          </a:bodyPr>
          <a:lstStyle/>
          <a:p>
            <a:pPr eaLnBrk="1" hangingPunct="1">
              <a:lnSpc>
                <a:spcPct val="90000"/>
              </a:lnSpc>
              <a:buClr>
                <a:srgbClr val="0066CC"/>
              </a:buClr>
              <a:buNone/>
            </a:pPr>
            <a:r>
              <a:rPr lang="en-US" altLang="zh-CN" sz="2485" b="1" dirty="0">
                <a:latin typeface="黑体" panose="02010609060101010101" pitchFamily="49" charset="-122"/>
                <a:ea typeface="黑体" panose="02010609060101010101" pitchFamily="49" charset="-122"/>
                <a:cs typeface="黑体" panose="02010609060101010101" pitchFamily="49" charset="-122"/>
              </a:rPr>
              <a:t>   </a:t>
            </a:r>
            <a:r>
              <a:rPr lang="zh-CN" altLang="en-US" sz="1800" b="1" dirty="0">
                <a:latin typeface="黑体" panose="02010609060101010101" pitchFamily="49" charset="-122"/>
                <a:ea typeface="黑体" panose="02010609060101010101" pitchFamily="49" charset="-122"/>
                <a:cs typeface="黑体" panose="02010609060101010101" pitchFamily="49" charset="-122"/>
              </a:rPr>
              <a:t>二、报告的类型</a:t>
            </a:r>
            <a:r>
              <a:rPr lang="zh-CN" altLang="en-US" sz="2485" b="1" dirty="0">
                <a:latin typeface="黑体" panose="02010609060101010101" pitchFamily="49" charset="-122"/>
                <a:ea typeface="黑体" panose="02010609060101010101" pitchFamily="49" charset="-122"/>
                <a:cs typeface="黑体" panose="02010609060101010101" pitchFamily="49" charset="-122"/>
              </a:rPr>
              <a:t> </a:t>
            </a:r>
            <a:endParaRPr lang="zh-CN" altLang="en-US" sz="2485" b="1" dirty="0">
              <a:latin typeface="黑体" panose="02010609060101010101" pitchFamily="49" charset="-122"/>
              <a:ea typeface="黑体" panose="02010609060101010101" pitchFamily="49" charset="-122"/>
              <a:cs typeface="黑体" panose="02010609060101010101" pitchFamily="49" charset="-122"/>
            </a:endParaRPr>
          </a:p>
          <a:p>
            <a:pPr eaLnBrk="1" hangingPunct="1">
              <a:lnSpc>
                <a:spcPct val="90000"/>
              </a:lnSpc>
              <a:buClr>
                <a:srgbClr val="0066CC"/>
              </a:buClr>
              <a:buNone/>
            </a:pPr>
            <a:r>
              <a:rPr lang="zh-CN" altLang="en-US" sz="1800" dirty="0" smtClean="0">
                <a:latin typeface="Times New Roman" panose="02020603050405020304" pitchFamily="18" charset="0"/>
                <a:ea typeface="仿宋_GB2312" panose="02010609030101010101" pitchFamily="49" charset="-122"/>
                <a:cs typeface="Times New Roman" panose="02020603050405020304" pitchFamily="18" charset="0"/>
              </a:rPr>
              <a:t>        1.工作报告 </a:t>
            </a:r>
            <a:endParaRPr lang="zh-CN" altLang="en-US" sz="1800" dirty="0" smtClean="0">
              <a:latin typeface="Times New Roman" panose="02020603050405020304" pitchFamily="18" charset="0"/>
              <a:ea typeface="仿宋_GB2312" panose="02010609030101010101" pitchFamily="49" charset="-122"/>
              <a:cs typeface="Times New Roman" panose="02020603050405020304" pitchFamily="18" charset="0"/>
            </a:endParaRPr>
          </a:p>
          <a:p>
            <a:pPr marL="0" indent="0" eaLnBrk="1" hangingPunct="1">
              <a:buFont typeface="Wingdings" panose="05000000000000000000" pitchFamily="2" charset="2"/>
              <a:buNone/>
            </a:pPr>
            <a:r>
              <a:rPr lang="zh-CN" altLang="en-US" sz="1800" dirty="0" smtClean="0">
                <a:latin typeface="Times New Roman" panose="02020603050405020304" pitchFamily="18" charset="0"/>
                <a:ea typeface="仿宋_GB2312" panose="02010609030101010101" pitchFamily="49" charset="-122"/>
                <a:cs typeface="Times New Roman" panose="02020603050405020304" pitchFamily="18" charset="0"/>
              </a:rPr>
              <a:t>        凡是用来向上级汇报工作的报告，都是工作报告。工作报告又可分为综合工作报告和专题工作报告两种。 </a:t>
            </a:r>
            <a:endParaRPr lang="zh-CN" altLang="en-US" sz="1800" dirty="0" smtClean="0">
              <a:latin typeface="Times New Roman" panose="02020603050405020304" pitchFamily="18" charset="0"/>
              <a:ea typeface="仿宋_GB2312" panose="02010609030101010101" pitchFamily="49" charset="-122"/>
              <a:cs typeface="Times New Roman" panose="02020603050405020304" pitchFamily="18" charset="0"/>
            </a:endParaRPr>
          </a:p>
          <a:p>
            <a:pPr eaLnBrk="1" hangingPunct="1">
              <a:lnSpc>
                <a:spcPct val="90000"/>
              </a:lnSpc>
              <a:buClr>
                <a:srgbClr val="0066CC"/>
              </a:buClr>
              <a:buNone/>
            </a:pPr>
            <a:r>
              <a:rPr lang="zh-CN" altLang="en-US" sz="1800" dirty="0" smtClean="0">
                <a:latin typeface="Times New Roman" panose="02020603050405020304" pitchFamily="18" charset="0"/>
                <a:ea typeface="仿宋_GB2312" panose="02010609030101010101" pitchFamily="49" charset="-122"/>
                <a:cs typeface="Times New Roman" panose="02020603050405020304" pitchFamily="18" charset="0"/>
              </a:rPr>
              <a:t>        2.情况报告 </a:t>
            </a:r>
            <a:endParaRPr lang="zh-CN" altLang="en-US" sz="1800" dirty="0" smtClean="0">
              <a:latin typeface="Times New Roman" panose="02020603050405020304" pitchFamily="18" charset="0"/>
              <a:ea typeface="仿宋_GB2312" panose="02010609030101010101" pitchFamily="49" charset="-122"/>
              <a:cs typeface="Times New Roman" panose="02020603050405020304" pitchFamily="18" charset="0"/>
            </a:endParaRPr>
          </a:p>
          <a:p>
            <a:pPr marL="0" indent="0" eaLnBrk="1" hangingPunct="1">
              <a:lnSpc>
                <a:spcPct val="80000"/>
              </a:lnSpc>
              <a:buNone/>
            </a:pPr>
            <a:r>
              <a:rPr lang="zh-CN" altLang="en-US" sz="1800" dirty="0" smtClean="0">
                <a:latin typeface="Times New Roman" panose="02020603050405020304" pitchFamily="18" charset="0"/>
                <a:ea typeface="仿宋_GB2312" panose="02010609030101010101" pitchFamily="49" charset="-122"/>
                <a:cs typeface="Times New Roman" panose="02020603050405020304" pitchFamily="18" charset="0"/>
              </a:rPr>
              <a:t>        公司的新动态、新风气、新事物的汇报等等，凡此种种，都属于“情况报告”。</a:t>
            </a:r>
            <a:endParaRPr lang="zh-CN" altLang="en-US" sz="1800" dirty="0" smtClean="0">
              <a:latin typeface="Times New Roman" panose="02020603050405020304" pitchFamily="18" charset="0"/>
              <a:ea typeface="仿宋_GB2312" panose="02010609030101010101" pitchFamily="49" charset="-122"/>
              <a:cs typeface="Times New Roman" panose="02020603050405020304" pitchFamily="18" charset="0"/>
            </a:endParaRPr>
          </a:p>
          <a:p>
            <a:pPr eaLnBrk="1" hangingPunct="1">
              <a:lnSpc>
                <a:spcPct val="90000"/>
              </a:lnSpc>
              <a:buClr>
                <a:srgbClr val="0066CC"/>
              </a:buClr>
              <a:buNone/>
            </a:pPr>
            <a:r>
              <a:rPr lang="zh-CN" altLang="en-US" sz="1800" dirty="0" smtClean="0">
                <a:latin typeface="Times New Roman" panose="02020603050405020304" pitchFamily="18" charset="0"/>
                <a:ea typeface="仿宋_GB2312" panose="02010609030101010101" pitchFamily="49" charset="-122"/>
                <a:cs typeface="Times New Roman" panose="02020603050405020304" pitchFamily="18" charset="0"/>
              </a:rPr>
              <a:t>         3.建议报告 </a:t>
            </a:r>
            <a:endParaRPr lang="zh-CN" altLang="en-US" sz="1800" dirty="0" smtClean="0">
              <a:latin typeface="Times New Roman" panose="02020603050405020304" pitchFamily="18" charset="0"/>
              <a:ea typeface="仿宋_GB2312" panose="02010609030101010101" pitchFamily="49" charset="-122"/>
              <a:cs typeface="Times New Roman" panose="02020603050405020304" pitchFamily="18" charset="0"/>
            </a:endParaRPr>
          </a:p>
          <a:p>
            <a:pPr marL="0" indent="0" eaLnBrk="1" hangingPunct="1">
              <a:lnSpc>
                <a:spcPct val="80000"/>
              </a:lnSpc>
              <a:buNone/>
            </a:pPr>
            <a:r>
              <a:rPr lang="zh-CN" altLang="en-US" sz="1800" dirty="0" smtClean="0">
                <a:latin typeface="Times New Roman" panose="02020603050405020304" pitchFamily="18" charset="0"/>
                <a:ea typeface="仿宋_GB2312" panose="02010609030101010101" pitchFamily="49" charset="-122"/>
                <a:cs typeface="Times New Roman" panose="02020603050405020304" pitchFamily="18" charset="0"/>
              </a:rPr>
              <a:t>        对自己职权范围内的某方面工作有了深思熟虑、切实可行的设想之后，将其归纳整理成意见、办法、方案，上报上级，希望上级机关采纳，这就是建议报告。</a:t>
            </a:r>
            <a:endParaRPr lang="zh-CN" altLang="en-US" sz="1800" dirty="0" smtClean="0">
              <a:latin typeface="Times New Roman" panose="02020603050405020304" pitchFamily="18" charset="0"/>
              <a:ea typeface="仿宋_GB2312" panose="02010609030101010101" pitchFamily="49" charset="-122"/>
              <a:cs typeface="Times New Roman" panose="02020603050405020304" pitchFamily="18" charset="0"/>
            </a:endParaRPr>
          </a:p>
          <a:p>
            <a:pPr eaLnBrk="1" hangingPunct="1">
              <a:buFont typeface="Wingdings" panose="05000000000000000000" pitchFamily="2" charset="2"/>
              <a:buNone/>
            </a:pPr>
            <a:endParaRPr lang="zh-CN" altLang="en-US" sz="1800" dirty="0" smtClean="0">
              <a:latin typeface="Times New Roman" panose="02020603050405020304" pitchFamily="18" charset="0"/>
              <a:ea typeface="仿宋_GB2312" panose="02010609030101010101" pitchFamily="49" charset="-122"/>
              <a:cs typeface="Times New Roman" panose="02020603050405020304" pitchFamily="18" charset="0"/>
            </a:endParaRPr>
          </a:p>
        </p:txBody>
      </p:sp>
      <p:pic>
        <p:nvPicPr>
          <p:cNvPr id="13" name="图片 12" descr="E:\曹飞\2017\2017-8-8地铁PPT\7.png7"/>
          <p:cNvPicPr>
            <a:picLocks noChangeAspect="1"/>
          </p:cNvPicPr>
          <p:nvPr/>
        </p:nvPicPr>
        <p:blipFill>
          <a:blip r:embed="rId1" cstate="email"/>
          <a:srcRect/>
          <a:stretch>
            <a:fillRect/>
          </a:stretch>
        </p:blipFill>
        <p:spPr>
          <a:xfrm>
            <a:off x="-6667" y="4477465"/>
            <a:ext cx="9168289" cy="668179"/>
          </a:xfrm>
          <a:prstGeom prst="rect">
            <a:avLst/>
          </a:prstGeom>
        </p:spPr>
      </p:pic>
      <p:pic>
        <p:nvPicPr>
          <p:cNvPr id="9" name="图片 8"/>
          <p:cNvPicPr>
            <a:picLocks noChangeAspect="1"/>
          </p:cNvPicPr>
          <p:nvPr/>
        </p:nvPicPr>
        <p:blipFill>
          <a:blip r:embed="rId2"/>
          <a:stretch>
            <a:fillRect/>
          </a:stretch>
        </p:blipFill>
        <p:spPr>
          <a:xfrm>
            <a:off x="575945" y="297180"/>
            <a:ext cx="1685925" cy="419100"/>
          </a:xfrm>
          <a:prstGeom prst="rect">
            <a:avLst/>
          </a:prstGeom>
        </p:spPr>
      </p:pic>
      <p:pic>
        <p:nvPicPr>
          <p:cNvPr id="8" name="图片 7" descr="E:\曹飞\2017\2017-8-8地铁PPT\6.png6"/>
          <p:cNvPicPr>
            <a:picLocks noChangeAspect="1"/>
          </p:cNvPicPr>
          <p:nvPr/>
        </p:nvPicPr>
        <p:blipFill>
          <a:blip r:embed="rId3" cstate="email"/>
          <a:srcRect/>
          <a:stretch>
            <a:fillRect/>
          </a:stretch>
        </p:blipFill>
        <p:spPr>
          <a:xfrm>
            <a:off x="2261712" y="230427"/>
            <a:ext cx="6463189" cy="343376"/>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par>
                                <p:cTn id="10" presetID="12" presetClass="entr" presetSubtype="8"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p:tgtEl>
                                          <p:spTgt spid="8"/>
                                        </p:tgtEl>
                                        <p:attrNameLst>
                                          <p:attrName>ppt_x</p:attrName>
                                        </p:attrNameLst>
                                      </p:cBhvr>
                                      <p:tavLst>
                                        <p:tav tm="0">
                                          <p:val>
                                            <p:strVal val="#ppt_x-#ppt_w*1.125000"/>
                                          </p:val>
                                        </p:tav>
                                        <p:tav tm="100000">
                                          <p:val>
                                            <p:strVal val="#ppt_x"/>
                                          </p:val>
                                        </p:tav>
                                      </p:tavLst>
                                    </p:anim>
                                    <p:animEffect transition="in" filter="wipe(right)">
                                      <p:cBhvr>
                                        <p:cTn id="13" dur="500"/>
                                        <p:tgtEl>
                                          <p:spTgt spid="8"/>
                                        </p:tgtEl>
                                      </p:cBhvr>
                                    </p:animEffect>
                                  </p:childTnLst>
                                </p:cTn>
                              </p:par>
                              <p:par>
                                <p:cTn id="14" presetID="12" presetClass="entr" presetSubtype="8" fill="hold" grpId="1" nodeType="withEffect">
                                  <p:stCondLst>
                                    <p:cond delay="0"/>
                                  </p:stCondLst>
                                  <p:childTnLst>
                                    <p:set>
                                      <p:cBhvr>
                                        <p:cTn id="15" dur="1" fill="hold">
                                          <p:stCondLst>
                                            <p:cond delay="0"/>
                                          </p:stCondLst>
                                        </p:cTn>
                                        <p:tgtEl>
                                          <p:spTgt spid="14"/>
                                        </p:tgtEl>
                                        <p:attrNameLst>
                                          <p:attrName>style.visibility</p:attrName>
                                        </p:attrNameLst>
                                      </p:cBhvr>
                                      <p:to>
                                        <p:strVal val="visible"/>
                                      </p:to>
                                    </p:set>
                                    <p:anim calcmode="lin" valueType="num">
                                      <p:cBhvr additive="base">
                                        <p:cTn id="16" dur="250"/>
                                        <p:tgtEl>
                                          <p:spTgt spid="14"/>
                                        </p:tgtEl>
                                        <p:attrNameLst>
                                          <p:attrName>ppt_x</p:attrName>
                                        </p:attrNameLst>
                                      </p:cBhvr>
                                      <p:tavLst>
                                        <p:tav tm="0">
                                          <p:val>
                                            <p:strVal val="#ppt_x-#ppt_w*1.125000"/>
                                          </p:val>
                                        </p:tav>
                                        <p:tav tm="100000">
                                          <p:val>
                                            <p:strVal val="#ppt_x"/>
                                          </p:val>
                                        </p:tav>
                                      </p:tavLst>
                                    </p:anim>
                                    <p:animEffect transition="in" filter="wipe(right)">
                                      <p:cBhvr>
                                        <p:cTn id="17"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5" name="Rectangle 3"/>
          <p:cNvSpPr>
            <a:spLocks noGrp="1" noChangeArrowheads="1"/>
          </p:cNvSpPr>
          <p:nvPr>
            <p:ph idx="1"/>
          </p:nvPr>
        </p:nvSpPr>
        <p:spPr>
          <a:xfrm>
            <a:off x="760095" y="964565"/>
            <a:ext cx="7811135" cy="3338830"/>
          </a:xfrm>
        </p:spPr>
        <p:txBody>
          <a:bodyPr>
            <a:normAutofit/>
          </a:bodyPr>
          <a:lstStyle/>
          <a:p>
            <a:pPr eaLnBrk="1" hangingPunct="1">
              <a:lnSpc>
                <a:spcPct val="90000"/>
              </a:lnSpc>
              <a:buClr>
                <a:srgbClr val="0066CC"/>
              </a:buClr>
              <a:buNone/>
            </a:pPr>
            <a:r>
              <a:rPr lang="en-US" altLang="zh-CN" sz="1800" dirty="0" smtClean="0">
                <a:latin typeface="Times New Roman" panose="02020603050405020304" pitchFamily="18" charset="0"/>
                <a:ea typeface="仿宋_GB2312" panose="02010609030101010101" pitchFamily="49" charset="-122"/>
                <a:cs typeface="Times New Roman" panose="02020603050405020304" pitchFamily="18" charset="0"/>
              </a:rPr>
              <a:t>        </a:t>
            </a:r>
            <a:r>
              <a:rPr lang="zh-CN" altLang="en-US" sz="1800" dirty="0" smtClean="0">
                <a:latin typeface="Times New Roman" panose="02020603050405020304" pitchFamily="18" charset="0"/>
                <a:ea typeface="仿宋_GB2312" panose="02010609030101010101" pitchFamily="49" charset="-122"/>
                <a:cs typeface="Times New Roman" panose="02020603050405020304" pitchFamily="18" charset="0"/>
              </a:rPr>
              <a:t>4.答复报告 </a:t>
            </a:r>
            <a:endParaRPr lang="zh-CN" altLang="en-US" sz="1800" dirty="0" smtClean="0">
              <a:latin typeface="Times New Roman" panose="02020603050405020304" pitchFamily="18" charset="0"/>
              <a:ea typeface="仿宋_GB2312" panose="02010609030101010101" pitchFamily="49" charset="-122"/>
              <a:cs typeface="Times New Roman" panose="02020603050405020304" pitchFamily="18" charset="0"/>
            </a:endParaRPr>
          </a:p>
          <a:p>
            <a:pPr marL="0" indent="0" eaLnBrk="1" hangingPunct="1">
              <a:buFont typeface="Wingdings" panose="05000000000000000000" pitchFamily="2" charset="2"/>
              <a:buNone/>
            </a:pPr>
            <a:r>
              <a:rPr lang="zh-CN" altLang="en-US" sz="1800" dirty="0" smtClean="0">
                <a:latin typeface="Times New Roman" panose="02020603050405020304" pitchFamily="18" charset="0"/>
                <a:ea typeface="仿宋_GB2312" panose="02010609030101010101" pitchFamily="49" charset="-122"/>
                <a:cs typeface="Times New Roman" panose="02020603050405020304" pitchFamily="18" charset="0"/>
              </a:rPr>
              <a:t>        答复上级机关询问的报告，称为答复报告。这种报告内容针对性最强，上级询问什么，就答复什么，不能答非所问。对待上级机关的询问，一定要慎重，如果不了解真情，要经过深入的调查研究后再作答复。 </a:t>
            </a:r>
            <a:endParaRPr lang="zh-CN" altLang="en-US" sz="1800" dirty="0" smtClean="0">
              <a:latin typeface="Times New Roman" panose="02020603050405020304" pitchFamily="18" charset="0"/>
              <a:ea typeface="仿宋_GB2312" panose="02010609030101010101" pitchFamily="49" charset="-122"/>
              <a:cs typeface="Times New Roman" panose="02020603050405020304" pitchFamily="18" charset="0"/>
            </a:endParaRPr>
          </a:p>
          <a:p>
            <a:pPr eaLnBrk="1" hangingPunct="1">
              <a:lnSpc>
                <a:spcPct val="90000"/>
              </a:lnSpc>
              <a:buClr>
                <a:srgbClr val="0066CC"/>
              </a:buClr>
              <a:buNone/>
            </a:pPr>
            <a:r>
              <a:rPr lang="zh-CN" altLang="en-US" sz="1800" dirty="0" smtClean="0">
                <a:latin typeface="Times New Roman" panose="02020603050405020304" pitchFamily="18" charset="0"/>
                <a:ea typeface="仿宋_GB2312" panose="02010609030101010101" pitchFamily="49" charset="-122"/>
                <a:cs typeface="Times New Roman" panose="02020603050405020304" pitchFamily="18" charset="0"/>
              </a:rPr>
              <a:t>        5.报送报告 </a:t>
            </a:r>
            <a:endParaRPr lang="zh-CN" altLang="en-US" sz="1800" dirty="0" smtClean="0">
              <a:latin typeface="Times New Roman" panose="02020603050405020304" pitchFamily="18" charset="0"/>
              <a:ea typeface="仿宋_GB2312" panose="02010609030101010101" pitchFamily="49" charset="-122"/>
              <a:cs typeface="Times New Roman" panose="02020603050405020304" pitchFamily="18" charset="0"/>
            </a:endParaRPr>
          </a:p>
          <a:p>
            <a:pPr marL="0" indent="0" eaLnBrk="1" hangingPunct="1">
              <a:buFont typeface="Wingdings" panose="05000000000000000000" pitchFamily="2" charset="2"/>
              <a:buNone/>
            </a:pPr>
            <a:r>
              <a:rPr lang="zh-CN" altLang="en-US" sz="1800" dirty="0" smtClean="0">
                <a:latin typeface="Times New Roman" panose="02020603050405020304" pitchFamily="18" charset="0"/>
                <a:ea typeface="仿宋_GB2312" panose="02010609030101010101" pitchFamily="49" charset="-122"/>
                <a:cs typeface="Times New Roman" panose="02020603050405020304" pitchFamily="18" charset="0"/>
              </a:rPr>
              <a:t>        这是向上级报送文件、物件时使用的报告，正文通常非常简略，只需写明“现将××××报上，请指正(请查收)”即可。真正有意义的内容都在所报送的文件里。 </a:t>
            </a:r>
            <a:endParaRPr lang="zh-CN" altLang="en-US" sz="1800" dirty="0" smtClean="0">
              <a:latin typeface="Times New Roman" panose="02020603050405020304" pitchFamily="18" charset="0"/>
              <a:ea typeface="仿宋_GB2312" panose="02010609030101010101" pitchFamily="49" charset="-122"/>
              <a:cs typeface="Times New Roman" panose="02020603050405020304" pitchFamily="18" charset="0"/>
            </a:endParaRPr>
          </a:p>
        </p:txBody>
      </p:sp>
      <p:pic>
        <p:nvPicPr>
          <p:cNvPr id="13" name="图片 12" descr="E:\曹飞\2017\2017-8-8地铁PPT\7.png7"/>
          <p:cNvPicPr>
            <a:picLocks noChangeAspect="1"/>
          </p:cNvPicPr>
          <p:nvPr/>
        </p:nvPicPr>
        <p:blipFill>
          <a:blip r:embed="rId1" cstate="email"/>
          <a:srcRect/>
          <a:stretch>
            <a:fillRect/>
          </a:stretch>
        </p:blipFill>
        <p:spPr>
          <a:xfrm>
            <a:off x="-6667" y="4477465"/>
            <a:ext cx="9168289" cy="668179"/>
          </a:xfrm>
          <a:prstGeom prst="rect">
            <a:avLst/>
          </a:prstGeom>
        </p:spPr>
      </p:pic>
      <p:pic>
        <p:nvPicPr>
          <p:cNvPr id="8" name="图片 7" descr="E:\曹飞\2017\2017-8-8地铁PPT\6.png6"/>
          <p:cNvPicPr>
            <a:picLocks noChangeAspect="1"/>
          </p:cNvPicPr>
          <p:nvPr/>
        </p:nvPicPr>
        <p:blipFill>
          <a:blip r:embed="rId2" cstate="email"/>
          <a:srcRect/>
          <a:stretch>
            <a:fillRect/>
          </a:stretch>
        </p:blipFill>
        <p:spPr>
          <a:xfrm>
            <a:off x="2261712" y="222172"/>
            <a:ext cx="6463189" cy="343376"/>
          </a:xfrm>
          <a:prstGeom prst="rect">
            <a:avLst/>
          </a:prstGeom>
        </p:spPr>
      </p:pic>
      <p:pic>
        <p:nvPicPr>
          <p:cNvPr id="9" name="图片 8"/>
          <p:cNvPicPr>
            <a:picLocks noChangeAspect="1"/>
          </p:cNvPicPr>
          <p:nvPr/>
        </p:nvPicPr>
        <p:blipFill>
          <a:blip r:embed="rId3"/>
          <a:stretch>
            <a:fillRect/>
          </a:stretch>
        </p:blipFill>
        <p:spPr>
          <a:xfrm>
            <a:off x="575945" y="297180"/>
            <a:ext cx="1685925" cy="419100"/>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151555">
                                            <p:txEl>
                                              <p:pRg st="0" end="0"/>
                                            </p:txEl>
                                          </p:spTgt>
                                        </p:tgtEl>
                                        <p:attrNameLst>
                                          <p:attrName>style.visibility</p:attrName>
                                        </p:attrNameLst>
                                      </p:cBhvr>
                                      <p:to>
                                        <p:strVal val="visible"/>
                                      </p:to>
                                    </p:set>
                                    <p:animEffect transition="in" filter="diamond(in)">
                                      <p:cBhvr>
                                        <p:cTn id="7" dur="2000"/>
                                        <p:tgtEl>
                                          <p:spTgt spid="151555">
                                            <p:txEl>
                                              <p:pRg st="0" end="0"/>
                                            </p:txEl>
                                          </p:spTgt>
                                        </p:tgtEl>
                                      </p:cBhvr>
                                    </p:animEffect>
                                  </p:childTnLst>
                                </p:cTn>
                              </p:par>
                              <p:par>
                                <p:cTn id="8" presetID="8" presetClass="entr" presetSubtype="16" fill="hold" nodeType="withEffect">
                                  <p:stCondLst>
                                    <p:cond delay="0"/>
                                  </p:stCondLst>
                                  <p:childTnLst>
                                    <p:set>
                                      <p:cBhvr>
                                        <p:cTn id="9" dur="1" fill="hold">
                                          <p:stCondLst>
                                            <p:cond delay="0"/>
                                          </p:stCondLst>
                                        </p:cTn>
                                        <p:tgtEl>
                                          <p:spTgt spid="151555">
                                            <p:txEl>
                                              <p:pRg st="1" end="1"/>
                                            </p:txEl>
                                          </p:spTgt>
                                        </p:tgtEl>
                                        <p:attrNameLst>
                                          <p:attrName>style.visibility</p:attrName>
                                        </p:attrNameLst>
                                      </p:cBhvr>
                                      <p:to>
                                        <p:strVal val="visible"/>
                                      </p:to>
                                    </p:set>
                                    <p:animEffect transition="in" filter="diamond(in)">
                                      <p:cBhvr>
                                        <p:cTn id="10" dur="2000"/>
                                        <p:tgtEl>
                                          <p:spTgt spid="15155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8" presetClass="entr" presetSubtype="16" fill="hold" nodeType="clickEffect">
                                  <p:stCondLst>
                                    <p:cond delay="0"/>
                                  </p:stCondLst>
                                  <p:childTnLst>
                                    <p:set>
                                      <p:cBhvr>
                                        <p:cTn id="14" dur="1" fill="hold">
                                          <p:stCondLst>
                                            <p:cond delay="0"/>
                                          </p:stCondLst>
                                        </p:cTn>
                                        <p:tgtEl>
                                          <p:spTgt spid="151555">
                                            <p:txEl>
                                              <p:pRg st="2" end="2"/>
                                            </p:txEl>
                                          </p:spTgt>
                                        </p:tgtEl>
                                        <p:attrNameLst>
                                          <p:attrName>style.visibility</p:attrName>
                                        </p:attrNameLst>
                                      </p:cBhvr>
                                      <p:to>
                                        <p:strVal val="visible"/>
                                      </p:to>
                                    </p:set>
                                    <p:animEffect transition="in" filter="diamond(in)">
                                      <p:cBhvr>
                                        <p:cTn id="15" dur="2000"/>
                                        <p:tgtEl>
                                          <p:spTgt spid="151555">
                                            <p:txEl>
                                              <p:pRg st="2" end="2"/>
                                            </p:txEl>
                                          </p:spTgt>
                                        </p:tgtEl>
                                      </p:cBhvr>
                                    </p:animEffect>
                                  </p:childTnLst>
                                </p:cTn>
                              </p:par>
                              <p:par>
                                <p:cTn id="16" presetID="8" presetClass="entr" presetSubtype="16" fill="hold" nodeType="withEffect">
                                  <p:stCondLst>
                                    <p:cond delay="0"/>
                                  </p:stCondLst>
                                  <p:childTnLst>
                                    <p:set>
                                      <p:cBhvr>
                                        <p:cTn id="17" dur="1" fill="hold">
                                          <p:stCondLst>
                                            <p:cond delay="0"/>
                                          </p:stCondLst>
                                        </p:cTn>
                                        <p:tgtEl>
                                          <p:spTgt spid="151555">
                                            <p:txEl>
                                              <p:pRg st="3" end="3"/>
                                            </p:txEl>
                                          </p:spTgt>
                                        </p:tgtEl>
                                        <p:attrNameLst>
                                          <p:attrName>style.visibility</p:attrName>
                                        </p:attrNameLst>
                                      </p:cBhvr>
                                      <p:to>
                                        <p:strVal val="visible"/>
                                      </p:to>
                                    </p:set>
                                    <p:animEffect transition="in" filter="diamond(in)">
                                      <p:cBhvr>
                                        <p:cTn id="18" dur="2000"/>
                                        <p:tgtEl>
                                          <p:spTgt spid="151555">
                                            <p:txEl>
                                              <p:pRg st="3" end="3"/>
                                            </p:txEl>
                                          </p:spTgt>
                                        </p:tgtEl>
                                      </p:cBhvr>
                                    </p:animEffect>
                                  </p:childTnLst>
                                </p:cTn>
                              </p:par>
                              <p:par>
                                <p:cTn id="19" presetID="42"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1000"/>
                                        <p:tgtEl>
                                          <p:spTgt spid="13"/>
                                        </p:tgtEl>
                                      </p:cBhvr>
                                    </p:animEffect>
                                    <p:anim calcmode="lin" valueType="num">
                                      <p:cBhvr>
                                        <p:cTn id="22" dur="1000" fill="hold"/>
                                        <p:tgtEl>
                                          <p:spTgt spid="13"/>
                                        </p:tgtEl>
                                        <p:attrNameLst>
                                          <p:attrName>ppt_x</p:attrName>
                                        </p:attrNameLst>
                                      </p:cBhvr>
                                      <p:tavLst>
                                        <p:tav tm="0">
                                          <p:val>
                                            <p:strVal val="#ppt_x"/>
                                          </p:val>
                                        </p:tav>
                                        <p:tav tm="100000">
                                          <p:val>
                                            <p:strVal val="#ppt_x"/>
                                          </p:val>
                                        </p:tav>
                                      </p:tavLst>
                                    </p:anim>
                                    <p:anim calcmode="lin" valueType="num">
                                      <p:cBhvr>
                                        <p:cTn id="23" dur="1000" fill="hold"/>
                                        <p:tgtEl>
                                          <p:spTgt spid="13"/>
                                        </p:tgtEl>
                                        <p:attrNameLst>
                                          <p:attrName>ppt_y</p:attrName>
                                        </p:attrNameLst>
                                      </p:cBhvr>
                                      <p:tavLst>
                                        <p:tav tm="0">
                                          <p:val>
                                            <p:strVal val="#ppt_y+.1"/>
                                          </p:val>
                                        </p:tav>
                                        <p:tav tm="100000">
                                          <p:val>
                                            <p:strVal val="#ppt_y"/>
                                          </p:val>
                                        </p:tav>
                                      </p:tavLst>
                                    </p:anim>
                                  </p:childTnLst>
                                </p:cTn>
                              </p:par>
                              <p:par>
                                <p:cTn id="24" presetID="12" presetClass="entr" presetSubtype="8" fill="hold" nodeType="withEffect">
                                  <p:stCondLst>
                                    <p:cond delay="0"/>
                                  </p:stCondLst>
                                  <p:childTnLst>
                                    <p:set>
                                      <p:cBhvr>
                                        <p:cTn id="25" dur="1" fill="hold">
                                          <p:stCondLst>
                                            <p:cond delay="0"/>
                                          </p:stCondLst>
                                        </p:cTn>
                                        <p:tgtEl>
                                          <p:spTgt spid="8"/>
                                        </p:tgtEl>
                                        <p:attrNameLst>
                                          <p:attrName>style.visibility</p:attrName>
                                        </p:attrNameLst>
                                      </p:cBhvr>
                                      <p:to>
                                        <p:strVal val="visible"/>
                                      </p:to>
                                    </p:set>
                                    <p:anim calcmode="lin" valueType="num">
                                      <p:cBhvr additive="base">
                                        <p:cTn id="26" dur="500"/>
                                        <p:tgtEl>
                                          <p:spTgt spid="8"/>
                                        </p:tgtEl>
                                        <p:attrNameLst>
                                          <p:attrName>ppt_x</p:attrName>
                                        </p:attrNameLst>
                                      </p:cBhvr>
                                      <p:tavLst>
                                        <p:tav tm="0">
                                          <p:val>
                                            <p:strVal val="#ppt_x-#ppt_w*1.125000"/>
                                          </p:val>
                                        </p:tav>
                                        <p:tav tm="100000">
                                          <p:val>
                                            <p:strVal val="#ppt_x"/>
                                          </p:val>
                                        </p:tav>
                                      </p:tavLst>
                                    </p:anim>
                                    <p:animEffect transition="in" filter="wipe(right)">
                                      <p:cBhvr>
                                        <p:cTn id="27" dur="500"/>
                                        <p:tgtEl>
                                          <p:spTgt spid="8"/>
                                        </p:tgtEl>
                                      </p:cBhvr>
                                    </p:animEffect>
                                  </p:childTnLst>
                                </p:cTn>
                              </p:par>
                              <p:par>
                                <p:cTn id="28" presetID="12" presetClass="entr" presetSubtype="8" fill="hold" grpId="1" nodeType="withEffect">
                                  <p:stCondLst>
                                    <p:cond delay="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250"/>
                                        <p:tgtEl>
                                          <p:spTgt spid="14"/>
                                        </p:tgtEl>
                                        <p:attrNameLst>
                                          <p:attrName>ppt_x</p:attrName>
                                        </p:attrNameLst>
                                      </p:cBhvr>
                                      <p:tavLst>
                                        <p:tav tm="0">
                                          <p:val>
                                            <p:strVal val="#ppt_x-#ppt_w*1.125000"/>
                                          </p:val>
                                        </p:tav>
                                        <p:tav tm="100000">
                                          <p:val>
                                            <p:strVal val="#ppt_x"/>
                                          </p:val>
                                        </p:tav>
                                      </p:tavLst>
                                    </p:anim>
                                    <p:animEffect transition="in" filter="wipe(right)">
                                      <p:cBhvr>
                                        <p:cTn id="31"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226695" y="640715"/>
            <a:ext cx="8460105" cy="1124585"/>
          </a:xfrm>
        </p:spPr>
        <p:txBody>
          <a:bodyPr>
            <a:normAutofit fontScale="90000"/>
          </a:bodyPr>
          <a:lstStyle/>
          <a:p>
            <a:pPr algn="l" eaLnBrk="1" hangingPunct="1"/>
            <a:r>
              <a:rPr lang="en-US" altLang="zh-CN" sz="2000" b="1" dirty="0">
                <a:solidFill>
                  <a:schemeClr val="tx1"/>
                </a:solidFill>
                <a:latin typeface="黑体" panose="02010609060101010101" pitchFamily="49" charset="-122"/>
                <a:ea typeface="黑体" panose="02010609060101010101" pitchFamily="49" charset="-122"/>
                <a:cs typeface="+mn-cs"/>
              </a:rPr>
              <a:t>      </a:t>
            </a:r>
            <a:r>
              <a:rPr lang="zh-CN" altLang="en-US" sz="2000" dirty="0">
                <a:solidFill>
                  <a:schemeClr val="tx1"/>
                </a:solidFill>
                <a:latin typeface="黑体" panose="02010609060101010101" pitchFamily="49" charset="-122"/>
                <a:ea typeface="黑体" panose="02010609060101010101" pitchFamily="49" charset="-122"/>
                <a:cs typeface="+mn-cs"/>
              </a:rPr>
              <a:t>三、报告的结构</a:t>
            </a:r>
            <a:r>
              <a:rPr lang="zh-CN" altLang="en-US" sz="2800" b="1" dirty="0">
                <a:solidFill>
                  <a:schemeClr val="tx1"/>
                </a:solidFill>
                <a:latin typeface="Arial" panose="020B0604020202020204"/>
                <a:ea typeface="宋体" panose="02010600030101010101" pitchFamily="2" charset="-122"/>
                <a:cs typeface="+mn-cs"/>
              </a:rPr>
              <a:t> </a:t>
            </a:r>
            <a:br>
              <a:rPr lang="zh-CN" altLang="en-US" b="1" dirty="0" smtClean="0">
                <a:solidFill>
                  <a:srgbClr val="A50021"/>
                </a:solidFill>
              </a:rPr>
            </a:br>
            <a:endParaRPr lang="zh-CN" altLang="en-US" b="1" dirty="0" smtClean="0">
              <a:solidFill>
                <a:srgbClr val="A50021"/>
              </a:solidFill>
            </a:endParaRPr>
          </a:p>
        </p:txBody>
      </p:sp>
      <p:sp>
        <p:nvSpPr>
          <p:cNvPr id="63491" name="Rectangle 3"/>
          <p:cNvSpPr>
            <a:spLocks noGrp="1" noChangeArrowheads="1"/>
          </p:cNvSpPr>
          <p:nvPr>
            <p:ph idx="1"/>
          </p:nvPr>
        </p:nvSpPr>
        <p:spPr>
          <a:xfrm>
            <a:off x="479425" y="1059180"/>
            <a:ext cx="7954645" cy="3620770"/>
          </a:xfrm>
        </p:spPr>
        <p:txBody>
          <a:bodyPr>
            <a:normAutofit fontScale="92500" lnSpcReduction="10000"/>
          </a:bodyPr>
          <a:lstStyle/>
          <a:p>
            <a:pPr eaLnBrk="1" hangingPunct="1">
              <a:lnSpc>
                <a:spcPct val="90000"/>
              </a:lnSpc>
              <a:buClr>
                <a:srgbClr val="0066CC"/>
              </a:buClr>
              <a:buNone/>
            </a:pPr>
            <a:r>
              <a:rPr lang="en-US" altLang="zh-CN" sz="2800" b="1" dirty="0">
                <a:latin typeface="Arial" panose="020B0604020202020204"/>
                <a:ea typeface="宋体" panose="02010600030101010101" pitchFamily="2" charset="-122"/>
              </a:rPr>
              <a:t>    </a:t>
            </a:r>
            <a:r>
              <a:rPr lang="en-US" altLang="zh-CN" sz="2800" dirty="0">
                <a:latin typeface="Arial" panose="020B0604020202020204"/>
                <a:ea typeface="宋体" panose="02010600030101010101" pitchFamily="2" charset="-122"/>
              </a:rPr>
              <a:t> </a:t>
            </a:r>
            <a:r>
              <a:rPr lang="en-US" altLang="zh-CN" sz="1945" dirty="0">
                <a:latin typeface="楷体_GB2312" panose="02010609030101010101" pitchFamily="49" charset="-122"/>
                <a:ea typeface="楷体_GB2312" panose="02010609030101010101" pitchFamily="49" charset="-122"/>
                <a:cs typeface="楷体_GB2312" panose="02010609030101010101" pitchFamily="49" charset="-122"/>
              </a:rPr>
              <a:t>1.</a:t>
            </a:r>
            <a:r>
              <a:rPr lang="zh-CN" altLang="en-US" sz="1945" dirty="0">
                <a:latin typeface="楷体_GB2312" panose="02010609030101010101" pitchFamily="49" charset="-122"/>
                <a:ea typeface="楷体_GB2312" panose="02010609030101010101" pitchFamily="49" charset="-122"/>
                <a:cs typeface="楷体_GB2312" panose="02010609030101010101" pitchFamily="49" charset="-122"/>
              </a:rPr>
              <a:t>报告的开头</a:t>
            </a:r>
            <a:r>
              <a:rPr lang="zh-CN" altLang="en-US" sz="2485" b="1" dirty="0">
                <a:latin typeface="楷体_GB2312" panose="02010609030101010101" pitchFamily="49" charset="-122"/>
                <a:ea typeface="楷体_GB2312" panose="02010609030101010101" pitchFamily="49" charset="-122"/>
                <a:cs typeface="楷体_GB2312" panose="02010609030101010101" pitchFamily="49" charset="-122"/>
              </a:rPr>
              <a:t> </a:t>
            </a:r>
            <a:endParaRPr lang="zh-CN" altLang="en-US" sz="2485" b="1" dirty="0">
              <a:latin typeface="楷体_GB2312" panose="02010609030101010101" pitchFamily="49" charset="-122"/>
              <a:ea typeface="楷体_GB2312" panose="02010609030101010101" pitchFamily="49" charset="-122"/>
              <a:cs typeface="楷体_GB2312" panose="02010609030101010101" pitchFamily="49" charset="-122"/>
            </a:endParaRPr>
          </a:p>
          <a:p>
            <a:pPr marL="0" indent="0" eaLnBrk="1" hangingPunct="1">
              <a:buFont typeface="Wingdings" panose="05000000000000000000" pitchFamily="2" charset="2"/>
              <a:buNone/>
            </a:pPr>
            <a:r>
              <a:rPr lang="zh-CN" altLang="en-US" sz="2400" b="1" dirty="0" smtClean="0"/>
              <a:t>       </a:t>
            </a:r>
            <a:r>
              <a:rPr lang="zh-CN" altLang="en-US" sz="1800" dirty="0" smtClean="0">
                <a:latin typeface="Times New Roman" panose="02020603050405020304" pitchFamily="18" charset="0"/>
                <a:ea typeface="仿宋_GB2312" panose="02010609030101010101" pitchFamily="49" charset="-122"/>
                <a:cs typeface="Times New Roman" panose="02020603050405020304" pitchFamily="18" charset="0"/>
              </a:rPr>
              <a:t> </a:t>
            </a:r>
            <a:r>
              <a:rPr lang="zh-CN" altLang="en-US" sz="1945" dirty="0" smtClean="0">
                <a:latin typeface="Times New Roman" panose="02020603050405020304" pitchFamily="18" charset="0"/>
                <a:ea typeface="仿宋_GB2312" panose="02010609030101010101" pitchFamily="49" charset="-122"/>
                <a:cs typeface="Times New Roman" panose="02020603050405020304" pitchFamily="18" charset="0"/>
              </a:rPr>
              <a:t>不同类型的报告，其开头的写法也有较大不同。概括起来，报告的开头有以下几种类型：</a:t>
            </a:r>
            <a:endParaRPr lang="zh-CN" altLang="en-US" sz="1945" dirty="0" smtClean="0">
              <a:latin typeface="Times New Roman" panose="02020603050405020304" pitchFamily="18" charset="0"/>
              <a:ea typeface="仿宋_GB2312" panose="02010609030101010101" pitchFamily="49" charset="-122"/>
              <a:cs typeface="Times New Roman" panose="02020603050405020304" pitchFamily="18" charset="0"/>
            </a:endParaRPr>
          </a:p>
          <a:p>
            <a:pPr marL="0" indent="0" eaLnBrk="1" hangingPunct="1">
              <a:buFont typeface="Wingdings" panose="05000000000000000000" pitchFamily="2" charset="2"/>
              <a:buNone/>
            </a:pPr>
            <a:r>
              <a:rPr lang="zh-CN" altLang="en-US" sz="1945" dirty="0" smtClean="0">
                <a:latin typeface="Times New Roman" panose="02020603050405020304" pitchFamily="18" charset="0"/>
                <a:ea typeface="仿宋_GB2312" panose="02010609030101010101" pitchFamily="49" charset="-122"/>
                <a:cs typeface="Times New Roman" panose="02020603050405020304" pitchFamily="18" charset="0"/>
              </a:rPr>
              <a:t>         </a:t>
            </a:r>
            <a:r>
              <a:rPr lang="zh-CN" altLang="en-US" sz="1945" b="1" dirty="0" smtClean="0">
                <a:latin typeface="Times New Roman" panose="02020603050405020304" pitchFamily="18" charset="0"/>
                <a:ea typeface="仿宋_GB2312" panose="02010609030101010101" pitchFamily="49" charset="-122"/>
                <a:cs typeface="Times New Roman" panose="02020603050405020304" pitchFamily="18" charset="0"/>
              </a:rPr>
              <a:t>背景式开头。</a:t>
            </a:r>
            <a:r>
              <a:rPr lang="zh-CN" altLang="en-US" sz="1945" dirty="0" smtClean="0">
                <a:latin typeface="Times New Roman" panose="02020603050405020304" pitchFamily="18" charset="0"/>
                <a:ea typeface="仿宋_GB2312" panose="02010609030101010101" pitchFamily="49" charset="-122"/>
                <a:cs typeface="Times New Roman" panose="02020603050405020304" pitchFamily="18" charset="0"/>
              </a:rPr>
              <a:t>就是交代报告产生的现实背景，例如： 前不久，中央纪委召开了部分省市清理党员干部违纪建私房座谈会，总结交流了各地清房工作的情况和经验，并就清房中遇到的一些政策性问题，进行了讨论，根据各地的做法和座谈会中提出的问题，中央纪委常委研究提出以下建议： </a:t>
            </a:r>
            <a:endParaRPr lang="zh-CN" altLang="en-US" sz="1945" dirty="0" smtClean="0">
              <a:latin typeface="Times New Roman" panose="02020603050405020304" pitchFamily="18" charset="0"/>
              <a:ea typeface="仿宋_GB2312" panose="02010609030101010101" pitchFamily="49" charset="-122"/>
              <a:cs typeface="Times New Roman" panose="02020603050405020304" pitchFamily="18" charset="0"/>
            </a:endParaRPr>
          </a:p>
          <a:p>
            <a:pPr marL="0" indent="0" eaLnBrk="1" hangingPunct="1">
              <a:buFont typeface="Wingdings" panose="05000000000000000000" pitchFamily="2" charset="2"/>
              <a:buNone/>
            </a:pPr>
            <a:r>
              <a:rPr lang="zh-CN" altLang="en-US" sz="1945" dirty="0" smtClean="0">
                <a:latin typeface="Times New Roman" panose="02020603050405020304" pitchFamily="18" charset="0"/>
                <a:ea typeface="仿宋_GB2312" panose="02010609030101010101" pitchFamily="49" charset="-122"/>
                <a:cs typeface="Times New Roman" panose="02020603050405020304" pitchFamily="18" charset="0"/>
              </a:rPr>
              <a:t>         </a:t>
            </a:r>
            <a:r>
              <a:rPr lang="zh-CN" altLang="en-US" sz="1945" b="1" dirty="0" smtClean="0">
                <a:latin typeface="Times New Roman" panose="02020603050405020304" pitchFamily="18" charset="0"/>
                <a:ea typeface="仿宋_GB2312" panose="02010609030101010101" pitchFamily="49" charset="-122"/>
                <a:cs typeface="Times New Roman" panose="02020603050405020304" pitchFamily="18" charset="0"/>
              </a:rPr>
              <a:t>根据式开头。</a:t>
            </a:r>
            <a:r>
              <a:rPr lang="zh-CN" altLang="en-US" sz="1945" dirty="0" smtClean="0">
                <a:latin typeface="Times New Roman" panose="02020603050405020304" pitchFamily="18" charset="0"/>
                <a:ea typeface="仿宋_GB2312" panose="02010609030101010101" pitchFamily="49" charset="-122"/>
                <a:cs typeface="Times New Roman" panose="02020603050405020304" pitchFamily="18" charset="0"/>
              </a:rPr>
              <a:t>就是交代报告产生的根据，例如： 根据省委、省政府领导同志的指示，我厅于去年派人到郑州市和中牟县，与市、县的同志一道 ，对城镇贫困户的情况作了一些调查。郑州市委、市政府和中牟县县委、县政府对此十分重视 ，在调查研究的基础上，立即采取措施，着手解决这一问题。现将两地城镇贫困户的情况及采取的措施报告如下： </a:t>
            </a:r>
            <a:endParaRPr lang="zh-CN" altLang="en-US" sz="1945" dirty="0" smtClean="0">
              <a:latin typeface="Times New Roman" panose="02020603050405020304" pitchFamily="18" charset="0"/>
              <a:ea typeface="仿宋_GB2312" panose="02010609030101010101" pitchFamily="49" charset="-122"/>
              <a:cs typeface="Times New Roman" panose="02020603050405020304" pitchFamily="18" charset="0"/>
            </a:endParaRPr>
          </a:p>
        </p:txBody>
      </p:sp>
      <p:pic>
        <p:nvPicPr>
          <p:cNvPr id="13" name="图片 12" descr="E:\曹飞\2017\2017-8-8地铁PPT\7.png7"/>
          <p:cNvPicPr>
            <a:picLocks noChangeAspect="1"/>
          </p:cNvPicPr>
          <p:nvPr/>
        </p:nvPicPr>
        <p:blipFill>
          <a:blip r:embed="rId1" cstate="email"/>
          <a:srcRect/>
          <a:stretch>
            <a:fillRect/>
          </a:stretch>
        </p:blipFill>
        <p:spPr>
          <a:xfrm>
            <a:off x="-6667" y="4477465"/>
            <a:ext cx="9168289" cy="668179"/>
          </a:xfrm>
          <a:prstGeom prst="rect">
            <a:avLst/>
          </a:prstGeom>
        </p:spPr>
      </p:pic>
      <p:pic>
        <p:nvPicPr>
          <p:cNvPr id="9" name="图片 8"/>
          <p:cNvPicPr>
            <a:picLocks noChangeAspect="1"/>
          </p:cNvPicPr>
          <p:nvPr/>
        </p:nvPicPr>
        <p:blipFill>
          <a:blip r:embed="rId2"/>
          <a:stretch>
            <a:fillRect/>
          </a:stretch>
        </p:blipFill>
        <p:spPr>
          <a:xfrm>
            <a:off x="575945" y="297180"/>
            <a:ext cx="1685925" cy="419100"/>
          </a:xfrm>
          <a:prstGeom prst="rect">
            <a:avLst/>
          </a:prstGeom>
        </p:spPr>
      </p:pic>
      <p:pic>
        <p:nvPicPr>
          <p:cNvPr id="8" name="图片 7" descr="E:\曹飞\2017\2017-8-8地铁PPT\6.png6"/>
          <p:cNvPicPr>
            <a:picLocks noChangeAspect="1"/>
          </p:cNvPicPr>
          <p:nvPr/>
        </p:nvPicPr>
        <p:blipFill>
          <a:blip r:embed="rId3" cstate="email"/>
          <a:srcRect/>
          <a:stretch>
            <a:fillRect/>
          </a:stretch>
        </p:blipFill>
        <p:spPr>
          <a:xfrm>
            <a:off x="2261712" y="230427"/>
            <a:ext cx="6463189" cy="343376"/>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par>
                                <p:cTn id="10" presetID="12" presetClass="entr" presetSubtype="8"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p:tgtEl>
                                          <p:spTgt spid="8"/>
                                        </p:tgtEl>
                                        <p:attrNameLst>
                                          <p:attrName>ppt_x</p:attrName>
                                        </p:attrNameLst>
                                      </p:cBhvr>
                                      <p:tavLst>
                                        <p:tav tm="0">
                                          <p:val>
                                            <p:strVal val="#ppt_x-#ppt_w*1.125000"/>
                                          </p:val>
                                        </p:tav>
                                        <p:tav tm="100000">
                                          <p:val>
                                            <p:strVal val="#ppt_x"/>
                                          </p:val>
                                        </p:tav>
                                      </p:tavLst>
                                    </p:anim>
                                    <p:animEffect transition="in" filter="wipe(right)">
                                      <p:cBhvr>
                                        <p:cTn id="13" dur="500"/>
                                        <p:tgtEl>
                                          <p:spTgt spid="8"/>
                                        </p:tgtEl>
                                      </p:cBhvr>
                                    </p:animEffect>
                                  </p:childTnLst>
                                </p:cTn>
                              </p:par>
                              <p:par>
                                <p:cTn id="14" presetID="12" presetClass="entr" presetSubtype="8" fill="hold" grpId="1" nodeType="withEffect">
                                  <p:stCondLst>
                                    <p:cond delay="0"/>
                                  </p:stCondLst>
                                  <p:childTnLst>
                                    <p:set>
                                      <p:cBhvr>
                                        <p:cTn id="15" dur="1" fill="hold">
                                          <p:stCondLst>
                                            <p:cond delay="0"/>
                                          </p:stCondLst>
                                        </p:cTn>
                                        <p:tgtEl>
                                          <p:spTgt spid="14"/>
                                        </p:tgtEl>
                                        <p:attrNameLst>
                                          <p:attrName>style.visibility</p:attrName>
                                        </p:attrNameLst>
                                      </p:cBhvr>
                                      <p:to>
                                        <p:strVal val="visible"/>
                                      </p:to>
                                    </p:set>
                                    <p:anim calcmode="lin" valueType="num">
                                      <p:cBhvr additive="base">
                                        <p:cTn id="16" dur="250"/>
                                        <p:tgtEl>
                                          <p:spTgt spid="14"/>
                                        </p:tgtEl>
                                        <p:attrNameLst>
                                          <p:attrName>ppt_x</p:attrName>
                                        </p:attrNameLst>
                                      </p:cBhvr>
                                      <p:tavLst>
                                        <p:tav tm="0">
                                          <p:val>
                                            <p:strVal val="#ppt_x-#ppt_w*1.125000"/>
                                          </p:val>
                                        </p:tav>
                                        <p:tav tm="100000">
                                          <p:val>
                                            <p:strVal val="#ppt_x"/>
                                          </p:val>
                                        </p:tav>
                                      </p:tavLst>
                                    </p:anim>
                                    <p:animEffect transition="in" filter="wipe(right)">
                                      <p:cBhvr>
                                        <p:cTn id="17"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3"/>
          <p:cNvSpPr>
            <a:spLocks noGrp="1" noChangeArrowheads="1"/>
          </p:cNvSpPr>
          <p:nvPr>
            <p:ph idx="1"/>
          </p:nvPr>
        </p:nvSpPr>
        <p:spPr>
          <a:xfrm>
            <a:off x="443230" y="880110"/>
            <a:ext cx="8254365" cy="3960495"/>
          </a:xfrm>
        </p:spPr>
        <p:txBody>
          <a:bodyPr>
            <a:normAutofit lnSpcReduction="10000"/>
          </a:bodyPr>
          <a:lstStyle/>
          <a:p>
            <a:pPr marL="0" algn="l" eaLnBrk="1" hangingPunct="1">
              <a:lnSpc>
                <a:spcPct val="100000"/>
              </a:lnSpc>
              <a:buClrTx/>
              <a:buSzTx/>
              <a:buFont typeface="Wingdings" panose="05000000000000000000" pitchFamily="2" charset="2"/>
              <a:buNone/>
            </a:pPr>
            <a:r>
              <a:rPr lang="en-US" altLang="zh-CN" sz="2400" dirty="0" smtClean="0"/>
              <a:t>     </a:t>
            </a:r>
            <a:r>
              <a:rPr lang="zh-CN" altLang="en-US" sz="1945" dirty="0" smtClean="0">
                <a:latin typeface="Times New Roman" panose="02020603050405020304" pitchFamily="18" charset="0"/>
                <a:ea typeface="仿宋_GB2312" panose="02010609030101010101" pitchFamily="49" charset="-122"/>
                <a:cs typeface="Times New Roman" panose="02020603050405020304" pitchFamily="18" charset="0"/>
              </a:rPr>
              <a:t>  </a:t>
            </a:r>
            <a:r>
              <a:rPr lang="zh-CN" altLang="en-US" sz="1800" b="1" dirty="0" smtClean="0">
                <a:latin typeface="Times New Roman" panose="02020603050405020304" pitchFamily="18" charset="0"/>
                <a:ea typeface="仿宋_GB2312" panose="02010609030101010101" pitchFamily="49" charset="-122"/>
                <a:cs typeface="Times New Roman" panose="02020603050405020304" pitchFamily="18" charset="0"/>
              </a:rPr>
              <a:t>叙事式开头 。</a:t>
            </a:r>
            <a:r>
              <a:rPr lang="zh-CN" altLang="en-US" sz="1800" dirty="0" smtClean="0">
                <a:latin typeface="Times New Roman" panose="02020603050405020304" pitchFamily="18" charset="0"/>
                <a:ea typeface="仿宋_GB2312" panose="02010609030101010101" pitchFamily="49" charset="-122"/>
                <a:cs typeface="Times New Roman" panose="02020603050405020304" pitchFamily="18" charset="0"/>
              </a:rPr>
              <a:t>在开头简略叙述一个事件的概况，一般用于反映情况的报告。例如：××年2月20日上午9时40分，我省××市百货大楼发生重大火灾事故，市消防队出动15辆消防车，经四个小时的扑救，大火才被扑灭。这次火灾除消防队员和群众奋力抢救出部分商品外，百货大楼三层楼房一幢及余下商品全部烧毁。时值开门营业不久，顾客不多，加之疏散及时，幸未造成人员伤亡。但此次火灾已造成直接经济损失792万余元。 </a:t>
            </a:r>
            <a:endParaRPr lang="zh-CN" altLang="en-US" sz="1800" dirty="0" smtClean="0">
              <a:latin typeface="Times New Roman" panose="02020603050405020304" pitchFamily="18" charset="0"/>
              <a:ea typeface="仿宋_GB2312" panose="02010609030101010101" pitchFamily="49" charset="-122"/>
              <a:cs typeface="Times New Roman" panose="02020603050405020304" pitchFamily="18" charset="0"/>
            </a:endParaRPr>
          </a:p>
          <a:p>
            <a:pPr marL="0" algn="l" eaLnBrk="1" hangingPunct="1">
              <a:lnSpc>
                <a:spcPct val="100000"/>
              </a:lnSpc>
              <a:buClrTx/>
              <a:buSzTx/>
              <a:buFont typeface="Wingdings" panose="05000000000000000000" pitchFamily="2" charset="2"/>
              <a:buNone/>
            </a:pPr>
            <a:r>
              <a:rPr lang="zh-CN" altLang="en-US" sz="1800" dirty="0" smtClean="0">
                <a:latin typeface="Times New Roman" panose="02020603050405020304" pitchFamily="18" charset="0"/>
                <a:ea typeface="仿宋_GB2312" panose="02010609030101010101" pitchFamily="49" charset="-122"/>
                <a:cs typeface="Times New Roman" panose="02020603050405020304" pitchFamily="18" charset="0"/>
              </a:rPr>
              <a:t>         </a:t>
            </a:r>
            <a:r>
              <a:rPr lang="zh-CN" altLang="en-US" sz="1800" b="1" dirty="0" smtClean="0">
                <a:latin typeface="Times New Roman" panose="02020603050405020304" pitchFamily="18" charset="0"/>
                <a:ea typeface="仿宋_GB2312" panose="02010609030101010101" pitchFamily="49" charset="-122"/>
                <a:cs typeface="Times New Roman" panose="02020603050405020304" pitchFamily="18" charset="0"/>
              </a:rPr>
              <a:t>目的式开头 </a:t>
            </a:r>
            <a:r>
              <a:rPr lang="zh-CN" altLang="en-US" sz="1800" dirty="0" smtClean="0">
                <a:latin typeface="Times New Roman" panose="02020603050405020304" pitchFamily="18" charset="0"/>
                <a:ea typeface="仿宋_GB2312" panose="02010609030101010101" pitchFamily="49" charset="-122"/>
                <a:cs typeface="Times New Roman" panose="02020603050405020304" pitchFamily="18" charset="0"/>
              </a:rPr>
              <a:t>。将发文目的明确阐述出来作为导语。例如： 为认真贯彻落实《国务院批转林业部关于进一步加强森林防火工作报告的通知》，切实做好我市防火工作，保护和发展森林资源，更好地为改革开放和经济建设服务，结合我市实际情况，就进一步加强森林防火工作提出以几点意见： </a:t>
            </a:r>
            <a:endParaRPr lang="zh-CN" altLang="en-US" sz="1800" dirty="0" smtClean="0">
              <a:latin typeface="Times New Roman" panose="02020603050405020304" pitchFamily="18" charset="0"/>
              <a:ea typeface="仿宋_GB2312" panose="02010609030101010101" pitchFamily="49" charset="-122"/>
              <a:cs typeface="Times New Roman" panose="02020603050405020304" pitchFamily="18" charset="0"/>
            </a:endParaRPr>
          </a:p>
          <a:p>
            <a:pPr marL="0" algn="l" eaLnBrk="1" hangingPunct="1">
              <a:lnSpc>
                <a:spcPct val="100000"/>
              </a:lnSpc>
              <a:buClrTx/>
              <a:buSzTx/>
              <a:buFont typeface="Wingdings" panose="05000000000000000000" pitchFamily="2" charset="2"/>
              <a:buNone/>
            </a:pPr>
            <a:r>
              <a:rPr lang="zh-CN" altLang="en-US" sz="1800" dirty="0" smtClean="0">
                <a:latin typeface="Times New Roman" panose="02020603050405020304" pitchFamily="18" charset="0"/>
                <a:ea typeface="仿宋_GB2312" panose="02010609030101010101" pitchFamily="49" charset="-122"/>
                <a:cs typeface="Times New Roman" panose="02020603050405020304" pitchFamily="18" charset="0"/>
              </a:rPr>
              <a:t>         报告导语的写法不止以上几种，运用时可以举一反三，融会贯通，灵活处理。 </a:t>
            </a:r>
            <a:endParaRPr lang="zh-CN" altLang="en-US" sz="1800" dirty="0" smtClean="0">
              <a:latin typeface="Times New Roman" panose="02020603050405020304" pitchFamily="18" charset="0"/>
              <a:ea typeface="仿宋_GB2312" panose="02010609030101010101" pitchFamily="49" charset="-122"/>
              <a:cs typeface="Times New Roman" panose="02020603050405020304" pitchFamily="18" charset="0"/>
            </a:endParaRPr>
          </a:p>
        </p:txBody>
      </p:sp>
      <p:pic>
        <p:nvPicPr>
          <p:cNvPr id="2" name="图片 1" descr="E:\曹飞\2017\2017-8-8地铁PPT\7.png7"/>
          <p:cNvPicPr>
            <a:picLocks noChangeAspect="1"/>
          </p:cNvPicPr>
          <p:nvPr/>
        </p:nvPicPr>
        <p:blipFill>
          <a:blip r:embed="rId1" cstate="email"/>
          <a:srcRect/>
          <a:stretch>
            <a:fillRect/>
          </a:stretch>
        </p:blipFill>
        <p:spPr>
          <a:xfrm>
            <a:off x="-24447" y="4475560"/>
            <a:ext cx="9168289" cy="668179"/>
          </a:xfrm>
          <a:prstGeom prst="rect">
            <a:avLst/>
          </a:prstGeom>
        </p:spPr>
      </p:pic>
      <p:pic>
        <p:nvPicPr>
          <p:cNvPr id="8" name="图片 7" descr="E:\曹飞\2017\2017-8-8地铁PPT\6.png6"/>
          <p:cNvPicPr>
            <a:picLocks noChangeAspect="1"/>
          </p:cNvPicPr>
          <p:nvPr/>
        </p:nvPicPr>
        <p:blipFill>
          <a:blip r:embed="rId2" cstate="email"/>
          <a:srcRect/>
          <a:stretch>
            <a:fillRect/>
          </a:stretch>
        </p:blipFill>
        <p:spPr>
          <a:xfrm>
            <a:off x="2261712" y="230427"/>
            <a:ext cx="6463189" cy="343376"/>
          </a:xfrm>
          <a:prstGeom prst="rect">
            <a:avLst/>
          </a:prstGeom>
        </p:spPr>
      </p:pic>
      <p:pic>
        <p:nvPicPr>
          <p:cNvPr id="9" name="图片 8"/>
          <p:cNvPicPr>
            <a:picLocks noChangeAspect="1"/>
          </p:cNvPicPr>
          <p:nvPr/>
        </p:nvPicPr>
        <p:blipFill>
          <a:blip r:embed="rId3"/>
          <a:stretch>
            <a:fillRect/>
          </a:stretch>
        </p:blipFill>
        <p:spPr>
          <a:xfrm>
            <a:off x="575945" y="297180"/>
            <a:ext cx="1685925" cy="419100"/>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12" presetClass="entr" presetSubtype="8"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p:tgtEl>
                                          <p:spTgt spid="8"/>
                                        </p:tgtEl>
                                        <p:attrNameLst>
                                          <p:attrName>ppt_x</p:attrName>
                                        </p:attrNameLst>
                                      </p:cBhvr>
                                      <p:tavLst>
                                        <p:tav tm="0">
                                          <p:val>
                                            <p:strVal val="#ppt_x-#ppt_w*1.125000"/>
                                          </p:val>
                                        </p:tav>
                                        <p:tav tm="100000">
                                          <p:val>
                                            <p:strVal val="#ppt_x"/>
                                          </p:val>
                                        </p:tav>
                                      </p:tavLst>
                                    </p:anim>
                                    <p:animEffect transition="in" filter="wipe(right)">
                                      <p:cBhvr>
                                        <p:cTn id="13" dur="500"/>
                                        <p:tgtEl>
                                          <p:spTgt spid="8"/>
                                        </p:tgtEl>
                                      </p:cBhvr>
                                    </p:animEffect>
                                  </p:childTnLst>
                                </p:cTn>
                              </p:par>
                              <p:par>
                                <p:cTn id="14" presetID="12" presetClass="entr" presetSubtype="8" fill="hold" grpId="1" nodeType="withEffect">
                                  <p:stCondLst>
                                    <p:cond delay="0"/>
                                  </p:stCondLst>
                                  <p:childTnLst>
                                    <p:set>
                                      <p:cBhvr>
                                        <p:cTn id="15" dur="1" fill="hold">
                                          <p:stCondLst>
                                            <p:cond delay="0"/>
                                          </p:stCondLst>
                                        </p:cTn>
                                        <p:tgtEl>
                                          <p:spTgt spid="14"/>
                                        </p:tgtEl>
                                        <p:attrNameLst>
                                          <p:attrName>style.visibility</p:attrName>
                                        </p:attrNameLst>
                                      </p:cBhvr>
                                      <p:to>
                                        <p:strVal val="visible"/>
                                      </p:to>
                                    </p:set>
                                    <p:anim calcmode="lin" valueType="num">
                                      <p:cBhvr additive="base">
                                        <p:cTn id="16" dur="250"/>
                                        <p:tgtEl>
                                          <p:spTgt spid="14"/>
                                        </p:tgtEl>
                                        <p:attrNameLst>
                                          <p:attrName>ppt_x</p:attrName>
                                        </p:attrNameLst>
                                      </p:cBhvr>
                                      <p:tavLst>
                                        <p:tav tm="0">
                                          <p:val>
                                            <p:strVal val="#ppt_x-#ppt_w*1.125000"/>
                                          </p:val>
                                        </p:tav>
                                        <p:tav tm="100000">
                                          <p:val>
                                            <p:strVal val="#ppt_x"/>
                                          </p:val>
                                        </p:tav>
                                      </p:tavLst>
                                    </p:anim>
                                    <p:animEffect transition="in" filter="wipe(right)">
                                      <p:cBhvr>
                                        <p:cTn id="17"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3"/>
          <p:cNvSpPr>
            <a:spLocks noGrp="1" noChangeArrowheads="1"/>
          </p:cNvSpPr>
          <p:nvPr>
            <p:ph idx="1"/>
          </p:nvPr>
        </p:nvSpPr>
        <p:spPr>
          <a:xfrm>
            <a:off x="200025" y="881380"/>
            <a:ext cx="8722995" cy="4120515"/>
          </a:xfrm>
        </p:spPr>
        <p:txBody>
          <a:bodyPr>
            <a:normAutofit lnSpcReduction="10000"/>
          </a:bodyPr>
          <a:lstStyle/>
          <a:p>
            <a:pPr eaLnBrk="1" hangingPunct="1">
              <a:lnSpc>
                <a:spcPct val="90000"/>
              </a:lnSpc>
              <a:buClr>
                <a:srgbClr val="0066CC"/>
              </a:buClr>
              <a:buFont typeface="Wingdings" panose="05000000000000000000" pitchFamily="2" charset="2"/>
              <a:buNone/>
            </a:pPr>
            <a:r>
              <a:rPr lang="en-US" altLang="zh-CN" sz="2800" b="1" dirty="0">
                <a:latin typeface="Arial" panose="020B0604020202020204"/>
                <a:ea typeface="宋体" panose="02010600030101010101" pitchFamily="2" charset="-122"/>
              </a:rPr>
              <a:t>        </a:t>
            </a:r>
            <a:r>
              <a:rPr lang="en-US" altLang="zh-CN" sz="1800" dirty="0">
                <a:latin typeface="楷体_GB2312" panose="02010609030101010101" pitchFamily="49" charset="-122"/>
                <a:ea typeface="楷体_GB2312" panose="02010609030101010101" pitchFamily="49" charset="-122"/>
                <a:cs typeface="楷体_GB2312" panose="02010609030101010101" pitchFamily="49" charset="-122"/>
              </a:rPr>
              <a:t>2.</a:t>
            </a:r>
            <a:r>
              <a:rPr lang="zh-CN" altLang="en-US" sz="1800" dirty="0">
                <a:latin typeface="楷体_GB2312" panose="02010609030101010101" pitchFamily="49" charset="-122"/>
                <a:ea typeface="楷体_GB2312" panose="02010609030101010101" pitchFamily="49" charset="-122"/>
                <a:cs typeface="楷体_GB2312" panose="02010609030101010101" pitchFamily="49" charset="-122"/>
              </a:rPr>
              <a:t>报告主体</a:t>
            </a:r>
            <a:r>
              <a:rPr lang="zh-CN" altLang="en-US" sz="2800" b="1" dirty="0">
                <a:latin typeface="Arial" panose="020B0604020202020204"/>
                <a:ea typeface="宋体" panose="02010600030101010101" pitchFamily="2" charset="-122"/>
              </a:rPr>
              <a:t> </a:t>
            </a:r>
            <a:endParaRPr lang="zh-CN" altLang="en-US" sz="2800" b="1" dirty="0">
              <a:latin typeface="Arial" panose="020B0604020202020204"/>
              <a:ea typeface="宋体" panose="02010600030101010101" pitchFamily="2" charset="-122"/>
            </a:endParaRPr>
          </a:p>
          <a:p>
            <a:pPr eaLnBrk="1" hangingPunct="1">
              <a:buFont typeface="Wingdings" panose="05000000000000000000" pitchFamily="2" charset="2"/>
              <a:buNone/>
            </a:pPr>
            <a:r>
              <a:rPr lang="zh-CN" altLang="en-US" sz="2400" b="1" dirty="0" smtClean="0"/>
              <a:t>           </a:t>
            </a:r>
            <a:r>
              <a:rPr lang="zh-CN" altLang="en-US" sz="1800" dirty="0" smtClean="0">
                <a:latin typeface="Times New Roman" panose="02020603050405020304" pitchFamily="18" charset="0"/>
                <a:ea typeface="仿宋_GB2312" panose="02010609030101010101" pitchFamily="49" charset="-122"/>
                <a:cs typeface="Times New Roman" panose="02020603050405020304" pitchFamily="18" charset="0"/>
              </a:rPr>
              <a:t>总结式写法。这种写法主要用于工作报告。主体部分的内容，以成绩、做法、经验、体会、打算、安排为主，在叙述基本情况的同时，有所分析、归纳，找出规律性认识，类似于工作总结。 总结式写法最需要注意的是结构的设计安排。按照总结出来的几条规律性认识来组织材料、安排层次，是最常用的结构方式。       </a:t>
            </a:r>
            <a:endParaRPr lang="zh-CN" altLang="en-US" sz="1800" dirty="0" smtClean="0">
              <a:latin typeface="Times New Roman" panose="02020603050405020304" pitchFamily="18" charset="0"/>
              <a:ea typeface="仿宋_GB2312" panose="02010609030101010101" pitchFamily="49" charset="-122"/>
              <a:cs typeface="Times New Roman" panose="02020603050405020304" pitchFamily="18" charset="0"/>
            </a:endParaRPr>
          </a:p>
          <a:p>
            <a:pPr eaLnBrk="1" hangingPunct="1">
              <a:buFont typeface="Wingdings" panose="05000000000000000000" pitchFamily="2" charset="2"/>
              <a:buNone/>
            </a:pPr>
            <a:r>
              <a:rPr lang="zh-CN" altLang="en-US" sz="1800" dirty="0" smtClean="0">
                <a:latin typeface="Times New Roman" panose="02020603050405020304" pitchFamily="18" charset="0"/>
                <a:ea typeface="仿宋_GB2312" panose="02010609030101010101" pitchFamily="49" charset="-122"/>
                <a:cs typeface="Times New Roman" panose="02020603050405020304" pitchFamily="18" charset="0"/>
              </a:rPr>
              <a:t>     “情况——原因——教训——措施”四步写法。这种结构多用于情况报告。先将情况叙述清楚，然后分析情况产生的原因，接着总结经验教训，最后提出下一步的行动措施。</a:t>
            </a:r>
            <a:endParaRPr lang="zh-CN" altLang="en-US" sz="1800" dirty="0" smtClean="0">
              <a:latin typeface="Times New Roman" panose="02020603050405020304" pitchFamily="18" charset="0"/>
              <a:ea typeface="仿宋_GB2312" panose="02010609030101010101" pitchFamily="49" charset="-122"/>
              <a:cs typeface="Times New Roman" panose="02020603050405020304" pitchFamily="18" charset="0"/>
            </a:endParaRPr>
          </a:p>
          <a:p>
            <a:pPr eaLnBrk="1" hangingPunct="1">
              <a:buFont typeface="Wingdings" panose="05000000000000000000" pitchFamily="2" charset="2"/>
              <a:buNone/>
            </a:pPr>
            <a:r>
              <a:rPr lang="zh-CN" altLang="en-US" sz="1800" dirty="0" smtClean="0">
                <a:latin typeface="Times New Roman" panose="02020603050405020304" pitchFamily="18" charset="0"/>
                <a:ea typeface="仿宋_GB2312" panose="02010609030101010101" pitchFamily="49" charset="-122"/>
                <a:cs typeface="Times New Roman" panose="02020603050405020304" pitchFamily="18" charset="0"/>
              </a:rPr>
              <a:t>              分条列项式写法。这种结构多用于建议报告。希望上级部门采纳建议，批转给有关部门执行、实施，是建议报告的基本写作目的。为此，建议要针对某项工作提出系统完整的方法、措施和要求，对工作实行全面的指导。形式上采用分条列项的方法逐层表达。</a:t>
            </a:r>
            <a:endParaRPr lang="zh-CN" altLang="en-US" sz="1800" dirty="0" smtClean="0">
              <a:latin typeface="Times New Roman" panose="02020603050405020304" pitchFamily="18" charset="0"/>
              <a:ea typeface="仿宋_GB2312" panose="02010609030101010101" pitchFamily="49" charset="-122"/>
              <a:cs typeface="Times New Roman" panose="02020603050405020304" pitchFamily="18" charset="0"/>
            </a:endParaRPr>
          </a:p>
        </p:txBody>
      </p:sp>
      <p:pic>
        <p:nvPicPr>
          <p:cNvPr id="13" name="图片 12" descr="E:\曹飞\2017\2017-8-8地铁PPT\7.png7"/>
          <p:cNvPicPr>
            <a:picLocks noChangeAspect="1"/>
          </p:cNvPicPr>
          <p:nvPr/>
        </p:nvPicPr>
        <p:blipFill>
          <a:blip r:embed="rId1" cstate="email"/>
          <a:srcRect/>
          <a:stretch>
            <a:fillRect/>
          </a:stretch>
        </p:blipFill>
        <p:spPr>
          <a:xfrm>
            <a:off x="-6667" y="4477465"/>
            <a:ext cx="9168289" cy="668179"/>
          </a:xfrm>
          <a:prstGeom prst="rect">
            <a:avLst/>
          </a:prstGeom>
        </p:spPr>
      </p:pic>
      <p:pic>
        <p:nvPicPr>
          <p:cNvPr id="9" name="图片 8"/>
          <p:cNvPicPr>
            <a:picLocks noChangeAspect="1"/>
          </p:cNvPicPr>
          <p:nvPr/>
        </p:nvPicPr>
        <p:blipFill>
          <a:blip r:embed="rId2"/>
          <a:stretch>
            <a:fillRect/>
          </a:stretch>
        </p:blipFill>
        <p:spPr>
          <a:xfrm>
            <a:off x="575945" y="297180"/>
            <a:ext cx="1685925" cy="419100"/>
          </a:xfrm>
          <a:prstGeom prst="rect">
            <a:avLst/>
          </a:prstGeom>
        </p:spPr>
      </p:pic>
      <p:pic>
        <p:nvPicPr>
          <p:cNvPr id="8" name="图片 7" descr="E:\曹飞\2017\2017-8-8地铁PPT\6.png6"/>
          <p:cNvPicPr>
            <a:picLocks noChangeAspect="1"/>
          </p:cNvPicPr>
          <p:nvPr/>
        </p:nvPicPr>
        <p:blipFill>
          <a:blip r:embed="rId3" cstate="email"/>
          <a:srcRect/>
          <a:stretch>
            <a:fillRect/>
          </a:stretch>
        </p:blipFill>
        <p:spPr>
          <a:xfrm>
            <a:off x="2261712" y="230427"/>
            <a:ext cx="6463189" cy="343376"/>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par>
                                <p:cTn id="10" presetID="12" presetClass="entr" presetSubtype="8"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p:tgtEl>
                                          <p:spTgt spid="8"/>
                                        </p:tgtEl>
                                        <p:attrNameLst>
                                          <p:attrName>ppt_x</p:attrName>
                                        </p:attrNameLst>
                                      </p:cBhvr>
                                      <p:tavLst>
                                        <p:tav tm="0">
                                          <p:val>
                                            <p:strVal val="#ppt_x-#ppt_w*1.125000"/>
                                          </p:val>
                                        </p:tav>
                                        <p:tav tm="100000">
                                          <p:val>
                                            <p:strVal val="#ppt_x"/>
                                          </p:val>
                                        </p:tav>
                                      </p:tavLst>
                                    </p:anim>
                                    <p:animEffect transition="in" filter="wipe(right)">
                                      <p:cBhvr>
                                        <p:cTn id="13" dur="500"/>
                                        <p:tgtEl>
                                          <p:spTgt spid="8"/>
                                        </p:tgtEl>
                                      </p:cBhvr>
                                    </p:animEffect>
                                  </p:childTnLst>
                                </p:cTn>
                              </p:par>
                              <p:par>
                                <p:cTn id="14" presetID="12" presetClass="entr" presetSubtype="8" fill="hold" grpId="1" nodeType="withEffect">
                                  <p:stCondLst>
                                    <p:cond delay="0"/>
                                  </p:stCondLst>
                                  <p:childTnLst>
                                    <p:set>
                                      <p:cBhvr>
                                        <p:cTn id="15" dur="1" fill="hold">
                                          <p:stCondLst>
                                            <p:cond delay="0"/>
                                          </p:stCondLst>
                                        </p:cTn>
                                        <p:tgtEl>
                                          <p:spTgt spid="14"/>
                                        </p:tgtEl>
                                        <p:attrNameLst>
                                          <p:attrName>style.visibility</p:attrName>
                                        </p:attrNameLst>
                                      </p:cBhvr>
                                      <p:to>
                                        <p:strVal val="visible"/>
                                      </p:to>
                                    </p:set>
                                    <p:anim calcmode="lin" valueType="num">
                                      <p:cBhvr additive="base">
                                        <p:cTn id="16" dur="250"/>
                                        <p:tgtEl>
                                          <p:spTgt spid="14"/>
                                        </p:tgtEl>
                                        <p:attrNameLst>
                                          <p:attrName>ppt_x</p:attrName>
                                        </p:attrNameLst>
                                      </p:cBhvr>
                                      <p:tavLst>
                                        <p:tav tm="0">
                                          <p:val>
                                            <p:strVal val="#ppt_x-#ppt_w*1.125000"/>
                                          </p:val>
                                        </p:tav>
                                        <p:tav tm="100000">
                                          <p:val>
                                            <p:strVal val="#ppt_x"/>
                                          </p:val>
                                        </p:tav>
                                      </p:tavLst>
                                    </p:anim>
                                    <p:animEffect transition="in" filter="wipe(right)">
                                      <p:cBhvr>
                                        <p:cTn id="17"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3"/>
          <p:cNvSpPr>
            <a:spLocks noGrp="1" noChangeArrowheads="1"/>
          </p:cNvSpPr>
          <p:nvPr>
            <p:ph idx="1"/>
          </p:nvPr>
        </p:nvSpPr>
        <p:spPr>
          <a:xfrm>
            <a:off x="457200" y="951310"/>
            <a:ext cx="8229600" cy="3449240"/>
          </a:xfrm>
        </p:spPr>
        <p:txBody>
          <a:bodyPr/>
          <a:lstStyle/>
          <a:p>
            <a:pPr eaLnBrk="1" hangingPunct="1">
              <a:lnSpc>
                <a:spcPct val="90000"/>
              </a:lnSpc>
              <a:buClr>
                <a:srgbClr val="0066CC"/>
              </a:buClr>
              <a:buFont typeface="Wingdings" panose="05000000000000000000" pitchFamily="2" charset="2"/>
              <a:buNone/>
            </a:pPr>
            <a:r>
              <a:rPr lang="en-US" altLang="zh-CN" sz="2800" b="1" dirty="0">
                <a:latin typeface="Arial" panose="020B0604020202020204"/>
                <a:ea typeface="宋体" panose="02010600030101010101" pitchFamily="2" charset="-122"/>
              </a:rPr>
              <a:t>       </a:t>
            </a:r>
            <a:r>
              <a:rPr lang="en-US" altLang="zh-CN" sz="1800" dirty="0">
                <a:latin typeface="黑体" panose="02010609060101010101" pitchFamily="49" charset="-122"/>
                <a:ea typeface="黑体" panose="02010609060101010101" pitchFamily="49" charset="-122"/>
                <a:cs typeface="黑体" panose="02010609060101010101" pitchFamily="49" charset="-122"/>
              </a:rPr>
              <a:t> </a:t>
            </a:r>
            <a:r>
              <a:rPr lang="en-US" altLang="zh-CN" sz="1800" dirty="0">
                <a:latin typeface="楷体_GB2312" panose="02010609030101010101" pitchFamily="49" charset="-122"/>
                <a:ea typeface="楷体_GB2312" panose="02010609030101010101" pitchFamily="49" charset="-122"/>
                <a:cs typeface="楷体_GB2312" panose="02010609030101010101" pitchFamily="49" charset="-122"/>
              </a:rPr>
              <a:t>3.</a:t>
            </a:r>
            <a:r>
              <a:rPr lang="zh-CN" altLang="en-US" sz="1800" dirty="0">
                <a:latin typeface="楷体_GB2312" panose="02010609030101010101" pitchFamily="49" charset="-122"/>
                <a:ea typeface="楷体_GB2312" panose="02010609030101010101" pitchFamily="49" charset="-122"/>
                <a:cs typeface="楷体_GB2312" panose="02010609030101010101" pitchFamily="49" charset="-122"/>
              </a:rPr>
              <a:t>报告结语</a:t>
            </a:r>
            <a:r>
              <a:rPr lang="zh-CN" altLang="en-US" sz="2800" b="1" dirty="0">
                <a:latin typeface="Arial" panose="020B0604020202020204"/>
                <a:ea typeface="宋体" panose="02010600030101010101" pitchFamily="2" charset="-122"/>
              </a:rPr>
              <a:t> </a:t>
            </a:r>
            <a:endParaRPr lang="zh-CN" altLang="en-US" sz="2800" b="1" dirty="0">
              <a:latin typeface="Arial" panose="020B0604020202020204"/>
              <a:ea typeface="宋体" panose="02010600030101010101" pitchFamily="2" charset="-122"/>
            </a:endParaRPr>
          </a:p>
          <a:p>
            <a:pPr eaLnBrk="1" hangingPunct="1">
              <a:buFont typeface="Wingdings" panose="05000000000000000000" pitchFamily="2" charset="2"/>
              <a:buNone/>
            </a:pPr>
            <a:r>
              <a:rPr lang="zh-CN" altLang="en-US" sz="2800" b="1" dirty="0" smtClean="0"/>
              <a:t>          </a:t>
            </a:r>
            <a:r>
              <a:rPr lang="zh-CN" altLang="en-US" sz="1800" dirty="0" smtClean="0">
                <a:latin typeface="Times New Roman" panose="02020603050405020304" pitchFamily="18" charset="0"/>
                <a:ea typeface="仿宋_GB2312" panose="02010609030101010101" pitchFamily="49" charset="-122"/>
                <a:cs typeface="Times New Roman" panose="02020603050405020304" pitchFamily="18" charset="0"/>
              </a:rPr>
              <a:t>报告的结语比较简单，可以重申意义、展望未来，也可以采用模式化的套语收结全文。</a:t>
            </a:r>
            <a:endParaRPr lang="zh-CN" altLang="en-US" sz="1800" dirty="0" smtClean="0">
              <a:latin typeface="Times New Roman" panose="02020603050405020304" pitchFamily="18" charset="0"/>
              <a:ea typeface="仿宋_GB2312" panose="02010609030101010101" pitchFamily="49" charset="-122"/>
              <a:cs typeface="Times New Roman" panose="02020603050405020304" pitchFamily="18" charset="0"/>
            </a:endParaRPr>
          </a:p>
          <a:p>
            <a:pPr eaLnBrk="1" hangingPunct="1">
              <a:buFont typeface="Wingdings" panose="05000000000000000000" pitchFamily="2" charset="2"/>
              <a:buNone/>
            </a:pPr>
            <a:r>
              <a:rPr lang="zh-CN" altLang="en-US" sz="1800" dirty="0" smtClean="0">
                <a:latin typeface="Times New Roman" panose="02020603050405020304" pitchFamily="18" charset="0"/>
                <a:ea typeface="仿宋_GB2312" panose="02010609030101010101" pitchFamily="49" charset="-122"/>
                <a:cs typeface="Times New Roman" panose="02020603050405020304" pitchFamily="18" charset="0"/>
              </a:rPr>
              <a:t>              模式化的写法大致是：“特此报告”； “专此报告”；“以上报告，请审阅”；“ 以上报告妥否，请指示”；“以上报告如无不妥，请批转执行”等等。 </a:t>
            </a:r>
            <a:endParaRPr lang="zh-CN" altLang="en-US" sz="1800" dirty="0" smtClean="0">
              <a:latin typeface="Times New Roman" panose="02020603050405020304" pitchFamily="18" charset="0"/>
              <a:ea typeface="仿宋_GB2312" panose="02010609030101010101" pitchFamily="49" charset="-122"/>
              <a:cs typeface="Times New Roman" panose="02020603050405020304" pitchFamily="18" charset="0"/>
            </a:endParaRPr>
          </a:p>
        </p:txBody>
      </p:sp>
      <p:pic>
        <p:nvPicPr>
          <p:cNvPr id="13" name="图片 12" descr="E:\曹飞\2017\2017-8-8地铁PPT\7.png7"/>
          <p:cNvPicPr>
            <a:picLocks noChangeAspect="1"/>
          </p:cNvPicPr>
          <p:nvPr/>
        </p:nvPicPr>
        <p:blipFill>
          <a:blip r:embed="rId1" cstate="email"/>
          <a:srcRect/>
          <a:stretch>
            <a:fillRect/>
          </a:stretch>
        </p:blipFill>
        <p:spPr>
          <a:xfrm>
            <a:off x="-6667" y="4477465"/>
            <a:ext cx="9168289" cy="668179"/>
          </a:xfrm>
          <a:prstGeom prst="rect">
            <a:avLst/>
          </a:prstGeom>
        </p:spPr>
      </p:pic>
      <p:pic>
        <p:nvPicPr>
          <p:cNvPr id="8" name="图片 7" descr="E:\曹飞\2017\2017-8-8地铁PPT\6.png6"/>
          <p:cNvPicPr>
            <a:picLocks noChangeAspect="1"/>
          </p:cNvPicPr>
          <p:nvPr/>
        </p:nvPicPr>
        <p:blipFill>
          <a:blip r:embed="rId2" cstate="email"/>
          <a:srcRect/>
          <a:stretch>
            <a:fillRect/>
          </a:stretch>
        </p:blipFill>
        <p:spPr>
          <a:xfrm>
            <a:off x="2261712" y="230427"/>
            <a:ext cx="6463189" cy="343376"/>
          </a:xfrm>
          <a:prstGeom prst="rect">
            <a:avLst/>
          </a:prstGeom>
        </p:spPr>
      </p:pic>
      <p:pic>
        <p:nvPicPr>
          <p:cNvPr id="9" name="图片 8"/>
          <p:cNvPicPr>
            <a:picLocks noChangeAspect="1"/>
          </p:cNvPicPr>
          <p:nvPr/>
        </p:nvPicPr>
        <p:blipFill>
          <a:blip r:embed="rId3"/>
          <a:stretch>
            <a:fillRect/>
          </a:stretch>
        </p:blipFill>
        <p:spPr>
          <a:xfrm>
            <a:off x="575945" y="297180"/>
            <a:ext cx="1685925" cy="419100"/>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par>
                                <p:cTn id="10" presetID="12" presetClass="entr" presetSubtype="8"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p:tgtEl>
                                          <p:spTgt spid="8"/>
                                        </p:tgtEl>
                                        <p:attrNameLst>
                                          <p:attrName>ppt_x</p:attrName>
                                        </p:attrNameLst>
                                      </p:cBhvr>
                                      <p:tavLst>
                                        <p:tav tm="0">
                                          <p:val>
                                            <p:strVal val="#ppt_x-#ppt_w*1.125000"/>
                                          </p:val>
                                        </p:tav>
                                        <p:tav tm="100000">
                                          <p:val>
                                            <p:strVal val="#ppt_x"/>
                                          </p:val>
                                        </p:tav>
                                      </p:tavLst>
                                    </p:anim>
                                    <p:animEffect transition="in" filter="wipe(right)">
                                      <p:cBhvr>
                                        <p:cTn id="13" dur="500"/>
                                        <p:tgtEl>
                                          <p:spTgt spid="8"/>
                                        </p:tgtEl>
                                      </p:cBhvr>
                                    </p:animEffect>
                                  </p:childTnLst>
                                </p:cTn>
                              </p:par>
                              <p:par>
                                <p:cTn id="14" presetID="12" presetClass="entr" presetSubtype="8" fill="hold" grpId="1" nodeType="withEffect">
                                  <p:stCondLst>
                                    <p:cond delay="0"/>
                                  </p:stCondLst>
                                  <p:childTnLst>
                                    <p:set>
                                      <p:cBhvr>
                                        <p:cTn id="15" dur="1" fill="hold">
                                          <p:stCondLst>
                                            <p:cond delay="0"/>
                                          </p:stCondLst>
                                        </p:cTn>
                                        <p:tgtEl>
                                          <p:spTgt spid="14"/>
                                        </p:tgtEl>
                                        <p:attrNameLst>
                                          <p:attrName>style.visibility</p:attrName>
                                        </p:attrNameLst>
                                      </p:cBhvr>
                                      <p:to>
                                        <p:strVal val="visible"/>
                                      </p:to>
                                    </p:set>
                                    <p:anim calcmode="lin" valueType="num">
                                      <p:cBhvr additive="base">
                                        <p:cTn id="16" dur="250"/>
                                        <p:tgtEl>
                                          <p:spTgt spid="14"/>
                                        </p:tgtEl>
                                        <p:attrNameLst>
                                          <p:attrName>ppt_x</p:attrName>
                                        </p:attrNameLst>
                                      </p:cBhvr>
                                      <p:tavLst>
                                        <p:tav tm="0">
                                          <p:val>
                                            <p:strVal val="#ppt_x-#ppt_w*1.125000"/>
                                          </p:val>
                                        </p:tav>
                                        <p:tav tm="100000">
                                          <p:val>
                                            <p:strVal val="#ppt_x"/>
                                          </p:val>
                                        </p:tav>
                                      </p:tavLst>
                                    </p:anim>
                                    <p:animEffect transition="in" filter="wipe(right)">
                                      <p:cBhvr>
                                        <p:cTn id="17"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3"/>
          <p:cNvSpPr>
            <a:spLocks noGrp="1" noChangeArrowheads="1"/>
          </p:cNvSpPr>
          <p:nvPr>
            <p:ph idx="1"/>
          </p:nvPr>
        </p:nvSpPr>
        <p:spPr>
          <a:xfrm>
            <a:off x="457200" y="951310"/>
            <a:ext cx="8229600" cy="1836464"/>
          </a:xfrm>
        </p:spPr>
        <p:txBody>
          <a:bodyPr>
            <a:normAutofit/>
          </a:bodyPr>
          <a:lstStyle/>
          <a:p>
            <a:pPr marL="0" indent="0" eaLnBrk="1" hangingPunct="1">
              <a:lnSpc>
                <a:spcPct val="90000"/>
              </a:lnSpc>
              <a:buClr>
                <a:srgbClr val="0066CC"/>
              </a:buClr>
              <a:buFont typeface="Wingdings" panose="05000000000000000000" pitchFamily="2" charset="2"/>
              <a:buNone/>
            </a:pPr>
            <a:r>
              <a:rPr lang="en-US" altLang="zh-CN" sz="2000" dirty="0">
                <a:latin typeface="黑体" panose="02010609060101010101" pitchFamily="49" charset="-122"/>
                <a:ea typeface="黑体" panose="02010609060101010101" pitchFamily="49" charset="-122"/>
              </a:rPr>
              <a:t>    </a:t>
            </a:r>
            <a:r>
              <a:rPr lang="zh-CN" altLang="en-US" sz="2000" dirty="0">
                <a:latin typeface="黑体" panose="02010609060101010101" pitchFamily="49" charset="-122"/>
                <a:ea typeface="黑体" panose="02010609060101010101" pitchFamily="49" charset="-122"/>
              </a:rPr>
              <a:t>专题性报告常见写法：</a:t>
            </a:r>
            <a:endParaRPr lang="zh-CN" altLang="en-US" sz="2000" dirty="0">
              <a:latin typeface="黑体" panose="02010609060101010101" pitchFamily="49" charset="-122"/>
              <a:ea typeface="黑体" panose="02010609060101010101" pitchFamily="49" charset="-122"/>
            </a:endParaRPr>
          </a:p>
          <a:p>
            <a:pPr marL="0" indent="0" eaLnBrk="1" hangingPunct="1">
              <a:lnSpc>
                <a:spcPct val="90000"/>
              </a:lnSpc>
              <a:buClr>
                <a:srgbClr val="0066CC"/>
              </a:buClr>
              <a:buFont typeface="Wingdings" panose="05000000000000000000" pitchFamily="2" charset="2"/>
              <a:buNone/>
            </a:pPr>
            <a:r>
              <a:rPr lang="zh-CN" altLang="en-US" sz="1800" dirty="0" smtClean="0">
                <a:latin typeface="Times New Roman" panose="02020603050405020304" pitchFamily="18" charset="0"/>
                <a:ea typeface="仿宋_GB2312" panose="02010609030101010101" pitchFamily="49" charset="-122"/>
                <a:cs typeface="Times New Roman" panose="02020603050405020304" pitchFamily="18" charset="0"/>
              </a:rPr>
              <a:t>      </a:t>
            </a:r>
            <a:endParaRPr lang="zh-CN" altLang="en-US" sz="1800" dirty="0" smtClean="0">
              <a:latin typeface="Times New Roman" panose="02020603050405020304" pitchFamily="18" charset="0"/>
              <a:ea typeface="仿宋_GB2312" panose="02010609030101010101" pitchFamily="49" charset="-122"/>
              <a:cs typeface="Times New Roman" panose="02020603050405020304" pitchFamily="18" charset="0"/>
            </a:endParaRPr>
          </a:p>
          <a:p>
            <a:pPr marL="0" indent="0" eaLnBrk="1" hangingPunct="1">
              <a:lnSpc>
                <a:spcPct val="90000"/>
              </a:lnSpc>
              <a:buClr>
                <a:srgbClr val="0066CC"/>
              </a:buClr>
              <a:buFont typeface="Wingdings" panose="05000000000000000000" pitchFamily="2" charset="2"/>
              <a:buNone/>
            </a:pPr>
            <a:r>
              <a:rPr lang="zh-CN" altLang="en-US" sz="1800" dirty="0" smtClean="0">
                <a:latin typeface="Times New Roman" panose="02020603050405020304" pitchFamily="18" charset="0"/>
                <a:ea typeface="仿宋_GB2312" panose="02010609030101010101" pitchFamily="49" charset="-122"/>
                <a:cs typeface="Times New Roman" panose="02020603050405020304" pitchFamily="18" charset="0"/>
              </a:rPr>
              <a:t>        1.情况——问题——意见，这种形式多系以反映情况为主的专题工作报告；</a:t>
            </a:r>
            <a:endParaRPr lang="zh-CN" altLang="en-US" sz="1800" dirty="0" smtClean="0">
              <a:latin typeface="Times New Roman" panose="02020603050405020304" pitchFamily="18" charset="0"/>
              <a:ea typeface="仿宋_GB2312" panose="02010609030101010101" pitchFamily="49" charset="-122"/>
              <a:cs typeface="Times New Roman" panose="02020603050405020304" pitchFamily="18" charset="0"/>
            </a:endParaRPr>
          </a:p>
          <a:p>
            <a:pPr marL="0" indent="0" eaLnBrk="1" hangingPunct="1">
              <a:lnSpc>
                <a:spcPct val="90000"/>
              </a:lnSpc>
              <a:buClr>
                <a:srgbClr val="0066CC"/>
              </a:buClr>
              <a:buFont typeface="Wingdings" panose="05000000000000000000" pitchFamily="2" charset="2"/>
              <a:buNone/>
            </a:pPr>
            <a:r>
              <a:rPr lang="zh-CN" altLang="en-US" sz="1800" dirty="0" smtClean="0">
                <a:latin typeface="Times New Roman" panose="02020603050405020304" pitchFamily="18" charset="0"/>
                <a:ea typeface="仿宋_GB2312" panose="02010609030101010101" pitchFamily="49" charset="-122"/>
                <a:cs typeface="Times New Roman" panose="02020603050405020304" pitchFamily="18" charset="0"/>
              </a:rPr>
              <a:t>        2.情况——做法——不足，这种形式适用于以总结经验为主的专题报告。</a:t>
            </a:r>
            <a:endParaRPr lang="zh-CN" altLang="en-US" sz="1800" dirty="0" smtClean="0">
              <a:latin typeface="Times New Roman" panose="02020603050405020304" pitchFamily="18" charset="0"/>
              <a:ea typeface="仿宋_GB2312" panose="02010609030101010101" pitchFamily="49" charset="-122"/>
              <a:cs typeface="Times New Roman" panose="02020603050405020304" pitchFamily="18" charset="0"/>
            </a:endParaRPr>
          </a:p>
        </p:txBody>
      </p:sp>
      <p:pic>
        <p:nvPicPr>
          <p:cNvPr id="13" name="图片 12" descr="E:\曹飞\2017\2017-8-8地铁PPT\7.png7"/>
          <p:cNvPicPr>
            <a:picLocks noChangeAspect="1"/>
          </p:cNvPicPr>
          <p:nvPr/>
        </p:nvPicPr>
        <p:blipFill>
          <a:blip r:embed="rId1" cstate="email"/>
          <a:srcRect/>
          <a:stretch>
            <a:fillRect/>
          </a:stretch>
        </p:blipFill>
        <p:spPr>
          <a:xfrm>
            <a:off x="-12382" y="4475560"/>
            <a:ext cx="9168289" cy="668179"/>
          </a:xfrm>
          <a:prstGeom prst="rect">
            <a:avLst/>
          </a:prstGeom>
        </p:spPr>
      </p:pic>
      <p:pic>
        <p:nvPicPr>
          <p:cNvPr id="9" name="图片 8"/>
          <p:cNvPicPr>
            <a:picLocks noChangeAspect="1"/>
          </p:cNvPicPr>
          <p:nvPr/>
        </p:nvPicPr>
        <p:blipFill>
          <a:blip r:embed="rId2"/>
          <a:stretch>
            <a:fillRect/>
          </a:stretch>
        </p:blipFill>
        <p:spPr>
          <a:xfrm>
            <a:off x="575945" y="297180"/>
            <a:ext cx="1685925" cy="419100"/>
          </a:xfrm>
          <a:prstGeom prst="rect">
            <a:avLst/>
          </a:prstGeom>
        </p:spPr>
      </p:pic>
      <p:pic>
        <p:nvPicPr>
          <p:cNvPr id="8" name="图片 7" descr="E:\曹飞\2017\2017-8-8地铁PPT\6.png6"/>
          <p:cNvPicPr>
            <a:picLocks noChangeAspect="1"/>
          </p:cNvPicPr>
          <p:nvPr/>
        </p:nvPicPr>
        <p:blipFill>
          <a:blip r:embed="rId3" cstate="email"/>
          <a:srcRect/>
          <a:stretch>
            <a:fillRect/>
          </a:stretch>
        </p:blipFill>
        <p:spPr>
          <a:xfrm>
            <a:off x="2261712" y="230427"/>
            <a:ext cx="6463189" cy="343376"/>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par>
                                <p:cTn id="10" presetID="12" presetClass="entr" presetSubtype="8"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p:tgtEl>
                                          <p:spTgt spid="8"/>
                                        </p:tgtEl>
                                        <p:attrNameLst>
                                          <p:attrName>ppt_x</p:attrName>
                                        </p:attrNameLst>
                                      </p:cBhvr>
                                      <p:tavLst>
                                        <p:tav tm="0">
                                          <p:val>
                                            <p:strVal val="#ppt_x-#ppt_w*1.125000"/>
                                          </p:val>
                                        </p:tav>
                                        <p:tav tm="100000">
                                          <p:val>
                                            <p:strVal val="#ppt_x"/>
                                          </p:val>
                                        </p:tav>
                                      </p:tavLst>
                                    </p:anim>
                                    <p:animEffect transition="in" filter="wipe(right)">
                                      <p:cBhvr>
                                        <p:cTn id="13" dur="500"/>
                                        <p:tgtEl>
                                          <p:spTgt spid="8"/>
                                        </p:tgtEl>
                                      </p:cBhvr>
                                    </p:animEffect>
                                  </p:childTnLst>
                                </p:cTn>
                              </p:par>
                              <p:par>
                                <p:cTn id="14" presetID="12" presetClass="entr" presetSubtype="8" fill="hold" grpId="1" nodeType="withEffect">
                                  <p:stCondLst>
                                    <p:cond delay="0"/>
                                  </p:stCondLst>
                                  <p:childTnLst>
                                    <p:set>
                                      <p:cBhvr>
                                        <p:cTn id="15" dur="1" fill="hold">
                                          <p:stCondLst>
                                            <p:cond delay="0"/>
                                          </p:stCondLst>
                                        </p:cTn>
                                        <p:tgtEl>
                                          <p:spTgt spid="14"/>
                                        </p:tgtEl>
                                        <p:attrNameLst>
                                          <p:attrName>style.visibility</p:attrName>
                                        </p:attrNameLst>
                                      </p:cBhvr>
                                      <p:to>
                                        <p:strVal val="visible"/>
                                      </p:to>
                                    </p:set>
                                    <p:anim calcmode="lin" valueType="num">
                                      <p:cBhvr additive="base">
                                        <p:cTn id="16" dur="250"/>
                                        <p:tgtEl>
                                          <p:spTgt spid="14"/>
                                        </p:tgtEl>
                                        <p:attrNameLst>
                                          <p:attrName>ppt_x</p:attrName>
                                        </p:attrNameLst>
                                      </p:cBhvr>
                                      <p:tavLst>
                                        <p:tav tm="0">
                                          <p:val>
                                            <p:strVal val="#ppt_x-#ppt_w*1.125000"/>
                                          </p:val>
                                        </p:tav>
                                        <p:tav tm="100000">
                                          <p:val>
                                            <p:strVal val="#ppt_x"/>
                                          </p:val>
                                        </p:tav>
                                      </p:tavLst>
                                    </p:anim>
                                    <p:animEffect transition="in" filter="wipe(right)">
                                      <p:cBhvr>
                                        <p:cTn id="17"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4"/>
          <p:cNvSpPr txBox="1">
            <a:spLocks noChangeArrowheads="1"/>
          </p:cNvSpPr>
          <p:nvPr/>
        </p:nvSpPr>
        <p:spPr bwMode="auto">
          <a:xfrm>
            <a:off x="525145" y="897255"/>
            <a:ext cx="7789545" cy="1887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342900" indent="-342900" eaLnBrk="1" hangingPunct="1">
              <a:lnSpc>
                <a:spcPct val="90000"/>
              </a:lnSpc>
              <a:spcBef>
                <a:spcPct val="20000"/>
              </a:spcBef>
              <a:buClr>
                <a:srgbClr val="0066CC"/>
              </a:buClr>
            </a:pPr>
            <a:r>
              <a:rPr lang="en-US" altLang="zh-CN" sz="2800" dirty="0">
                <a:solidFill>
                  <a:srgbClr val="0000FF"/>
                </a:solidFill>
                <a:latin typeface="黑体" panose="02010609060101010101" pitchFamily="49" charset="-122"/>
                <a:ea typeface="黑体" panose="02010609060101010101" pitchFamily="49" charset="-122"/>
              </a:rPr>
              <a:t>   </a:t>
            </a:r>
            <a:r>
              <a:rPr kumimoji="0" lang="zh-CN" altLang="en-US" sz="1800" kern="0" dirty="0">
                <a:latin typeface="黑体" panose="02010609060101010101" pitchFamily="49" charset="-122"/>
                <a:ea typeface="黑体" panose="02010609060101010101" pitchFamily="49" charset="-122"/>
              </a:rPr>
              <a:t>四、报告与请示的区别</a:t>
            </a:r>
            <a:endParaRPr kumimoji="0" lang="zh-CN" altLang="en-US" sz="1800" dirty="0" smtClean="0">
              <a:ea typeface="仿宋_GB2312" panose="02010609030101010101" pitchFamily="49" charset="-122"/>
              <a:cs typeface="Times New Roman" panose="02020603050405020304" pitchFamily="18" charset="0"/>
            </a:endParaRPr>
          </a:p>
          <a:p>
            <a:pPr algn="l" eaLnBrk="1" hangingPunct="1">
              <a:lnSpc>
                <a:spcPct val="90000"/>
              </a:lnSpc>
              <a:spcBef>
                <a:spcPct val="20000"/>
              </a:spcBef>
              <a:buClr>
                <a:srgbClr val="0066CC"/>
              </a:buClr>
              <a:buSzTx/>
              <a:buNone/>
            </a:pPr>
            <a:r>
              <a:rPr kumimoji="0" lang="zh-CN" altLang="en-US" sz="1800" dirty="0" smtClean="0">
                <a:ea typeface="仿宋_GB2312" panose="02010609030101010101" pitchFamily="49" charset="-122"/>
                <a:cs typeface="Times New Roman" panose="02020603050405020304" pitchFamily="18" charset="0"/>
              </a:rPr>
              <a:t>         1.行文目的不同。请示用于向上级请求批准事项，请求上级批复；而报告用于向上级汇报工作，反映情况，提建议或回复上级询问，不要求上级批复。</a:t>
            </a:r>
            <a:endParaRPr kumimoji="0" lang="zh-CN" altLang="en-US" sz="1800" dirty="0" smtClean="0">
              <a:ea typeface="仿宋_GB2312" panose="02010609030101010101" pitchFamily="49" charset="-122"/>
              <a:cs typeface="Times New Roman" panose="02020603050405020304" pitchFamily="18" charset="0"/>
            </a:endParaRPr>
          </a:p>
          <a:p>
            <a:pPr algn="l" eaLnBrk="1" hangingPunct="1">
              <a:lnSpc>
                <a:spcPct val="90000"/>
              </a:lnSpc>
              <a:spcBef>
                <a:spcPct val="20000"/>
              </a:spcBef>
              <a:buClr>
                <a:srgbClr val="0066CC"/>
              </a:buClr>
              <a:buSzTx/>
              <a:buNone/>
            </a:pPr>
            <a:r>
              <a:rPr kumimoji="0" lang="zh-CN" altLang="en-US" sz="1800" dirty="0" smtClean="0">
                <a:ea typeface="仿宋_GB2312" panose="02010609030101010101" pitchFamily="49" charset="-122"/>
                <a:cs typeface="Times New Roman" panose="02020603050405020304" pitchFamily="18" charset="0"/>
              </a:rPr>
              <a:t>        2.请示只能是一文一事，而报告则无此限制。</a:t>
            </a:r>
            <a:endParaRPr kumimoji="0" lang="zh-CN" altLang="en-US" sz="1800" dirty="0" smtClean="0">
              <a:ea typeface="仿宋_GB2312" panose="02010609030101010101" pitchFamily="49" charset="-122"/>
              <a:cs typeface="Times New Roman" panose="02020603050405020304" pitchFamily="18" charset="0"/>
            </a:endParaRPr>
          </a:p>
          <a:p>
            <a:pPr algn="l" eaLnBrk="1" hangingPunct="1">
              <a:lnSpc>
                <a:spcPct val="90000"/>
              </a:lnSpc>
              <a:spcBef>
                <a:spcPct val="20000"/>
              </a:spcBef>
              <a:buClr>
                <a:srgbClr val="0066CC"/>
              </a:buClr>
              <a:buSzTx/>
              <a:buNone/>
            </a:pPr>
            <a:r>
              <a:rPr kumimoji="0" lang="zh-CN" altLang="en-US" sz="1800" dirty="0" smtClean="0">
                <a:ea typeface="仿宋_GB2312" panose="02010609030101010101" pitchFamily="49" charset="-122"/>
                <a:cs typeface="Times New Roman" panose="02020603050405020304" pitchFamily="18" charset="0"/>
              </a:rPr>
              <a:t>        3.行文时间不同。请示是事前行文；而报告是事中或事后行文。</a:t>
            </a:r>
            <a:endParaRPr kumimoji="0" lang="zh-CN" altLang="en-US" sz="1800" dirty="0" smtClean="0">
              <a:ea typeface="仿宋_GB2312" panose="02010609030101010101" pitchFamily="49" charset="-122"/>
              <a:cs typeface="Times New Roman" panose="02020603050405020304" pitchFamily="18" charset="0"/>
            </a:endParaRPr>
          </a:p>
        </p:txBody>
      </p:sp>
      <p:pic>
        <p:nvPicPr>
          <p:cNvPr id="8" name="图片 7" descr="E:\曹飞\2017\2017-8-8地铁PPT\6.png6"/>
          <p:cNvPicPr>
            <a:picLocks noChangeAspect="1"/>
          </p:cNvPicPr>
          <p:nvPr/>
        </p:nvPicPr>
        <p:blipFill>
          <a:blip r:embed="rId1" cstate="email"/>
          <a:srcRect/>
          <a:stretch>
            <a:fillRect/>
          </a:stretch>
        </p:blipFill>
        <p:spPr>
          <a:xfrm>
            <a:off x="2261712" y="230427"/>
            <a:ext cx="6463189" cy="343376"/>
          </a:xfrm>
          <a:prstGeom prst="rect">
            <a:avLst/>
          </a:prstGeom>
        </p:spPr>
      </p:pic>
      <p:pic>
        <p:nvPicPr>
          <p:cNvPr id="9" name="图片 8"/>
          <p:cNvPicPr>
            <a:picLocks noChangeAspect="1"/>
          </p:cNvPicPr>
          <p:nvPr/>
        </p:nvPicPr>
        <p:blipFill>
          <a:blip r:embed="rId2"/>
          <a:stretch>
            <a:fillRect/>
          </a:stretch>
        </p:blipFill>
        <p:spPr>
          <a:xfrm>
            <a:off x="575945" y="297180"/>
            <a:ext cx="1685925" cy="419100"/>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pic>
        <p:nvPicPr>
          <p:cNvPr id="13" name="图片 12" descr="E:\曹飞\2017\2017-8-8地铁PPT\7.png7"/>
          <p:cNvPicPr>
            <a:picLocks noChangeAspect="1"/>
          </p:cNvPicPr>
          <p:nvPr/>
        </p:nvPicPr>
        <p:blipFill>
          <a:blip r:embed="rId3" cstate="email"/>
          <a:srcRect/>
          <a:stretch>
            <a:fillRect/>
          </a:stretch>
        </p:blipFill>
        <p:spPr>
          <a:xfrm>
            <a:off x="-12382" y="4475560"/>
            <a:ext cx="9168289" cy="66817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4" presetClass="entr" presetSubtype="0" accel="100000" fill="hold"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p:cTn id="7" dur="1000" fill="hold"/>
                                        <p:tgtEl>
                                          <p:spTgt spid="6">
                                            <p:txEl>
                                              <p:pRg st="0" end="0"/>
                                            </p:txEl>
                                          </p:spTgt>
                                        </p:tgtEl>
                                        <p:attrNameLst>
                                          <p:attrName>ppt_w</p:attrName>
                                        </p:attrNameLst>
                                      </p:cBhvr>
                                      <p:tavLst>
                                        <p:tav tm="0">
                                          <p:val>
                                            <p:strVal val="#ppt_w*0.05"/>
                                          </p:val>
                                        </p:tav>
                                        <p:tav tm="100000">
                                          <p:val>
                                            <p:strVal val="#ppt_w"/>
                                          </p:val>
                                        </p:tav>
                                      </p:tavLst>
                                    </p:anim>
                                    <p:anim calcmode="lin" valueType="num">
                                      <p:cBhvr>
                                        <p:cTn id="8" dur="1000" fill="hold"/>
                                        <p:tgtEl>
                                          <p:spTgt spid="6">
                                            <p:txEl>
                                              <p:pRg st="0" end="0"/>
                                            </p:txEl>
                                          </p:spTgt>
                                        </p:tgtEl>
                                        <p:attrNameLst>
                                          <p:attrName>ppt_h</p:attrName>
                                        </p:attrNameLst>
                                      </p:cBhvr>
                                      <p:tavLst>
                                        <p:tav tm="0">
                                          <p:val>
                                            <p:strVal val="#ppt_h"/>
                                          </p:val>
                                        </p:tav>
                                        <p:tav tm="100000">
                                          <p:val>
                                            <p:strVal val="#ppt_h"/>
                                          </p:val>
                                        </p:tav>
                                      </p:tavLst>
                                    </p:anim>
                                    <p:anim calcmode="lin" valueType="num">
                                      <p:cBhvr>
                                        <p:cTn id="9" dur="1000" fill="hold"/>
                                        <p:tgtEl>
                                          <p:spTgt spid="6">
                                            <p:txEl>
                                              <p:pRg st="0" end="0"/>
                                            </p:txEl>
                                          </p:spTgt>
                                        </p:tgtEl>
                                        <p:attrNameLst>
                                          <p:attrName>ppt_x</p:attrName>
                                        </p:attrNameLst>
                                      </p:cBhvr>
                                      <p:tavLst>
                                        <p:tav tm="0">
                                          <p:val>
                                            <p:strVal val="#ppt_x-.2"/>
                                          </p:val>
                                        </p:tav>
                                        <p:tav tm="100000">
                                          <p:val>
                                            <p:strVal val="#ppt_x"/>
                                          </p:val>
                                        </p:tav>
                                      </p:tavLst>
                                    </p:anim>
                                    <p:anim calcmode="lin" valueType="num">
                                      <p:cBhvr>
                                        <p:cTn id="10" dur="1000" fill="hold"/>
                                        <p:tgtEl>
                                          <p:spTgt spid="6">
                                            <p:txEl>
                                              <p:pRg st="0" end="0"/>
                                            </p:txEl>
                                          </p:spTgt>
                                        </p:tgtEl>
                                        <p:attrNameLst>
                                          <p:attrName>ppt_y</p:attrName>
                                        </p:attrNameLst>
                                      </p:cBhvr>
                                      <p:tavLst>
                                        <p:tav tm="0">
                                          <p:val>
                                            <p:strVal val="#ppt_y"/>
                                          </p:val>
                                        </p:tav>
                                        <p:tav tm="100000">
                                          <p:val>
                                            <p:strVal val="#ppt_y"/>
                                          </p:val>
                                        </p:tav>
                                      </p:tavLst>
                                    </p:anim>
                                    <p:animEffect transition="in" filter="fade">
                                      <p:cBhvr>
                                        <p:cTn id="11" dur="1000"/>
                                        <p:tgtEl>
                                          <p:spTgt spid="6">
                                            <p:txEl>
                                              <p:pRg st="0" end="0"/>
                                            </p:txEl>
                                          </p:spTgt>
                                        </p:tgtEl>
                                      </p:cBhvr>
                                    </p:animEffect>
                                  </p:childTnLst>
                                </p:cTn>
                              </p:par>
                            </p:childTnLst>
                          </p:cTn>
                        </p:par>
                        <p:par>
                          <p:cTn id="12" fill="hold">
                            <p:stCondLst>
                              <p:cond delay="1000"/>
                            </p:stCondLst>
                            <p:childTnLst>
                              <p:par>
                                <p:cTn id="13" presetID="54" presetClass="entr" presetSubtype="0" accel="100000" fill="hold" nodeType="after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anim calcmode="lin" valueType="num">
                                      <p:cBhvr>
                                        <p:cTn id="15" dur="1000" fill="hold"/>
                                        <p:tgtEl>
                                          <p:spTgt spid="6">
                                            <p:txEl>
                                              <p:pRg st="1" end="1"/>
                                            </p:txEl>
                                          </p:spTgt>
                                        </p:tgtEl>
                                        <p:attrNameLst>
                                          <p:attrName>ppt_w</p:attrName>
                                        </p:attrNameLst>
                                      </p:cBhvr>
                                      <p:tavLst>
                                        <p:tav tm="0">
                                          <p:val>
                                            <p:strVal val="#ppt_w*0.05"/>
                                          </p:val>
                                        </p:tav>
                                        <p:tav tm="100000">
                                          <p:val>
                                            <p:strVal val="#ppt_w"/>
                                          </p:val>
                                        </p:tav>
                                      </p:tavLst>
                                    </p:anim>
                                    <p:anim calcmode="lin" valueType="num">
                                      <p:cBhvr>
                                        <p:cTn id="16" dur="1000" fill="hold"/>
                                        <p:tgtEl>
                                          <p:spTgt spid="6">
                                            <p:txEl>
                                              <p:pRg st="1" end="1"/>
                                            </p:txEl>
                                          </p:spTgt>
                                        </p:tgtEl>
                                        <p:attrNameLst>
                                          <p:attrName>ppt_h</p:attrName>
                                        </p:attrNameLst>
                                      </p:cBhvr>
                                      <p:tavLst>
                                        <p:tav tm="0">
                                          <p:val>
                                            <p:strVal val="#ppt_h"/>
                                          </p:val>
                                        </p:tav>
                                        <p:tav tm="100000">
                                          <p:val>
                                            <p:strVal val="#ppt_h"/>
                                          </p:val>
                                        </p:tav>
                                      </p:tavLst>
                                    </p:anim>
                                    <p:anim calcmode="lin" valueType="num">
                                      <p:cBhvr>
                                        <p:cTn id="17" dur="1000" fill="hold"/>
                                        <p:tgtEl>
                                          <p:spTgt spid="6">
                                            <p:txEl>
                                              <p:pRg st="1" end="1"/>
                                            </p:txEl>
                                          </p:spTgt>
                                        </p:tgtEl>
                                        <p:attrNameLst>
                                          <p:attrName>ppt_x</p:attrName>
                                        </p:attrNameLst>
                                      </p:cBhvr>
                                      <p:tavLst>
                                        <p:tav tm="0">
                                          <p:val>
                                            <p:strVal val="#ppt_x-.2"/>
                                          </p:val>
                                        </p:tav>
                                        <p:tav tm="100000">
                                          <p:val>
                                            <p:strVal val="#ppt_x"/>
                                          </p:val>
                                        </p:tav>
                                      </p:tavLst>
                                    </p:anim>
                                    <p:anim calcmode="lin" valueType="num">
                                      <p:cBhvr>
                                        <p:cTn id="18" dur="1000" fill="hold"/>
                                        <p:tgtEl>
                                          <p:spTgt spid="6">
                                            <p:txEl>
                                              <p:pRg st="1" end="1"/>
                                            </p:txEl>
                                          </p:spTgt>
                                        </p:tgtEl>
                                        <p:attrNameLst>
                                          <p:attrName>ppt_y</p:attrName>
                                        </p:attrNameLst>
                                      </p:cBhvr>
                                      <p:tavLst>
                                        <p:tav tm="0">
                                          <p:val>
                                            <p:strVal val="#ppt_y"/>
                                          </p:val>
                                        </p:tav>
                                        <p:tav tm="100000">
                                          <p:val>
                                            <p:strVal val="#ppt_y"/>
                                          </p:val>
                                        </p:tav>
                                      </p:tavLst>
                                    </p:anim>
                                    <p:animEffect transition="in" filter="fade">
                                      <p:cBhvr>
                                        <p:cTn id="19" dur="1000"/>
                                        <p:tgtEl>
                                          <p:spTgt spid="6">
                                            <p:txEl>
                                              <p:pRg st="1" end="1"/>
                                            </p:txEl>
                                          </p:spTgt>
                                        </p:tgtEl>
                                      </p:cBhvr>
                                    </p:animEffect>
                                  </p:childTnLst>
                                </p:cTn>
                              </p:par>
                            </p:childTnLst>
                          </p:cTn>
                        </p:par>
                        <p:par>
                          <p:cTn id="20" fill="hold">
                            <p:stCondLst>
                              <p:cond delay="2000"/>
                            </p:stCondLst>
                            <p:childTnLst>
                              <p:par>
                                <p:cTn id="21" presetID="54" presetClass="entr" presetSubtype="0" accel="100000" fill="hold" nodeType="afterEffect">
                                  <p:stCondLst>
                                    <p:cond delay="0"/>
                                  </p:stCondLst>
                                  <p:childTnLst>
                                    <p:set>
                                      <p:cBhvr>
                                        <p:cTn id="22" dur="1" fill="hold">
                                          <p:stCondLst>
                                            <p:cond delay="0"/>
                                          </p:stCondLst>
                                        </p:cTn>
                                        <p:tgtEl>
                                          <p:spTgt spid="6">
                                            <p:txEl>
                                              <p:pRg st="2" end="2"/>
                                            </p:txEl>
                                          </p:spTgt>
                                        </p:tgtEl>
                                        <p:attrNameLst>
                                          <p:attrName>style.visibility</p:attrName>
                                        </p:attrNameLst>
                                      </p:cBhvr>
                                      <p:to>
                                        <p:strVal val="visible"/>
                                      </p:to>
                                    </p:set>
                                    <p:anim calcmode="lin" valueType="num">
                                      <p:cBhvr>
                                        <p:cTn id="23" dur="1000" fill="hold"/>
                                        <p:tgtEl>
                                          <p:spTgt spid="6">
                                            <p:txEl>
                                              <p:pRg st="2" end="2"/>
                                            </p:txEl>
                                          </p:spTgt>
                                        </p:tgtEl>
                                        <p:attrNameLst>
                                          <p:attrName>ppt_w</p:attrName>
                                        </p:attrNameLst>
                                      </p:cBhvr>
                                      <p:tavLst>
                                        <p:tav tm="0">
                                          <p:val>
                                            <p:strVal val="#ppt_w*0.05"/>
                                          </p:val>
                                        </p:tav>
                                        <p:tav tm="100000">
                                          <p:val>
                                            <p:strVal val="#ppt_w"/>
                                          </p:val>
                                        </p:tav>
                                      </p:tavLst>
                                    </p:anim>
                                    <p:anim calcmode="lin" valueType="num">
                                      <p:cBhvr>
                                        <p:cTn id="24" dur="1000" fill="hold"/>
                                        <p:tgtEl>
                                          <p:spTgt spid="6">
                                            <p:txEl>
                                              <p:pRg st="2" end="2"/>
                                            </p:txEl>
                                          </p:spTgt>
                                        </p:tgtEl>
                                        <p:attrNameLst>
                                          <p:attrName>ppt_h</p:attrName>
                                        </p:attrNameLst>
                                      </p:cBhvr>
                                      <p:tavLst>
                                        <p:tav tm="0">
                                          <p:val>
                                            <p:strVal val="#ppt_h"/>
                                          </p:val>
                                        </p:tav>
                                        <p:tav tm="100000">
                                          <p:val>
                                            <p:strVal val="#ppt_h"/>
                                          </p:val>
                                        </p:tav>
                                      </p:tavLst>
                                    </p:anim>
                                    <p:anim calcmode="lin" valueType="num">
                                      <p:cBhvr>
                                        <p:cTn id="25" dur="1000" fill="hold"/>
                                        <p:tgtEl>
                                          <p:spTgt spid="6">
                                            <p:txEl>
                                              <p:pRg st="2" end="2"/>
                                            </p:txEl>
                                          </p:spTgt>
                                        </p:tgtEl>
                                        <p:attrNameLst>
                                          <p:attrName>ppt_x</p:attrName>
                                        </p:attrNameLst>
                                      </p:cBhvr>
                                      <p:tavLst>
                                        <p:tav tm="0">
                                          <p:val>
                                            <p:strVal val="#ppt_x-.2"/>
                                          </p:val>
                                        </p:tav>
                                        <p:tav tm="100000">
                                          <p:val>
                                            <p:strVal val="#ppt_x"/>
                                          </p:val>
                                        </p:tav>
                                      </p:tavLst>
                                    </p:anim>
                                    <p:anim calcmode="lin" valueType="num">
                                      <p:cBhvr>
                                        <p:cTn id="26" dur="1000" fill="hold"/>
                                        <p:tgtEl>
                                          <p:spTgt spid="6">
                                            <p:txEl>
                                              <p:pRg st="2" end="2"/>
                                            </p:txEl>
                                          </p:spTgt>
                                        </p:tgtEl>
                                        <p:attrNameLst>
                                          <p:attrName>ppt_y</p:attrName>
                                        </p:attrNameLst>
                                      </p:cBhvr>
                                      <p:tavLst>
                                        <p:tav tm="0">
                                          <p:val>
                                            <p:strVal val="#ppt_y"/>
                                          </p:val>
                                        </p:tav>
                                        <p:tav tm="100000">
                                          <p:val>
                                            <p:strVal val="#ppt_y"/>
                                          </p:val>
                                        </p:tav>
                                      </p:tavLst>
                                    </p:anim>
                                    <p:animEffect transition="in" filter="fade">
                                      <p:cBhvr>
                                        <p:cTn id="27" dur="1000"/>
                                        <p:tgtEl>
                                          <p:spTgt spid="6">
                                            <p:txEl>
                                              <p:pRg st="2" end="2"/>
                                            </p:txEl>
                                          </p:spTgt>
                                        </p:tgtEl>
                                      </p:cBhvr>
                                    </p:animEffect>
                                  </p:childTnLst>
                                </p:cTn>
                              </p:par>
                            </p:childTnLst>
                          </p:cTn>
                        </p:par>
                        <p:par>
                          <p:cTn id="28" fill="hold">
                            <p:stCondLst>
                              <p:cond delay="3000"/>
                            </p:stCondLst>
                            <p:childTnLst>
                              <p:par>
                                <p:cTn id="29" presetID="54" presetClass="entr" presetSubtype="0" accel="100000" fill="hold" nodeType="afterEffect">
                                  <p:stCondLst>
                                    <p:cond delay="0"/>
                                  </p:stCondLst>
                                  <p:childTnLst>
                                    <p:set>
                                      <p:cBhvr>
                                        <p:cTn id="30" dur="1" fill="hold">
                                          <p:stCondLst>
                                            <p:cond delay="0"/>
                                          </p:stCondLst>
                                        </p:cTn>
                                        <p:tgtEl>
                                          <p:spTgt spid="6">
                                            <p:txEl>
                                              <p:pRg st="3" end="3"/>
                                            </p:txEl>
                                          </p:spTgt>
                                        </p:tgtEl>
                                        <p:attrNameLst>
                                          <p:attrName>style.visibility</p:attrName>
                                        </p:attrNameLst>
                                      </p:cBhvr>
                                      <p:to>
                                        <p:strVal val="visible"/>
                                      </p:to>
                                    </p:set>
                                    <p:anim calcmode="lin" valueType="num">
                                      <p:cBhvr>
                                        <p:cTn id="31" dur="1000" fill="hold"/>
                                        <p:tgtEl>
                                          <p:spTgt spid="6">
                                            <p:txEl>
                                              <p:pRg st="3" end="3"/>
                                            </p:txEl>
                                          </p:spTgt>
                                        </p:tgtEl>
                                        <p:attrNameLst>
                                          <p:attrName>ppt_w</p:attrName>
                                        </p:attrNameLst>
                                      </p:cBhvr>
                                      <p:tavLst>
                                        <p:tav tm="0">
                                          <p:val>
                                            <p:strVal val="#ppt_w*0.05"/>
                                          </p:val>
                                        </p:tav>
                                        <p:tav tm="100000">
                                          <p:val>
                                            <p:strVal val="#ppt_w"/>
                                          </p:val>
                                        </p:tav>
                                      </p:tavLst>
                                    </p:anim>
                                    <p:anim calcmode="lin" valueType="num">
                                      <p:cBhvr>
                                        <p:cTn id="32" dur="1000" fill="hold"/>
                                        <p:tgtEl>
                                          <p:spTgt spid="6">
                                            <p:txEl>
                                              <p:pRg st="3" end="3"/>
                                            </p:txEl>
                                          </p:spTgt>
                                        </p:tgtEl>
                                        <p:attrNameLst>
                                          <p:attrName>ppt_h</p:attrName>
                                        </p:attrNameLst>
                                      </p:cBhvr>
                                      <p:tavLst>
                                        <p:tav tm="0">
                                          <p:val>
                                            <p:strVal val="#ppt_h"/>
                                          </p:val>
                                        </p:tav>
                                        <p:tav tm="100000">
                                          <p:val>
                                            <p:strVal val="#ppt_h"/>
                                          </p:val>
                                        </p:tav>
                                      </p:tavLst>
                                    </p:anim>
                                    <p:anim calcmode="lin" valueType="num">
                                      <p:cBhvr>
                                        <p:cTn id="33" dur="1000" fill="hold"/>
                                        <p:tgtEl>
                                          <p:spTgt spid="6">
                                            <p:txEl>
                                              <p:pRg st="3" end="3"/>
                                            </p:txEl>
                                          </p:spTgt>
                                        </p:tgtEl>
                                        <p:attrNameLst>
                                          <p:attrName>ppt_x</p:attrName>
                                        </p:attrNameLst>
                                      </p:cBhvr>
                                      <p:tavLst>
                                        <p:tav tm="0">
                                          <p:val>
                                            <p:strVal val="#ppt_x-.2"/>
                                          </p:val>
                                        </p:tav>
                                        <p:tav tm="100000">
                                          <p:val>
                                            <p:strVal val="#ppt_x"/>
                                          </p:val>
                                        </p:tav>
                                      </p:tavLst>
                                    </p:anim>
                                    <p:anim calcmode="lin" valueType="num">
                                      <p:cBhvr>
                                        <p:cTn id="34" dur="1000" fill="hold"/>
                                        <p:tgtEl>
                                          <p:spTgt spid="6">
                                            <p:txEl>
                                              <p:pRg st="3" end="3"/>
                                            </p:txEl>
                                          </p:spTgt>
                                        </p:tgtEl>
                                        <p:attrNameLst>
                                          <p:attrName>ppt_y</p:attrName>
                                        </p:attrNameLst>
                                      </p:cBhvr>
                                      <p:tavLst>
                                        <p:tav tm="0">
                                          <p:val>
                                            <p:strVal val="#ppt_y"/>
                                          </p:val>
                                        </p:tav>
                                        <p:tav tm="100000">
                                          <p:val>
                                            <p:strVal val="#ppt_y"/>
                                          </p:val>
                                        </p:tav>
                                      </p:tavLst>
                                    </p:anim>
                                    <p:animEffect transition="in" filter="fade">
                                      <p:cBhvr>
                                        <p:cTn id="35" dur="1000"/>
                                        <p:tgtEl>
                                          <p:spTgt spid="6">
                                            <p:txEl>
                                              <p:pRg st="3" end="3"/>
                                            </p:txEl>
                                          </p:spTgt>
                                        </p:tgtEl>
                                      </p:cBhvr>
                                    </p:animEffect>
                                  </p:childTnLst>
                                </p:cTn>
                              </p:par>
                              <p:par>
                                <p:cTn id="36" presetID="12" presetClass="entr" presetSubtype="8" fill="hold" nodeType="withEffect">
                                  <p:stCondLst>
                                    <p:cond delay="0"/>
                                  </p:stCondLst>
                                  <p:childTnLst>
                                    <p:set>
                                      <p:cBhvr>
                                        <p:cTn id="37" dur="1" fill="hold">
                                          <p:stCondLst>
                                            <p:cond delay="0"/>
                                          </p:stCondLst>
                                        </p:cTn>
                                        <p:tgtEl>
                                          <p:spTgt spid="8"/>
                                        </p:tgtEl>
                                        <p:attrNameLst>
                                          <p:attrName>style.visibility</p:attrName>
                                        </p:attrNameLst>
                                      </p:cBhvr>
                                      <p:to>
                                        <p:strVal val="visible"/>
                                      </p:to>
                                    </p:set>
                                    <p:anim calcmode="lin" valueType="num">
                                      <p:cBhvr additive="base">
                                        <p:cTn id="38" dur="500"/>
                                        <p:tgtEl>
                                          <p:spTgt spid="8"/>
                                        </p:tgtEl>
                                        <p:attrNameLst>
                                          <p:attrName>ppt_x</p:attrName>
                                        </p:attrNameLst>
                                      </p:cBhvr>
                                      <p:tavLst>
                                        <p:tav tm="0">
                                          <p:val>
                                            <p:strVal val="#ppt_x-#ppt_w*1.125000"/>
                                          </p:val>
                                        </p:tav>
                                        <p:tav tm="100000">
                                          <p:val>
                                            <p:strVal val="#ppt_x"/>
                                          </p:val>
                                        </p:tav>
                                      </p:tavLst>
                                    </p:anim>
                                    <p:animEffect transition="in" filter="wipe(right)">
                                      <p:cBhvr>
                                        <p:cTn id="39" dur="500"/>
                                        <p:tgtEl>
                                          <p:spTgt spid="8"/>
                                        </p:tgtEl>
                                      </p:cBhvr>
                                    </p:animEffect>
                                  </p:childTnLst>
                                </p:cTn>
                              </p:par>
                              <p:par>
                                <p:cTn id="40" presetID="12" presetClass="entr" presetSubtype="8" fill="hold" grpId="1" nodeType="withEffect">
                                  <p:stCondLst>
                                    <p:cond delay="0"/>
                                  </p:stCondLst>
                                  <p:childTnLst>
                                    <p:set>
                                      <p:cBhvr>
                                        <p:cTn id="41" dur="1" fill="hold">
                                          <p:stCondLst>
                                            <p:cond delay="0"/>
                                          </p:stCondLst>
                                        </p:cTn>
                                        <p:tgtEl>
                                          <p:spTgt spid="14"/>
                                        </p:tgtEl>
                                        <p:attrNameLst>
                                          <p:attrName>style.visibility</p:attrName>
                                        </p:attrNameLst>
                                      </p:cBhvr>
                                      <p:to>
                                        <p:strVal val="visible"/>
                                      </p:to>
                                    </p:set>
                                    <p:anim calcmode="lin" valueType="num">
                                      <p:cBhvr additive="base">
                                        <p:cTn id="42" dur="250"/>
                                        <p:tgtEl>
                                          <p:spTgt spid="14"/>
                                        </p:tgtEl>
                                        <p:attrNameLst>
                                          <p:attrName>ppt_x</p:attrName>
                                        </p:attrNameLst>
                                      </p:cBhvr>
                                      <p:tavLst>
                                        <p:tav tm="0">
                                          <p:val>
                                            <p:strVal val="#ppt_x-#ppt_w*1.125000"/>
                                          </p:val>
                                        </p:tav>
                                        <p:tav tm="100000">
                                          <p:val>
                                            <p:strVal val="#ppt_x"/>
                                          </p:val>
                                        </p:tav>
                                      </p:tavLst>
                                    </p:anim>
                                    <p:animEffect transition="in" filter="wipe(right)">
                                      <p:cBhvr>
                                        <p:cTn id="43" dur="250"/>
                                        <p:tgtEl>
                                          <p:spTgt spid="14"/>
                                        </p:tgtEl>
                                      </p:cBhvr>
                                    </p:animEffect>
                                  </p:childTnLst>
                                </p:cTn>
                              </p:par>
                              <p:par>
                                <p:cTn id="44" presetID="42" presetClass="entr" presetSubtype="0" fill="hold" nodeType="with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1000"/>
                                        <p:tgtEl>
                                          <p:spTgt spid="13"/>
                                        </p:tgtEl>
                                      </p:cBhvr>
                                    </p:animEffect>
                                    <p:anim calcmode="lin" valueType="num">
                                      <p:cBhvr>
                                        <p:cTn id="47" dur="1000" fill="hold"/>
                                        <p:tgtEl>
                                          <p:spTgt spid="13"/>
                                        </p:tgtEl>
                                        <p:attrNameLst>
                                          <p:attrName>ppt_x</p:attrName>
                                        </p:attrNameLst>
                                      </p:cBhvr>
                                      <p:tavLst>
                                        <p:tav tm="0">
                                          <p:val>
                                            <p:strVal val="#ppt_x"/>
                                          </p:val>
                                        </p:tav>
                                        <p:tav tm="100000">
                                          <p:val>
                                            <p:strVal val="#ppt_x"/>
                                          </p:val>
                                        </p:tav>
                                      </p:tavLst>
                                    </p:anim>
                                    <p:anim calcmode="lin" valueType="num">
                                      <p:cBhvr>
                                        <p:cTn id="48"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3"/>
          <p:cNvSpPr>
            <a:spLocks noGrp="1" noChangeArrowheads="1"/>
          </p:cNvSpPr>
          <p:nvPr>
            <p:ph idx="1"/>
          </p:nvPr>
        </p:nvSpPr>
        <p:spPr>
          <a:xfrm>
            <a:off x="575945" y="716280"/>
            <a:ext cx="7904480" cy="4177665"/>
          </a:xfrm>
        </p:spPr>
        <p:txBody>
          <a:bodyPr>
            <a:normAutofit fontScale="70000" lnSpcReduction="20000"/>
          </a:bodyPr>
          <a:lstStyle/>
          <a:p>
            <a:pPr algn="ctr" eaLnBrk="1" hangingPunct="1">
              <a:lnSpc>
                <a:spcPct val="80000"/>
              </a:lnSpc>
              <a:buFontTx/>
              <a:buNone/>
            </a:pPr>
            <a:r>
              <a:rPr lang="zh-CN" altLang="en-US" sz="1900" dirty="0" smtClean="0"/>
              <a:t>关于</a:t>
            </a:r>
            <a:r>
              <a:rPr lang="en-US" altLang="zh-CN" sz="1900" dirty="0" smtClean="0"/>
              <a:t>××</a:t>
            </a:r>
            <a:r>
              <a:rPr lang="zh-CN" altLang="en-US" sz="1900" dirty="0" smtClean="0"/>
              <a:t>乡柳编厂火灾事故的检查处理报告</a:t>
            </a:r>
            <a:endParaRPr lang="zh-CN" altLang="en-US" sz="1900" dirty="0" smtClean="0"/>
          </a:p>
          <a:p>
            <a:pPr eaLnBrk="1" hangingPunct="1">
              <a:lnSpc>
                <a:spcPct val="120000"/>
              </a:lnSpc>
              <a:spcBef>
                <a:spcPts val="0"/>
              </a:spcBef>
              <a:buFontTx/>
              <a:buNone/>
            </a:pPr>
            <a:r>
              <a:rPr lang="zh-CN" altLang="en-US" sz="1900" dirty="0" smtClean="0"/>
              <a:t>    </a:t>
            </a:r>
            <a:endParaRPr lang="en-US" altLang="zh-CN" sz="1900" dirty="0" smtClean="0"/>
          </a:p>
          <a:p>
            <a:pPr eaLnBrk="1" hangingPunct="1">
              <a:lnSpc>
                <a:spcPct val="120000"/>
              </a:lnSpc>
              <a:spcBef>
                <a:spcPts val="0"/>
              </a:spcBef>
              <a:buFontTx/>
              <a:buNone/>
            </a:pPr>
            <a:r>
              <a:rPr lang="zh-CN" altLang="en-US" sz="1900" dirty="0" smtClean="0"/>
              <a:t> </a:t>
            </a:r>
            <a:r>
              <a:rPr lang="en-US" altLang="zh-CN" sz="1900" dirty="0" smtClean="0"/>
              <a:t>××</a:t>
            </a:r>
            <a:r>
              <a:rPr lang="zh-CN" altLang="en-US" sz="1900" dirty="0" smtClean="0"/>
              <a:t>市</a:t>
            </a:r>
            <a:r>
              <a:rPr lang="en-US" altLang="zh-CN" sz="1900" dirty="0" smtClean="0"/>
              <a:t>××</a:t>
            </a:r>
            <a:r>
              <a:rPr lang="zh-CN" altLang="en-US" sz="1900" dirty="0" smtClean="0"/>
              <a:t>局：</a:t>
            </a:r>
            <a:endParaRPr lang="zh-CN" altLang="en-US" sz="1900" dirty="0" smtClean="0"/>
          </a:p>
          <a:p>
            <a:pPr eaLnBrk="1" hangingPunct="1">
              <a:lnSpc>
                <a:spcPct val="120000"/>
              </a:lnSpc>
              <a:spcBef>
                <a:spcPts val="0"/>
              </a:spcBef>
              <a:buFontTx/>
              <a:buNone/>
            </a:pPr>
            <a:r>
              <a:rPr lang="zh-CN" altLang="en-US" sz="1900" dirty="0" smtClean="0">
                <a:latin typeface="Arial" panose="020B0604020202020204" pitchFamily="34" charset="0"/>
              </a:rPr>
              <a:t>   </a:t>
            </a:r>
            <a:r>
              <a:rPr lang="zh-CN" altLang="en-US" sz="1900" dirty="0" smtClean="0"/>
              <a:t>          </a:t>
            </a:r>
            <a:r>
              <a:rPr lang="en-US" altLang="zh-CN" sz="1900" dirty="0" smtClean="0"/>
              <a:t>××××</a:t>
            </a:r>
            <a:r>
              <a:rPr lang="zh-CN" altLang="en-US" sz="1900" dirty="0" smtClean="0"/>
              <a:t>年</a:t>
            </a:r>
            <a:r>
              <a:rPr lang="en-US" altLang="zh-CN" sz="1900" dirty="0" smtClean="0"/>
              <a:t>×</a:t>
            </a:r>
            <a:r>
              <a:rPr lang="zh-CN" altLang="en-US" sz="1900" dirty="0" smtClean="0"/>
              <a:t>月</a:t>
            </a:r>
            <a:r>
              <a:rPr lang="en-US" altLang="zh-CN" sz="1900" dirty="0" smtClean="0"/>
              <a:t>×</a:t>
            </a:r>
            <a:r>
              <a:rPr lang="zh-CN" altLang="en-US" sz="1900" dirty="0" smtClean="0"/>
              <a:t>日，我县</a:t>
            </a:r>
            <a:r>
              <a:rPr lang="en-US" altLang="zh-CN" sz="1900" dirty="0" smtClean="0"/>
              <a:t>××</a:t>
            </a:r>
            <a:r>
              <a:rPr lang="zh-CN" altLang="en-US" sz="1900" dirty="0" smtClean="0"/>
              <a:t>乡柳编厂发生了一起重大火灾，烧毁部分设备和成品柳条筐</a:t>
            </a:r>
            <a:r>
              <a:rPr lang="en-US" altLang="zh-CN" sz="1900" dirty="0" smtClean="0"/>
              <a:t>××</a:t>
            </a:r>
            <a:r>
              <a:rPr lang="zh-CN" altLang="en-US" sz="1900" dirty="0" smtClean="0"/>
              <a:t>万个，造成经济损失</a:t>
            </a:r>
            <a:r>
              <a:rPr lang="en-US" altLang="zh-CN" sz="1900" dirty="0" smtClean="0"/>
              <a:t>××</a:t>
            </a:r>
            <a:r>
              <a:rPr lang="zh-CN" altLang="en-US" sz="1900" dirty="0" smtClean="0"/>
              <a:t>万元。</a:t>
            </a:r>
            <a:br>
              <a:rPr lang="zh-CN" altLang="en-US" sz="1900" dirty="0" smtClean="0"/>
            </a:br>
            <a:r>
              <a:rPr lang="zh-CN" altLang="en-US" sz="1900" dirty="0" smtClean="0">
                <a:latin typeface="Arial" panose="020B0604020202020204" pitchFamily="34" charset="0"/>
              </a:rPr>
              <a:t>   </a:t>
            </a:r>
            <a:r>
              <a:rPr lang="zh-CN" altLang="en-US" sz="1900" dirty="0" smtClean="0"/>
              <a:t>     火灾发生后，我们调集</a:t>
            </a:r>
            <a:r>
              <a:rPr lang="en-US" altLang="zh-CN" sz="1900" dirty="0" smtClean="0"/>
              <a:t>6</a:t>
            </a:r>
            <a:r>
              <a:rPr lang="zh-CN" altLang="en-US" sz="1900" dirty="0" smtClean="0"/>
              <a:t>台消防车参加灭火，保住了厂房和部分原材料。经上下通力合作，该厂于</a:t>
            </a:r>
            <a:r>
              <a:rPr lang="en-US" altLang="zh-CN" sz="1900" dirty="0" smtClean="0"/>
              <a:t>8</a:t>
            </a:r>
            <a:r>
              <a:rPr lang="zh-CN" altLang="en-US" sz="1900" dirty="0" smtClean="0"/>
              <a:t>月</a:t>
            </a:r>
            <a:r>
              <a:rPr lang="en-US" altLang="zh-CN" sz="1900" dirty="0" smtClean="0"/>
              <a:t>1</a:t>
            </a:r>
            <a:r>
              <a:rPr lang="zh-CN" altLang="en-US" sz="1900" dirty="0" smtClean="0"/>
              <a:t>日正式恢复生产。</a:t>
            </a:r>
            <a:br>
              <a:rPr lang="zh-CN" altLang="en-US" sz="1900" dirty="0" smtClean="0"/>
            </a:br>
            <a:r>
              <a:rPr lang="zh-CN" altLang="en-US" sz="1900" dirty="0" smtClean="0">
                <a:latin typeface="Arial" panose="020B0604020202020204" pitchFamily="34" charset="0"/>
              </a:rPr>
              <a:t>   </a:t>
            </a:r>
            <a:r>
              <a:rPr lang="zh-CN" altLang="en-US" sz="1900" dirty="0" smtClean="0"/>
              <a:t>     从检查情况看，该起火灾是一次重大的责任事故。其直接原因是该厂工人</a:t>
            </a:r>
            <a:r>
              <a:rPr lang="en-US" altLang="zh-CN" sz="1900" dirty="0" smtClean="0"/>
              <a:t>×××</a:t>
            </a:r>
            <a:r>
              <a:rPr lang="zh-CN" altLang="en-US" sz="1900" dirty="0" smtClean="0"/>
              <a:t>违章用电发出电火花，引燃附近备用柳条垛所致。但这次火灾的发生，领导也负有重大责任。该厂领导抓安全防火不力，消防组织不健全，平时不抓安全防火教育，灭火时配合不够，致使火势蔓延。</a:t>
            </a:r>
            <a:br>
              <a:rPr lang="zh-CN" altLang="en-US" sz="1900" dirty="0" smtClean="0"/>
            </a:br>
            <a:r>
              <a:rPr lang="zh-CN" altLang="en-US" sz="1900" dirty="0" smtClean="0">
                <a:latin typeface="Arial" panose="020B0604020202020204" pitchFamily="34" charset="0"/>
              </a:rPr>
              <a:t>   </a:t>
            </a:r>
            <a:r>
              <a:rPr lang="zh-CN" altLang="en-US" sz="1900" dirty="0" smtClean="0"/>
              <a:t>    为了认真吸取这次重大火灾的沉痛教训，防止类似事故的发生，我们采取了以下措施：</a:t>
            </a:r>
            <a:br>
              <a:rPr lang="zh-CN" altLang="en-US" sz="1900" dirty="0" smtClean="0"/>
            </a:br>
            <a:r>
              <a:rPr lang="zh-CN" altLang="en-US" sz="1900" dirty="0" smtClean="0">
                <a:latin typeface="Arial" panose="020B0604020202020204" pitchFamily="34" charset="0"/>
              </a:rPr>
              <a:t>   </a:t>
            </a:r>
            <a:r>
              <a:rPr lang="zh-CN" altLang="en-US" sz="1900" dirty="0" smtClean="0"/>
              <a:t> 一、</a:t>
            </a:r>
            <a:r>
              <a:rPr lang="en-US" altLang="zh-CN" sz="1900" dirty="0" smtClean="0">
                <a:latin typeface="Arial" panose="020B0604020202020204" pitchFamily="34" charset="0"/>
              </a:rPr>
              <a:t>……</a:t>
            </a:r>
            <a:br>
              <a:rPr lang="en-US" altLang="zh-CN" sz="1900" dirty="0" smtClean="0"/>
            </a:br>
            <a:r>
              <a:rPr lang="en-US" altLang="zh-CN" sz="1900" dirty="0" smtClean="0">
                <a:latin typeface="Arial" panose="020B0604020202020204" pitchFamily="34" charset="0"/>
              </a:rPr>
              <a:t>   </a:t>
            </a:r>
            <a:r>
              <a:rPr lang="en-US" altLang="zh-CN" sz="1900" dirty="0" smtClean="0"/>
              <a:t> </a:t>
            </a:r>
            <a:r>
              <a:rPr lang="zh-CN" altLang="en-US" sz="1900" dirty="0" smtClean="0"/>
              <a:t>二、</a:t>
            </a:r>
            <a:r>
              <a:rPr lang="en-US" altLang="zh-CN" sz="1900" dirty="0" smtClean="0">
                <a:latin typeface="Arial" panose="020B0604020202020204" pitchFamily="34" charset="0"/>
              </a:rPr>
              <a:t>……</a:t>
            </a:r>
            <a:br>
              <a:rPr lang="en-US" altLang="zh-CN" sz="1900" dirty="0" smtClean="0"/>
            </a:br>
            <a:r>
              <a:rPr lang="en-US" altLang="zh-CN" sz="1900" dirty="0" smtClean="0">
                <a:latin typeface="Arial" panose="020B0604020202020204" pitchFamily="34" charset="0"/>
              </a:rPr>
              <a:t>   </a:t>
            </a:r>
            <a:r>
              <a:rPr lang="en-US" altLang="zh-CN" sz="1900" dirty="0" smtClean="0"/>
              <a:t> </a:t>
            </a:r>
            <a:r>
              <a:rPr lang="zh-CN" altLang="en-US" sz="1900" dirty="0" smtClean="0"/>
              <a:t>三、</a:t>
            </a:r>
            <a:r>
              <a:rPr lang="en-US" altLang="zh-CN" sz="1900" dirty="0" smtClean="0">
                <a:latin typeface="Arial" panose="020B0604020202020204" pitchFamily="34" charset="0"/>
              </a:rPr>
              <a:t>……</a:t>
            </a:r>
            <a:br>
              <a:rPr lang="en-US" altLang="zh-CN" sz="1900" dirty="0" smtClean="0"/>
            </a:br>
            <a:r>
              <a:rPr lang="en-US" altLang="zh-CN" sz="1900" dirty="0" smtClean="0">
                <a:latin typeface="Arial" panose="020B0604020202020204" pitchFamily="34" charset="0"/>
              </a:rPr>
              <a:t>   </a:t>
            </a:r>
            <a:r>
              <a:rPr lang="en-US" altLang="zh-CN" sz="1900" dirty="0" smtClean="0"/>
              <a:t> </a:t>
            </a:r>
            <a:r>
              <a:rPr lang="zh-CN" altLang="en-US" sz="1900" dirty="0" smtClean="0"/>
              <a:t>对这次火灾，县政府已责成县公安局、县安监局、</a:t>
            </a:r>
            <a:r>
              <a:rPr lang="en-US" altLang="zh-CN" sz="1900" dirty="0" smtClean="0"/>
              <a:t>××</a:t>
            </a:r>
            <a:r>
              <a:rPr lang="zh-CN" altLang="en-US" sz="1900" dirty="0" smtClean="0"/>
              <a:t>乡政府迅速核实案情，做好善后工作。对事故责任者作了处理</a:t>
            </a:r>
            <a:r>
              <a:rPr lang="en-US" altLang="zh-CN" sz="1900" dirty="0" smtClean="0">
                <a:latin typeface="Arial" panose="020B0604020202020204" pitchFamily="34" charset="0"/>
              </a:rPr>
              <a:t>……</a:t>
            </a:r>
            <a:br>
              <a:rPr lang="en-US" altLang="zh-CN" sz="1900" dirty="0" smtClean="0"/>
            </a:br>
            <a:r>
              <a:rPr lang="en-US" altLang="zh-CN" sz="1900" dirty="0" smtClean="0">
                <a:latin typeface="Arial" panose="020B0604020202020204" pitchFamily="34" charset="0"/>
              </a:rPr>
              <a:t>   </a:t>
            </a:r>
            <a:r>
              <a:rPr lang="en-US" altLang="zh-CN" sz="1900" dirty="0" smtClean="0"/>
              <a:t> </a:t>
            </a:r>
            <a:r>
              <a:rPr lang="zh-CN" altLang="en-US" sz="1900" dirty="0" smtClean="0"/>
              <a:t>以上报告，如有不当请指示。</a:t>
            </a:r>
            <a:endParaRPr lang="zh-CN" altLang="en-US" sz="1900" dirty="0" smtClean="0"/>
          </a:p>
          <a:p>
            <a:pPr eaLnBrk="1" hangingPunct="1">
              <a:lnSpc>
                <a:spcPct val="120000"/>
              </a:lnSpc>
              <a:spcBef>
                <a:spcPts val="0"/>
              </a:spcBef>
              <a:buFontTx/>
              <a:buNone/>
            </a:pPr>
            <a:r>
              <a:rPr lang="zh-CN" altLang="en-US" sz="1900" dirty="0" smtClean="0">
                <a:latin typeface="Arial" panose="020B0604020202020204" pitchFamily="34" charset="0"/>
              </a:rPr>
              <a:t>                                                       </a:t>
            </a:r>
            <a:r>
              <a:rPr lang="zh-CN" altLang="en-US" sz="1900" dirty="0" smtClean="0"/>
              <a:t>                        </a:t>
            </a:r>
            <a:endParaRPr lang="zh-CN" altLang="en-US" sz="1900" dirty="0" smtClean="0"/>
          </a:p>
          <a:p>
            <a:pPr eaLnBrk="1" hangingPunct="1">
              <a:lnSpc>
                <a:spcPct val="120000"/>
              </a:lnSpc>
              <a:spcBef>
                <a:spcPts val="0"/>
              </a:spcBef>
              <a:buFontTx/>
              <a:buNone/>
            </a:pPr>
            <a:r>
              <a:rPr lang="zh-CN" altLang="en-US" sz="1900" dirty="0" smtClean="0"/>
              <a:t>                                                                                                                                                  </a:t>
            </a:r>
            <a:r>
              <a:rPr lang="en-US" altLang="zh-CN" sz="1900" dirty="0" smtClean="0"/>
              <a:t>××</a:t>
            </a:r>
            <a:r>
              <a:rPr lang="zh-CN" altLang="en-US" sz="1900" dirty="0" smtClean="0"/>
              <a:t>县</a:t>
            </a:r>
            <a:r>
              <a:rPr lang="en-US" altLang="zh-CN" sz="1900" dirty="0" smtClean="0"/>
              <a:t>××</a:t>
            </a:r>
            <a:r>
              <a:rPr lang="zh-CN" altLang="en-US" sz="1900" dirty="0" smtClean="0"/>
              <a:t>局</a:t>
            </a:r>
            <a:br>
              <a:rPr lang="zh-CN" altLang="en-US" sz="1900" dirty="0" smtClean="0"/>
            </a:br>
            <a:r>
              <a:rPr lang="zh-CN" altLang="en-US" sz="1900" dirty="0" smtClean="0">
                <a:latin typeface="Arial" panose="020B0604020202020204" pitchFamily="34" charset="0"/>
              </a:rPr>
              <a:t>                             </a:t>
            </a:r>
            <a:r>
              <a:rPr lang="zh-CN" altLang="en-US" sz="1900" dirty="0" smtClean="0"/>
              <a:t>                                                                                                    </a:t>
            </a:r>
            <a:r>
              <a:rPr lang="en-US" altLang="zh-CN" sz="1900" dirty="0" smtClean="0"/>
              <a:t>××××</a:t>
            </a:r>
            <a:r>
              <a:rPr lang="zh-CN" altLang="en-US" sz="1900" dirty="0" smtClean="0"/>
              <a:t>年</a:t>
            </a:r>
            <a:r>
              <a:rPr lang="en-US" altLang="zh-CN" sz="1900" dirty="0" smtClean="0"/>
              <a:t>×</a:t>
            </a:r>
            <a:r>
              <a:rPr lang="zh-CN" altLang="en-US" sz="1900" dirty="0" smtClean="0"/>
              <a:t>月</a:t>
            </a:r>
            <a:r>
              <a:rPr lang="en-US" altLang="zh-CN" sz="1900" dirty="0" smtClean="0"/>
              <a:t>×</a:t>
            </a:r>
            <a:r>
              <a:rPr lang="zh-CN" altLang="en-US" sz="1900" dirty="0" smtClean="0"/>
              <a:t>日</a:t>
            </a:r>
            <a:endParaRPr lang="zh-CN" altLang="en-US" sz="1900" dirty="0" smtClean="0"/>
          </a:p>
        </p:txBody>
      </p:sp>
      <p:pic>
        <p:nvPicPr>
          <p:cNvPr id="13" name="图片 12" descr="E:\曹飞\2017\2017-8-8地铁PPT\7.png7"/>
          <p:cNvPicPr>
            <a:picLocks noChangeAspect="1"/>
          </p:cNvPicPr>
          <p:nvPr/>
        </p:nvPicPr>
        <p:blipFill>
          <a:blip r:embed="rId1" cstate="email"/>
          <a:srcRect/>
          <a:stretch>
            <a:fillRect/>
          </a:stretch>
        </p:blipFill>
        <p:spPr>
          <a:xfrm>
            <a:off x="-6667" y="4477465"/>
            <a:ext cx="9168289" cy="668179"/>
          </a:xfrm>
          <a:prstGeom prst="rect">
            <a:avLst/>
          </a:prstGeom>
        </p:spPr>
      </p:pic>
      <p:pic>
        <p:nvPicPr>
          <p:cNvPr id="9" name="图片 8"/>
          <p:cNvPicPr>
            <a:picLocks noChangeAspect="1"/>
          </p:cNvPicPr>
          <p:nvPr/>
        </p:nvPicPr>
        <p:blipFill>
          <a:blip r:embed="rId2"/>
          <a:stretch>
            <a:fillRect/>
          </a:stretch>
        </p:blipFill>
        <p:spPr>
          <a:xfrm>
            <a:off x="575945" y="297180"/>
            <a:ext cx="1685925" cy="419100"/>
          </a:xfrm>
          <a:prstGeom prst="rect">
            <a:avLst/>
          </a:prstGeom>
        </p:spPr>
      </p:pic>
      <p:pic>
        <p:nvPicPr>
          <p:cNvPr id="8" name="图片 7" descr="E:\曹飞\2017\2017-8-8地铁PPT\6.png6"/>
          <p:cNvPicPr>
            <a:picLocks noChangeAspect="1"/>
          </p:cNvPicPr>
          <p:nvPr/>
        </p:nvPicPr>
        <p:blipFill>
          <a:blip r:embed="rId3" cstate="email"/>
          <a:srcRect/>
          <a:stretch>
            <a:fillRect/>
          </a:stretch>
        </p:blipFill>
        <p:spPr>
          <a:xfrm>
            <a:off x="2261712" y="230427"/>
            <a:ext cx="6463189" cy="343376"/>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par>
                                <p:cTn id="10" presetID="12" presetClass="entr" presetSubtype="8"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p:tgtEl>
                                          <p:spTgt spid="8"/>
                                        </p:tgtEl>
                                        <p:attrNameLst>
                                          <p:attrName>ppt_x</p:attrName>
                                        </p:attrNameLst>
                                      </p:cBhvr>
                                      <p:tavLst>
                                        <p:tav tm="0">
                                          <p:val>
                                            <p:strVal val="#ppt_x-#ppt_w*1.125000"/>
                                          </p:val>
                                        </p:tav>
                                        <p:tav tm="100000">
                                          <p:val>
                                            <p:strVal val="#ppt_x"/>
                                          </p:val>
                                        </p:tav>
                                      </p:tavLst>
                                    </p:anim>
                                    <p:animEffect transition="in" filter="wipe(right)">
                                      <p:cBhvr>
                                        <p:cTn id="13" dur="500"/>
                                        <p:tgtEl>
                                          <p:spTgt spid="8"/>
                                        </p:tgtEl>
                                      </p:cBhvr>
                                    </p:animEffect>
                                  </p:childTnLst>
                                </p:cTn>
                              </p:par>
                              <p:par>
                                <p:cTn id="14" presetID="12" presetClass="entr" presetSubtype="8" fill="hold" grpId="1" nodeType="withEffect">
                                  <p:stCondLst>
                                    <p:cond delay="0"/>
                                  </p:stCondLst>
                                  <p:childTnLst>
                                    <p:set>
                                      <p:cBhvr>
                                        <p:cTn id="15" dur="1" fill="hold">
                                          <p:stCondLst>
                                            <p:cond delay="0"/>
                                          </p:stCondLst>
                                        </p:cTn>
                                        <p:tgtEl>
                                          <p:spTgt spid="14"/>
                                        </p:tgtEl>
                                        <p:attrNameLst>
                                          <p:attrName>style.visibility</p:attrName>
                                        </p:attrNameLst>
                                      </p:cBhvr>
                                      <p:to>
                                        <p:strVal val="visible"/>
                                      </p:to>
                                    </p:set>
                                    <p:anim calcmode="lin" valueType="num">
                                      <p:cBhvr additive="base">
                                        <p:cTn id="16" dur="250"/>
                                        <p:tgtEl>
                                          <p:spTgt spid="14"/>
                                        </p:tgtEl>
                                        <p:attrNameLst>
                                          <p:attrName>ppt_x</p:attrName>
                                        </p:attrNameLst>
                                      </p:cBhvr>
                                      <p:tavLst>
                                        <p:tav tm="0">
                                          <p:val>
                                            <p:strVal val="#ppt_x-#ppt_w*1.125000"/>
                                          </p:val>
                                        </p:tav>
                                        <p:tav tm="100000">
                                          <p:val>
                                            <p:strVal val="#ppt_x"/>
                                          </p:val>
                                        </p:tav>
                                      </p:tavLst>
                                    </p:anim>
                                    <p:animEffect transition="in" filter="wipe(right)">
                                      <p:cBhvr>
                                        <p:cTn id="17"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C:\Users\TCSJ\Desktop\地铁PPT\bg2.pngbg2"/>
          <p:cNvPicPr>
            <a:picLocks noChangeAspect="1"/>
          </p:cNvPicPr>
          <p:nvPr/>
        </p:nvPicPr>
        <p:blipFill>
          <a:blip r:embed="rId1"/>
          <a:srcRect/>
          <a:stretch>
            <a:fillRect/>
          </a:stretch>
        </p:blipFill>
        <p:spPr>
          <a:xfrm>
            <a:off x="-7144" y="30949"/>
            <a:ext cx="9158288" cy="5152073"/>
          </a:xfrm>
          <a:prstGeom prst="rect">
            <a:avLst/>
          </a:prstGeom>
        </p:spPr>
      </p:pic>
      <p:pic>
        <p:nvPicPr>
          <p:cNvPr id="3" name="图片 2" descr="E:\曹飞\2017\2017-8-8地铁PPT\5.png5"/>
          <p:cNvPicPr>
            <a:picLocks noChangeAspect="1"/>
          </p:cNvPicPr>
          <p:nvPr/>
        </p:nvPicPr>
        <p:blipFill>
          <a:blip r:embed="rId2" cstate="email"/>
          <a:srcRect/>
          <a:stretch>
            <a:fillRect/>
          </a:stretch>
        </p:blipFill>
        <p:spPr>
          <a:xfrm>
            <a:off x="-2210752" y="-2100739"/>
            <a:ext cx="7341394" cy="8766810"/>
          </a:xfrm>
          <a:prstGeom prst="rect">
            <a:avLst/>
          </a:prstGeom>
        </p:spPr>
      </p:pic>
      <p:pic>
        <p:nvPicPr>
          <p:cNvPr id="10" name="图片 9" descr="E:\曹飞\2017\2017-8-8地铁PPT\3.png3"/>
          <p:cNvPicPr>
            <a:picLocks noChangeAspect="1"/>
          </p:cNvPicPr>
          <p:nvPr/>
        </p:nvPicPr>
        <p:blipFill>
          <a:blip r:embed="rId3" cstate="email"/>
          <a:srcRect/>
          <a:stretch>
            <a:fillRect/>
          </a:stretch>
        </p:blipFill>
        <p:spPr>
          <a:xfrm>
            <a:off x="653415" y="4402218"/>
            <a:ext cx="8497729" cy="382429"/>
          </a:xfrm>
          <a:prstGeom prst="rect">
            <a:avLst/>
          </a:prstGeom>
        </p:spPr>
      </p:pic>
      <p:sp>
        <p:nvSpPr>
          <p:cNvPr id="9" name="Freeform 5"/>
          <p:cNvSpPr/>
          <p:nvPr/>
        </p:nvSpPr>
        <p:spPr bwMode="auto">
          <a:xfrm>
            <a:off x="4808220" y="2646521"/>
            <a:ext cx="1236345" cy="1493520"/>
          </a:xfrm>
          <a:custGeom>
            <a:avLst/>
            <a:gdLst>
              <a:gd name="T0" fmla="*/ 1625 w 1625"/>
              <a:gd name="T1" fmla="*/ 1477 h 1623"/>
              <a:gd name="T2" fmla="*/ 1625 w 1625"/>
              <a:gd name="T3" fmla="*/ 1623 h 1623"/>
              <a:gd name="T4" fmla="*/ 0 w 1625"/>
              <a:gd name="T5" fmla="*/ 1623 h 1623"/>
              <a:gd name="T6" fmla="*/ 0 w 1625"/>
              <a:gd name="T7" fmla="*/ 0 h 1623"/>
              <a:gd name="T8" fmla="*/ 1625 w 1625"/>
              <a:gd name="T9" fmla="*/ 0 h 1623"/>
              <a:gd name="T10" fmla="*/ 1625 w 1625"/>
              <a:gd name="T11" fmla="*/ 608 h 1623"/>
            </a:gdLst>
            <a:ahLst/>
            <a:cxnLst>
              <a:cxn ang="0">
                <a:pos x="T0" y="T1"/>
              </a:cxn>
              <a:cxn ang="0">
                <a:pos x="T2" y="T3"/>
              </a:cxn>
              <a:cxn ang="0">
                <a:pos x="T4" y="T5"/>
              </a:cxn>
              <a:cxn ang="0">
                <a:pos x="T6" y="T7"/>
              </a:cxn>
              <a:cxn ang="0">
                <a:pos x="T8" y="T9"/>
              </a:cxn>
              <a:cxn ang="0">
                <a:pos x="T10" y="T11"/>
              </a:cxn>
            </a:cxnLst>
            <a:rect l="0" t="0" r="r" b="b"/>
            <a:pathLst>
              <a:path w="1625" h="1623">
                <a:moveTo>
                  <a:pt x="1625" y="1477"/>
                </a:moveTo>
                <a:lnTo>
                  <a:pt x="1625" y="1623"/>
                </a:lnTo>
                <a:lnTo>
                  <a:pt x="0" y="1623"/>
                </a:lnTo>
                <a:lnTo>
                  <a:pt x="0" y="0"/>
                </a:lnTo>
                <a:lnTo>
                  <a:pt x="1625" y="0"/>
                </a:lnTo>
                <a:lnTo>
                  <a:pt x="1625" y="608"/>
                </a:lnTo>
              </a:path>
            </a:pathLst>
          </a:custGeom>
          <a:noFill/>
          <a:ln w="76200" cap="flat">
            <a:solidFill>
              <a:srgbClr val="C09D3C"/>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lstStyle/>
          <a:p>
            <a:endParaRPr lang="zh-CN" altLang="en-US">
              <a:solidFill>
                <a:prstClr val="black"/>
              </a:solidFill>
              <a:latin typeface="Arial" panose="020B0604020202020204"/>
              <a:ea typeface="微软雅黑" panose="020B0503020204020204" charset="-122"/>
              <a:sym typeface="Arial" panose="020B0604020202020204"/>
            </a:endParaRPr>
          </a:p>
        </p:txBody>
      </p:sp>
      <p:sp>
        <p:nvSpPr>
          <p:cNvPr id="7" name="TextBox 24"/>
          <p:cNvSpPr txBox="1"/>
          <p:nvPr/>
        </p:nvSpPr>
        <p:spPr>
          <a:xfrm>
            <a:off x="5938362" y="3442653"/>
            <a:ext cx="2846546" cy="421262"/>
          </a:xfrm>
          <a:prstGeom prst="rect">
            <a:avLst/>
          </a:prstGeom>
          <a:noFill/>
        </p:spPr>
        <p:txBody>
          <a:bodyPr wrap="square" lIns="51428" tIns="25714" rIns="51428" bIns="25714" rtlCol="0">
            <a:spAutoFit/>
          </a:bodyPr>
          <a:lstStyle/>
          <a:p>
            <a:pPr algn="ctr"/>
            <a:r>
              <a:rPr lang="zh-CN" altLang="en-US" sz="2400" b="1" dirty="0" smtClean="0">
                <a:solidFill>
                  <a:srgbClr val="C09D3C"/>
                </a:solidFill>
                <a:latin typeface="微软雅黑" panose="020B0503020204020204" charset="-122"/>
                <a:ea typeface="微软雅黑" panose="020B0503020204020204" charset="-122"/>
                <a:sym typeface="+mn-ea"/>
              </a:rPr>
              <a:t>通知</a:t>
            </a:r>
            <a:endParaRPr lang="zh-CN" altLang="en-US" sz="2400" b="1" dirty="0">
              <a:solidFill>
                <a:schemeClr val="tx1">
                  <a:lumMod val="75000"/>
                  <a:lumOff val="25000"/>
                </a:schemeClr>
              </a:solidFill>
              <a:latin typeface="微软雅黑" panose="020B0503020204020204" charset="-122"/>
              <a:ea typeface="微软雅黑" panose="020B0503020204020204" charset="-122"/>
              <a:sym typeface="+mn-ea"/>
            </a:endParaRPr>
          </a:p>
        </p:txBody>
      </p:sp>
      <p:cxnSp>
        <p:nvCxnSpPr>
          <p:cNvPr id="11" name="直接连接符 10"/>
          <p:cNvCxnSpPr/>
          <p:nvPr/>
        </p:nvCxnSpPr>
        <p:spPr>
          <a:xfrm>
            <a:off x="6000274" y="3896678"/>
            <a:ext cx="2676182" cy="0"/>
          </a:xfrm>
          <a:prstGeom prst="line">
            <a:avLst/>
          </a:prstGeom>
          <a:ln w="34925">
            <a:solidFill>
              <a:srgbClr val="C09D3C"/>
            </a:solidFill>
          </a:ln>
        </p:spPr>
        <p:style>
          <a:lnRef idx="1">
            <a:srgbClr val="814E67"/>
          </a:lnRef>
          <a:fillRef idx="0">
            <a:srgbClr val="814E67"/>
          </a:fillRef>
          <a:effectRef idx="0">
            <a:srgbClr val="814E67"/>
          </a:effectRef>
          <a:fontRef idx="minor">
            <a:srgbClr val="000000"/>
          </a:fontRef>
        </p:style>
      </p:cxnSp>
      <p:sp>
        <p:nvSpPr>
          <p:cNvPr id="14" name="TextBox 24"/>
          <p:cNvSpPr txBox="1"/>
          <p:nvPr/>
        </p:nvSpPr>
        <p:spPr>
          <a:xfrm>
            <a:off x="4932522" y="3074194"/>
            <a:ext cx="1312069" cy="1065848"/>
          </a:xfrm>
          <a:prstGeom prst="rect">
            <a:avLst/>
          </a:prstGeom>
          <a:noFill/>
        </p:spPr>
        <p:txBody>
          <a:bodyPr wrap="square" lIns="51428" tIns="25714" rIns="51428" bIns="25714" rtlCol="0">
            <a:spAutoFit/>
          </a:bodyPr>
          <a:lstStyle/>
          <a:p>
            <a:r>
              <a:rPr lang="en-US" altLang="zh-CN" sz="6600" dirty="0" smtClean="0">
                <a:solidFill>
                  <a:srgbClr val="C09D3C"/>
                </a:solidFill>
                <a:latin typeface="Arial" panose="020B0604020202020204"/>
                <a:ea typeface="微软雅黑" panose="020B0503020204020204" charset="-122"/>
                <a:sym typeface="Arial" panose="020B0604020202020204"/>
              </a:rPr>
              <a:t>04</a:t>
            </a:r>
            <a:endParaRPr lang="en-US" altLang="zh-CN" sz="6600" dirty="0">
              <a:solidFill>
                <a:srgbClr val="C09D3C"/>
              </a:solidFill>
              <a:latin typeface="Arial" panose="020B0604020202020204"/>
              <a:ea typeface="微软雅黑" panose="020B0503020204020204" charset="-122"/>
              <a:sym typeface="Arial" panose="020B0604020202020204"/>
            </a:endParaRPr>
          </a:p>
        </p:txBody>
      </p:sp>
    </p:spTree>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13715" y="845185"/>
            <a:ext cx="4613275" cy="368300"/>
          </a:xfrm>
          <a:prstGeom prst="rect">
            <a:avLst/>
          </a:prstGeom>
          <a:noFill/>
        </p:spPr>
        <p:txBody>
          <a:bodyPr wrap="square" rtlCol="0">
            <a:spAutoFit/>
          </a:bodyPr>
          <a:lstStyle/>
          <a:p>
            <a:pPr>
              <a:spcBef>
                <a:spcPct val="50000"/>
              </a:spcBef>
            </a:pPr>
            <a:r>
              <a:rPr kumimoji="0" lang="en-US" altLang="zh-CN" kern="0" dirty="0" smtClean="0">
                <a:latin typeface="黑体" panose="02010609060101010101" pitchFamily="49" charset="-122"/>
                <a:ea typeface="黑体" panose="02010609060101010101" pitchFamily="49" charset="-122"/>
              </a:rPr>
              <a:t>     </a:t>
            </a:r>
            <a:r>
              <a:rPr kumimoji="0" lang="zh-CN" altLang="en-US" kern="0" dirty="0" smtClean="0">
                <a:latin typeface="黑体" panose="02010609060101010101" pitchFamily="49" charset="-122"/>
                <a:ea typeface="黑体" panose="02010609060101010101" pitchFamily="49" charset="-122"/>
              </a:rPr>
              <a:t>通知的含义</a:t>
            </a:r>
            <a:endParaRPr kumimoji="0" lang="zh-CN" altLang="en-US" kern="0" dirty="0">
              <a:latin typeface="黑体" panose="02010609060101010101" pitchFamily="49" charset="-122"/>
              <a:ea typeface="黑体" panose="02010609060101010101" pitchFamily="49" charset="-122"/>
            </a:endParaRPr>
          </a:p>
        </p:txBody>
      </p:sp>
      <p:sp>
        <p:nvSpPr>
          <p:cNvPr id="2" name="TextBox 1"/>
          <p:cNvSpPr txBox="1"/>
          <p:nvPr/>
        </p:nvSpPr>
        <p:spPr>
          <a:xfrm>
            <a:off x="638810" y="1275715"/>
            <a:ext cx="7767955" cy="1168400"/>
          </a:xfrm>
          <a:prstGeom prst="rect">
            <a:avLst/>
          </a:prstGeom>
          <a:noFill/>
        </p:spPr>
        <p:txBody>
          <a:bodyPr wrap="square" rtlCol="0">
            <a:spAutoFit/>
          </a:bodyPr>
          <a:lstStyle/>
          <a:p>
            <a:pPr indent="406400" algn="just">
              <a:lnSpc>
                <a:spcPts val="2800"/>
              </a:lnSpc>
              <a:spcAft>
                <a:spcPts val="0"/>
              </a:spcAft>
            </a:pPr>
            <a:r>
              <a:rPr lang="zh-CN" altLang="en-US" dirty="0" smtClean="0">
                <a:latin typeface="Times New Roman" panose="02020603050405020304" pitchFamily="18" charset="0"/>
                <a:ea typeface="仿宋_GB2312" panose="02010609030101010101" pitchFamily="49" charset="-122"/>
                <a:cs typeface="Times New Roman" panose="02020603050405020304" pitchFamily="18" charset="0"/>
              </a:rPr>
              <a:t>通知是用于发布、传达、要求下级机关执行和有关单位周知或者执行的事项，批转、转发公文时使用的公文文种。大到国家政府部门，小到组织团体，通知的使用频率是最高的。</a:t>
            </a:r>
            <a:endParaRPr lang="zh-CN" altLang="en-US" sz="1800" dirty="0" smtClean="0">
              <a:latin typeface="Times New Roman" panose="02020603050405020304" pitchFamily="18" charset="0"/>
              <a:ea typeface="仿宋_GB2312" panose="02010609030101010101" pitchFamily="49" charset="-122"/>
              <a:cs typeface="Times New Roman" panose="02020603050405020304" pitchFamily="18" charset="0"/>
            </a:endParaRPr>
          </a:p>
        </p:txBody>
      </p:sp>
      <p:pic>
        <p:nvPicPr>
          <p:cNvPr id="13" name="图片 12" descr="E:\曹飞\2017\2017-8-8地铁PPT\7.png7"/>
          <p:cNvPicPr>
            <a:picLocks noChangeAspect="1"/>
          </p:cNvPicPr>
          <p:nvPr/>
        </p:nvPicPr>
        <p:blipFill>
          <a:blip r:embed="rId1" cstate="email"/>
          <a:srcRect/>
          <a:stretch>
            <a:fillRect/>
          </a:stretch>
        </p:blipFill>
        <p:spPr>
          <a:xfrm>
            <a:off x="-6667" y="4477465"/>
            <a:ext cx="9168289" cy="668179"/>
          </a:xfrm>
          <a:prstGeom prst="rect">
            <a:avLst/>
          </a:prstGeom>
        </p:spPr>
      </p:pic>
      <p:pic>
        <p:nvPicPr>
          <p:cNvPr id="8" name="图片 7" descr="E:\曹飞\2017\2017-8-8地铁PPT\6.png6"/>
          <p:cNvPicPr>
            <a:picLocks noChangeAspect="1"/>
          </p:cNvPicPr>
          <p:nvPr/>
        </p:nvPicPr>
        <p:blipFill>
          <a:blip r:embed="rId2" cstate="email"/>
          <a:srcRect/>
          <a:stretch>
            <a:fillRect/>
          </a:stretch>
        </p:blipFill>
        <p:spPr>
          <a:xfrm>
            <a:off x="2261712" y="230427"/>
            <a:ext cx="6463189" cy="343376"/>
          </a:xfrm>
          <a:prstGeom prst="rect">
            <a:avLst/>
          </a:prstGeom>
        </p:spPr>
      </p:pic>
      <p:pic>
        <p:nvPicPr>
          <p:cNvPr id="9" name="图片 8"/>
          <p:cNvPicPr>
            <a:picLocks noChangeAspect="1"/>
          </p:cNvPicPr>
          <p:nvPr/>
        </p:nvPicPr>
        <p:blipFill>
          <a:blip r:embed="rId3"/>
          <a:stretch>
            <a:fillRect/>
          </a:stretch>
        </p:blipFill>
        <p:spPr>
          <a:xfrm>
            <a:off x="575945" y="297180"/>
            <a:ext cx="1685925" cy="419100"/>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par>
                                <p:cTn id="10" presetID="12" presetClass="entr" presetSubtype="8"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p:tgtEl>
                                          <p:spTgt spid="8"/>
                                        </p:tgtEl>
                                        <p:attrNameLst>
                                          <p:attrName>ppt_x</p:attrName>
                                        </p:attrNameLst>
                                      </p:cBhvr>
                                      <p:tavLst>
                                        <p:tav tm="0">
                                          <p:val>
                                            <p:strVal val="#ppt_x-#ppt_w*1.125000"/>
                                          </p:val>
                                        </p:tav>
                                        <p:tav tm="100000">
                                          <p:val>
                                            <p:strVal val="#ppt_x"/>
                                          </p:val>
                                        </p:tav>
                                      </p:tavLst>
                                    </p:anim>
                                    <p:animEffect transition="in" filter="wipe(right)">
                                      <p:cBhvr>
                                        <p:cTn id="13" dur="500"/>
                                        <p:tgtEl>
                                          <p:spTgt spid="8"/>
                                        </p:tgtEl>
                                      </p:cBhvr>
                                    </p:animEffect>
                                  </p:childTnLst>
                                </p:cTn>
                              </p:par>
                              <p:par>
                                <p:cTn id="14" presetID="12" presetClass="entr" presetSubtype="8" fill="hold" grpId="1" nodeType="withEffect">
                                  <p:stCondLst>
                                    <p:cond delay="0"/>
                                  </p:stCondLst>
                                  <p:childTnLst>
                                    <p:set>
                                      <p:cBhvr>
                                        <p:cTn id="15" dur="1" fill="hold">
                                          <p:stCondLst>
                                            <p:cond delay="0"/>
                                          </p:stCondLst>
                                        </p:cTn>
                                        <p:tgtEl>
                                          <p:spTgt spid="14"/>
                                        </p:tgtEl>
                                        <p:attrNameLst>
                                          <p:attrName>style.visibility</p:attrName>
                                        </p:attrNameLst>
                                      </p:cBhvr>
                                      <p:to>
                                        <p:strVal val="visible"/>
                                      </p:to>
                                    </p:set>
                                    <p:anim calcmode="lin" valueType="num">
                                      <p:cBhvr additive="base">
                                        <p:cTn id="16" dur="250"/>
                                        <p:tgtEl>
                                          <p:spTgt spid="14"/>
                                        </p:tgtEl>
                                        <p:attrNameLst>
                                          <p:attrName>ppt_x</p:attrName>
                                        </p:attrNameLst>
                                      </p:cBhvr>
                                      <p:tavLst>
                                        <p:tav tm="0">
                                          <p:val>
                                            <p:strVal val="#ppt_x-#ppt_w*1.125000"/>
                                          </p:val>
                                        </p:tav>
                                        <p:tav tm="100000">
                                          <p:val>
                                            <p:strVal val="#ppt_x"/>
                                          </p:val>
                                        </p:tav>
                                      </p:tavLst>
                                    </p:anim>
                                    <p:animEffect transition="in" filter="wipe(right)">
                                      <p:cBhvr>
                                        <p:cTn id="17"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66750" y="1045210"/>
            <a:ext cx="7651750" cy="2002155"/>
          </a:xfrm>
          <a:prstGeom prst="rect">
            <a:avLst/>
          </a:prstGeom>
          <a:noFill/>
        </p:spPr>
        <p:txBody>
          <a:bodyPr wrap="square" rtlCol="0">
            <a:spAutoFit/>
          </a:bodyPr>
          <a:lstStyle/>
          <a:p>
            <a:pPr marL="342900" indent="-342900">
              <a:lnSpc>
                <a:spcPct val="90000"/>
              </a:lnSpc>
              <a:spcBef>
                <a:spcPct val="20000"/>
              </a:spcBef>
              <a:buClr>
                <a:srgbClr val="0066CC"/>
              </a:buClr>
            </a:pPr>
            <a:r>
              <a:rPr kumimoji="0" lang="en-US" altLang="zh-CN" kern="0" dirty="0">
                <a:latin typeface="黑体" panose="02010609060101010101" pitchFamily="49" charset="-122"/>
                <a:ea typeface="黑体" panose="02010609060101010101" pitchFamily="49" charset="-122"/>
              </a:rPr>
              <a:t>    </a:t>
            </a:r>
            <a:r>
              <a:rPr kumimoji="0" lang="zh-CN" altLang="en-US" kern="0" dirty="0">
                <a:latin typeface="黑体" panose="02010609060101010101" pitchFamily="49" charset="-122"/>
                <a:ea typeface="黑体" panose="02010609060101010101" pitchFamily="49" charset="-122"/>
              </a:rPr>
              <a:t>一、</a:t>
            </a:r>
            <a:r>
              <a:rPr kumimoji="0" lang="zh-CN" altLang="zh-CN" kern="0" dirty="0">
                <a:latin typeface="黑体" panose="02010609060101010101" pitchFamily="49" charset="-122"/>
                <a:ea typeface="黑体" panose="02010609060101010101" pitchFamily="49" charset="-122"/>
              </a:rPr>
              <a:t>通知的特点</a:t>
            </a:r>
            <a:endParaRPr kumimoji="0" lang="zh-CN" altLang="zh-CN" kern="0" dirty="0">
              <a:latin typeface="黑体" panose="02010609060101010101" pitchFamily="49" charset="-122"/>
              <a:ea typeface="黑体" panose="02010609060101010101" pitchFamily="49" charset="-122"/>
            </a:endParaRPr>
          </a:p>
          <a:p>
            <a:endParaRPr lang="zh-CN" altLang="zh-CN" dirty="0"/>
          </a:p>
          <a:p>
            <a:r>
              <a:rPr lang="zh-CN" altLang="zh-CN" dirty="0"/>
              <a:t>        通知属于指令性公文，目的性与规定性很强。有以下四个特点：</a:t>
            </a:r>
            <a:endParaRPr lang="zh-CN" altLang="zh-CN" dirty="0"/>
          </a:p>
          <a:p>
            <a:r>
              <a:rPr lang="en-US" altLang="zh-CN" dirty="0"/>
              <a:t>      </a:t>
            </a:r>
            <a:r>
              <a:rPr lang="en-US" altLang="zh-CN" dirty="0">
                <a:latin typeface="仿宋_GB2312" panose="02010609030101010101" pitchFamily="49" charset="-122"/>
                <a:ea typeface="仿宋_GB2312" panose="02010609030101010101" pitchFamily="49" charset="-122"/>
                <a:cs typeface="仿宋_GB2312" panose="02010609030101010101" pitchFamily="49" charset="-122"/>
              </a:rPr>
              <a:t> 1.</a:t>
            </a:r>
            <a:r>
              <a:rPr lang="zh-CN" altLang="zh-CN" dirty="0">
                <a:latin typeface="仿宋_GB2312" panose="02010609030101010101" pitchFamily="49" charset="-122"/>
                <a:ea typeface="仿宋_GB2312" panose="02010609030101010101" pitchFamily="49" charset="-122"/>
                <a:cs typeface="仿宋_GB2312" panose="02010609030101010101" pitchFamily="49" charset="-122"/>
              </a:rPr>
              <a:t>功能的多样性</a:t>
            </a:r>
            <a:r>
              <a:rPr lang="zh-CN" altLang="zh-CN" dirty="0" smtClean="0">
                <a:latin typeface="仿宋_GB2312" panose="02010609030101010101" pitchFamily="49" charset="-122"/>
                <a:ea typeface="仿宋_GB2312" panose="02010609030101010101" pitchFamily="49" charset="-122"/>
                <a:cs typeface="仿宋_GB2312" panose="02010609030101010101" pitchFamily="49" charset="-122"/>
              </a:rPr>
              <a:t>。</a:t>
            </a:r>
            <a:endParaRPr lang="en-US" altLang="zh-CN" dirty="0" smtClean="0">
              <a:latin typeface="仿宋_GB2312" panose="02010609030101010101" pitchFamily="49" charset="-122"/>
              <a:ea typeface="仿宋_GB2312" panose="02010609030101010101" pitchFamily="49" charset="-122"/>
              <a:cs typeface="仿宋_GB2312" panose="02010609030101010101" pitchFamily="49" charset="-122"/>
            </a:endParaRPr>
          </a:p>
          <a:p>
            <a:r>
              <a:rPr lang="en-US" altLang="zh-CN" dirty="0" smtClean="0">
                <a:latin typeface="仿宋_GB2312" panose="02010609030101010101" pitchFamily="49" charset="-122"/>
                <a:ea typeface="仿宋_GB2312" panose="02010609030101010101" pitchFamily="49" charset="-122"/>
                <a:cs typeface="仿宋_GB2312" panose="02010609030101010101" pitchFamily="49" charset="-122"/>
              </a:rPr>
              <a:t>    2</a:t>
            </a:r>
            <a:r>
              <a:rPr lang="en-US" altLang="zh-CN" dirty="0">
                <a:latin typeface="仿宋_GB2312" panose="02010609030101010101" pitchFamily="49" charset="-122"/>
                <a:ea typeface="仿宋_GB2312" panose="02010609030101010101" pitchFamily="49" charset="-122"/>
                <a:cs typeface="仿宋_GB2312" panose="02010609030101010101" pitchFamily="49" charset="-122"/>
              </a:rPr>
              <a:t>.</a:t>
            </a:r>
            <a:r>
              <a:rPr lang="zh-CN" altLang="zh-CN" dirty="0">
                <a:latin typeface="仿宋_GB2312" panose="02010609030101010101" pitchFamily="49" charset="-122"/>
                <a:ea typeface="仿宋_GB2312" panose="02010609030101010101" pitchFamily="49" charset="-122"/>
                <a:cs typeface="仿宋_GB2312" panose="02010609030101010101" pitchFamily="49" charset="-122"/>
              </a:rPr>
              <a:t>一定的指导性</a:t>
            </a:r>
            <a:r>
              <a:rPr lang="zh-CN" altLang="zh-CN" dirty="0" smtClean="0">
                <a:latin typeface="仿宋_GB2312" panose="02010609030101010101" pitchFamily="49" charset="-122"/>
                <a:ea typeface="仿宋_GB2312" panose="02010609030101010101" pitchFamily="49" charset="-122"/>
                <a:cs typeface="仿宋_GB2312" panose="02010609030101010101" pitchFamily="49" charset="-122"/>
              </a:rPr>
              <a:t>。</a:t>
            </a:r>
            <a:endParaRPr lang="en-US" altLang="zh-CN" dirty="0" smtClean="0">
              <a:latin typeface="仿宋_GB2312" panose="02010609030101010101" pitchFamily="49" charset="-122"/>
              <a:ea typeface="仿宋_GB2312" panose="02010609030101010101" pitchFamily="49" charset="-122"/>
              <a:cs typeface="仿宋_GB2312" panose="02010609030101010101" pitchFamily="49" charset="-122"/>
            </a:endParaRPr>
          </a:p>
          <a:p>
            <a:r>
              <a:rPr lang="en-US" altLang="zh-CN" dirty="0" smtClean="0">
                <a:latin typeface="仿宋_GB2312" panose="02010609030101010101" pitchFamily="49" charset="-122"/>
                <a:ea typeface="仿宋_GB2312" panose="02010609030101010101" pitchFamily="49" charset="-122"/>
                <a:cs typeface="仿宋_GB2312" panose="02010609030101010101" pitchFamily="49" charset="-122"/>
              </a:rPr>
              <a:t>    3</a:t>
            </a:r>
            <a:r>
              <a:rPr lang="en-US" altLang="zh-CN" dirty="0">
                <a:latin typeface="仿宋_GB2312" panose="02010609030101010101" pitchFamily="49" charset="-122"/>
                <a:ea typeface="仿宋_GB2312" panose="02010609030101010101" pitchFamily="49" charset="-122"/>
                <a:cs typeface="仿宋_GB2312" panose="02010609030101010101" pitchFamily="49" charset="-122"/>
              </a:rPr>
              <a:t>.</a:t>
            </a:r>
            <a:r>
              <a:rPr lang="zh-CN" altLang="zh-CN" dirty="0">
                <a:latin typeface="仿宋_GB2312" panose="02010609030101010101" pitchFamily="49" charset="-122"/>
                <a:ea typeface="仿宋_GB2312" panose="02010609030101010101" pitchFamily="49" charset="-122"/>
                <a:cs typeface="仿宋_GB2312" panose="02010609030101010101" pitchFamily="49" charset="-122"/>
              </a:rPr>
              <a:t>较大的灵活性</a:t>
            </a:r>
            <a:r>
              <a:rPr lang="zh-CN" altLang="zh-CN" dirty="0" smtClean="0">
                <a:latin typeface="仿宋_GB2312" panose="02010609030101010101" pitchFamily="49" charset="-122"/>
                <a:ea typeface="仿宋_GB2312" panose="02010609030101010101" pitchFamily="49" charset="-122"/>
                <a:cs typeface="仿宋_GB2312" panose="02010609030101010101" pitchFamily="49" charset="-122"/>
              </a:rPr>
              <a:t>。</a:t>
            </a:r>
            <a:endParaRPr lang="en-US" altLang="zh-CN" dirty="0" smtClean="0">
              <a:latin typeface="仿宋_GB2312" panose="02010609030101010101" pitchFamily="49" charset="-122"/>
              <a:ea typeface="仿宋_GB2312" panose="02010609030101010101" pitchFamily="49" charset="-122"/>
              <a:cs typeface="仿宋_GB2312" panose="02010609030101010101" pitchFamily="49" charset="-122"/>
            </a:endParaRPr>
          </a:p>
          <a:p>
            <a:r>
              <a:rPr lang="en-US" altLang="zh-CN" dirty="0" smtClean="0">
                <a:latin typeface="仿宋_GB2312" panose="02010609030101010101" pitchFamily="49" charset="-122"/>
                <a:ea typeface="仿宋_GB2312" panose="02010609030101010101" pitchFamily="49" charset="-122"/>
                <a:cs typeface="仿宋_GB2312" panose="02010609030101010101" pitchFamily="49" charset="-122"/>
              </a:rPr>
              <a:t>    4</a:t>
            </a:r>
            <a:r>
              <a:rPr lang="en-US" altLang="zh-CN" dirty="0">
                <a:latin typeface="仿宋_GB2312" panose="02010609030101010101" pitchFamily="49" charset="-122"/>
                <a:ea typeface="仿宋_GB2312" panose="02010609030101010101" pitchFamily="49" charset="-122"/>
                <a:cs typeface="仿宋_GB2312" panose="02010609030101010101" pitchFamily="49" charset="-122"/>
              </a:rPr>
              <a:t>.</a:t>
            </a:r>
            <a:r>
              <a:rPr lang="zh-CN" altLang="zh-CN" dirty="0"/>
              <a:t>较强的时效性</a:t>
            </a:r>
            <a:r>
              <a:rPr lang="zh-CN" altLang="zh-CN" dirty="0" smtClean="0"/>
              <a:t>。</a:t>
            </a:r>
            <a:endParaRPr lang="zh-CN" altLang="zh-CN" dirty="0"/>
          </a:p>
        </p:txBody>
      </p:sp>
      <p:pic>
        <p:nvPicPr>
          <p:cNvPr id="13" name="图片 12" descr="E:\曹飞\2017\2017-8-8地铁PPT\7.png7"/>
          <p:cNvPicPr>
            <a:picLocks noChangeAspect="1"/>
          </p:cNvPicPr>
          <p:nvPr/>
        </p:nvPicPr>
        <p:blipFill>
          <a:blip r:embed="rId1" cstate="email"/>
          <a:srcRect/>
          <a:stretch>
            <a:fillRect/>
          </a:stretch>
        </p:blipFill>
        <p:spPr>
          <a:xfrm>
            <a:off x="-6667" y="4477465"/>
            <a:ext cx="9168289" cy="668179"/>
          </a:xfrm>
          <a:prstGeom prst="rect">
            <a:avLst/>
          </a:prstGeom>
        </p:spPr>
      </p:pic>
      <p:pic>
        <p:nvPicPr>
          <p:cNvPr id="8" name="图片 7" descr="E:\曹飞\2017\2017-8-8地铁PPT\6.png6"/>
          <p:cNvPicPr>
            <a:picLocks noChangeAspect="1"/>
          </p:cNvPicPr>
          <p:nvPr/>
        </p:nvPicPr>
        <p:blipFill>
          <a:blip r:embed="rId2" cstate="email"/>
          <a:srcRect/>
          <a:stretch>
            <a:fillRect/>
          </a:stretch>
        </p:blipFill>
        <p:spPr>
          <a:xfrm>
            <a:off x="2261712" y="230427"/>
            <a:ext cx="6463189" cy="343376"/>
          </a:xfrm>
          <a:prstGeom prst="rect">
            <a:avLst/>
          </a:prstGeom>
        </p:spPr>
      </p:pic>
      <p:pic>
        <p:nvPicPr>
          <p:cNvPr id="9" name="图片 8"/>
          <p:cNvPicPr>
            <a:picLocks noChangeAspect="1"/>
          </p:cNvPicPr>
          <p:nvPr/>
        </p:nvPicPr>
        <p:blipFill>
          <a:blip r:embed="rId3"/>
          <a:stretch>
            <a:fillRect/>
          </a:stretch>
        </p:blipFill>
        <p:spPr>
          <a:xfrm>
            <a:off x="575945" y="297180"/>
            <a:ext cx="1685925" cy="419100"/>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par>
                                <p:cTn id="10" presetID="12" presetClass="entr" presetSubtype="8"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p:tgtEl>
                                          <p:spTgt spid="8"/>
                                        </p:tgtEl>
                                        <p:attrNameLst>
                                          <p:attrName>ppt_x</p:attrName>
                                        </p:attrNameLst>
                                      </p:cBhvr>
                                      <p:tavLst>
                                        <p:tav tm="0">
                                          <p:val>
                                            <p:strVal val="#ppt_x-#ppt_w*1.125000"/>
                                          </p:val>
                                        </p:tav>
                                        <p:tav tm="100000">
                                          <p:val>
                                            <p:strVal val="#ppt_x"/>
                                          </p:val>
                                        </p:tav>
                                      </p:tavLst>
                                    </p:anim>
                                    <p:animEffect transition="in" filter="wipe(right)">
                                      <p:cBhvr>
                                        <p:cTn id="13" dur="500"/>
                                        <p:tgtEl>
                                          <p:spTgt spid="8"/>
                                        </p:tgtEl>
                                      </p:cBhvr>
                                    </p:animEffect>
                                  </p:childTnLst>
                                </p:cTn>
                              </p:par>
                              <p:par>
                                <p:cTn id="14" presetID="12" presetClass="entr" presetSubtype="8" fill="hold" grpId="1" nodeType="withEffect">
                                  <p:stCondLst>
                                    <p:cond delay="0"/>
                                  </p:stCondLst>
                                  <p:childTnLst>
                                    <p:set>
                                      <p:cBhvr>
                                        <p:cTn id="15" dur="1" fill="hold">
                                          <p:stCondLst>
                                            <p:cond delay="0"/>
                                          </p:stCondLst>
                                        </p:cTn>
                                        <p:tgtEl>
                                          <p:spTgt spid="14"/>
                                        </p:tgtEl>
                                        <p:attrNameLst>
                                          <p:attrName>style.visibility</p:attrName>
                                        </p:attrNameLst>
                                      </p:cBhvr>
                                      <p:to>
                                        <p:strVal val="visible"/>
                                      </p:to>
                                    </p:set>
                                    <p:anim calcmode="lin" valueType="num">
                                      <p:cBhvr additive="base">
                                        <p:cTn id="16" dur="250"/>
                                        <p:tgtEl>
                                          <p:spTgt spid="14"/>
                                        </p:tgtEl>
                                        <p:attrNameLst>
                                          <p:attrName>ppt_x</p:attrName>
                                        </p:attrNameLst>
                                      </p:cBhvr>
                                      <p:tavLst>
                                        <p:tav tm="0">
                                          <p:val>
                                            <p:strVal val="#ppt_x-#ppt_w*1.125000"/>
                                          </p:val>
                                        </p:tav>
                                        <p:tav tm="100000">
                                          <p:val>
                                            <p:strVal val="#ppt_x"/>
                                          </p:val>
                                        </p:tav>
                                      </p:tavLst>
                                    </p:anim>
                                    <p:animEffect transition="in" filter="wipe(right)">
                                      <p:cBhvr>
                                        <p:cTn id="17"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75945" y="1045210"/>
            <a:ext cx="7700010" cy="2305685"/>
          </a:xfrm>
          <a:prstGeom prst="rect">
            <a:avLst/>
          </a:prstGeom>
          <a:noFill/>
        </p:spPr>
        <p:txBody>
          <a:bodyPr wrap="square" rtlCol="0">
            <a:spAutoFit/>
          </a:bodyPr>
          <a:lstStyle/>
          <a:p>
            <a:pPr marL="342900" indent="-342900">
              <a:lnSpc>
                <a:spcPct val="90000"/>
              </a:lnSpc>
              <a:spcBef>
                <a:spcPct val="20000"/>
              </a:spcBef>
              <a:buClr>
                <a:srgbClr val="0066CC"/>
              </a:buClr>
            </a:pPr>
            <a:r>
              <a:rPr kumimoji="0" lang="en-US" altLang="zh-CN" kern="0" dirty="0">
                <a:latin typeface="黑体" panose="02010609060101010101" pitchFamily="49" charset="-122"/>
                <a:ea typeface="黑体" panose="02010609060101010101" pitchFamily="49" charset="-122"/>
              </a:rPr>
              <a:t>    </a:t>
            </a:r>
            <a:r>
              <a:rPr kumimoji="0" lang="zh-CN" altLang="en-US" kern="0" dirty="0">
                <a:latin typeface="黑体" panose="02010609060101010101" pitchFamily="49" charset="-122"/>
                <a:ea typeface="黑体" panose="02010609060101010101" pitchFamily="49" charset="-122"/>
              </a:rPr>
              <a:t>二、</a:t>
            </a:r>
            <a:r>
              <a:rPr kumimoji="0" lang="zh-CN" altLang="zh-CN" kern="0" dirty="0">
                <a:latin typeface="黑体" panose="02010609060101010101" pitchFamily="49" charset="-122"/>
                <a:ea typeface="黑体" panose="02010609060101010101" pitchFamily="49" charset="-122"/>
              </a:rPr>
              <a:t>通知的</a:t>
            </a:r>
            <a:r>
              <a:rPr kumimoji="0" lang="zh-CN" altLang="en-US" kern="0" dirty="0">
                <a:latin typeface="黑体" panose="02010609060101010101" pitchFamily="49" charset="-122"/>
                <a:ea typeface="黑体" panose="02010609060101010101" pitchFamily="49" charset="-122"/>
              </a:rPr>
              <a:t>分类</a:t>
            </a:r>
            <a:endParaRPr kumimoji="0" lang="zh-CN" altLang="en-US" kern="0" dirty="0">
              <a:latin typeface="黑体" panose="02010609060101010101" pitchFamily="49" charset="-122"/>
              <a:ea typeface="黑体" panose="02010609060101010101" pitchFamily="49" charset="-122"/>
            </a:endParaRPr>
          </a:p>
          <a:p>
            <a:pPr marL="342900" indent="-342900">
              <a:lnSpc>
                <a:spcPct val="90000"/>
              </a:lnSpc>
              <a:spcBef>
                <a:spcPct val="20000"/>
              </a:spcBef>
              <a:buClr>
                <a:srgbClr val="0066CC"/>
              </a:buClr>
            </a:pPr>
            <a:endParaRPr kumimoji="0" lang="zh-CN" altLang="zh-CN" kern="0" dirty="0">
              <a:latin typeface="黑体" panose="02010609060101010101" pitchFamily="49" charset="-122"/>
              <a:ea typeface="黑体" panose="02010609060101010101" pitchFamily="49" charset="-122"/>
            </a:endParaRPr>
          </a:p>
          <a:p>
            <a:r>
              <a:rPr lang="en-US" altLang="zh-CN" dirty="0"/>
              <a:t>         </a:t>
            </a:r>
            <a:r>
              <a:rPr lang="en-US" altLang="zh-CN" dirty="0">
                <a:latin typeface="仿宋_GB2312" panose="02010609030101010101" pitchFamily="49" charset="-122"/>
                <a:ea typeface="仿宋_GB2312" panose="02010609030101010101" pitchFamily="49" charset="-122"/>
                <a:cs typeface="仿宋_GB2312" panose="02010609030101010101" pitchFamily="49" charset="-122"/>
              </a:rPr>
              <a:t>1.指示性通知。用来发布指示、布置工作。</a:t>
            </a:r>
            <a:endParaRPr lang="en-US" altLang="zh-CN" dirty="0">
              <a:latin typeface="仿宋_GB2312" panose="02010609030101010101" pitchFamily="49" charset="-122"/>
              <a:ea typeface="仿宋_GB2312" panose="02010609030101010101" pitchFamily="49" charset="-122"/>
              <a:cs typeface="仿宋_GB2312" panose="02010609030101010101" pitchFamily="49" charset="-122"/>
            </a:endParaRPr>
          </a:p>
          <a:p>
            <a:r>
              <a:rPr lang="en-US" altLang="zh-CN" dirty="0">
                <a:latin typeface="仿宋_GB2312" panose="02010609030101010101" pitchFamily="49" charset="-122"/>
                <a:ea typeface="仿宋_GB2312" panose="02010609030101010101" pitchFamily="49" charset="-122"/>
                <a:cs typeface="仿宋_GB2312" panose="02010609030101010101" pitchFamily="49" charset="-122"/>
              </a:rPr>
              <a:t>    2.发布性通知。用来发布规章制度。</a:t>
            </a:r>
            <a:endParaRPr lang="en-US" altLang="zh-CN" dirty="0">
              <a:latin typeface="仿宋_GB2312" panose="02010609030101010101" pitchFamily="49" charset="-122"/>
              <a:ea typeface="仿宋_GB2312" panose="02010609030101010101" pitchFamily="49" charset="-122"/>
              <a:cs typeface="仿宋_GB2312" panose="02010609030101010101" pitchFamily="49" charset="-122"/>
            </a:endParaRPr>
          </a:p>
          <a:p>
            <a:r>
              <a:rPr lang="en-US" altLang="zh-CN" dirty="0">
                <a:latin typeface="仿宋_GB2312" panose="02010609030101010101" pitchFamily="49" charset="-122"/>
                <a:ea typeface="仿宋_GB2312" panose="02010609030101010101" pitchFamily="49" charset="-122"/>
                <a:cs typeface="仿宋_GB2312" panose="02010609030101010101" pitchFamily="49" charset="-122"/>
              </a:rPr>
              <a:t>    3.事项性通知。要求下级机关办理某些事项，除交代任务外，通常还提出工作原则和要求。</a:t>
            </a:r>
            <a:endParaRPr lang="en-US" altLang="zh-CN" dirty="0">
              <a:latin typeface="仿宋_GB2312" panose="02010609030101010101" pitchFamily="49" charset="-122"/>
              <a:ea typeface="仿宋_GB2312" panose="02010609030101010101" pitchFamily="49" charset="-122"/>
              <a:cs typeface="仿宋_GB2312" panose="02010609030101010101" pitchFamily="49" charset="-122"/>
            </a:endParaRPr>
          </a:p>
          <a:p>
            <a:r>
              <a:rPr lang="en-US" altLang="zh-CN" dirty="0">
                <a:latin typeface="仿宋_GB2312" panose="02010609030101010101" pitchFamily="49" charset="-122"/>
                <a:ea typeface="仿宋_GB2312" panose="02010609030101010101" pitchFamily="49" charset="-122"/>
                <a:cs typeface="仿宋_GB2312" panose="02010609030101010101" pitchFamily="49" charset="-122"/>
              </a:rPr>
              <a:t>    4.转发性通知。</a:t>
            </a:r>
            <a:endParaRPr lang="en-US" altLang="zh-CN" dirty="0">
              <a:latin typeface="仿宋_GB2312" panose="02010609030101010101" pitchFamily="49" charset="-122"/>
              <a:ea typeface="仿宋_GB2312" panose="02010609030101010101" pitchFamily="49" charset="-122"/>
              <a:cs typeface="仿宋_GB2312" panose="02010609030101010101" pitchFamily="49" charset="-122"/>
            </a:endParaRPr>
          </a:p>
          <a:p>
            <a:r>
              <a:rPr lang="en-US" altLang="zh-CN" dirty="0">
                <a:latin typeface="仿宋_GB2312" panose="02010609030101010101" pitchFamily="49" charset="-122"/>
                <a:ea typeface="仿宋_GB2312" panose="02010609030101010101" pitchFamily="49" charset="-122"/>
                <a:cs typeface="仿宋_GB2312" panose="02010609030101010101" pitchFamily="49" charset="-122"/>
              </a:rPr>
              <a:t>    5.晓</a:t>
            </a:r>
            <a:r>
              <a:rPr lang="zh-CN" altLang="zh-CN" dirty="0"/>
              <a:t>谕性通知。一般只有告知性，没有指导性</a:t>
            </a:r>
            <a:r>
              <a:rPr lang="zh-CN" altLang="zh-CN" dirty="0" smtClean="0"/>
              <a:t>。</a:t>
            </a:r>
            <a:endParaRPr lang="zh-CN" altLang="zh-CN" dirty="0"/>
          </a:p>
        </p:txBody>
      </p:sp>
      <p:pic>
        <p:nvPicPr>
          <p:cNvPr id="13" name="图片 12" descr="E:\曹飞\2017\2017-8-8地铁PPT\7.png7"/>
          <p:cNvPicPr>
            <a:picLocks noChangeAspect="1"/>
          </p:cNvPicPr>
          <p:nvPr/>
        </p:nvPicPr>
        <p:blipFill>
          <a:blip r:embed="rId1" cstate="email"/>
          <a:srcRect/>
          <a:stretch>
            <a:fillRect/>
          </a:stretch>
        </p:blipFill>
        <p:spPr>
          <a:xfrm>
            <a:off x="-6667" y="4477465"/>
            <a:ext cx="9168289" cy="668179"/>
          </a:xfrm>
          <a:prstGeom prst="rect">
            <a:avLst/>
          </a:prstGeom>
        </p:spPr>
      </p:pic>
      <p:pic>
        <p:nvPicPr>
          <p:cNvPr id="8" name="图片 7" descr="E:\曹飞\2017\2017-8-8地铁PPT\6.png6"/>
          <p:cNvPicPr>
            <a:picLocks noChangeAspect="1"/>
          </p:cNvPicPr>
          <p:nvPr/>
        </p:nvPicPr>
        <p:blipFill>
          <a:blip r:embed="rId2" cstate="email"/>
          <a:srcRect/>
          <a:stretch>
            <a:fillRect/>
          </a:stretch>
        </p:blipFill>
        <p:spPr>
          <a:xfrm>
            <a:off x="2261712" y="230427"/>
            <a:ext cx="6463189" cy="343376"/>
          </a:xfrm>
          <a:prstGeom prst="rect">
            <a:avLst/>
          </a:prstGeom>
        </p:spPr>
      </p:pic>
      <p:pic>
        <p:nvPicPr>
          <p:cNvPr id="9" name="图片 8"/>
          <p:cNvPicPr>
            <a:picLocks noChangeAspect="1"/>
          </p:cNvPicPr>
          <p:nvPr/>
        </p:nvPicPr>
        <p:blipFill>
          <a:blip r:embed="rId3"/>
          <a:stretch>
            <a:fillRect/>
          </a:stretch>
        </p:blipFill>
        <p:spPr>
          <a:xfrm>
            <a:off x="575945" y="297180"/>
            <a:ext cx="1685925" cy="419100"/>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par>
                                <p:cTn id="10" presetID="12" presetClass="entr" presetSubtype="8"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p:tgtEl>
                                          <p:spTgt spid="8"/>
                                        </p:tgtEl>
                                        <p:attrNameLst>
                                          <p:attrName>ppt_x</p:attrName>
                                        </p:attrNameLst>
                                      </p:cBhvr>
                                      <p:tavLst>
                                        <p:tav tm="0">
                                          <p:val>
                                            <p:strVal val="#ppt_x-#ppt_w*1.125000"/>
                                          </p:val>
                                        </p:tav>
                                        <p:tav tm="100000">
                                          <p:val>
                                            <p:strVal val="#ppt_x"/>
                                          </p:val>
                                        </p:tav>
                                      </p:tavLst>
                                    </p:anim>
                                    <p:animEffect transition="in" filter="wipe(right)">
                                      <p:cBhvr>
                                        <p:cTn id="13" dur="500"/>
                                        <p:tgtEl>
                                          <p:spTgt spid="8"/>
                                        </p:tgtEl>
                                      </p:cBhvr>
                                    </p:animEffect>
                                  </p:childTnLst>
                                </p:cTn>
                              </p:par>
                              <p:par>
                                <p:cTn id="14" presetID="12" presetClass="entr" presetSubtype="8" fill="hold" grpId="1" nodeType="withEffect">
                                  <p:stCondLst>
                                    <p:cond delay="0"/>
                                  </p:stCondLst>
                                  <p:childTnLst>
                                    <p:set>
                                      <p:cBhvr>
                                        <p:cTn id="15" dur="1" fill="hold">
                                          <p:stCondLst>
                                            <p:cond delay="0"/>
                                          </p:stCondLst>
                                        </p:cTn>
                                        <p:tgtEl>
                                          <p:spTgt spid="14"/>
                                        </p:tgtEl>
                                        <p:attrNameLst>
                                          <p:attrName>style.visibility</p:attrName>
                                        </p:attrNameLst>
                                      </p:cBhvr>
                                      <p:to>
                                        <p:strVal val="visible"/>
                                      </p:to>
                                    </p:set>
                                    <p:anim calcmode="lin" valueType="num">
                                      <p:cBhvr additive="base">
                                        <p:cTn id="16" dur="250"/>
                                        <p:tgtEl>
                                          <p:spTgt spid="14"/>
                                        </p:tgtEl>
                                        <p:attrNameLst>
                                          <p:attrName>ppt_x</p:attrName>
                                        </p:attrNameLst>
                                      </p:cBhvr>
                                      <p:tavLst>
                                        <p:tav tm="0">
                                          <p:val>
                                            <p:strVal val="#ppt_x-#ppt_w*1.125000"/>
                                          </p:val>
                                        </p:tav>
                                        <p:tav tm="100000">
                                          <p:val>
                                            <p:strVal val="#ppt_x"/>
                                          </p:val>
                                        </p:tav>
                                      </p:tavLst>
                                    </p:anim>
                                    <p:animEffect transition="in" filter="wipe(right)">
                                      <p:cBhvr>
                                        <p:cTn id="17"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75005" y="1045210"/>
            <a:ext cx="7576185" cy="1753235"/>
          </a:xfrm>
          <a:prstGeom prst="rect">
            <a:avLst/>
          </a:prstGeom>
          <a:noFill/>
        </p:spPr>
        <p:txBody>
          <a:bodyPr wrap="square" rtlCol="0">
            <a:spAutoFit/>
          </a:bodyPr>
          <a:lstStyle/>
          <a:p>
            <a:r>
              <a:rPr lang="en-US" altLang="zh-CN" kern="0" dirty="0">
                <a:latin typeface="黑体" panose="02010609060101010101" pitchFamily="49" charset="-122"/>
                <a:ea typeface="黑体" panose="02010609060101010101" pitchFamily="49" charset="-122"/>
                <a:sym typeface="+mn-ea"/>
              </a:rPr>
              <a:t>    </a:t>
            </a:r>
            <a:r>
              <a:rPr lang="zh-CN" altLang="en-US" kern="0" dirty="0">
                <a:latin typeface="黑体" panose="02010609060101010101" pitchFamily="49" charset="-122"/>
                <a:ea typeface="黑体" panose="02010609060101010101" pitchFamily="49" charset="-122"/>
                <a:sym typeface="+mn-ea"/>
              </a:rPr>
              <a:t>三、</a:t>
            </a:r>
            <a:r>
              <a:rPr lang="zh-CN" altLang="zh-CN" kern="0" dirty="0">
                <a:latin typeface="黑体" panose="02010609060101010101" pitchFamily="49" charset="-122"/>
                <a:ea typeface="黑体" panose="02010609060101010101" pitchFamily="49" charset="-122"/>
                <a:sym typeface="+mn-ea"/>
              </a:rPr>
              <a:t>通知的</a:t>
            </a:r>
            <a:r>
              <a:rPr lang="zh-CN" altLang="en-US" kern="0" dirty="0">
                <a:latin typeface="黑体" panose="02010609060101010101" pitchFamily="49" charset="-122"/>
                <a:ea typeface="黑体" panose="02010609060101010101" pitchFamily="49" charset="-122"/>
                <a:sym typeface="+mn-ea"/>
              </a:rPr>
              <a:t>基本结构</a:t>
            </a:r>
            <a:endParaRPr lang="zh-CN" altLang="en-US" sz="2800" kern="0" dirty="0">
              <a:latin typeface="黑体" panose="02010609060101010101" pitchFamily="49" charset="-122"/>
              <a:ea typeface="黑体" panose="02010609060101010101" pitchFamily="49" charset="-122"/>
              <a:sym typeface="+mn-ea"/>
            </a:endParaRPr>
          </a:p>
          <a:p>
            <a:r>
              <a:rPr lang="zh-CN" altLang="zh-CN" dirty="0"/>
              <a:t>       </a:t>
            </a:r>
            <a:r>
              <a:rPr lang="en-US" altLang="zh-CN" dirty="0">
                <a:latin typeface="仿宋_GB2312" panose="02010609030101010101" pitchFamily="49" charset="-122"/>
                <a:ea typeface="仿宋_GB2312" panose="02010609030101010101" pitchFamily="49" charset="-122"/>
                <a:cs typeface="仿宋_GB2312" panose="02010609030101010101" pitchFamily="49" charset="-122"/>
              </a:rPr>
              <a:t> 通知一般由标题、主送机关、正文、落款组成。</a:t>
            </a:r>
            <a:endParaRPr lang="en-US" altLang="zh-CN" dirty="0">
              <a:latin typeface="仿宋_GB2312" panose="02010609030101010101" pitchFamily="49" charset="-122"/>
              <a:ea typeface="仿宋_GB2312" panose="02010609030101010101" pitchFamily="49" charset="-122"/>
              <a:cs typeface="仿宋_GB2312" panose="02010609030101010101" pitchFamily="49" charset="-122"/>
            </a:endParaRPr>
          </a:p>
          <a:p>
            <a:r>
              <a:rPr lang="en-US" altLang="zh-CN" dirty="0">
                <a:latin typeface="仿宋_GB2312" panose="02010609030101010101" pitchFamily="49" charset="-122"/>
                <a:ea typeface="仿宋_GB2312" panose="02010609030101010101" pitchFamily="49" charset="-122"/>
                <a:cs typeface="仿宋_GB2312" panose="02010609030101010101" pitchFamily="49" charset="-122"/>
              </a:rPr>
              <a:t>    1.标题。通知的标题由发文机关、事由、文种组成，如《郑州</a:t>
            </a:r>
            <a:r>
              <a:rPr lang="zh-CN" altLang="en-US" dirty="0">
                <a:latin typeface="仿宋_GB2312" panose="02010609030101010101" pitchFamily="49" charset="-122"/>
                <a:ea typeface="仿宋_GB2312" panose="02010609030101010101" pitchFamily="49" charset="-122"/>
                <a:cs typeface="仿宋_GB2312" panose="02010609030101010101" pitchFamily="49" charset="-122"/>
              </a:rPr>
              <a:t>地铁集团</a:t>
            </a:r>
            <a:r>
              <a:rPr lang="en-US" altLang="zh-CN" dirty="0">
                <a:latin typeface="仿宋_GB2312" panose="02010609030101010101" pitchFamily="49" charset="-122"/>
                <a:ea typeface="仿宋_GB2312" panose="02010609030101010101" pitchFamily="49" charset="-122"/>
                <a:cs typeface="仿宋_GB2312" panose="02010609030101010101" pitchFamily="49" charset="-122"/>
              </a:rPr>
              <a:t>有限公司</a:t>
            </a:r>
            <a:r>
              <a:rPr lang="zh-CN" altLang="en-US" dirty="0">
                <a:latin typeface="仿宋_GB2312" panose="02010609030101010101" pitchFamily="49" charset="-122"/>
                <a:ea typeface="仿宋_GB2312" panose="02010609030101010101" pitchFamily="49" charset="-122"/>
                <a:cs typeface="仿宋_GB2312" panose="02010609030101010101" pitchFamily="49" charset="-122"/>
              </a:rPr>
              <a:t>运营分公司</a:t>
            </a:r>
            <a:r>
              <a:rPr lang="en-US" altLang="zh-CN" dirty="0">
                <a:latin typeface="仿宋_GB2312" panose="02010609030101010101" pitchFamily="49" charset="-122"/>
                <a:ea typeface="仿宋_GB2312" panose="02010609030101010101" pitchFamily="49" charset="-122"/>
                <a:cs typeface="仿宋_GB2312" panose="02010609030101010101" pitchFamily="49" charset="-122"/>
              </a:rPr>
              <a:t>关于开展**工作的通知》。</a:t>
            </a:r>
            <a:endParaRPr lang="en-US" altLang="zh-CN" dirty="0">
              <a:latin typeface="仿宋_GB2312" panose="02010609030101010101" pitchFamily="49" charset="-122"/>
              <a:ea typeface="仿宋_GB2312" panose="02010609030101010101" pitchFamily="49" charset="-122"/>
              <a:cs typeface="仿宋_GB2312" panose="02010609030101010101" pitchFamily="49" charset="-122"/>
            </a:endParaRPr>
          </a:p>
          <a:p>
            <a:r>
              <a:rPr lang="en-US" altLang="zh-CN" dirty="0">
                <a:latin typeface="仿宋_GB2312" panose="02010609030101010101" pitchFamily="49" charset="-122"/>
                <a:ea typeface="仿宋_GB2312" panose="02010609030101010101" pitchFamily="49" charset="-122"/>
                <a:cs typeface="仿宋_GB2312" panose="02010609030101010101" pitchFamily="49" charset="-122"/>
              </a:rPr>
              <a:t>    2.主送机关。通知的发文对象比较广泛，主送机关可以一文多送，要注意排列原则及其规范性。</a:t>
            </a:r>
            <a:endParaRPr lang="en-US" altLang="zh-CN" dirty="0">
              <a:latin typeface="仿宋_GB2312" panose="02010609030101010101" pitchFamily="49" charset="-122"/>
              <a:ea typeface="仿宋_GB2312" panose="02010609030101010101" pitchFamily="49" charset="-122"/>
              <a:cs typeface="仿宋_GB2312" panose="02010609030101010101" pitchFamily="49" charset="-122"/>
            </a:endParaRPr>
          </a:p>
        </p:txBody>
      </p:sp>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pic>
        <p:nvPicPr>
          <p:cNvPr id="8" name="图片 7" descr="E:\曹飞\2017\2017-8-8地铁PPT\6.png6"/>
          <p:cNvPicPr>
            <a:picLocks noChangeAspect="1"/>
          </p:cNvPicPr>
          <p:nvPr/>
        </p:nvPicPr>
        <p:blipFill>
          <a:blip r:embed="rId1" cstate="email"/>
          <a:srcRect/>
          <a:stretch>
            <a:fillRect/>
          </a:stretch>
        </p:blipFill>
        <p:spPr>
          <a:xfrm>
            <a:off x="2261712" y="230427"/>
            <a:ext cx="6463189" cy="343376"/>
          </a:xfrm>
          <a:prstGeom prst="rect">
            <a:avLst/>
          </a:prstGeom>
        </p:spPr>
      </p:pic>
      <p:pic>
        <p:nvPicPr>
          <p:cNvPr id="9" name="图片 8"/>
          <p:cNvPicPr>
            <a:picLocks noChangeAspect="1"/>
          </p:cNvPicPr>
          <p:nvPr/>
        </p:nvPicPr>
        <p:blipFill>
          <a:blip r:embed="rId2"/>
          <a:stretch>
            <a:fillRect/>
          </a:stretch>
        </p:blipFill>
        <p:spPr>
          <a:xfrm>
            <a:off x="575945" y="297180"/>
            <a:ext cx="1685925" cy="4191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1"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250"/>
                                        <p:tgtEl>
                                          <p:spTgt spid="14"/>
                                        </p:tgtEl>
                                        <p:attrNameLst>
                                          <p:attrName>ppt_x</p:attrName>
                                        </p:attrNameLst>
                                      </p:cBhvr>
                                      <p:tavLst>
                                        <p:tav tm="0">
                                          <p:val>
                                            <p:strVal val="#ppt_x-#ppt_w*1.125000"/>
                                          </p:val>
                                        </p:tav>
                                        <p:tav tm="100000">
                                          <p:val>
                                            <p:strVal val="#ppt_x"/>
                                          </p:val>
                                        </p:tav>
                                      </p:tavLst>
                                    </p:anim>
                                    <p:animEffect transition="in" filter="wipe(right)">
                                      <p:cBhvr>
                                        <p:cTn id="8" dur="250"/>
                                        <p:tgtEl>
                                          <p:spTgt spid="14"/>
                                        </p:tgtEl>
                                      </p:cBhvr>
                                    </p:animEffect>
                                  </p:childTnLst>
                                </p:cTn>
                              </p:par>
                              <p:par>
                                <p:cTn id="9" presetID="12" presetClass="entr" presetSubtype="8"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p:tgtEl>
                                          <p:spTgt spid="8"/>
                                        </p:tgtEl>
                                        <p:attrNameLst>
                                          <p:attrName>ppt_x</p:attrName>
                                        </p:attrNameLst>
                                      </p:cBhvr>
                                      <p:tavLst>
                                        <p:tav tm="0">
                                          <p:val>
                                            <p:strVal val="#ppt_x-#ppt_w*1.125000"/>
                                          </p:val>
                                        </p:tav>
                                        <p:tav tm="100000">
                                          <p:val>
                                            <p:strVal val="#ppt_x"/>
                                          </p:val>
                                        </p:tav>
                                      </p:tavLst>
                                    </p:anim>
                                    <p:animEffect transition="in" filter="wipe(right)">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0875" y="789305"/>
            <a:ext cx="7932420" cy="2971800"/>
          </a:xfrm>
          <a:prstGeom prst="rect">
            <a:avLst/>
          </a:prstGeom>
          <a:noFill/>
        </p:spPr>
        <p:txBody>
          <a:bodyPr wrap="square" rtlCol="0">
            <a:spAutoFit/>
          </a:bodyPr>
          <a:lstStyle/>
          <a:p>
            <a:pPr marL="342900" indent="-342900">
              <a:lnSpc>
                <a:spcPct val="90000"/>
              </a:lnSpc>
              <a:spcBef>
                <a:spcPct val="20000"/>
              </a:spcBef>
              <a:buClr>
                <a:srgbClr val="0066CC"/>
              </a:buClr>
            </a:pPr>
            <a:r>
              <a:rPr kumimoji="0" lang="en-US" altLang="zh-CN" sz="2800" b="1" kern="0" dirty="0">
                <a:latin typeface="Arial" panose="020B0604020202020204"/>
                <a:ea typeface="宋体" panose="02010600030101010101" pitchFamily="2" charset="-122"/>
              </a:rPr>
              <a:t>     </a:t>
            </a:r>
            <a:r>
              <a:rPr kumimoji="0" lang="zh-CN" altLang="en-US" kern="0" dirty="0">
                <a:latin typeface="黑体" panose="02010609060101010101" pitchFamily="49" charset="-122"/>
                <a:ea typeface="黑体" panose="02010609060101010101" pitchFamily="49" charset="-122"/>
              </a:rPr>
              <a:t>三、</a:t>
            </a:r>
            <a:r>
              <a:rPr kumimoji="0" lang="zh-CN" altLang="zh-CN" kern="0" dirty="0">
                <a:latin typeface="黑体" panose="02010609060101010101" pitchFamily="49" charset="-122"/>
                <a:ea typeface="黑体" panose="02010609060101010101" pitchFamily="49" charset="-122"/>
              </a:rPr>
              <a:t>通知的</a:t>
            </a:r>
            <a:r>
              <a:rPr kumimoji="0" lang="zh-CN" altLang="en-US" kern="0" dirty="0">
                <a:latin typeface="黑体" panose="02010609060101010101" pitchFamily="49" charset="-122"/>
                <a:ea typeface="黑体" panose="02010609060101010101" pitchFamily="49" charset="-122"/>
              </a:rPr>
              <a:t>基本结构</a:t>
            </a:r>
            <a:endParaRPr kumimoji="0" lang="zh-CN" altLang="zh-CN" kern="0" dirty="0">
              <a:latin typeface="黑体" panose="02010609060101010101" pitchFamily="49" charset="-122"/>
              <a:ea typeface="黑体" panose="02010609060101010101" pitchFamily="49" charset="-122"/>
            </a:endParaRPr>
          </a:p>
          <a:p>
            <a:r>
              <a:rPr lang="en-US" altLang="zh-CN" dirty="0" smtClean="0"/>
              <a:t>         </a:t>
            </a:r>
            <a:r>
              <a:rPr lang="en-US" altLang="zh-CN" dirty="0">
                <a:latin typeface="仿宋_GB2312" panose="02010609030101010101" pitchFamily="49" charset="-122"/>
                <a:ea typeface="仿宋_GB2312" panose="02010609030101010101" pitchFamily="49" charset="-122"/>
                <a:cs typeface="仿宋_GB2312" panose="02010609030101010101" pitchFamily="49" charset="-122"/>
              </a:rPr>
              <a:t>3.正文。通知的正文一般由开头、事项、结尾三部分组成。</a:t>
            </a:r>
            <a:endParaRPr lang="en-US" altLang="zh-CN" dirty="0">
              <a:latin typeface="仿宋_GB2312" panose="02010609030101010101" pitchFamily="49" charset="-122"/>
              <a:ea typeface="仿宋_GB2312" panose="02010609030101010101" pitchFamily="49" charset="-122"/>
              <a:cs typeface="仿宋_GB2312" panose="02010609030101010101" pitchFamily="49" charset="-122"/>
            </a:endParaRPr>
          </a:p>
          <a:p>
            <a:pPr indent="457200" algn="just"/>
            <a:r>
              <a:rPr lang="en-US" altLang="zh-CN" dirty="0">
                <a:latin typeface="仿宋_GB2312" panose="02010609030101010101" pitchFamily="49" charset="-122"/>
                <a:ea typeface="仿宋_GB2312" panose="02010609030101010101" pitchFamily="49" charset="-122"/>
                <a:cs typeface="仿宋_GB2312" panose="02010609030101010101" pitchFamily="49" charset="-122"/>
              </a:rPr>
              <a:t>开头，在行文时，应力求开门见山，简明扼要。一般用“特作如下通知”、“现将有关事项通知如下”、“现通知如下”等，转入通知的事项部分。</a:t>
            </a:r>
            <a:endParaRPr lang="en-US" altLang="zh-CN" dirty="0">
              <a:latin typeface="仿宋_GB2312" panose="02010609030101010101" pitchFamily="49" charset="-122"/>
              <a:ea typeface="仿宋_GB2312" panose="02010609030101010101" pitchFamily="49" charset="-122"/>
              <a:cs typeface="仿宋_GB2312" panose="02010609030101010101" pitchFamily="49" charset="-122"/>
            </a:endParaRPr>
          </a:p>
          <a:p>
            <a:pPr indent="457200" algn="just"/>
            <a:r>
              <a:rPr lang="en-US" altLang="zh-CN" dirty="0">
                <a:latin typeface="仿宋_GB2312" panose="02010609030101010101" pitchFamily="49" charset="-122"/>
                <a:ea typeface="仿宋_GB2312" panose="02010609030101010101" pitchFamily="49" charset="-122"/>
                <a:cs typeface="仿宋_GB2312" panose="02010609030101010101" pitchFamily="49" charset="-122"/>
              </a:rPr>
              <a:t>事项，在行文时，应力求明确具体，条理清楚，让受文单位既要知道“要求干什么”，又清楚“应当怎么办”，并明确“办成什么样”。</a:t>
            </a:r>
            <a:endParaRPr lang="en-US" altLang="zh-CN" dirty="0">
              <a:latin typeface="仿宋_GB2312" panose="02010609030101010101" pitchFamily="49" charset="-122"/>
              <a:ea typeface="仿宋_GB2312" panose="02010609030101010101" pitchFamily="49" charset="-122"/>
              <a:cs typeface="仿宋_GB2312" panose="02010609030101010101" pitchFamily="49" charset="-122"/>
            </a:endParaRPr>
          </a:p>
          <a:p>
            <a:pPr indent="457200" algn="just"/>
            <a:r>
              <a:rPr lang="en-US" altLang="zh-CN" dirty="0">
                <a:latin typeface="仿宋_GB2312" panose="02010609030101010101" pitchFamily="49" charset="-122"/>
                <a:ea typeface="仿宋_GB2312" panose="02010609030101010101" pitchFamily="49" charset="-122"/>
                <a:cs typeface="仿宋_GB2312" panose="02010609030101010101" pitchFamily="49" charset="-122"/>
              </a:rPr>
              <a:t>结尾。可以在结尾处提出贯彻执行的有关要求，行文时应力求简短有力。</a:t>
            </a:r>
            <a:endParaRPr lang="en-US" altLang="zh-CN" dirty="0">
              <a:latin typeface="仿宋_GB2312" panose="02010609030101010101" pitchFamily="49" charset="-122"/>
              <a:ea typeface="仿宋_GB2312" panose="02010609030101010101" pitchFamily="49" charset="-122"/>
              <a:cs typeface="仿宋_GB2312" panose="02010609030101010101" pitchFamily="49" charset="-122"/>
            </a:endParaRPr>
          </a:p>
          <a:p>
            <a:r>
              <a:rPr lang="en-US" altLang="zh-CN" dirty="0">
                <a:latin typeface="仿宋_GB2312" panose="02010609030101010101" pitchFamily="49" charset="-122"/>
                <a:ea typeface="仿宋_GB2312" panose="02010609030101010101" pitchFamily="49" charset="-122"/>
                <a:cs typeface="仿宋_GB2312" panose="02010609030101010101" pitchFamily="49" charset="-122"/>
              </a:rPr>
              <a:t>    4.落款。</a:t>
            </a:r>
            <a:endParaRPr lang="en-US" altLang="zh-CN" dirty="0">
              <a:latin typeface="仿宋_GB2312" panose="02010609030101010101" pitchFamily="49" charset="-122"/>
              <a:ea typeface="仿宋_GB2312" panose="02010609030101010101" pitchFamily="49" charset="-122"/>
              <a:cs typeface="仿宋_GB2312" panose="02010609030101010101" pitchFamily="49" charset="-122"/>
            </a:endParaRPr>
          </a:p>
          <a:p>
            <a:r>
              <a:rPr lang="en-US" altLang="zh-CN" dirty="0">
                <a:latin typeface="仿宋_GB2312" panose="02010609030101010101" pitchFamily="49" charset="-122"/>
                <a:ea typeface="仿宋_GB2312" panose="02010609030101010101" pitchFamily="49" charset="-122"/>
                <a:cs typeface="仿宋_GB2312" panose="02010609030101010101" pitchFamily="49" charset="-122"/>
              </a:rPr>
              <a:t>    发文机关和成文日期，按公文格式要求写在正文之后右下方。</a:t>
            </a:r>
            <a:endParaRPr lang="en-US" altLang="zh-CN" dirty="0">
              <a:latin typeface="仿宋_GB2312" panose="02010609030101010101" pitchFamily="49" charset="-122"/>
              <a:ea typeface="仿宋_GB2312" panose="02010609030101010101" pitchFamily="49" charset="-122"/>
              <a:cs typeface="仿宋_GB2312" panose="02010609030101010101" pitchFamily="49" charset="-122"/>
            </a:endParaRPr>
          </a:p>
        </p:txBody>
      </p:sp>
      <p:pic>
        <p:nvPicPr>
          <p:cNvPr id="13" name="图片 12" descr="E:\曹飞\2017\2017-8-8地铁PPT\7.png7"/>
          <p:cNvPicPr>
            <a:picLocks noChangeAspect="1"/>
          </p:cNvPicPr>
          <p:nvPr/>
        </p:nvPicPr>
        <p:blipFill>
          <a:blip r:embed="rId1" cstate="email"/>
          <a:srcRect/>
          <a:stretch>
            <a:fillRect/>
          </a:stretch>
        </p:blipFill>
        <p:spPr>
          <a:xfrm>
            <a:off x="-6667" y="4477465"/>
            <a:ext cx="9168289" cy="668179"/>
          </a:xfrm>
          <a:prstGeom prst="rect">
            <a:avLst/>
          </a:prstGeom>
        </p:spPr>
      </p:pic>
      <p:pic>
        <p:nvPicPr>
          <p:cNvPr id="9" name="图片 8"/>
          <p:cNvPicPr>
            <a:picLocks noChangeAspect="1"/>
          </p:cNvPicPr>
          <p:nvPr/>
        </p:nvPicPr>
        <p:blipFill>
          <a:blip r:embed="rId2"/>
          <a:stretch>
            <a:fillRect/>
          </a:stretch>
        </p:blipFill>
        <p:spPr>
          <a:xfrm>
            <a:off x="575945" y="297180"/>
            <a:ext cx="1685925" cy="419100"/>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pic>
        <p:nvPicPr>
          <p:cNvPr id="8" name="图片 7" descr="E:\曹飞\2017\2017-8-8地铁PPT\6.png6"/>
          <p:cNvPicPr>
            <a:picLocks noChangeAspect="1"/>
          </p:cNvPicPr>
          <p:nvPr/>
        </p:nvPicPr>
        <p:blipFill>
          <a:blip r:embed="rId3" cstate="email"/>
          <a:srcRect/>
          <a:stretch>
            <a:fillRect/>
          </a:stretch>
        </p:blipFill>
        <p:spPr>
          <a:xfrm>
            <a:off x="2261712" y="230427"/>
            <a:ext cx="6463189" cy="34337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par>
                                <p:cTn id="10" presetID="12" presetClass="entr" presetSubtype="8" fill="hold" grpId="1" nodeType="withEffect">
                                  <p:stCondLst>
                                    <p:cond delay="0"/>
                                  </p:stCondLst>
                                  <p:childTnLst>
                                    <p:set>
                                      <p:cBhvr>
                                        <p:cTn id="11" dur="1" fill="hold">
                                          <p:stCondLst>
                                            <p:cond delay="0"/>
                                          </p:stCondLst>
                                        </p:cTn>
                                        <p:tgtEl>
                                          <p:spTgt spid="14"/>
                                        </p:tgtEl>
                                        <p:attrNameLst>
                                          <p:attrName>style.visibility</p:attrName>
                                        </p:attrNameLst>
                                      </p:cBhvr>
                                      <p:to>
                                        <p:strVal val="visible"/>
                                      </p:to>
                                    </p:set>
                                    <p:anim calcmode="lin" valueType="num">
                                      <p:cBhvr additive="base">
                                        <p:cTn id="12" dur="250"/>
                                        <p:tgtEl>
                                          <p:spTgt spid="14"/>
                                        </p:tgtEl>
                                        <p:attrNameLst>
                                          <p:attrName>ppt_x</p:attrName>
                                        </p:attrNameLst>
                                      </p:cBhvr>
                                      <p:tavLst>
                                        <p:tav tm="0">
                                          <p:val>
                                            <p:strVal val="#ppt_x-#ppt_w*1.125000"/>
                                          </p:val>
                                        </p:tav>
                                        <p:tav tm="100000">
                                          <p:val>
                                            <p:strVal val="#ppt_x"/>
                                          </p:val>
                                        </p:tav>
                                      </p:tavLst>
                                    </p:anim>
                                    <p:animEffect transition="in" filter="wipe(right)">
                                      <p:cBhvr>
                                        <p:cTn id="13" dur="250"/>
                                        <p:tgtEl>
                                          <p:spTgt spid="14"/>
                                        </p:tgtEl>
                                      </p:cBhvr>
                                    </p:animEffect>
                                  </p:childTnLst>
                                </p:cTn>
                              </p:par>
                              <p:par>
                                <p:cTn id="14" presetID="12" presetClass="entr" presetSubtype="8"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 calcmode="lin" valueType="num">
                                      <p:cBhvr additive="base">
                                        <p:cTn id="16" dur="500"/>
                                        <p:tgtEl>
                                          <p:spTgt spid="8"/>
                                        </p:tgtEl>
                                        <p:attrNameLst>
                                          <p:attrName>ppt_x</p:attrName>
                                        </p:attrNameLst>
                                      </p:cBhvr>
                                      <p:tavLst>
                                        <p:tav tm="0">
                                          <p:val>
                                            <p:strVal val="#ppt_x-#ppt_w*1.125000"/>
                                          </p:val>
                                        </p:tav>
                                        <p:tav tm="100000">
                                          <p:val>
                                            <p:strVal val="#ppt_x"/>
                                          </p:val>
                                        </p:tav>
                                      </p:tavLst>
                                    </p:anim>
                                    <p:animEffect transition="in" filter="wipe(right)">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82295" y="789305"/>
            <a:ext cx="7680325" cy="2584450"/>
          </a:xfrm>
          <a:prstGeom prst="rect">
            <a:avLst/>
          </a:prstGeom>
          <a:noFill/>
        </p:spPr>
        <p:txBody>
          <a:bodyPr wrap="square" rtlCol="0">
            <a:spAutoFit/>
          </a:bodyPr>
          <a:lstStyle/>
          <a:p>
            <a:r>
              <a:rPr kumimoji="0" lang="en-US" altLang="zh-CN" kern="0" dirty="0">
                <a:latin typeface="黑体" panose="02010609060101010101" pitchFamily="49" charset="-122"/>
                <a:ea typeface="黑体" panose="02010609060101010101" pitchFamily="49" charset="-122"/>
              </a:rPr>
              <a:t>    </a:t>
            </a:r>
            <a:r>
              <a:rPr kumimoji="0" lang="zh-CN" altLang="en-US" kern="0" dirty="0">
                <a:latin typeface="黑体" panose="02010609060101010101" pitchFamily="49" charset="-122"/>
                <a:ea typeface="黑体" panose="02010609060101010101" pitchFamily="49" charset="-122"/>
              </a:rPr>
              <a:t>四、</a:t>
            </a:r>
            <a:r>
              <a:rPr kumimoji="0" lang="zh-CN" altLang="zh-CN" kern="0" dirty="0">
                <a:latin typeface="黑体" panose="02010609060101010101" pitchFamily="49" charset="-122"/>
                <a:ea typeface="黑体" panose="02010609060101010101" pitchFamily="49" charset="-122"/>
              </a:rPr>
              <a:t>通知的</a:t>
            </a:r>
            <a:r>
              <a:rPr kumimoji="0" lang="zh-CN" altLang="en-US" kern="0" dirty="0">
                <a:latin typeface="黑体" panose="02010609060101010101" pitchFamily="49" charset="-122"/>
                <a:ea typeface="黑体" panose="02010609060101010101" pitchFamily="49" charset="-122"/>
              </a:rPr>
              <a:t>写作技法</a:t>
            </a:r>
            <a:endParaRPr kumimoji="0" lang="zh-CN" altLang="en-US" kern="0" dirty="0">
              <a:latin typeface="黑体" panose="02010609060101010101" pitchFamily="49" charset="-122"/>
              <a:ea typeface="黑体" panose="02010609060101010101" pitchFamily="49" charset="-122"/>
            </a:endParaRPr>
          </a:p>
          <a:p>
            <a:r>
              <a:rPr lang="en-US" altLang="zh-CN" dirty="0"/>
              <a:t>       </a:t>
            </a:r>
            <a:endParaRPr lang="en-US" altLang="zh-CN" dirty="0"/>
          </a:p>
          <a:p>
            <a:r>
              <a:rPr lang="en-US" altLang="zh-CN" dirty="0"/>
              <a:t>    </a:t>
            </a:r>
            <a:r>
              <a:rPr lang="en-US" altLang="zh-CN" dirty="0">
                <a:latin typeface="仿宋_GB2312" panose="02010609030101010101" pitchFamily="49" charset="-122"/>
                <a:ea typeface="仿宋_GB2312" panose="02010609030101010101" pitchFamily="49" charset="-122"/>
                <a:cs typeface="仿宋_GB2312" panose="02010609030101010101" pitchFamily="49" charset="-122"/>
              </a:rPr>
              <a:t>  1.通知的目的要明确</a:t>
            </a:r>
            <a:endParaRPr lang="en-US" altLang="zh-CN" dirty="0">
              <a:latin typeface="仿宋_GB2312" panose="02010609030101010101" pitchFamily="49" charset="-122"/>
              <a:ea typeface="仿宋_GB2312" panose="02010609030101010101" pitchFamily="49" charset="-122"/>
              <a:cs typeface="仿宋_GB2312" panose="02010609030101010101" pitchFamily="49" charset="-122"/>
            </a:endParaRPr>
          </a:p>
          <a:p>
            <a:r>
              <a:rPr lang="en-US" altLang="zh-CN" dirty="0">
                <a:latin typeface="仿宋_GB2312" panose="02010609030101010101" pitchFamily="49" charset="-122"/>
                <a:ea typeface="仿宋_GB2312" panose="02010609030101010101" pitchFamily="49" charset="-122"/>
                <a:cs typeface="仿宋_GB2312" panose="02010609030101010101" pitchFamily="49" charset="-122"/>
              </a:rPr>
              <a:t>    首先要明确为什么写这个通知，通知的主要内容是什么，然后确定怎么写。其次要确定写作的范围和对象，针对什么问题，解决什么问题。不同种类的通知有不同的目的，写作之前就要明确。</a:t>
            </a:r>
            <a:endParaRPr lang="en-US" altLang="zh-CN" dirty="0">
              <a:latin typeface="仿宋_GB2312" panose="02010609030101010101" pitchFamily="49" charset="-122"/>
              <a:ea typeface="仿宋_GB2312" panose="02010609030101010101" pitchFamily="49" charset="-122"/>
              <a:cs typeface="仿宋_GB2312" panose="02010609030101010101" pitchFamily="49" charset="-122"/>
            </a:endParaRPr>
          </a:p>
          <a:p>
            <a:r>
              <a:rPr lang="en-US" altLang="zh-CN" dirty="0">
                <a:latin typeface="仿宋_GB2312" panose="02010609030101010101" pitchFamily="49" charset="-122"/>
                <a:ea typeface="仿宋_GB2312" panose="02010609030101010101" pitchFamily="49" charset="-122"/>
                <a:cs typeface="仿宋_GB2312" panose="02010609030101010101" pitchFamily="49" charset="-122"/>
              </a:rPr>
              <a:t>    2.内容要清晰</a:t>
            </a:r>
            <a:endParaRPr lang="en-US" altLang="zh-CN" dirty="0">
              <a:latin typeface="仿宋_GB2312" panose="02010609030101010101" pitchFamily="49" charset="-122"/>
              <a:ea typeface="仿宋_GB2312" panose="02010609030101010101" pitchFamily="49" charset="-122"/>
              <a:cs typeface="仿宋_GB2312" panose="02010609030101010101" pitchFamily="49" charset="-122"/>
            </a:endParaRPr>
          </a:p>
          <a:p>
            <a:r>
              <a:rPr lang="en-US" altLang="zh-CN" dirty="0">
                <a:latin typeface="仿宋_GB2312" panose="02010609030101010101" pitchFamily="49" charset="-122"/>
                <a:ea typeface="仿宋_GB2312" panose="02010609030101010101" pitchFamily="49" charset="-122"/>
                <a:cs typeface="仿宋_GB2312" panose="02010609030101010101" pitchFamily="49" charset="-122"/>
              </a:rPr>
              <a:t>    要交代清楚相关情况、缘由，以及时间、地点、任务、要求等。正文的表态、承接、过渡要与标题相符。</a:t>
            </a:r>
            <a:endParaRPr lang="en-US" altLang="zh-CN" dirty="0">
              <a:latin typeface="仿宋_GB2312" panose="02010609030101010101" pitchFamily="49" charset="-122"/>
              <a:ea typeface="仿宋_GB2312" panose="02010609030101010101" pitchFamily="49" charset="-122"/>
              <a:cs typeface="仿宋_GB2312" panose="02010609030101010101" pitchFamily="49" charset="-122"/>
            </a:endParaRPr>
          </a:p>
        </p:txBody>
      </p:sp>
      <p:pic>
        <p:nvPicPr>
          <p:cNvPr id="13" name="图片 12" descr="E:\曹飞\2017\2017-8-8地铁PPT\7.png7"/>
          <p:cNvPicPr>
            <a:picLocks noChangeAspect="1"/>
          </p:cNvPicPr>
          <p:nvPr/>
        </p:nvPicPr>
        <p:blipFill>
          <a:blip r:embed="rId1" cstate="email"/>
          <a:srcRect/>
          <a:stretch>
            <a:fillRect/>
          </a:stretch>
        </p:blipFill>
        <p:spPr>
          <a:xfrm>
            <a:off x="-6667" y="4477465"/>
            <a:ext cx="9168289" cy="668179"/>
          </a:xfrm>
          <a:prstGeom prst="rect">
            <a:avLst/>
          </a:prstGeom>
        </p:spPr>
      </p:pic>
      <p:pic>
        <p:nvPicPr>
          <p:cNvPr id="9" name="图片 8"/>
          <p:cNvPicPr>
            <a:picLocks noChangeAspect="1"/>
          </p:cNvPicPr>
          <p:nvPr/>
        </p:nvPicPr>
        <p:blipFill>
          <a:blip r:embed="rId2"/>
          <a:stretch>
            <a:fillRect/>
          </a:stretch>
        </p:blipFill>
        <p:spPr>
          <a:xfrm>
            <a:off x="575945" y="297180"/>
            <a:ext cx="1685925" cy="419100"/>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pic>
        <p:nvPicPr>
          <p:cNvPr id="8" name="图片 7" descr="E:\曹飞\2017\2017-8-8地铁PPT\6.png6"/>
          <p:cNvPicPr>
            <a:picLocks noChangeAspect="1"/>
          </p:cNvPicPr>
          <p:nvPr/>
        </p:nvPicPr>
        <p:blipFill>
          <a:blip r:embed="rId3" cstate="email"/>
          <a:srcRect/>
          <a:stretch>
            <a:fillRect/>
          </a:stretch>
        </p:blipFill>
        <p:spPr>
          <a:xfrm>
            <a:off x="2261712" y="230427"/>
            <a:ext cx="6463189" cy="34337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par>
                                <p:cTn id="10" presetID="12" presetClass="entr" presetSubtype="8" fill="hold" grpId="1" nodeType="withEffect">
                                  <p:stCondLst>
                                    <p:cond delay="0"/>
                                  </p:stCondLst>
                                  <p:childTnLst>
                                    <p:set>
                                      <p:cBhvr>
                                        <p:cTn id="11" dur="1" fill="hold">
                                          <p:stCondLst>
                                            <p:cond delay="0"/>
                                          </p:stCondLst>
                                        </p:cTn>
                                        <p:tgtEl>
                                          <p:spTgt spid="14"/>
                                        </p:tgtEl>
                                        <p:attrNameLst>
                                          <p:attrName>style.visibility</p:attrName>
                                        </p:attrNameLst>
                                      </p:cBhvr>
                                      <p:to>
                                        <p:strVal val="visible"/>
                                      </p:to>
                                    </p:set>
                                    <p:anim calcmode="lin" valueType="num">
                                      <p:cBhvr additive="base">
                                        <p:cTn id="12" dur="250"/>
                                        <p:tgtEl>
                                          <p:spTgt spid="14"/>
                                        </p:tgtEl>
                                        <p:attrNameLst>
                                          <p:attrName>ppt_x</p:attrName>
                                        </p:attrNameLst>
                                      </p:cBhvr>
                                      <p:tavLst>
                                        <p:tav tm="0">
                                          <p:val>
                                            <p:strVal val="#ppt_x-#ppt_w*1.125000"/>
                                          </p:val>
                                        </p:tav>
                                        <p:tav tm="100000">
                                          <p:val>
                                            <p:strVal val="#ppt_x"/>
                                          </p:val>
                                        </p:tav>
                                      </p:tavLst>
                                    </p:anim>
                                    <p:animEffect transition="in" filter="wipe(right)">
                                      <p:cBhvr>
                                        <p:cTn id="13" dur="250"/>
                                        <p:tgtEl>
                                          <p:spTgt spid="14"/>
                                        </p:tgtEl>
                                      </p:cBhvr>
                                    </p:animEffect>
                                  </p:childTnLst>
                                </p:cTn>
                              </p:par>
                              <p:par>
                                <p:cTn id="14" presetID="12" presetClass="entr" presetSubtype="8"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 calcmode="lin" valueType="num">
                                      <p:cBhvr additive="base">
                                        <p:cTn id="16" dur="500"/>
                                        <p:tgtEl>
                                          <p:spTgt spid="8"/>
                                        </p:tgtEl>
                                        <p:attrNameLst>
                                          <p:attrName>ppt_x</p:attrName>
                                        </p:attrNameLst>
                                      </p:cBhvr>
                                      <p:tavLst>
                                        <p:tav tm="0">
                                          <p:val>
                                            <p:strVal val="#ppt_x-#ppt_w*1.125000"/>
                                          </p:val>
                                        </p:tav>
                                        <p:tav tm="100000">
                                          <p:val>
                                            <p:strVal val="#ppt_x"/>
                                          </p:val>
                                        </p:tav>
                                      </p:tavLst>
                                    </p:anim>
                                    <p:animEffect transition="in" filter="wipe(right)">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9140" y="951865"/>
            <a:ext cx="7521575" cy="2279015"/>
          </a:xfrm>
          <a:prstGeom prst="rect">
            <a:avLst/>
          </a:prstGeom>
          <a:noFill/>
        </p:spPr>
        <p:txBody>
          <a:bodyPr wrap="square" rtlCol="0">
            <a:spAutoFit/>
          </a:bodyPr>
          <a:lstStyle/>
          <a:p>
            <a:pPr marL="342900" indent="-342900">
              <a:lnSpc>
                <a:spcPct val="90000"/>
              </a:lnSpc>
              <a:spcBef>
                <a:spcPct val="20000"/>
              </a:spcBef>
              <a:buClr>
                <a:srgbClr val="0066CC"/>
              </a:buClr>
            </a:pPr>
            <a:r>
              <a:rPr kumimoji="0" lang="en-US" altLang="zh-CN" sz="1800" kern="0" dirty="0">
                <a:latin typeface="黑体" panose="02010609060101010101" pitchFamily="49" charset="-122"/>
                <a:ea typeface="黑体" panose="02010609060101010101" pitchFamily="49" charset="-122"/>
              </a:rPr>
              <a:t>    </a:t>
            </a:r>
            <a:r>
              <a:rPr kumimoji="0" lang="zh-CN" altLang="zh-CN" sz="1800" kern="0" dirty="0">
                <a:latin typeface="黑体" panose="02010609060101010101" pitchFamily="49" charset="-122"/>
                <a:ea typeface="黑体" panose="02010609060101010101" pitchFamily="49" charset="-122"/>
              </a:rPr>
              <a:t>四、通知的写作技法</a:t>
            </a:r>
            <a:endParaRPr kumimoji="0" lang="zh-CN" altLang="zh-CN" sz="1800" kern="0" dirty="0">
              <a:latin typeface="黑体" panose="02010609060101010101" pitchFamily="49" charset="-122"/>
              <a:ea typeface="黑体" panose="02010609060101010101" pitchFamily="49" charset="-122"/>
            </a:endParaRPr>
          </a:p>
          <a:p>
            <a:endParaRPr lang="en-US" altLang="zh-CN" dirty="0" smtClean="0"/>
          </a:p>
          <a:p>
            <a:r>
              <a:rPr lang="en-US" altLang="zh-CN" dirty="0" smtClean="0"/>
              <a:t>         </a:t>
            </a:r>
            <a:r>
              <a:rPr lang="en-US" altLang="zh-CN" dirty="0">
                <a:latin typeface="仿宋_GB2312" panose="02010609030101010101" pitchFamily="49" charset="-122"/>
                <a:ea typeface="仿宋_GB2312" panose="02010609030101010101" pitchFamily="49" charset="-122"/>
                <a:cs typeface="仿宋_GB2312" panose="02010609030101010101" pitchFamily="49" charset="-122"/>
              </a:rPr>
              <a:t>3.措施要切实可行</a:t>
            </a:r>
            <a:endParaRPr lang="en-US" altLang="zh-CN" dirty="0">
              <a:latin typeface="仿宋_GB2312" panose="02010609030101010101" pitchFamily="49" charset="-122"/>
              <a:ea typeface="仿宋_GB2312" panose="02010609030101010101" pitchFamily="49" charset="-122"/>
              <a:cs typeface="仿宋_GB2312" panose="02010609030101010101" pitchFamily="49" charset="-122"/>
            </a:endParaRPr>
          </a:p>
          <a:p>
            <a:r>
              <a:rPr lang="en-US" altLang="zh-CN" dirty="0">
                <a:latin typeface="仿宋_GB2312" panose="02010609030101010101" pitchFamily="49" charset="-122"/>
                <a:ea typeface="仿宋_GB2312" panose="02010609030101010101" pitchFamily="49" charset="-122"/>
                <a:cs typeface="仿宋_GB2312" panose="02010609030101010101" pitchFamily="49" charset="-122"/>
              </a:rPr>
              <a:t>    通知要体现对下级机关的领导与指导，既讲任务、要求，又要讲方法、步骤、措施，语言不能空泛，以免缺乏可操作性导致不能执行。</a:t>
            </a:r>
            <a:endParaRPr lang="en-US" altLang="zh-CN" dirty="0">
              <a:latin typeface="仿宋_GB2312" panose="02010609030101010101" pitchFamily="49" charset="-122"/>
              <a:ea typeface="仿宋_GB2312" panose="02010609030101010101" pitchFamily="49" charset="-122"/>
              <a:cs typeface="仿宋_GB2312" panose="02010609030101010101" pitchFamily="49" charset="-122"/>
            </a:endParaRPr>
          </a:p>
          <a:p>
            <a:r>
              <a:rPr lang="en-US" altLang="zh-CN" dirty="0">
                <a:latin typeface="仿宋_GB2312" panose="02010609030101010101" pitchFamily="49" charset="-122"/>
                <a:ea typeface="仿宋_GB2312" panose="02010609030101010101" pitchFamily="49" charset="-122"/>
                <a:cs typeface="仿宋_GB2312" panose="02010609030101010101" pitchFamily="49" charset="-122"/>
              </a:rPr>
              <a:t>    4.行文要及时</a:t>
            </a:r>
            <a:endParaRPr lang="en-US" altLang="zh-CN" dirty="0">
              <a:latin typeface="仿宋_GB2312" panose="02010609030101010101" pitchFamily="49" charset="-122"/>
              <a:ea typeface="仿宋_GB2312" panose="02010609030101010101" pitchFamily="49" charset="-122"/>
              <a:cs typeface="仿宋_GB2312" panose="02010609030101010101" pitchFamily="49" charset="-122"/>
            </a:endParaRPr>
          </a:p>
          <a:p>
            <a:r>
              <a:rPr lang="en-US" altLang="zh-CN" dirty="0">
                <a:latin typeface="仿宋_GB2312" panose="02010609030101010101" pitchFamily="49" charset="-122"/>
                <a:ea typeface="仿宋_GB2312" panose="02010609030101010101" pitchFamily="49" charset="-122"/>
                <a:cs typeface="仿宋_GB2312" panose="02010609030101010101" pitchFamily="49" charset="-122"/>
              </a:rPr>
              <a:t>    有些通知时间性很强，要求及时办理。如果行文不及时，就会延误工作或失去效用。</a:t>
            </a:r>
            <a:endParaRPr lang="en-US" altLang="zh-CN" dirty="0">
              <a:latin typeface="仿宋_GB2312" panose="02010609030101010101" pitchFamily="49" charset="-122"/>
              <a:ea typeface="仿宋_GB2312" panose="02010609030101010101" pitchFamily="49" charset="-122"/>
              <a:cs typeface="仿宋_GB2312" panose="02010609030101010101" pitchFamily="49" charset="-122"/>
            </a:endParaRPr>
          </a:p>
        </p:txBody>
      </p:sp>
      <p:pic>
        <p:nvPicPr>
          <p:cNvPr id="13" name="图片 12" descr="E:\曹飞\2017\2017-8-8地铁PPT\7.png7"/>
          <p:cNvPicPr>
            <a:picLocks noChangeAspect="1"/>
          </p:cNvPicPr>
          <p:nvPr/>
        </p:nvPicPr>
        <p:blipFill>
          <a:blip r:embed="rId1" cstate="email"/>
          <a:srcRect/>
          <a:stretch>
            <a:fillRect/>
          </a:stretch>
        </p:blipFill>
        <p:spPr>
          <a:xfrm>
            <a:off x="-6667" y="4477465"/>
            <a:ext cx="9168289" cy="668179"/>
          </a:xfrm>
          <a:prstGeom prst="rect">
            <a:avLst/>
          </a:prstGeom>
        </p:spPr>
      </p:pic>
      <p:pic>
        <p:nvPicPr>
          <p:cNvPr id="9" name="图片 8"/>
          <p:cNvPicPr>
            <a:picLocks noChangeAspect="1"/>
          </p:cNvPicPr>
          <p:nvPr/>
        </p:nvPicPr>
        <p:blipFill>
          <a:blip r:embed="rId2"/>
          <a:stretch>
            <a:fillRect/>
          </a:stretch>
        </p:blipFill>
        <p:spPr>
          <a:xfrm>
            <a:off x="575945" y="297180"/>
            <a:ext cx="1685925" cy="419100"/>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pic>
        <p:nvPicPr>
          <p:cNvPr id="8" name="图片 7" descr="E:\曹飞\2017\2017-8-8地铁PPT\6.png6"/>
          <p:cNvPicPr>
            <a:picLocks noChangeAspect="1"/>
          </p:cNvPicPr>
          <p:nvPr/>
        </p:nvPicPr>
        <p:blipFill>
          <a:blip r:embed="rId3" cstate="email"/>
          <a:srcRect/>
          <a:stretch>
            <a:fillRect/>
          </a:stretch>
        </p:blipFill>
        <p:spPr>
          <a:xfrm>
            <a:off x="2261712" y="230427"/>
            <a:ext cx="6463189" cy="34337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par>
                                <p:cTn id="10" presetID="12" presetClass="entr" presetSubtype="8" fill="hold" grpId="1" nodeType="withEffect">
                                  <p:stCondLst>
                                    <p:cond delay="0"/>
                                  </p:stCondLst>
                                  <p:childTnLst>
                                    <p:set>
                                      <p:cBhvr>
                                        <p:cTn id="11" dur="1" fill="hold">
                                          <p:stCondLst>
                                            <p:cond delay="0"/>
                                          </p:stCondLst>
                                        </p:cTn>
                                        <p:tgtEl>
                                          <p:spTgt spid="14"/>
                                        </p:tgtEl>
                                        <p:attrNameLst>
                                          <p:attrName>style.visibility</p:attrName>
                                        </p:attrNameLst>
                                      </p:cBhvr>
                                      <p:to>
                                        <p:strVal val="visible"/>
                                      </p:to>
                                    </p:set>
                                    <p:anim calcmode="lin" valueType="num">
                                      <p:cBhvr additive="base">
                                        <p:cTn id="12" dur="250"/>
                                        <p:tgtEl>
                                          <p:spTgt spid="14"/>
                                        </p:tgtEl>
                                        <p:attrNameLst>
                                          <p:attrName>ppt_x</p:attrName>
                                        </p:attrNameLst>
                                      </p:cBhvr>
                                      <p:tavLst>
                                        <p:tav tm="0">
                                          <p:val>
                                            <p:strVal val="#ppt_x-#ppt_w*1.125000"/>
                                          </p:val>
                                        </p:tav>
                                        <p:tav tm="100000">
                                          <p:val>
                                            <p:strVal val="#ppt_x"/>
                                          </p:val>
                                        </p:tav>
                                      </p:tavLst>
                                    </p:anim>
                                    <p:animEffect transition="in" filter="wipe(right)">
                                      <p:cBhvr>
                                        <p:cTn id="13" dur="250"/>
                                        <p:tgtEl>
                                          <p:spTgt spid="14"/>
                                        </p:tgtEl>
                                      </p:cBhvr>
                                    </p:animEffect>
                                  </p:childTnLst>
                                </p:cTn>
                              </p:par>
                              <p:par>
                                <p:cTn id="14" presetID="12" presetClass="entr" presetSubtype="8"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 calcmode="lin" valueType="num">
                                      <p:cBhvr additive="base">
                                        <p:cTn id="16" dur="500"/>
                                        <p:tgtEl>
                                          <p:spTgt spid="8"/>
                                        </p:tgtEl>
                                        <p:attrNameLst>
                                          <p:attrName>ppt_x</p:attrName>
                                        </p:attrNameLst>
                                      </p:cBhvr>
                                      <p:tavLst>
                                        <p:tav tm="0">
                                          <p:val>
                                            <p:strVal val="#ppt_x-#ppt_w*1.125000"/>
                                          </p:val>
                                        </p:tav>
                                        <p:tav tm="100000">
                                          <p:val>
                                            <p:strVal val="#ppt_x"/>
                                          </p:val>
                                        </p:tav>
                                      </p:tavLst>
                                    </p:anim>
                                    <p:animEffect transition="in" filter="wipe(right)">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76580" y="937895"/>
            <a:ext cx="7742555" cy="2832735"/>
          </a:xfrm>
          <a:prstGeom prst="rect">
            <a:avLst/>
          </a:prstGeom>
          <a:noFill/>
        </p:spPr>
        <p:txBody>
          <a:bodyPr wrap="square" rtlCol="0">
            <a:spAutoFit/>
          </a:bodyPr>
          <a:lstStyle/>
          <a:p>
            <a:pPr marL="342900" indent="-342900">
              <a:lnSpc>
                <a:spcPct val="90000"/>
              </a:lnSpc>
              <a:spcBef>
                <a:spcPct val="20000"/>
              </a:spcBef>
              <a:buClr>
                <a:srgbClr val="0066CC"/>
              </a:buClr>
            </a:pPr>
            <a:r>
              <a:rPr kumimoji="0" lang="en-US" altLang="zh-CN" kern="0" dirty="0">
                <a:latin typeface="黑体" panose="02010609060101010101" pitchFamily="49" charset="-122"/>
                <a:ea typeface="黑体" panose="02010609060101010101" pitchFamily="49" charset="-122"/>
              </a:rPr>
              <a:t>    </a:t>
            </a:r>
            <a:r>
              <a:rPr kumimoji="0" lang="zh-CN" altLang="en-US" kern="0" dirty="0">
                <a:latin typeface="黑体" panose="02010609060101010101" pitchFamily="49" charset="-122"/>
                <a:ea typeface="黑体" panose="02010609060101010101" pitchFamily="49" charset="-122"/>
              </a:rPr>
              <a:t>五、</a:t>
            </a:r>
            <a:r>
              <a:rPr kumimoji="0" lang="zh-CN" altLang="zh-CN" kern="0" dirty="0">
                <a:latin typeface="黑体" panose="02010609060101010101" pitchFamily="49" charset="-122"/>
                <a:ea typeface="黑体" panose="02010609060101010101" pitchFamily="49" charset="-122"/>
              </a:rPr>
              <a:t>通知</a:t>
            </a:r>
            <a:r>
              <a:rPr kumimoji="0" lang="zh-CN" altLang="en-US" kern="0" dirty="0">
                <a:latin typeface="黑体" panose="02010609060101010101" pitchFamily="49" charset="-122"/>
                <a:ea typeface="黑体" panose="02010609060101010101" pitchFamily="49" charset="-122"/>
              </a:rPr>
              <a:t>与</a:t>
            </a:r>
            <a:r>
              <a:rPr kumimoji="0" lang="zh-CN" altLang="en-US" kern="0" dirty="0" smtClean="0">
                <a:latin typeface="黑体" panose="02010609060101010101" pitchFamily="49" charset="-122"/>
                <a:ea typeface="黑体" panose="02010609060101010101" pitchFamily="49" charset="-122"/>
              </a:rPr>
              <a:t>通告的</a:t>
            </a:r>
            <a:r>
              <a:rPr kumimoji="0" lang="zh-CN" altLang="en-US" kern="0" dirty="0">
                <a:latin typeface="黑体" panose="02010609060101010101" pitchFamily="49" charset="-122"/>
                <a:ea typeface="黑体" panose="02010609060101010101" pitchFamily="49" charset="-122"/>
              </a:rPr>
              <a:t>区别</a:t>
            </a:r>
            <a:endParaRPr kumimoji="0" lang="zh-CN" altLang="zh-CN" kern="0" dirty="0">
              <a:latin typeface="黑体" panose="02010609060101010101" pitchFamily="49" charset="-122"/>
              <a:ea typeface="黑体" panose="02010609060101010101" pitchFamily="49" charset="-122"/>
            </a:endParaRPr>
          </a:p>
          <a:p>
            <a:endParaRPr lang="zh-CN" altLang="zh-CN" dirty="0" smtClean="0"/>
          </a:p>
          <a:p>
            <a:r>
              <a:rPr lang="en-US" altLang="zh-CN" dirty="0">
                <a:latin typeface="仿宋_GB2312" panose="02010609030101010101" pitchFamily="49" charset="-122"/>
                <a:ea typeface="仿宋_GB2312" panose="02010609030101010101" pitchFamily="49" charset="-122"/>
                <a:cs typeface="仿宋_GB2312" panose="02010609030101010101" pitchFamily="49" charset="-122"/>
              </a:rPr>
              <a:t>    通知与通告都是告知性公文。但也有一些不同点，表现在：</a:t>
            </a:r>
            <a:endParaRPr lang="en-US" altLang="zh-CN" dirty="0">
              <a:latin typeface="仿宋_GB2312" panose="02010609030101010101" pitchFamily="49" charset="-122"/>
              <a:ea typeface="仿宋_GB2312" panose="02010609030101010101" pitchFamily="49" charset="-122"/>
              <a:cs typeface="仿宋_GB2312" panose="02010609030101010101" pitchFamily="49" charset="-122"/>
            </a:endParaRPr>
          </a:p>
          <a:p>
            <a:r>
              <a:rPr lang="en-US" altLang="zh-CN" dirty="0">
                <a:latin typeface="仿宋_GB2312" panose="02010609030101010101" pitchFamily="49" charset="-122"/>
                <a:ea typeface="仿宋_GB2312" panose="02010609030101010101" pitchFamily="49" charset="-122"/>
                <a:cs typeface="仿宋_GB2312" panose="02010609030101010101" pitchFamily="49" charset="-122"/>
              </a:rPr>
              <a:t>    1.告知范围不同。</a:t>
            </a:r>
            <a:endParaRPr lang="en-US" altLang="zh-CN" dirty="0">
              <a:latin typeface="仿宋_GB2312" panose="02010609030101010101" pitchFamily="49" charset="-122"/>
              <a:ea typeface="仿宋_GB2312" panose="02010609030101010101" pitchFamily="49" charset="-122"/>
              <a:cs typeface="仿宋_GB2312" panose="02010609030101010101" pitchFamily="49" charset="-122"/>
            </a:endParaRPr>
          </a:p>
          <a:p>
            <a:r>
              <a:rPr lang="en-US" altLang="zh-CN" dirty="0">
                <a:latin typeface="仿宋_GB2312" panose="02010609030101010101" pitchFamily="49" charset="-122"/>
                <a:ea typeface="仿宋_GB2312" panose="02010609030101010101" pitchFamily="49" charset="-122"/>
                <a:cs typeface="仿宋_GB2312" panose="02010609030101010101" pitchFamily="49" charset="-122"/>
              </a:rPr>
              <a:t>    通告有普遍告知的意思，是把机关的意图、要求普遍告诉人们知道并加以遵守；通知有可能告知所属全部下级、平级机关、单位、人员，也可能告知部分下级、平级机关、单位，要求他们知晓或办理。</a:t>
            </a:r>
            <a:endParaRPr lang="en-US" altLang="zh-CN" dirty="0">
              <a:latin typeface="仿宋_GB2312" panose="02010609030101010101" pitchFamily="49" charset="-122"/>
              <a:ea typeface="仿宋_GB2312" panose="02010609030101010101" pitchFamily="49" charset="-122"/>
              <a:cs typeface="仿宋_GB2312" panose="02010609030101010101" pitchFamily="49" charset="-122"/>
            </a:endParaRPr>
          </a:p>
          <a:p>
            <a:r>
              <a:rPr lang="en-US" altLang="zh-CN" dirty="0">
                <a:latin typeface="仿宋_GB2312" panose="02010609030101010101" pitchFamily="49" charset="-122"/>
                <a:ea typeface="仿宋_GB2312" panose="02010609030101010101" pitchFamily="49" charset="-122"/>
                <a:cs typeface="仿宋_GB2312" panose="02010609030101010101" pitchFamily="49" charset="-122"/>
              </a:rPr>
              <a:t>    2.具体使用不同。</a:t>
            </a:r>
            <a:endParaRPr lang="en-US" altLang="zh-CN" dirty="0">
              <a:latin typeface="仿宋_GB2312" panose="02010609030101010101" pitchFamily="49" charset="-122"/>
              <a:ea typeface="仿宋_GB2312" panose="02010609030101010101" pitchFamily="49" charset="-122"/>
              <a:cs typeface="仿宋_GB2312" panose="02010609030101010101" pitchFamily="49" charset="-122"/>
            </a:endParaRPr>
          </a:p>
          <a:p>
            <a:r>
              <a:rPr lang="en-US" altLang="zh-CN" dirty="0">
                <a:latin typeface="仿宋_GB2312" panose="02010609030101010101" pitchFamily="49" charset="-122"/>
                <a:ea typeface="仿宋_GB2312" panose="02010609030101010101" pitchFamily="49" charset="-122"/>
                <a:cs typeface="仿宋_GB2312" panose="02010609030101010101" pitchFamily="49" charset="-122"/>
              </a:rPr>
              <a:t>    凡是对外公开告知某一事项时，应使用通告；内部行文告知下级、平级机关办理某一事项，应使用通知，而不能使用通告。</a:t>
            </a:r>
            <a:endParaRPr lang="en-US" altLang="zh-CN" dirty="0">
              <a:latin typeface="仿宋_GB2312" panose="02010609030101010101" pitchFamily="49" charset="-122"/>
              <a:ea typeface="仿宋_GB2312" panose="02010609030101010101" pitchFamily="49" charset="-122"/>
              <a:cs typeface="仿宋_GB2312" panose="02010609030101010101" pitchFamily="49" charset="-122"/>
            </a:endParaRPr>
          </a:p>
        </p:txBody>
      </p:sp>
      <p:pic>
        <p:nvPicPr>
          <p:cNvPr id="13" name="图片 12" descr="E:\曹飞\2017\2017-8-8地铁PPT\7.png7"/>
          <p:cNvPicPr>
            <a:picLocks noChangeAspect="1"/>
          </p:cNvPicPr>
          <p:nvPr/>
        </p:nvPicPr>
        <p:blipFill>
          <a:blip r:embed="rId1" cstate="email"/>
          <a:srcRect/>
          <a:stretch>
            <a:fillRect/>
          </a:stretch>
        </p:blipFill>
        <p:spPr>
          <a:xfrm>
            <a:off x="-6667" y="4477465"/>
            <a:ext cx="9168289" cy="668179"/>
          </a:xfrm>
          <a:prstGeom prst="rect">
            <a:avLst/>
          </a:prstGeom>
        </p:spPr>
      </p:pic>
      <p:pic>
        <p:nvPicPr>
          <p:cNvPr id="9" name="图片 8"/>
          <p:cNvPicPr>
            <a:picLocks noChangeAspect="1"/>
          </p:cNvPicPr>
          <p:nvPr/>
        </p:nvPicPr>
        <p:blipFill>
          <a:blip r:embed="rId2"/>
          <a:stretch>
            <a:fillRect/>
          </a:stretch>
        </p:blipFill>
        <p:spPr>
          <a:xfrm>
            <a:off x="575945" y="297180"/>
            <a:ext cx="1685925" cy="419100"/>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pic>
        <p:nvPicPr>
          <p:cNvPr id="8" name="图片 7" descr="E:\曹飞\2017\2017-8-8地铁PPT\6.png6"/>
          <p:cNvPicPr>
            <a:picLocks noChangeAspect="1"/>
          </p:cNvPicPr>
          <p:nvPr/>
        </p:nvPicPr>
        <p:blipFill>
          <a:blip r:embed="rId3" cstate="email"/>
          <a:srcRect/>
          <a:stretch>
            <a:fillRect/>
          </a:stretch>
        </p:blipFill>
        <p:spPr>
          <a:xfrm>
            <a:off x="2261712" y="230427"/>
            <a:ext cx="6463189" cy="34337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par>
                                <p:cTn id="10" presetID="12" presetClass="entr" presetSubtype="8" fill="hold" grpId="1" nodeType="withEffect">
                                  <p:stCondLst>
                                    <p:cond delay="0"/>
                                  </p:stCondLst>
                                  <p:childTnLst>
                                    <p:set>
                                      <p:cBhvr>
                                        <p:cTn id="11" dur="1" fill="hold">
                                          <p:stCondLst>
                                            <p:cond delay="0"/>
                                          </p:stCondLst>
                                        </p:cTn>
                                        <p:tgtEl>
                                          <p:spTgt spid="14"/>
                                        </p:tgtEl>
                                        <p:attrNameLst>
                                          <p:attrName>style.visibility</p:attrName>
                                        </p:attrNameLst>
                                      </p:cBhvr>
                                      <p:to>
                                        <p:strVal val="visible"/>
                                      </p:to>
                                    </p:set>
                                    <p:anim calcmode="lin" valueType="num">
                                      <p:cBhvr additive="base">
                                        <p:cTn id="12" dur="250"/>
                                        <p:tgtEl>
                                          <p:spTgt spid="14"/>
                                        </p:tgtEl>
                                        <p:attrNameLst>
                                          <p:attrName>ppt_x</p:attrName>
                                        </p:attrNameLst>
                                      </p:cBhvr>
                                      <p:tavLst>
                                        <p:tav tm="0">
                                          <p:val>
                                            <p:strVal val="#ppt_x-#ppt_w*1.125000"/>
                                          </p:val>
                                        </p:tav>
                                        <p:tav tm="100000">
                                          <p:val>
                                            <p:strVal val="#ppt_x"/>
                                          </p:val>
                                        </p:tav>
                                      </p:tavLst>
                                    </p:anim>
                                    <p:animEffect transition="in" filter="wipe(right)">
                                      <p:cBhvr>
                                        <p:cTn id="13" dur="250"/>
                                        <p:tgtEl>
                                          <p:spTgt spid="14"/>
                                        </p:tgtEl>
                                      </p:cBhvr>
                                    </p:animEffect>
                                  </p:childTnLst>
                                </p:cTn>
                              </p:par>
                              <p:par>
                                <p:cTn id="14" presetID="12" presetClass="entr" presetSubtype="8"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 calcmode="lin" valueType="num">
                                      <p:cBhvr additive="base">
                                        <p:cTn id="16" dur="500"/>
                                        <p:tgtEl>
                                          <p:spTgt spid="8"/>
                                        </p:tgtEl>
                                        <p:attrNameLst>
                                          <p:attrName>ppt_x</p:attrName>
                                        </p:attrNameLst>
                                      </p:cBhvr>
                                      <p:tavLst>
                                        <p:tav tm="0">
                                          <p:val>
                                            <p:strVal val="#ppt_x-#ppt_w*1.125000"/>
                                          </p:val>
                                        </p:tav>
                                        <p:tav tm="100000">
                                          <p:val>
                                            <p:strVal val="#ppt_x"/>
                                          </p:val>
                                        </p:tav>
                                      </p:tavLst>
                                    </p:anim>
                                    <p:animEffect transition="in" filter="wipe(right)">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3"/>
          <p:cNvSpPr>
            <a:spLocks noGrp="1" noRot="1" noChangeArrowheads="1"/>
          </p:cNvSpPr>
          <p:nvPr>
            <p:ph idx="1"/>
          </p:nvPr>
        </p:nvSpPr>
        <p:spPr>
          <a:xfrm>
            <a:off x="575310" y="716280"/>
            <a:ext cx="8111490" cy="4427220"/>
          </a:xfrm>
        </p:spPr>
        <p:txBody>
          <a:bodyPr>
            <a:normAutofit/>
          </a:bodyPr>
          <a:lstStyle/>
          <a:p>
            <a:pPr marL="0" algn="l" eaLnBrk="1" hangingPunct="1">
              <a:lnSpc>
                <a:spcPct val="100000"/>
              </a:lnSpc>
              <a:buClrTx/>
              <a:buSzTx/>
              <a:buFont typeface="Wingdings" panose="05000000000000000000" pitchFamily="2" charset="2"/>
              <a:buNone/>
            </a:pPr>
            <a:r>
              <a:rPr lang="en-US" altLang="zh-CN" sz="1800" b="1" dirty="0">
                <a:latin typeface="仿宋_GB2312" panose="02010609030101010101" pitchFamily="49" charset="-122"/>
                <a:ea typeface="仿宋_GB2312" panose="02010609030101010101" pitchFamily="49" charset="-122"/>
                <a:cs typeface="仿宋_GB2312" panose="02010609030101010101" pitchFamily="49" charset="-122"/>
              </a:rPr>
              <a:t>发布性通知</a:t>
            </a:r>
            <a:r>
              <a:rPr lang="en-US" altLang="zh-CN" sz="1800" dirty="0">
                <a:latin typeface="仿宋_GB2312" panose="02010609030101010101" pitchFamily="49" charset="-122"/>
                <a:ea typeface="仿宋_GB2312" panose="02010609030101010101" pitchFamily="49" charset="-122"/>
                <a:cs typeface="仿宋_GB2312" panose="02010609030101010101" pitchFamily="49" charset="-122"/>
              </a:rPr>
              <a:t> </a:t>
            </a:r>
            <a:endParaRPr lang="en-US" altLang="zh-CN" sz="1800" dirty="0">
              <a:latin typeface="仿宋_GB2312" panose="02010609030101010101" pitchFamily="49" charset="-122"/>
              <a:ea typeface="仿宋_GB2312" panose="02010609030101010101" pitchFamily="49" charset="-122"/>
              <a:cs typeface="仿宋_GB2312" panose="02010609030101010101" pitchFamily="49" charset="-122"/>
            </a:endParaRPr>
          </a:p>
          <a:p>
            <a:pPr marL="0" algn="l" eaLnBrk="1" hangingPunct="1">
              <a:lnSpc>
                <a:spcPct val="100000"/>
              </a:lnSpc>
              <a:buClrTx/>
              <a:buSzTx/>
              <a:buNone/>
            </a:pPr>
            <a:r>
              <a:rPr lang="en-US" altLang="zh-CN" sz="1800" dirty="0">
                <a:latin typeface="仿宋_GB2312" panose="02010609030101010101" pitchFamily="49" charset="-122"/>
                <a:ea typeface="仿宋_GB2312" panose="02010609030101010101" pitchFamily="49" charset="-122"/>
                <a:cs typeface="仿宋_GB2312" panose="02010609030101010101" pitchFamily="49" charset="-122"/>
              </a:rPr>
              <a:t>法规性文件经有关部门制定以后，需要用通知的形式予以发布。这类通知的正文一般包括四个方面的内容：一是文件的由来；二是文件名称；三是希望和要求；四是附件。　 </a:t>
            </a:r>
            <a:br>
              <a:rPr lang="en-US" altLang="zh-CN" sz="1800" dirty="0">
                <a:latin typeface="仿宋_GB2312" panose="02010609030101010101" pitchFamily="49" charset="-122"/>
                <a:ea typeface="仿宋_GB2312" panose="02010609030101010101" pitchFamily="49" charset="-122"/>
                <a:cs typeface="仿宋_GB2312" panose="02010609030101010101" pitchFamily="49" charset="-122"/>
              </a:rPr>
            </a:br>
            <a:r>
              <a:rPr lang="en-US" altLang="zh-CN" sz="1800" dirty="0">
                <a:latin typeface="仿宋_GB2312" panose="02010609030101010101" pitchFamily="49" charset="-122"/>
                <a:ea typeface="仿宋_GB2312" panose="02010609030101010101" pitchFamily="49" charset="-122"/>
                <a:cs typeface="仿宋_GB2312" panose="02010609030101010101" pitchFamily="49" charset="-122"/>
              </a:rPr>
              <a:t>               国务院关于发布《国家行政机关公文处理办法》的通知 </a:t>
            </a:r>
            <a:endParaRPr lang="en-US" altLang="zh-CN" sz="1800" dirty="0">
              <a:latin typeface="仿宋_GB2312" panose="02010609030101010101" pitchFamily="49" charset="-122"/>
              <a:ea typeface="仿宋_GB2312" panose="02010609030101010101" pitchFamily="49" charset="-122"/>
              <a:cs typeface="仿宋_GB2312" panose="02010609030101010101" pitchFamily="49" charset="-122"/>
            </a:endParaRPr>
          </a:p>
          <a:p>
            <a:pPr marL="0" algn="ctr" eaLnBrk="1" hangingPunct="1">
              <a:lnSpc>
                <a:spcPct val="100000"/>
              </a:lnSpc>
              <a:buClrTx/>
              <a:buSzTx/>
              <a:buFont typeface="Wingdings" panose="05000000000000000000" pitchFamily="2" charset="2"/>
              <a:buNone/>
            </a:pPr>
            <a:r>
              <a:rPr lang="en-US" altLang="zh-CN" sz="1800" dirty="0">
                <a:latin typeface="仿宋_GB2312" panose="02010609030101010101" pitchFamily="49" charset="-122"/>
                <a:ea typeface="仿宋_GB2312" panose="02010609030101010101" pitchFamily="49" charset="-122"/>
                <a:cs typeface="仿宋_GB2312" panose="02010609030101010101" pitchFamily="49" charset="-122"/>
              </a:rPr>
              <a:t>国发〔2000〕23号</a:t>
            </a:r>
            <a:endParaRPr lang="en-US" altLang="zh-CN" sz="1800" dirty="0">
              <a:latin typeface="仿宋_GB2312" panose="02010609030101010101" pitchFamily="49" charset="-122"/>
              <a:ea typeface="仿宋_GB2312" panose="02010609030101010101" pitchFamily="49" charset="-122"/>
              <a:cs typeface="仿宋_GB2312" panose="02010609030101010101" pitchFamily="49" charset="-122"/>
            </a:endParaRPr>
          </a:p>
          <a:p>
            <a:pPr marL="0" algn="l" eaLnBrk="1" hangingPunct="1">
              <a:lnSpc>
                <a:spcPct val="100000"/>
              </a:lnSpc>
              <a:buClrTx/>
              <a:buSzTx/>
              <a:buFont typeface="Wingdings" panose="05000000000000000000" pitchFamily="2" charset="2"/>
              <a:buNone/>
            </a:pPr>
            <a:r>
              <a:rPr lang="en-US" altLang="zh-CN" sz="1800" dirty="0">
                <a:latin typeface="仿宋_GB2312" panose="02010609030101010101" pitchFamily="49" charset="-122"/>
                <a:ea typeface="仿宋_GB2312" panose="02010609030101010101" pitchFamily="49" charset="-122"/>
                <a:cs typeface="仿宋_GB2312" panose="02010609030101010101" pitchFamily="49" charset="-122"/>
              </a:rPr>
              <a:t>各省、自治区、直辖市人民政府，国务院各部委、各直属机构：</a:t>
            </a:r>
            <a:endParaRPr lang="en-US" altLang="zh-CN" sz="1800" dirty="0">
              <a:latin typeface="仿宋_GB2312" panose="02010609030101010101" pitchFamily="49" charset="-122"/>
              <a:ea typeface="仿宋_GB2312" panose="02010609030101010101" pitchFamily="49" charset="-122"/>
              <a:cs typeface="仿宋_GB2312" panose="02010609030101010101" pitchFamily="49" charset="-122"/>
            </a:endParaRPr>
          </a:p>
          <a:p>
            <a:pPr marL="0" algn="l" eaLnBrk="1" hangingPunct="1">
              <a:lnSpc>
                <a:spcPct val="100000"/>
              </a:lnSpc>
              <a:buClrTx/>
              <a:buSzTx/>
              <a:buFont typeface="Wingdings" panose="05000000000000000000" pitchFamily="2" charset="2"/>
              <a:buNone/>
            </a:pPr>
            <a:r>
              <a:rPr lang="en-US" altLang="zh-CN" sz="1800" dirty="0">
                <a:latin typeface="仿宋_GB2312" panose="02010609030101010101" pitchFamily="49" charset="-122"/>
                <a:ea typeface="仿宋_GB2312" panose="02010609030101010101" pitchFamily="49" charset="-122"/>
                <a:cs typeface="仿宋_GB2312" panose="02010609030101010101" pitchFamily="49" charset="-122"/>
              </a:rPr>
              <a:t>     现发布《国家行政机关公文处理办法》，自2001年1月1日起施行。1993年11月21日国务院办公厅发布，1994年1月1日起施行的《国家行政机关公文处理办法》同时废止。</a:t>
            </a:r>
            <a:br>
              <a:rPr lang="en-US" altLang="zh-CN" sz="1800" dirty="0">
                <a:latin typeface="仿宋_GB2312" panose="02010609030101010101" pitchFamily="49" charset="-122"/>
                <a:ea typeface="仿宋_GB2312" panose="02010609030101010101" pitchFamily="49" charset="-122"/>
                <a:cs typeface="仿宋_GB2312" panose="02010609030101010101" pitchFamily="49" charset="-122"/>
              </a:rPr>
            </a:br>
            <a:r>
              <a:rPr lang="en-US" altLang="zh-CN" sz="1800" dirty="0">
                <a:latin typeface="仿宋_GB2312" panose="02010609030101010101" pitchFamily="49" charset="-122"/>
                <a:ea typeface="仿宋_GB2312" panose="02010609030101010101" pitchFamily="49" charset="-122"/>
                <a:cs typeface="仿宋_GB2312" panose="02010609030101010101" pitchFamily="49" charset="-122"/>
              </a:rPr>
              <a:t>    </a:t>
            </a:r>
            <a:endParaRPr lang="en-US" altLang="zh-CN" sz="1800" dirty="0">
              <a:latin typeface="仿宋_GB2312" panose="02010609030101010101" pitchFamily="49" charset="-122"/>
              <a:ea typeface="仿宋_GB2312" panose="02010609030101010101" pitchFamily="49" charset="-122"/>
              <a:cs typeface="仿宋_GB2312" panose="02010609030101010101" pitchFamily="49" charset="-122"/>
            </a:endParaRPr>
          </a:p>
          <a:p>
            <a:pPr marL="0" algn="l" eaLnBrk="1" hangingPunct="1">
              <a:lnSpc>
                <a:spcPct val="100000"/>
              </a:lnSpc>
              <a:buClrTx/>
              <a:buSzTx/>
              <a:buFont typeface="Wingdings" panose="05000000000000000000" pitchFamily="2" charset="2"/>
              <a:buNone/>
            </a:pPr>
            <a:r>
              <a:rPr lang="en-US" altLang="zh-CN" sz="1800" dirty="0">
                <a:latin typeface="仿宋_GB2312" panose="02010609030101010101" pitchFamily="49" charset="-122"/>
                <a:ea typeface="仿宋_GB2312" panose="02010609030101010101" pitchFamily="49" charset="-122"/>
                <a:cs typeface="仿宋_GB2312" panose="02010609030101010101" pitchFamily="49" charset="-122"/>
              </a:rPr>
              <a:t>     附件：国家行政机关公文处理办法</a:t>
            </a:r>
            <a:br>
              <a:rPr lang="en-US" altLang="zh-CN" sz="1800" dirty="0">
                <a:latin typeface="仿宋_GB2312" panose="02010609030101010101" pitchFamily="49" charset="-122"/>
                <a:ea typeface="仿宋_GB2312" panose="02010609030101010101" pitchFamily="49" charset="-122"/>
                <a:cs typeface="仿宋_GB2312" panose="02010609030101010101" pitchFamily="49" charset="-122"/>
              </a:rPr>
            </a:br>
            <a:r>
              <a:rPr lang="en-US" altLang="zh-CN" sz="1800" dirty="0">
                <a:latin typeface="仿宋_GB2312" panose="02010609030101010101" pitchFamily="49" charset="-122"/>
                <a:ea typeface="仿宋_GB2312" panose="02010609030101010101" pitchFamily="49" charset="-122"/>
                <a:cs typeface="仿宋_GB2312" panose="02010609030101010101" pitchFamily="49" charset="-122"/>
              </a:rPr>
              <a:t>                                                     中华人民共和国国务院</a:t>
            </a:r>
            <a:br>
              <a:rPr lang="en-US" altLang="zh-CN" sz="1800" dirty="0">
                <a:latin typeface="仿宋_GB2312" panose="02010609030101010101" pitchFamily="49" charset="-122"/>
                <a:ea typeface="仿宋_GB2312" panose="02010609030101010101" pitchFamily="49" charset="-122"/>
                <a:cs typeface="仿宋_GB2312" panose="02010609030101010101" pitchFamily="49" charset="-122"/>
              </a:rPr>
            </a:br>
            <a:r>
              <a:rPr lang="en-US" altLang="zh-CN" sz="1800" dirty="0">
                <a:latin typeface="仿宋_GB2312" panose="02010609030101010101" pitchFamily="49" charset="-122"/>
                <a:ea typeface="仿宋_GB2312" panose="02010609030101010101" pitchFamily="49" charset="-122"/>
                <a:cs typeface="仿宋_GB2312" panose="02010609030101010101" pitchFamily="49" charset="-122"/>
              </a:rPr>
              <a:t>                                                         2000年8月10日</a:t>
            </a:r>
            <a:endParaRPr lang="en-US" altLang="zh-CN" sz="1800" dirty="0">
              <a:latin typeface="仿宋_GB2312" panose="02010609030101010101" pitchFamily="49" charset="-122"/>
              <a:ea typeface="仿宋_GB2312" panose="02010609030101010101" pitchFamily="49" charset="-122"/>
              <a:cs typeface="仿宋_GB2312" panose="02010609030101010101" pitchFamily="49" charset="-122"/>
            </a:endParaRPr>
          </a:p>
        </p:txBody>
      </p:sp>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pic>
        <p:nvPicPr>
          <p:cNvPr id="9" name="图片 8"/>
          <p:cNvPicPr>
            <a:picLocks noChangeAspect="1"/>
          </p:cNvPicPr>
          <p:nvPr/>
        </p:nvPicPr>
        <p:blipFill>
          <a:blip r:embed="rId1"/>
          <a:stretch>
            <a:fillRect/>
          </a:stretch>
        </p:blipFill>
        <p:spPr>
          <a:xfrm>
            <a:off x="575945" y="297180"/>
            <a:ext cx="1685925" cy="419100"/>
          </a:xfrm>
          <a:prstGeom prst="rect">
            <a:avLst/>
          </a:prstGeom>
        </p:spPr>
      </p:pic>
      <p:pic>
        <p:nvPicPr>
          <p:cNvPr id="8" name="图片 7" descr="E:\曹飞\2017\2017-8-8地铁PPT\6.png6"/>
          <p:cNvPicPr>
            <a:picLocks noChangeAspect="1"/>
          </p:cNvPicPr>
          <p:nvPr/>
        </p:nvPicPr>
        <p:blipFill>
          <a:blip r:embed="rId2" cstate="email"/>
          <a:srcRect/>
          <a:stretch>
            <a:fillRect/>
          </a:stretch>
        </p:blipFill>
        <p:spPr>
          <a:xfrm>
            <a:off x="2261712" y="230427"/>
            <a:ext cx="6463189" cy="343376"/>
          </a:xfrm>
          <a:prstGeom prst="rect">
            <a:avLst/>
          </a:prstGeom>
        </p:spPr>
      </p:pic>
      <p:pic>
        <p:nvPicPr>
          <p:cNvPr id="2" name="图片 1" descr="E:\曹飞\2017\2017-8-8地铁PPT\7.png7"/>
          <p:cNvPicPr>
            <a:picLocks noChangeAspect="1"/>
          </p:cNvPicPr>
          <p:nvPr/>
        </p:nvPicPr>
        <p:blipFill>
          <a:blip r:embed="rId3" cstate="email"/>
          <a:srcRect/>
          <a:stretch>
            <a:fillRect/>
          </a:stretch>
        </p:blipFill>
        <p:spPr>
          <a:xfrm>
            <a:off x="-6667" y="4477465"/>
            <a:ext cx="9168289" cy="66817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1"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250"/>
                                        <p:tgtEl>
                                          <p:spTgt spid="14"/>
                                        </p:tgtEl>
                                        <p:attrNameLst>
                                          <p:attrName>ppt_x</p:attrName>
                                        </p:attrNameLst>
                                      </p:cBhvr>
                                      <p:tavLst>
                                        <p:tav tm="0">
                                          <p:val>
                                            <p:strVal val="#ppt_x-#ppt_w*1.125000"/>
                                          </p:val>
                                        </p:tav>
                                        <p:tav tm="100000">
                                          <p:val>
                                            <p:strVal val="#ppt_x"/>
                                          </p:val>
                                        </p:tav>
                                      </p:tavLst>
                                    </p:anim>
                                    <p:animEffect transition="in" filter="wipe(right)">
                                      <p:cBhvr>
                                        <p:cTn id="8" dur="250"/>
                                        <p:tgtEl>
                                          <p:spTgt spid="14"/>
                                        </p:tgtEl>
                                      </p:cBhvr>
                                    </p:animEffect>
                                  </p:childTnLst>
                                </p:cTn>
                              </p:par>
                              <p:par>
                                <p:cTn id="9" presetID="12" presetClass="entr" presetSubtype="8"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p:tgtEl>
                                          <p:spTgt spid="8"/>
                                        </p:tgtEl>
                                        <p:attrNameLst>
                                          <p:attrName>ppt_x</p:attrName>
                                        </p:attrNameLst>
                                      </p:cBhvr>
                                      <p:tavLst>
                                        <p:tav tm="0">
                                          <p:val>
                                            <p:strVal val="#ppt_x-#ppt_w*1.125000"/>
                                          </p:val>
                                        </p:tav>
                                        <p:tav tm="100000">
                                          <p:val>
                                            <p:strVal val="#ppt_x"/>
                                          </p:val>
                                        </p:tav>
                                      </p:tavLst>
                                    </p:anim>
                                    <p:animEffect transition="in" filter="wipe(right)">
                                      <p:cBhvr>
                                        <p:cTn id="12" dur="500"/>
                                        <p:tgtEl>
                                          <p:spTgt spid="8"/>
                                        </p:tgtEl>
                                      </p:cBhvr>
                                    </p:animEffect>
                                  </p:childTnLst>
                                </p:cTn>
                              </p:par>
                              <p:par>
                                <p:cTn id="13" presetID="42" presetClass="entr" presetSubtype="0" fill="hold"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1000"/>
                                        <p:tgtEl>
                                          <p:spTgt spid="2"/>
                                        </p:tgtEl>
                                      </p:cBhvr>
                                    </p:animEffect>
                                    <p:anim calcmode="lin" valueType="num">
                                      <p:cBhvr>
                                        <p:cTn id="16" dur="1000" fill="hold"/>
                                        <p:tgtEl>
                                          <p:spTgt spid="2"/>
                                        </p:tgtEl>
                                        <p:attrNameLst>
                                          <p:attrName>ppt_x</p:attrName>
                                        </p:attrNameLst>
                                      </p:cBhvr>
                                      <p:tavLst>
                                        <p:tav tm="0">
                                          <p:val>
                                            <p:strVal val="#ppt_x"/>
                                          </p:val>
                                        </p:tav>
                                        <p:tav tm="100000">
                                          <p:val>
                                            <p:strVal val="#ppt_x"/>
                                          </p:val>
                                        </p:tav>
                                      </p:tavLst>
                                    </p:anim>
                                    <p:anim calcmode="lin" valueType="num">
                                      <p:cBhvr>
                                        <p:cTn id="17"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3"/>
          <p:cNvSpPr>
            <a:spLocks noGrp="1" noRot="1" noChangeArrowheads="1"/>
          </p:cNvSpPr>
          <p:nvPr>
            <p:ph idx="1"/>
          </p:nvPr>
        </p:nvSpPr>
        <p:spPr>
          <a:xfrm>
            <a:off x="447675" y="867410"/>
            <a:ext cx="8239125" cy="4026535"/>
          </a:xfrm>
        </p:spPr>
        <p:txBody>
          <a:bodyPr>
            <a:normAutofit fontScale="25000"/>
          </a:bodyPr>
          <a:lstStyle/>
          <a:p>
            <a:pPr marL="0" algn="l" eaLnBrk="1" hangingPunct="1">
              <a:lnSpc>
                <a:spcPct val="100000"/>
              </a:lnSpc>
              <a:buClrTx/>
              <a:buSzTx/>
              <a:buFont typeface="Wingdings" panose="05000000000000000000" pitchFamily="2" charset="2"/>
              <a:buNone/>
            </a:pPr>
            <a:r>
              <a:rPr lang="en-US" altLang="zh-CN" sz="4800" dirty="0" smtClean="0">
                <a:solidFill>
                  <a:srgbClr val="A50021"/>
                </a:solidFill>
                <a:latin typeface="仿宋_GB2312" panose="02010609030101010101" pitchFamily="49" charset="-122"/>
                <a:ea typeface="仿宋_GB2312" panose="02010609030101010101" pitchFamily="49" charset="-122"/>
                <a:cs typeface="仿宋_GB2312" panose="02010609030101010101" pitchFamily="49" charset="-122"/>
              </a:rPr>
              <a:t> </a:t>
            </a:r>
            <a:r>
              <a:rPr lang="en-US" altLang="zh-CN" sz="4800" dirty="0">
                <a:latin typeface="仿宋_GB2312" panose="02010609030101010101" pitchFamily="49" charset="-122"/>
                <a:ea typeface="仿宋_GB2312" panose="02010609030101010101" pitchFamily="49" charset="-122"/>
                <a:cs typeface="仿宋_GB2312" panose="02010609030101010101" pitchFamily="49" charset="-122"/>
              </a:rPr>
              <a:t>指示性通知</a:t>
            </a:r>
            <a:endParaRPr lang="en-US" altLang="zh-CN" sz="4800" dirty="0">
              <a:latin typeface="仿宋_GB2312" panose="02010609030101010101" pitchFamily="49" charset="-122"/>
              <a:ea typeface="仿宋_GB2312" panose="02010609030101010101" pitchFamily="49" charset="-122"/>
              <a:cs typeface="仿宋_GB2312" panose="02010609030101010101" pitchFamily="49" charset="-122"/>
            </a:endParaRPr>
          </a:p>
          <a:p>
            <a:pPr marL="0" algn="l" eaLnBrk="1" hangingPunct="1">
              <a:lnSpc>
                <a:spcPct val="100000"/>
              </a:lnSpc>
              <a:buClrTx/>
              <a:buSzTx/>
              <a:buFont typeface="Wingdings" panose="05000000000000000000" pitchFamily="2" charset="2"/>
              <a:buNone/>
            </a:pPr>
            <a:r>
              <a:rPr lang="en-US" altLang="zh-CN" sz="4800" dirty="0">
                <a:latin typeface="仿宋_GB2312" panose="02010609030101010101" pitchFamily="49" charset="-122"/>
                <a:ea typeface="仿宋_GB2312" panose="02010609030101010101" pitchFamily="49" charset="-122"/>
                <a:cs typeface="仿宋_GB2312" panose="02010609030101010101" pitchFamily="49" charset="-122"/>
              </a:rPr>
              <a:t>      上级单位向下级单位对某一项工作的布置、要求、意见等往往用通知的形式传达。这种通知带有指令性，必须有根据、有目的、有任务、有要求。　 </a:t>
            </a:r>
            <a:br>
              <a:rPr lang="en-US" altLang="zh-CN" sz="4800" dirty="0">
                <a:latin typeface="仿宋_GB2312" panose="02010609030101010101" pitchFamily="49" charset="-122"/>
                <a:ea typeface="仿宋_GB2312" panose="02010609030101010101" pitchFamily="49" charset="-122"/>
                <a:cs typeface="仿宋_GB2312" panose="02010609030101010101" pitchFamily="49" charset="-122"/>
              </a:rPr>
            </a:br>
            <a:r>
              <a:rPr lang="en-US" altLang="zh-CN" sz="4800" dirty="0">
                <a:latin typeface="仿宋_GB2312" panose="02010609030101010101" pitchFamily="49" charset="-122"/>
                <a:ea typeface="仿宋_GB2312" panose="02010609030101010101" pitchFamily="49" charset="-122"/>
                <a:cs typeface="仿宋_GB2312" panose="02010609030101010101" pitchFamily="49" charset="-122"/>
              </a:rPr>
              <a:t>　　                             国务院办公厅关于解决民办教师问题的通知 </a:t>
            </a:r>
            <a:endParaRPr lang="en-US" altLang="zh-CN" sz="4800" dirty="0">
              <a:latin typeface="仿宋_GB2312" panose="02010609030101010101" pitchFamily="49" charset="-122"/>
              <a:ea typeface="仿宋_GB2312" panose="02010609030101010101" pitchFamily="49" charset="-122"/>
              <a:cs typeface="仿宋_GB2312" panose="02010609030101010101" pitchFamily="49" charset="-122"/>
            </a:endParaRPr>
          </a:p>
          <a:p>
            <a:pPr marL="0" algn="l" eaLnBrk="1" hangingPunct="1">
              <a:lnSpc>
                <a:spcPct val="100000"/>
              </a:lnSpc>
              <a:buClrTx/>
              <a:buSzTx/>
              <a:buFont typeface="Wingdings" panose="05000000000000000000" pitchFamily="2" charset="2"/>
              <a:buNone/>
            </a:pPr>
            <a:r>
              <a:rPr lang="en-US" altLang="zh-CN" sz="4800" dirty="0">
                <a:latin typeface="仿宋_GB2312" panose="02010609030101010101" pitchFamily="49" charset="-122"/>
                <a:ea typeface="仿宋_GB2312" panose="02010609030101010101" pitchFamily="49" charset="-122"/>
                <a:cs typeface="仿宋_GB2312" panose="02010609030101010101" pitchFamily="49" charset="-122"/>
              </a:rPr>
              <a:t>各省、自治区、直辖市人民政府，国务院各部委、各直属机构： 　　　 </a:t>
            </a:r>
            <a:br>
              <a:rPr lang="en-US" altLang="zh-CN" sz="4800" dirty="0">
                <a:latin typeface="仿宋_GB2312" panose="02010609030101010101" pitchFamily="49" charset="-122"/>
                <a:ea typeface="仿宋_GB2312" panose="02010609030101010101" pitchFamily="49" charset="-122"/>
                <a:cs typeface="仿宋_GB2312" panose="02010609030101010101" pitchFamily="49" charset="-122"/>
              </a:rPr>
            </a:br>
            <a:r>
              <a:rPr lang="en-US" altLang="zh-CN" sz="4800" dirty="0">
                <a:latin typeface="仿宋_GB2312" panose="02010609030101010101" pitchFamily="49" charset="-122"/>
                <a:ea typeface="仿宋_GB2312" panose="02010609030101010101" pitchFamily="49" charset="-122"/>
                <a:cs typeface="仿宋_GB2312" panose="02010609030101010101" pitchFamily="49" charset="-122"/>
              </a:rPr>
              <a:t>　　民办教师是我国中小学教师队伍的重要组成部分。长期以来，广大民办教师为发展我国农村教育事业做出了重大贡献。党中央、国务院十分重视和关心民办教师，提出了“争取到本世纪末基本解决民办教师问题”的目标，这是党中央、国务院推进农村教育发展的一项重大决策，是加强农村学校教师队伍建设、保“两基”、促“两全”的重大举措。为保证这一目标的顺利实现，经国务院同意，现将有关问题通知如下： </a:t>
            </a:r>
            <a:endParaRPr lang="en-US" altLang="zh-CN" sz="4800" dirty="0">
              <a:latin typeface="仿宋_GB2312" panose="02010609030101010101" pitchFamily="49" charset="-122"/>
              <a:ea typeface="仿宋_GB2312" panose="02010609030101010101" pitchFamily="49" charset="-122"/>
              <a:cs typeface="仿宋_GB2312" panose="02010609030101010101" pitchFamily="49" charset="-122"/>
            </a:endParaRPr>
          </a:p>
          <a:p>
            <a:pPr marL="0" algn="l" eaLnBrk="1" hangingPunct="1">
              <a:lnSpc>
                <a:spcPct val="100000"/>
              </a:lnSpc>
              <a:buClrTx/>
              <a:buSzTx/>
              <a:buFont typeface="Wingdings" panose="05000000000000000000" pitchFamily="2" charset="2"/>
              <a:buNone/>
            </a:pPr>
            <a:r>
              <a:rPr lang="en-US" altLang="zh-CN" sz="4800" dirty="0">
                <a:latin typeface="仿宋_GB2312" panose="02010609030101010101" pitchFamily="49" charset="-122"/>
                <a:ea typeface="仿宋_GB2312" panose="02010609030101010101" pitchFamily="49" charset="-122"/>
                <a:cs typeface="仿宋_GB2312" panose="02010609030101010101" pitchFamily="49" charset="-122"/>
              </a:rPr>
              <a:t>     一、统筹解决民办教师问题实行地方责任制，各有关部门积极配合。</a:t>
            </a:r>
            <a:endParaRPr lang="en-US" altLang="zh-CN" sz="4800" dirty="0">
              <a:latin typeface="仿宋_GB2312" panose="02010609030101010101" pitchFamily="49" charset="-122"/>
              <a:ea typeface="仿宋_GB2312" panose="02010609030101010101" pitchFamily="49" charset="-122"/>
              <a:cs typeface="仿宋_GB2312" panose="02010609030101010101" pitchFamily="49" charset="-122"/>
            </a:endParaRPr>
          </a:p>
          <a:p>
            <a:pPr marL="0" algn="l" eaLnBrk="1" hangingPunct="1">
              <a:lnSpc>
                <a:spcPct val="100000"/>
              </a:lnSpc>
              <a:buClrTx/>
              <a:buSzTx/>
              <a:buFont typeface="Wingdings" panose="05000000000000000000" pitchFamily="2" charset="2"/>
              <a:buNone/>
            </a:pPr>
            <a:r>
              <a:rPr lang="en-US" altLang="zh-CN" sz="4800" dirty="0">
                <a:latin typeface="仿宋_GB2312" panose="02010609030101010101" pitchFamily="49" charset="-122"/>
                <a:ea typeface="仿宋_GB2312" panose="02010609030101010101" pitchFamily="49" charset="-122"/>
                <a:cs typeface="仿宋_GB2312" panose="02010609030101010101" pitchFamily="49" charset="-122"/>
              </a:rPr>
              <a:t>    　 …… </a:t>
            </a:r>
            <a:br>
              <a:rPr lang="en-US" altLang="zh-CN" sz="4800" dirty="0">
                <a:latin typeface="仿宋_GB2312" panose="02010609030101010101" pitchFamily="49" charset="-122"/>
                <a:ea typeface="仿宋_GB2312" panose="02010609030101010101" pitchFamily="49" charset="-122"/>
                <a:cs typeface="仿宋_GB2312" panose="02010609030101010101" pitchFamily="49" charset="-122"/>
              </a:rPr>
            </a:br>
            <a:r>
              <a:rPr lang="en-US" altLang="zh-CN" sz="4800" dirty="0">
                <a:latin typeface="仿宋_GB2312" panose="02010609030101010101" pitchFamily="49" charset="-122"/>
                <a:ea typeface="仿宋_GB2312" panose="02010609030101010101" pitchFamily="49" charset="-122"/>
                <a:cs typeface="仿宋_GB2312" panose="02010609030101010101" pitchFamily="49" charset="-122"/>
              </a:rPr>
              <a:t>　　 十、在政府的统一领导和统筹协调下，教育、人事、计划、财政、公安等部门要分工协作，密切配合，相互支持，做好解决民办教育问题的实施工作。</a:t>
            </a:r>
            <a:endParaRPr lang="en-US" altLang="zh-CN" sz="4800" dirty="0">
              <a:latin typeface="仿宋_GB2312" panose="02010609030101010101" pitchFamily="49" charset="-122"/>
              <a:ea typeface="仿宋_GB2312" panose="02010609030101010101" pitchFamily="49" charset="-122"/>
              <a:cs typeface="仿宋_GB2312" panose="02010609030101010101" pitchFamily="49" charset="-122"/>
            </a:endParaRPr>
          </a:p>
          <a:p>
            <a:pPr marL="0" algn="l" eaLnBrk="1" hangingPunct="1">
              <a:lnSpc>
                <a:spcPct val="100000"/>
              </a:lnSpc>
              <a:buClrTx/>
              <a:buSzTx/>
              <a:buFont typeface="Wingdings" panose="05000000000000000000" pitchFamily="2" charset="2"/>
              <a:buNone/>
            </a:pPr>
            <a:r>
              <a:rPr lang="en-US" altLang="zh-CN" sz="4800" dirty="0">
                <a:latin typeface="仿宋_GB2312" panose="02010609030101010101" pitchFamily="49" charset="-122"/>
                <a:ea typeface="仿宋_GB2312" panose="02010609030101010101" pitchFamily="49" charset="-122"/>
                <a:cs typeface="仿宋_GB2312" panose="02010609030101010101" pitchFamily="49" charset="-122"/>
              </a:rPr>
              <a:t>     各有关部门要把统筹解决民办教师问题纳入本部门的工作规划和年度工作计划，共同研究，认真安排，坚决杜绝这项工作中的不正之风，确保党中央、国务院确定的“本世纪末基本解决民办教师问题”目标的实现，推动我国农村教育事业的发展。 </a:t>
            </a:r>
            <a:endParaRPr lang="en-US" altLang="zh-CN" sz="4800" dirty="0">
              <a:latin typeface="仿宋_GB2312" panose="02010609030101010101" pitchFamily="49" charset="-122"/>
              <a:ea typeface="仿宋_GB2312" panose="02010609030101010101" pitchFamily="49" charset="-122"/>
              <a:cs typeface="仿宋_GB2312" panose="02010609030101010101" pitchFamily="49" charset="-122"/>
            </a:endParaRPr>
          </a:p>
          <a:p>
            <a:pPr marL="0" algn="l" eaLnBrk="1" hangingPunct="1">
              <a:lnSpc>
                <a:spcPct val="100000"/>
              </a:lnSpc>
              <a:buClrTx/>
              <a:buSzTx/>
              <a:buFont typeface="Wingdings" panose="05000000000000000000" pitchFamily="2" charset="2"/>
              <a:buNone/>
            </a:pPr>
            <a:r>
              <a:rPr lang="en-US" altLang="zh-CN" sz="4800" dirty="0">
                <a:latin typeface="仿宋_GB2312" panose="02010609030101010101" pitchFamily="49" charset="-122"/>
                <a:ea typeface="仿宋_GB2312" panose="02010609030101010101" pitchFamily="49" charset="-122"/>
                <a:cs typeface="仿宋_GB2312" panose="02010609030101010101" pitchFamily="49" charset="-122"/>
              </a:rPr>
              <a:t>                                                   </a:t>
            </a:r>
            <a:endParaRPr lang="en-US" altLang="zh-CN" sz="4800" dirty="0">
              <a:latin typeface="仿宋_GB2312" panose="02010609030101010101" pitchFamily="49" charset="-122"/>
              <a:ea typeface="仿宋_GB2312" panose="02010609030101010101" pitchFamily="49" charset="-122"/>
              <a:cs typeface="仿宋_GB2312" panose="02010609030101010101" pitchFamily="49" charset="-122"/>
            </a:endParaRPr>
          </a:p>
          <a:p>
            <a:pPr marL="0" algn="ctr" eaLnBrk="1" hangingPunct="1">
              <a:lnSpc>
                <a:spcPct val="100000"/>
              </a:lnSpc>
              <a:buClrTx/>
              <a:buSzTx/>
              <a:buFont typeface="Wingdings" panose="05000000000000000000" pitchFamily="2" charset="2"/>
              <a:buNone/>
            </a:pPr>
            <a:r>
              <a:rPr lang="en-US" altLang="zh-CN" sz="4800" dirty="0">
                <a:latin typeface="仿宋_GB2312" panose="02010609030101010101" pitchFamily="49" charset="-122"/>
                <a:ea typeface="仿宋_GB2312" panose="02010609030101010101" pitchFamily="49" charset="-122"/>
                <a:cs typeface="仿宋_GB2312" panose="02010609030101010101" pitchFamily="49" charset="-122"/>
              </a:rPr>
              <a:t>                                                                               国务院办公厅                       </a:t>
            </a:r>
            <a:r>
              <a:rPr lang="en-US" altLang="zh-CN" sz="4800" dirty="0">
                <a:latin typeface="仿宋_GB2312" panose="02010609030101010101" pitchFamily="49" charset="-122"/>
                <a:ea typeface="仿宋_GB2312" panose="02010609030101010101" pitchFamily="49" charset="-122"/>
                <a:cs typeface="仿宋_GB2312" panose="02010609030101010101" pitchFamily="49" charset="-122"/>
                <a:sym typeface="+mn-ea"/>
              </a:rPr>
              <a:t>                                                                                  </a:t>
            </a:r>
            <a:endParaRPr lang="en-US" altLang="zh-CN" sz="4800" dirty="0">
              <a:latin typeface="仿宋_GB2312" panose="02010609030101010101" pitchFamily="49" charset="-122"/>
              <a:ea typeface="仿宋_GB2312" panose="02010609030101010101" pitchFamily="49" charset="-122"/>
              <a:cs typeface="仿宋_GB2312" panose="02010609030101010101" pitchFamily="49" charset="-122"/>
              <a:sym typeface="+mn-ea"/>
            </a:endParaRPr>
          </a:p>
          <a:p>
            <a:pPr marL="0" algn="ctr" eaLnBrk="1" hangingPunct="1">
              <a:lnSpc>
                <a:spcPct val="100000"/>
              </a:lnSpc>
              <a:buClrTx/>
              <a:buSzTx/>
              <a:buFont typeface="Wingdings" panose="05000000000000000000" pitchFamily="2" charset="2"/>
              <a:buNone/>
            </a:pPr>
            <a:endParaRPr lang="en-US" altLang="zh-CN" sz="4800" dirty="0">
              <a:latin typeface="仿宋_GB2312" panose="02010609030101010101" pitchFamily="49" charset="-122"/>
              <a:ea typeface="仿宋_GB2312" panose="02010609030101010101" pitchFamily="49" charset="-122"/>
              <a:cs typeface="仿宋_GB2312" panose="02010609030101010101" pitchFamily="49" charset="-122"/>
              <a:sym typeface="+mn-ea"/>
            </a:endParaRPr>
          </a:p>
          <a:p>
            <a:pPr marL="0" algn="ctr" eaLnBrk="1" hangingPunct="1">
              <a:lnSpc>
                <a:spcPct val="100000"/>
              </a:lnSpc>
              <a:buClrTx/>
              <a:buSzTx/>
              <a:buFont typeface="Wingdings" panose="05000000000000000000" pitchFamily="2" charset="2"/>
              <a:buNone/>
            </a:pPr>
            <a:r>
              <a:rPr lang="en-US" altLang="zh-CN" sz="4800" dirty="0">
                <a:latin typeface="仿宋_GB2312" panose="02010609030101010101" pitchFamily="49" charset="-122"/>
                <a:ea typeface="仿宋_GB2312" panose="02010609030101010101" pitchFamily="49" charset="-122"/>
                <a:cs typeface="仿宋_GB2312" panose="02010609030101010101" pitchFamily="49" charset="-122"/>
                <a:sym typeface="+mn-ea"/>
              </a:rPr>
              <a:t>                                                                                  ⅩⅩⅩⅩⅩⅩⅩ</a:t>
            </a:r>
            <a:r>
              <a:rPr lang="en-US" altLang="zh-CN" sz="4800" dirty="0">
                <a:latin typeface="仿宋_GB2312" panose="02010609030101010101" pitchFamily="49" charset="-122"/>
                <a:ea typeface="仿宋_GB2312" panose="02010609030101010101" pitchFamily="49" charset="-122"/>
                <a:cs typeface="仿宋_GB2312" panose="02010609030101010101" pitchFamily="49" charset="-122"/>
              </a:rPr>
              <a:t>                                  </a:t>
            </a:r>
            <a:endParaRPr lang="en-US" altLang="zh-CN" sz="4800" dirty="0">
              <a:latin typeface="仿宋_GB2312" panose="02010609030101010101" pitchFamily="49" charset="-122"/>
              <a:ea typeface="仿宋_GB2312" panose="02010609030101010101" pitchFamily="49" charset="-122"/>
              <a:cs typeface="仿宋_GB2312" panose="02010609030101010101" pitchFamily="49" charset="-122"/>
            </a:endParaRPr>
          </a:p>
          <a:p>
            <a:pPr marL="0" algn="l" eaLnBrk="1" hangingPunct="1">
              <a:lnSpc>
                <a:spcPct val="100000"/>
              </a:lnSpc>
              <a:buClrTx/>
              <a:buSzTx/>
              <a:buFont typeface="Wingdings" panose="05000000000000000000" pitchFamily="2" charset="2"/>
              <a:buNone/>
            </a:pPr>
            <a:r>
              <a:rPr lang="en-US" altLang="zh-CN" sz="4800" dirty="0">
                <a:latin typeface="仿宋_GB2312" panose="02010609030101010101" pitchFamily="49" charset="-122"/>
                <a:ea typeface="仿宋_GB2312" panose="02010609030101010101" pitchFamily="49" charset="-122"/>
                <a:cs typeface="仿宋_GB2312" panose="02010609030101010101" pitchFamily="49" charset="-122"/>
              </a:rPr>
              <a:t>                                                                                                                  </a:t>
            </a:r>
            <a:br>
              <a:rPr lang="en-US" altLang="zh-CN" sz="4800" dirty="0">
                <a:latin typeface="仿宋_GB2312" panose="02010609030101010101" pitchFamily="49" charset="-122"/>
                <a:ea typeface="仿宋_GB2312" panose="02010609030101010101" pitchFamily="49" charset="-122"/>
                <a:cs typeface="仿宋_GB2312" panose="02010609030101010101" pitchFamily="49" charset="-122"/>
              </a:rPr>
            </a:br>
            <a:br>
              <a:rPr lang="en-US" altLang="zh-CN" sz="1800" b="1" dirty="0" smtClean="0">
                <a:latin typeface="仿宋_GB2312" panose="02010609030101010101" pitchFamily="49" charset="-122"/>
                <a:ea typeface="仿宋_GB2312" panose="02010609030101010101" pitchFamily="49" charset="-122"/>
              </a:rPr>
            </a:br>
            <a:endParaRPr lang="en-US" altLang="zh-CN" sz="1800" b="1" dirty="0" smtClean="0">
              <a:latin typeface="仿宋_GB2312" panose="02010609030101010101" pitchFamily="49" charset="-122"/>
              <a:ea typeface="仿宋_GB2312" panose="02010609030101010101" pitchFamily="49" charset="-122"/>
            </a:endParaRPr>
          </a:p>
        </p:txBody>
      </p:sp>
      <p:pic>
        <p:nvPicPr>
          <p:cNvPr id="9" name="图片 8"/>
          <p:cNvPicPr>
            <a:picLocks noChangeAspect="1"/>
          </p:cNvPicPr>
          <p:nvPr/>
        </p:nvPicPr>
        <p:blipFill>
          <a:blip r:embed="rId1"/>
          <a:stretch>
            <a:fillRect/>
          </a:stretch>
        </p:blipFill>
        <p:spPr>
          <a:xfrm>
            <a:off x="575945" y="297180"/>
            <a:ext cx="1685925" cy="419100"/>
          </a:xfrm>
          <a:prstGeom prst="rect">
            <a:avLst/>
          </a:prstGeom>
        </p:spPr>
      </p:pic>
      <p:pic>
        <p:nvPicPr>
          <p:cNvPr id="8" name="图片 7" descr="E:\曹飞\2017\2017-8-8地铁PPT\6.png6"/>
          <p:cNvPicPr>
            <a:picLocks noChangeAspect="1"/>
          </p:cNvPicPr>
          <p:nvPr/>
        </p:nvPicPr>
        <p:blipFill>
          <a:blip r:embed="rId2" cstate="email"/>
          <a:srcRect/>
          <a:stretch>
            <a:fillRect/>
          </a:stretch>
        </p:blipFill>
        <p:spPr>
          <a:xfrm>
            <a:off x="2261712" y="230427"/>
            <a:ext cx="6463189" cy="343376"/>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pic>
        <p:nvPicPr>
          <p:cNvPr id="3" name="图片 2" descr="E:\曹飞\2017\2017-8-8地铁PPT\7.png7"/>
          <p:cNvPicPr>
            <a:picLocks noChangeAspect="1"/>
          </p:cNvPicPr>
          <p:nvPr/>
        </p:nvPicPr>
        <p:blipFill>
          <a:blip r:embed="rId3" cstate="email"/>
          <a:srcRect/>
          <a:stretch>
            <a:fillRect/>
          </a:stretch>
        </p:blipFill>
        <p:spPr>
          <a:xfrm>
            <a:off x="-6667" y="4477465"/>
            <a:ext cx="9168289" cy="66817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right)">
                                      <p:cBhvr>
                                        <p:cTn id="8" dur="500"/>
                                        <p:tgtEl>
                                          <p:spTgt spid="8"/>
                                        </p:tgtEl>
                                      </p:cBhvr>
                                    </p:animEffect>
                                  </p:childTnLst>
                                </p:cTn>
                              </p:par>
                              <p:par>
                                <p:cTn id="9" presetID="12" presetClass="entr" presetSubtype="8" fill="hold" grpId="1"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250"/>
                                        <p:tgtEl>
                                          <p:spTgt spid="14"/>
                                        </p:tgtEl>
                                        <p:attrNameLst>
                                          <p:attrName>ppt_x</p:attrName>
                                        </p:attrNameLst>
                                      </p:cBhvr>
                                      <p:tavLst>
                                        <p:tav tm="0">
                                          <p:val>
                                            <p:strVal val="#ppt_x-#ppt_w*1.125000"/>
                                          </p:val>
                                        </p:tav>
                                        <p:tav tm="100000">
                                          <p:val>
                                            <p:strVal val="#ppt_x"/>
                                          </p:val>
                                        </p:tav>
                                      </p:tavLst>
                                    </p:anim>
                                    <p:animEffect transition="in" filter="wipe(right)">
                                      <p:cBhvr>
                                        <p:cTn id="12" dur="250"/>
                                        <p:tgtEl>
                                          <p:spTgt spid="14"/>
                                        </p:tgtEl>
                                      </p:cBhvr>
                                    </p:animEffect>
                                  </p:childTnLst>
                                </p:cTn>
                              </p:par>
                              <p:par>
                                <p:cTn id="13" presetID="42"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1000"/>
                                        <p:tgtEl>
                                          <p:spTgt spid="3"/>
                                        </p:tgtEl>
                                      </p:cBhvr>
                                    </p:animEffect>
                                    <p:anim calcmode="lin" valueType="num">
                                      <p:cBhvr>
                                        <p:cTn id="16" dur="1000" fill="hold"/>
                                        <p:tgtEl>
                                          <p:spTgt spid="3"/>
                                        </p:tgtEl>
                                        <p:attrNameLst>
                                          <p:attrName>ppt_x</p:attrName>
                                        </p:attrNameLst>
                                      </p:cBhvr>
                                      <p:tavLst>
                                        <p:tav tm="0">
                                          <p:val>
                                            <p:strVal val="#ppt_x"/>
                                          </p:val>
                                        </p:tav>
                                        <p:tav tm="100000">
                                          <p:val>
                                            <p:strVal val="#ppt_x"/>
                                          </p:val>
                                        </p:tav>
                                      </p:tavLst>
                                    </p:anim>
                                    <p:anim calcmode="lin" valueType="num">
                                      <p:cBhvr>
                                        <p:cTn id="17"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3"/>
          <p:cNvSpPr>
            <a:spLocks noGrp="1" noRot="1" noChangeArrowheads="1"/>
          </p:cNvSpPr>
          <p:nvPr>
            <p:ph idx="1"/>
          </p:nvPr>
        </p:nvSpPr>
        <p:spPr>
          <a:xfrm>
            <a:off x="637540" y="755015"/>
            <a:ext cx="7987665" cy="3998595"/>
          </a:xfrm>
        </p:spPr>
        <p:txBody>
          <a:bodyPr>
            <a:normAutofit fontScale="72500"/>
          </a:bodyPr>
          <a:lstStyle/>
          <a:p>
            <a:pPr eaLnBrk="1" hangingPunct="1">
              <a:lnSpc>
                <a:spcPct val="90000"/>
              </a:lnSpc>
              <a:buClr>
                <a:srgbClr val="0066CC"/>
              </a:buClr>
              <a:buFont typeface="Wingdings" panose="05000000000000000000" pitchFamily="2" charset="2"/>
              <a:buNone/>
            </a:pPr>
            <a:r>
              <a:rPr lang="en-US" altLang="zh-CN" sz="1800" dirty="0">
                <a:latin typeface="仿宋_GB2312" panose="02010609030101010101" pitchFamily="49" charset="-122"/>
                <a:ea typeface="仿宋_GB2312" panose="02010609030101010101" pitchFamily="49" charset="-122"/>
                <a:cs typeface="仿宋_GB2312" panose="02010609030101010101" pitchFamily="49" charset="-122"/>
              </a:rPr>
              <a:t>传达性通知</a:t>
            </a:r>
            <a:endParaRPr lang="en-US" altLang="zh-CN" sz="1800" dirty="0">
              <a:latin typeface="仿宋_GB2312" panose="02010609030101010101" pitchFamily="49" charset="-122"/>
              <a:ea typeface="仿宋_GB2312" panose="02010609030101010101" pitchFamily="49" charset="-122"/>
              <a:cs typeface="仿宋_GB2312" panose="02010609030101010101" pitchFamily="49" charset="-122"/>
            </a:endParaRPr>
          </a:p>
          <a:p>
            <a:pPr marL="0" indent="0" eaLnBrk="1" hangingPunct="1">
              <a:lnSpc>
                <a:spcPct val="80000"/>
              </a:lnSpc>
              <a:buNone/>
            </a:pPr>
            <a:r>
              <a:rPr lang="en-US" altLang="zh-CN" sz="1800" dirty="0">
                <a:latin typeface="仿宋_GB2312" panose="02010609030101010101" pitchFamily="49" charset="-122"/>
                <a:ea typeface="仿宋_GB2312" panose="02010609030101010101" pitchFamily="49" charset="-122"/>
                <a:cs typeface="仿宋_GB2312" panose="02010609030101010101" pitchFamily="49" charset="-122"/>
              </a:rPr>
              <a:t>这种通知带有指示性、规定性，多用于上下级之间，职能部门与有关部门之间。对通知中的有关精神，必须遵照办理、贯彻执行。在写法上，一般是先交代问题的来龙去脉，再讲有关指示、意见、规定等，最后谈希望或要求。</a:t>
            </a:r>
            <a:endParaRPr lang="en-US" altLang="zh-CN" sz="1800" dirty="0">
              <a:latin typeface="仿宋_GB2312" panose="02010609030101010101" pitchFamily="49" charset="-122"/>
              <a:ea typeface="仿宋_GB2312" panose="02010609030101010101" pitchFamily="49" charset="-122"/>
              <a:cs typeface="仿宋_GB2312" panose="02010609030101010101" pitchFamily="49" charset="-122"/>
            </a:endParaRPr>
          </a:p>
          <a:p>
            <a:pPr eaLnBrk="1" hangingPunct="1">
              <a:lnSpc>
                <a:spcPct val="80000"/>
              </a:lnSpc>
              <a:buFont typeface="Wingdings" panose="05000000000000000000" pitchFamily="2" charset="2"/>
              <a:buNone/>
            </a:pPr>
            <a:r>
              <a:rPr lang="en-US" altLang="zh-CN" sz="1800" dirty="0">
                <a:latin typeface="仿宋_GB2312" panose="02010609030101010101" pitchFamily="49" charset="-122"/>
                <a:ea typeface="仿宋_GB2312" panose="02010609030101010101" pitchFamily="49" charset="-122"/>
                <a:cs typeface="仿宋_GB2312" panose="02010609030101010101" pitchFamily="49" charset="-122"/>
              </a:rPr>
              <a:t> 【例文】</a:t>
            </a:r>
            <a:endParaRPr lang="en-US" altLang="zh-CN" sz="1800" dirty="0">
              <a:latin typeface="仿宋_GB2312" panose="02010609030101010101" pitchFamily="49" charset="-122"/>
              <a:ea typeface="仿宋_GB2312" panose="02010609030101010101" pitchFamily="49" charset="-122"/>
              <a:cs typeface="仿宋_GB2312" panose="02010609030101010101" pitchFamily="49" charset="-122"/>
            </a:endParaRPr>
          </a:p>
          <a:p>
            <a:pPr eaLnBrk="1" hangingPunct="1">
              <a:lnSpc>
                <a:spcPct val="80000"/>
              </a:lnSpc>
              <a:buFont typeface="Wingdings" panose="05000000000000000000" pitchFamily="2" charset="2"/>
              <a:buNone/>
            </a:pPr>
            <a:r>
              <a:rPr lang="en-US" altLang="zh-CN" sz="1800" dirty="0">
                <a:latin typeface="仿宋_GB2312" panose="02010609030101010101" pitchFamily="49" charset="-122"/>
                <a:ea typeface="仿宋_GB2312" panose="02010609030101010101" pitchFamily="49" charset="-122"/>
                <a:cs typeface="仿宋_GB2312" panose="02010609030101010101" pitchFamily="49" charset="-122"/>
              </a:rPr>
              <a:t>                       农业部关于贯彻《国务院关于促进奶业持续健康发展的意见》的通知</a:t>
            </a:r>
            <a:endParaRPr lang="en-US" altLang="zh-CN" sz="1800" dirty="0">
              <a:latin typeface="仿宋_GB2312" panose="02010609030101010101" pitchFamily="49" charset="-122"/>
              <a:ea typeface="仿宋_GB2312" panose="02010609030101010101" pitchFamily="49" charset="-122"/>
              <a:cs typeface="仿宋_GB2312" panose="02010609030101010101" pitchFamily="49" charset="-122"/>
            </a:endParaRPr>
          </a:p>
          <a:p>
            <a:pPr eaLnBrk="1" hangingPunct="1">
              <a:lnSpc>
                <a:spcPct val="80000"/>
              </a:lnSpc>
              <a:buFont typeface="Wingdings" panose="05000000000000000000" pitchFamily="2" charset="2"/>
              <a:buNone/>
            </a:pPr>
            <a:r>
              <a:rPr lang="en-US" altLang="zh-CN" sz="1800" dirty="0">
                <a:latin typeface="仿宋_GB2312" panose="02010609030101010101" pitchFamily="49" charset="-122"/>
                <a:ea typeface="仿宋_GB2312" panose="02010609030101010101" pitchFamily="49" charset="-122"/>
                <a:cs typeface="仿宋_GB2312" panose="02010609030101010101" pitchFamily="49" charset="-122"/>
              </a:rPr>
              <a:t>                                                  农牧发[2007]14号</a:t>
            </a:r>
            <a:br>
              <a:rPr lang="en-US" altLang="zh-CN" sz="1800" dirty="0">
                <a:latin typeface="仿宋_GB2312" panose="02010609030101010101" pitchFamily="49" charset="-122"/>
                <a:ea typeface="仿宋_GB2312" panose="02010609030101010101" pitchFamily="49" charset="-122"/>
                <a:cs typeface="仿宋_GB2312" panose="02010609030101010101" pitchFamily="49" charset="-122"/>
              </a:rPr>
            </a:br>
            <a:r>
              <a:rPr lang="en-US" altLang="zh-CN" sz="1800" dirty="0">
                <a:latin typeface="仿宋_GB2312" panose="02010609030101010101" pitchFamily="49" charset="-122"/>
                <a:ea typeface="仿宋_GB2312" panose="02010609030101010101" pitchFamily="49" charset="-122"/>
                <a:cs typeface="仿宋_GB2312" panose="02010609030101010101" pitchFamily="49" charset="-122"/>
              </a:rPr>
              <a:t>　　近日，国务院下发了《关于促进奶业持续健康发展的意见》（国发[2007]31号，以下简称《意见》），对促进奶业持续健康发展提出明确要求，作出重大部署。《意见》立足当前奶牛养殖面临的突出问题，加大对奶业发展的扶持力度，恢复养殖信心，稳定奶牛存栏；着眼奶业长远发展，建立奶业持续健康发展的长效机制，推进奶牛生产方式转变，全面提升奶业的综合生产能力。各级畜牧兽医部门要从全局和战略的高度，充分认识促进奶业持续健康发展的重大意义，积极采取有效措施，切实把稳定奶业发展工作抓紧抓实抓好。现将有关事项通知如下：</a:t>
            </a:r>
            <a:br>
              <a:rPr lang="en-US" altLang="zh-CN" sz="1800" dirty="0">
                <a:latin typeface="仿宋_GB2312" panose="02010609030101010101" pitchFamily="49" charset="-122"/>
                <a:ea typeface="仿宋_GB2312" panose="02010609030101010101" pitchFamily="49" charset="-122"/>
                <a:cs typeface="仿宋_GB2312" panose="02010609030101010101" pitchFamily="49" charset="-122"/>
              </a:rPr>
            </a:br>
            <a:r>
              <a:rPr lang="en-US" altLang="zh-CN" sz="1800" dirty="0">
                <a:latin typeface="仿宋_GB2312" panose="02010609030101010101" pitchFamily="49" charset="-122"/>
                <a:ea typeface="仿宋_GB2312" panose="02010609030101010101" pitchFamily="49" charset="-122"/>
                <a:cs typeface="仿宋_GB2312" panose="02010609030101010101" pitchFamily="49" charset="-122"/>
              </a:rPr>
              <a:t>　　一、抓紧贯彻落实各项扶持政策</a:t>
            </a:r>
            <a:br>
              <a:rPr lang="en-US" altLang="zh-CN" sz="1800" dirty="0">
                <a:latin typeface="仿宋_GB2312" panose="02010609030101010101" pitchFamily="49" charset="-122"/>
                <a:ea typeface="仿宋_GB2312" panose="02010609030101010101" pitchFamily="49" charset="-122"/>
                <a:cs typeface="仿宋_GB2312" panose="02010609030101010101" pitchFamily="49" charset="-122"/>
              </a:rPr>
            </a:br>
            <a:r>
              <a:rPr lang="en-US" altLang="zh-CN" sz="1800" dirty="0">
                <a:latin typeface="仿宋_GB2312" panose="02010609030101010101" pitchFamily="49" charset="-122"/>
                <a:ea typeface="仿宋_GB2312" panose="02010609030101010101" pitchFamily="49" charset="-122"/>
                <a:cs typeface="仿宋_GB2312" panose="02010609030101010101" pitchFamily="49" charset="-122"/>
              </a:rPr>
              <a:t>　　　　……</a:t>
            </a:r>
            <a:endParaRPr lang="en-US" altLang="zh-CN" sz="1800" dirty="0">
              <a:latin typeface="仿宋_GB2312" panose="02010609030101010101" pitchFamily="49" charset="-122"/>
              <a:ea typeface="仿宋_GB2312" panose="02010609030101010101" pitchFamily="49" charset="-122"/>
              <a:cs typeface="仿宋_GB2312" panose="02010609030101010101" pitchFamily="49" charset="-122"/>
            </a:endParaRPr>
          </a:p>
          <a:p>
            <a:pPr eaLnBrk="1" hangingPunct="1">
              <a:lnSpc>
                <a:spcPct val="80000"/>
              </a:lnSpc>
              <a:buFont typeface="Wingdings" panose="05000000000000000000" pitchFamily="2" charset="2"/>
              <a:buNone/>
            </a:pPr>
            <a:r>
              <a:rPr lang="en-US" altLang="zh-CN" sz="1800" dirty="0">
                <a:latin typeface="仿宋_GB2312" panose="02010609030101010101" pitchFamily="49" charset="-122"/>
                <a:ea typeface="仿宋_GB2312" panose="02010609030101010101" pitchFamily="49" charset="-122"/>
                <a:cs typeface="仿宋_GB2312" panose="02010609030101010101" pitchFamily="49" charset="-122"/>
              </a:rPr>
              <a:t>         八、开拓奶制品消费市场</a:t>
            </a:r>
            <a:br>
              <a:rPr lang="en-US" altLang="zh-CN" sz="1800" dirty="0">
                <a:latin typeface="仿宋_GB2312" panose="02010609030101010101" pitchFamily="49" charset="-122"/>
                <a:ea typeface="仿宋_GB2312" panose="02010609030101010101" pitchFamily="49" charset="-122"/>
                <a:cs typeface="仿宋_GB2312" panose="02010609030101010101" pitchFamily="49" charset="-122"/>
              </a:rPr>
            </a:br>
            <a:r>
              <a:rPr lang="en-US" altLang="zh-CN" sz="1800" dirty="0">
                <a:latin typeface="仿宋_GB2312" panose="02010609030101010101" pitchFamily="49" charset="-122"/>
                <a:ea typeface="仿宋_GB2312" panose="02010609030101010101" pitchFamily="49" charset="-122"/>
                <a:cs typeface="仿宋_GB2312" panose="02010609030101010101" pitchFamily="49" charset="-122"/>
              </a:rPr>
              <a:t>　　当前我国奶业正处在调整转型的关键时期。各级畜牧兽医部门要把工作中心转移到稳定奶业发展上来，要在当地政府的领导下，加强与各有关部门的沟通与协作，建立严格的稳定奶业发展工作责任制，细化工作方案，强化工作措施，切实落实好《意见》稳定奶业发展的各项政策措施，确保奶农尽快得到政策实惠，稳步推进奶业的持续健康发展。　　                                                                                   　　　　　　　　　　　　　　　　　　　　　　　　</a:t>
            </a:r>
            <a:endParaRPr lang="en-US" altLang="zh-CN" sz="1800" dirty="0">
              <a:latin typeface="仿宋_GB2312" panose="02010609030101010101" pitchFamily="49" charset="-122"/>
              <a:ea typeface="仿宋_GB2312" panose="02010609030101010101" pitchFamily="49" charset="-122"/>
              <a:cs typeface="仿宋_GB2312" panose="02010609030101010101" pitchFamily="49" charset="-122"/>
            </a:endParaRPr>
          </a:p>
          <a:p>
            <a:pPr eaLnBrk="1" hangingPunct="1">
              <a:lnSpc>
                <a:spcPct val="80000"/>
              </a:lnSpc>
              <a:buFont typeface="Wingdings" panose="05000000000000000000" pitchFamily="2" charset="2"/>
              <a:buNone/>
            </a:pPr>
            <a:r>
              <a:rPr lang="en-US" altLang="zh-CN" sz="1800" dirty="0">
                <a:latin typeface="仿宋_GB2312" panose="02010609030101010101" pitchFamily="49" charset="-122"/>
                <a:ea typeface="仿宋_GB2312" panose="02010609030101010101" pitchFamily="49" charset="-122"/>
                <a:cs typeface="仿宋_GB2312" panose="02010609030101010101" pitchFamily="49" charset="-122"/>
              </a:rPr>
              <a:t>                                                                   </a:t>
            </a:r>
            <a:r>
              <a:rPr lang="en-US" altLang="zh-CN" sz="1800" dirty="0">
                <a:latin typeface="仿宋_GB2312" panose="02010609030101010101" pitchFamily="49" charset="-122"/>
                <a:ea typeface="仿宋_GB2312" panose="02010609030101010101" pitchFamily="49" charset="-122"/>
                <a:cs typeface="仿宋_GB2312" panose="02010609030101010101" pitchFamily="49" charset="-122"/>
                <a:sym typeface="+mn-ea"/>
              </a:rPr>
              <a:t>农业部</a:t>
            </a:r>
            <a:endParaRPr lang="en-US" altLang="zh-CN" sz="1800" dirty="0">
              <a:latin typeface="仿宋_GB2312" panose="02010609030101010101" pitchFamily="49" charset="-122"/>
              <a:ea typeface="仿宋_GB2312" panose="02010609030101010101" pitchFamily="49" charset="-122"/>
              <a:cs typeface="仿宋_GB2312" panose="02010609030101010101" pitchFamily="49" charset="-122"/>
              <a:sym typeface="+mn-ea"/>
            </a:endParaRPr>
          </a:p>
          <a:p>
            <a:pPr eaLnBrk="1" hangingPunct="1">
              <a:lnSpc>
                <a:spcPct val="80000"/>
              </a:lnSpc>
              <a:buFont typeface="Wingdings" panose="05000000000000000000" pitchFamily="2" charset="2"/>
              <a:buNone/>
            </a:pPr>
            <a:r>
              <a:rPr lang="en-US" altLang="zh-CN" sz="1800" dirty="0">
                <a:latin typeface="仿宋_GB2312" panose="02010609030101010101" pitchFamily="49" charset="-122"/>
                <a:ea typeface="仿宋_GB2312" panose="02010609030101010101" pitchFamily="49" charset="-122"/>
                <a:cs typeface="仿宋_GB2312" panose="02010609030101010101" pitchFamily="49" charset="-122"/>
                <a:sym typeface="+mn-ea"/>
              </a:rPr>
              <a:t>                                                             </a:t>
            </a:r>
            <a:r>
              <a:rPr lang="en-US" altLang="zh-CN" sz="1800" dirty="0">
                <a:latin typeface="仿宋_GB2312" panose="02010609030101010101" pitchFamily="49" charset="-122"/>
                <a:ea typeface="仿宋_GB2312" panose="02010609030101010101" pitchFamily="49" charset="-122"/>
                <a:cs typeface="仿宋_GB2312" panose="02010609030101010101" pitchFamily="49" charset="-122"/>
              </a:rPr>
              <a:t> 二○○七年九月三十日</a:t>
            </a:r>
            <a:endParaRPr lang="en-US" altLang="zh-CN" sz="1800" dirty="0">
              <a:latin typeface="仿宋_GB2312" panose="02010609030101010101" pitchFamily="49" charset="-122"/>
              <a:ea typeface="仿宋_GB2312" panose="02010609030101010101" pitchFamily="49" charset="-122"/>
              <a:cs typeface="仿宋_GB2312" panose="02010609030101010101" pitchFamily="49" charset="-122"/>
            </a:endParaRPr>
          </a:p>
        </p:txBody>
      </p:sp>
      <p:pic>
        <p:nvPicPr>
          <p:cNvPr id="13" name="图片 12" descr="E:\曹飞\2017\2017-8-8地铁PPT\7.png7"/>
          <p:cNvPicPr>
            <a:picLocks noChangeAspect="1"/>
          </p:cNvPicPr>
          <p:nvPr/>
        </p:nvPicPr>
        <p:blipFill>
          <a:blip r:embed="rId1" cstate="email"/>
          <a:srcRect/>
          <a:stretch>
            <a:fillRect/>
          </a:stretch>
        </p:blipFill>
        <p:spPr>
          <a:xfrm>
            <a:off x="-6667" y="4477465"/>
            <a:ext cx="9168289" cy="668179"/>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pic>
        <p:nvPicPr>
          <p:cNvPr id="9" name="图片 8"/>
          <p:cNvPicPr>
            <a:picLocks noChangeAspect="1"/>
          </p:cNvPicPr>
          <p:nvPr/>
        </p:nvPicPr>
        <p:blipFill>
          <a:blip r:embed="rId2"/>
          <a:stretch>
            <a:fillRect/>
          </a:stretch>
        </p:blipFill>
        <p:spPr>
          <a:xfrm>
            <a:off x="575945" y="297180"/>
            <a:ext cx="1685925" cy="419100"/>
          </a:xfrm>
          <a:prstGeom prst="rect">
            <a:avLst/>
          </a:prstGeom>
        </p:spPr>
      </p:pic>
      <p:pic>
        <p:nvPicPr>
          <p:cNvPr id="8" name="图片 7" descr="E:\曹飞\2017\2017-8-8地铁PPT\6.png6"/>
          <p:cNvPicPr>
            <a:picLocks noChangeAspect="1"/>
          </p:cNvPicPr>
          <p:nvPr/>
        </p:nvPicPr>
        <p:blipFill>
          <a:blip r:embed="rId3" cstate="email"/>
          <a:srcRect/>
          <a:stretch>
            <a:fillRect/>
          </a:stretch>
        </p:blipFill>
        <p:spPr>
          <a:xfrm>
            <a:off x="2261712" y="230427"/>
            <a:ext cx="6463189" cy="34337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par>
                                <p:cTn id="10" presetID="12" presetClass="entr" presetSubtype="8" fill="hold" grpId="1" nodeType="withEffect">
                                  <p:stCondLst>
                                    <p:cond delay="0"/>
                                  </p:stCondLst>
                                  <p:childTnLst>
                                    <p:set>
                                      <p:cBhvr>
                                        <p:cTn id="11" dur="1" fill="hold">
                                          <p:stCondLst>
                                            <p:cond delay="0"/>
                                          </p:stCondLst>
                                        </p:cTn>
                                        <p:tgtEl>
                                          <p:spTgt spid="14"/>
                                        </p:tgtEl>
                                        <p:attrNameLst>
                                          <p:attrName>style.visibility</p:attrName>
                                        </p:attrNameLst>
                                      </p:cBhvr>
                                      <p:to>
                                        <p:strVal val="visible"/>
                                      </p:to>
                                    </p:set>
                                    <p:anim calcmode="lin" valueType="num">
                                      <p:cBhvr additive="base">
                                        <p:cTn id="12" dur="250"/>
                                        <p:tgtEl>
                                          <p:spTgt spid="14"/>
                                        </p:tgtEl>
                                        <p:attrNameLst>
                                          <p:attrName>ppt_x</p:attrName>
                                        </p:attrNameLst>
                                      </p:cBhvr>
                                      <p:tavLst>
                                        <p:tav tm="0">
                                          <p:val>
                                            <p:strVal val="#ppt_x-#ppt_w*1.125000"/>
                                          </p:val>
                                        </p:tav>
                                        <p:tav tm="100000">
                                          <p:val>
                                            <p:strVal val="#ppt_x"/>
                                          </p:val>
                                        </p:tav>
                                      </p:tavLst>
                                    </p:anim>
                                    <p:animEffect transition="in" filter="wipe(right)">
                                      <p:cBhvr>
                                        <p:cTn id="13" dur="250"/>
                                        <p:tgtEl>
                                          <p:spTgt spid="14"/>
                                        </p:tgtEl>
                                      </p:cBhvr>
                                    </p:animEffect>
                                  </p:childTnLst>
                                </p:cTn>
                              </p:par>
                              <p:par>
                                <p:cTn id="14" presetID="12" presetClass="entr" presetSubtype="8"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 calcmode="lin" valueType="num">
                                      <p:cBhvr additive="base">
                                        <p:cTn id="16" dur="500"/>
                                        <p:tgtEl>
                                          <p:spTgt spid="8"/>
                                        </p:tgtEl>
                                        <p:attrNameLst>
                                          <p:attrName>ppt_x</p:attrName>
                                        </p:attrNameLst>
                                      </p:cBhvr>
                                      <p:tavLst>
                                        <p:tav tm="0">
                                          <p:val>
                                            <p:strVal val="#ppt_x-#ppt_w*1.125000"/>
                                          </p:val>
                                        </p:tav>
                                        <p:tav tm="100000">
                                          <p:val>
                                            <p:strVal val="#ppt_x"/>
                                          </p:val>
                                        </p:tav>
                                      </p:tavLst>
                                    </p:anim>
                                    <p:animEffect transition="in" filter="wipe(right)">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3"/>
          <p:cNvSpPr>
            <a:spLocks noGrp="1" noRot="1" noChangeArrowheads="1"/>
          </p:cNvSpPr>
          <p:nvPr>
            <p:ph idx="1"/>
          </p:nvPr>
        </p:nvSpPr>
        <p:spPr>
          <a:xfrm>
            <a:off x="575945" y="838200"/>
            <a:ext cx="8289925" cy="3780790"/>
          </a:xfrm>
        </p:spPr>
        <p:txBody>
          <a:bodyPr>
            <a:normAutofit fontScale="82500"/>
          </a:bodyPr>
          <a:lstStyle/>
          <a:p>
            <a:pPr eaLnBrk="1" hangingPunct="1">
              <a:lnSpc>
                <a:spcPct val="90000"/>
              </a:lnSpc>
              <a:buClr>
                <a:srgbClr val="0066CC"/>
              </a:buClr>
              <a:buFont typeface="Wingdings" panose="05000000000000000000" pitchFamily="2" charset="2"/>
              <a:buNone/>
            </a:pPr>
            <a:r>
              <a:rPr lang="en-US" altLang="zh-CN" sz="1800" dirty="0">
                <a:latin typeface="仿宋_GB2312" panose="02010609030101010101" pitchFamily="49" charset="-122"/>
                <a:ea typeface="仿宋_GB2312" panose="02010609030101010101" pitchFamily="49" charset="-122"/>
                <a:cs typeface="仿宋_GB2312" panose="02010609030101010101" pitchFamily="49" charset="-122"/>
              </a:rPr>
              <a:t>转发性通知</a:t>
            </a:r>
            <a:endParaRPr lang="en-US" altLang="zh-CN" sz="1800" dirty="0">
              <a:latin typeface="仿宋_GB2312" panose="02010609030101010101" pitchFamily="49" charset="-122"/>
              <a:ea typeface="仿宋_GB2312" panose="02010609030101010101" pitchFamily="49" charset="-122"/>
              <a:cs typeface="仿宋_GB2312" panose="02010609030101010101" pitchFamily="49" charset="-122"/>
            </a:endParaRPr>
          </a:p>
          <a:p>
            <a:pPr marL="0" indent="0" eaLnBrk="1" hangingPunct="1">
              <a:lnSpc>
                <a:spcPct val="80000"/>
              </a:lnSpc>
              <a:buNone/>
            </a:pPr>
            <a:r>
              <a:rPr lang="en-US" altLang="zh-CN" sz="1800" dirty="0">
                <a:latin typeface="仿宋_GB2312" panose="02010609030101010101" pitchFamily="49" charset="-122"/>
                <a:ea typeface="仿宋_GB2312" panose="02010609030101010101" pitchFamily="49" charset="-122"/>
                <a:cs typeface="仿宋_GB2312" panose="02010609030101010101" pitchFamily="49" charset="-122"/>
              </a:rPr>
              <a:t>     上级或同级的来文要传达到下属单位贯彻执行，需要用通知的形式，这种通知叫转发型通知。其写法一般有二种：其一是照转照发。其二是除转发文件以外，再根据本地区、本部门的具体情况，提出一些具体要求和希望。</a:t>
            </a:r>
            <a:endParaRPr lang="en-US" altLang="zh-CN" sz="1800" dirty="0">
              <a:latin typeface="仿宋_GB2312" panose="02010609030101010101" pitchFamily="49" charset="-122"/>
              <a:ea typeface="仿宋_GB2312" panose="02010609030101010101" pitchFamily="49" charset="-122"/>
              <a:cs typeface="仿宋_GB2312" panose="02010609030101010101" pitchFamily="49" charset="-122"/>
            </a:endParaRPr>
          </a:p>
          <a:p>
            <a:pPr eaLnBrk="1" hangingPunct="1">
              <a:lnSpc>
                <a:spcPct val="80000"/>
              </a:lnSpc>
              <a:buFont typeface="Wingdings" panose="05000000000000000000" pitchFamily="2" charset="2"/>
              <a:buNone/>
            </a:pPr>
            <a:endParaRPr lang="en-US" altLang="zh-CN" sz="1800" dirty="0">
              <a:latin typeface="仿宋_GB2312" panose="02010609030101010101" pitchFamily="49" charset="-122"/>
              <a:ea typeface="仿宋_GB2312" panose="02010609030101010101" pitchFamily="49" charset="-122"/>
              <a:cs typeface="仿宋_GB2312" panose="02010609030101010101" pitchFamily="49" charset="-122"/>
            </a:endParaRPr>
          </a:p>
          <a:p>
            <a:pPr eaLnBrk="1" hangingPunct="1">
              <a:lnSpc>
                <a:spcPct val="80000"/>
              </a:lnSpc>
              <a:buFont typeface="Wingdings" panose="05000000000000000000" pitchFamily="2" charset="2"/>
              <a:buNone/>
            </a:pPr>
            <a:r>
              <a:rPr lang="en-US" altLang="zh-CN" sz="1800" dirty="0">
                <a:latin typeface="仿宋_GB2312" panose="02010609030101010101" pitchFamily="49" charset="-122"/>
                <a:ea typeface="仿宋_GB2312" panose="02010609030101010101" pitchFamily="49" charset="-122"/>
                <a:cs typeface="仿宋_GB2312" panose="02010609030101010101" pitchFamily="49" charset="-122"/>
              </a:rPr>
              <a:t>【例文】转发性通知 </a:t>
            </a:r>
            <a:endParaRPr lang="en-US" altLang="zh-CN" sz="1800" dirty="0">
              <a:latin typeface="仿宋_GB2312" panose="02010609030101010101" pitchFamily="49" charset="-122"/>
              <a:ea typeface="仿宋_GB2312" panose="02010609030101010101" pitchFamily="49" charset="-122"/>
              <a:cs typeface="仿宋_GB2312" panose="02010609030101010101" pitchFamily="49" charset="-122"/>
            </a:endParaRPr>
          </a:p>
          <a:p>
            <a:pPr eaLnBrk="1" hangingPunct="1">
              <a:lnSpc>
                <a:spcPct val="80000"/>
              </a:lnSpc>
              <a:buFont typeface="Wingdings" panose="05000000000000000000" pitchFamily="2" charset="2"/>
              <a:buNone/>
            </a:pPr>
            <a:endParaRPr lang="en-US" altLang="zh-CN" sz="1800" dirty="0">
              <a:latin typeface="仿宋_GB2312" panose="02010609030101010101" pitchFamily="49" charset="-122"/>
              <a:ea typeface="仿宋_GB2312" panose="02010609030101010101" pitchFamily="49" charset="-122"/>
              <a:cs typeface="仿宋_GB2312" panose="02010609030101010101" pitchFamily="49" charset="-122"/>
            </a:endParaRPr>
          </a:p>
          <a:p>
            <a:pPr algn="ctr" eaLnBrk="1" hangingPunct="1">
              <a:lnSpc>
                <a:spcPct val="80000"/>
              </a:lnSpc>
              <a:buFont typeface="Wingdings" panose="05000000000000000000" pitchFamily="2" charset="2"/>
              <a:buNone/>
            </a:pPr>
            <a:r>
              <a:rPr lang="en-US" altLang="zh-CN" sz="1800" dirty="0">
                <a:latin typeface="仿宋_GB2312" panose="02010609030101010101" pitchFamily="49" charset="-122"/>
                <a:ea typeface="仿宋_GB2312" panose="02010609030101010101" pitchFamily="49" charset="-122"/>
                <a:cs typeface="仿宋_GB2312" panose="02010609030101010101" pitchFamily="49" charset="-122"/>
              </a:rPr>
              <a:t>××省人民政府办公厅转发《国务院办公厅关于禁止非法买卖人民币的通知的通知》 　　</a:t>
            </a:r>
            <a:endParaRPr lang="en-US" altLang="zh-CN" sz="1800" dirty="0">
              <a:latin typeface="仿宋_GB2312" panose="02010609030101010101" pitchFamily="49" charset="-122"/>
              <a:ea typeface="仿宋_GB2312" panose="02010609030101010101" pitchFamily="49" charset="-122"/>
              <a:cs typeface="仿宋_GB2312" panose="02010609030101010101" pitchFamily="49" charset="-122"/>
            </a:endParaRPr>
          </a:p>
          <a:p>
            <a:pPr algn="l" eaLnBrk="1" hangingPunct="1">
              <a:lnSpc>
                <a:spcPct val="80000"/>
              </a:lnSpc>
              <a:buFont typeface="Wingdings" panose="05000000000000000000" pitchFamily="2" charset="2"/>
              <a:buNone/>
            </a:pPr>
            <a:r>
              <a:rPr lang="en-US" altLang="zh-CN" sz="1800" dirty="0">
                <a:latin typeface="仿宋_GB2312" panose="02010609030101010101" pitchFamily="49" charset="-122"/>
                <a:ea typeface="仿宋_GB2312" panose="02010609030101010101" pitchFamily="49" charset="-122"/>
                <a:cs typeface="仿宋_GB2312" panose="02010609030101010101" pitchFamily="49" charset="-122"/>
              </a:rPr>
              <a:t>各市县（区）人民政府，省人民政府各工作部门、各直属机构：</a:t>
            </a:r>
            <a:endParaRPr lang="en-US" altLang="zh-CN" sz="1800" dirty="0">
              <a:latin typeface="仿宋_GB2312" panose="02010609030101010101" pitchFamily="49" charset="-122"/>
              <a:ea typeface="仿宋_GB2312" panose="02010609030101010101" pitchFamily="49" charset="-122"/>
              <a:cs typeface="仿宋_GB2312" panose="02010609030101010101" pitchFamily="49" charset="-122"/>
            </a:endParaRPr>
          </a:p>
          <a:p>
            <a:pPr eaLnBrk="1" hangingPunct="1">
              <a:lnSpc>
                <a:spcPct val="80000"/>
              </a:lnSpc>
              <a:buFont typeface="Wingdings" panose="05000000000000000000" pitchFamily="2" charset="2"/>
              <a:buNone/>
            </a:pPr>
            <a:r>
              <a:rPr lang="en-US" altLang="zh-CN" sz="1800" dirty="0">
                <a:latin typeface="仿宋_GB2312" panose="02010609030101010101" pitchFamily="49" charset="-122"/>
                <a:ea typeface="仿宋_GB2312" panose="02010609030101010101" pitchFamily="49" charset="-122"/>
                <a:cs typeface="仿宋_GB2312" panose="02010609030101010101" pitchFamily="49" charset="-122"/>
              </a:rPr>
              <a:t> 　　 </a:t>
            </a:r>
            <a:br>
              <a:rPr lang="en-US" altLang="zh-CN" sz="1800" dirty="0">
                <a:latin typeface="仿宋_GB2312" panose="02010609030101010101" pitchFamily="49" charset="-122"/>
                <a:ea typeface="仿宋_GB2312" panose="02010609030101010101" pitchFamily="49" charset="-122"/>
                <a:cs typeface="仿宋_GB2312" panose="02010609030101010101" pitchFamily="49" charset="-122"/>
              </a:rPr>
            </a:br>
            <a:r>
              <a:rPr lang="en-US" altLang="zh-CN" sz="1800" dirty="0">
                <a:latin typeface="仿宋_GB2312" panose="02010609030101010101" pitchFamily="49" charset="-122"/>
                <a:ea typeface="仿宋_GB2312" panose="02010609030101010101" pitchFamily="49" charset="-122"/>
                <a:cs typeface="仿宋_GB2312" panose="02010609030101010101" pitchFamily="49" charset="-122"/>
              </a:rPr>
              <a:t>　　 现将《国务院办公厅关于禁止非法买卖人民币的通知》（国办发明电〔2005〕28号）转发给你们，请认真遵照执行。</a:t>
            </a:r>
            <a:endParaRPr lang="en-US" altLang="zh-CN" sz="1800" dirty="0">
              <a:latin typeface="仿宋_GB2312" panose="02010609030101010101" pitchFamily="49" charset="-122"/>
              <a:ea typeface="仿宋_GB2312" panose="02010609030101010101" pitchFamily="49" charset="-122"/>
              <a:cs typeface="仿宋_GB2312" panose="02010609030101010101" pitchFamily="49" charset="-122"/>
            </a:endParaRPr>
          </a:p>
          <a:p>
            <a:pPr eaLnBrk="1" hangingPunct="1">
              <a:lnSpc>
                <a:spcPct val="80000"/>
              </a:lnSpc>
              <a:buFont typeface="Wingdings" panose="05000000000000000000" pitchFamily="2" charset="2"/>
              <a:buNone/>
            </a:pPr>
            <a:endParaRPr lang="en-US" altLang="zh-CN" sz="1800" dirty="0">
              <a:latin typeface="仿宋_GB2312" panose="02010609030101010101" pitchFamily="49" charset="-122"/>
              <a:ea typeface="仿宋_GB2312" panose="02010609030101010101" pitchFamily="49" charset="-122"/>
              <a:cs typeface="仿宋_GB2312" panose="02010609030101010101" pitchFamily="49" charset="-122"/>
            </a:endParaRPr>
          </a:p>
          <a:p>
            <a:pPr eaLnBrk="1" hangingPunct="1">
              <a:lnSpc>
                <a:spcPct val="80000"/>
              </a:lnSpc>
              <a:buFont typeface="Wingdings" panose="05000000000000000000" pitchFamily="2" charset="2"/>
              <a:buNone/>
            </a:pPr>
            <a:r>
              <a:rPr lang="en-US" altLang="zh-CN" sz="1800" dirty="0">
                <a:latin typeface="仿宋_GB2312" panose="02010609030101010101" pitchFamily="49" charset="-122"/>
                <a:ea typeface="仿宋_GB2312" panose="02010609030101010101" pitchFamily="49" charset="-122"/>
                <a:cs typeface="仿宋_GB2312" panose="02010609030101010101" pitchFamily="49" charset="-122"/>
              </a:rPr>
              <a:t> 　　 </a:t>
            </a:r>
            <a:br>
              <a:rPr lang="en-US" altLang="zh-CN" sz="1800" dirty="0">
                <a:latin typeface="仿宋_GB2312" panose="02010609030101010101" pitchFamily="49" charset="-122"/>
                <a:ea typeface="仿宋_GB2312" panose="02010609030101010101" pitchFamily="49" charset="-122"/>
                <a:cs typeface="仿宋_GB2312" panose="02010609030101010101" pitchFamily="49" charset="-122"/>
              </a:rPr>
            </a:br>
            <a:r>
              <a:rPr lang="en-US" altLang="zh-CN" sz="1800" dirty="0">
                <a:latin typeface="仿宋_GB2312" panose="02010609030101010101" pitchFamily="49" charset="-122"/>
                <a:ea typeface="仿宋_GB2312" panose="02010609030101010101" pitchFamily="49" charset="-122"/>
                <a:cs typeface="仿宋_GB2312" panose="02010609030101010101" pitchFamily="49" charset="-122"/>
              </a:rPr>
              <a:t>　　                                               XXXX</a:t>
            </a:r>
            <a:endParaRPr lang="en-US" altLang="zh-CN" sz="1800" dirty="0">
              <a:latin typeface="仿宋_GB2312" panose="02010609030101010101" pitchFamily="49" charset="-122"/>
              <a:ea typeface="仿宋_GB2312" panose="02010609030101010101" pitchFamily="49" charset="-122"/>
              <a:cs typeface="仿宋_GB2312" panose="02010609030101010101" pitchFamily="49" charset="-122"/>
            </a:endParaRPr>
          </a:p>
          <a:p>
            <a:pPr eaLnBrk="1" hangingPunct="1">
              <a:lnSpc>
                <a:spcPct val="80000"/>
              </a:lnSpc>
              <a:buFont typeface="Wingdings" panose="05000000000000000000" pitchFamily="2" charset="2"/>
              <a:buNone/>
            </a:pPr>
            <a:r>
              <a:rPr lang="en-US" altLang="zh-CN" sz="1800" dirty="0">
                <a:latin typeface="仿宋_GB2312" panose="02010609030101010101" pitchFamily="49" charset="-122"/>
                <a:ea typeface="仿宋_GB2312" panose="02010609030101010101" pitchFamily="49" charset="-122"/>
                <a:cs typeface="仿宋_GB2312" panose="02010609030101010101" pitchFamily="49" charset="-122"/>
              </a:rPr>
              <a:t>                                                  XX年XX月XX日</a:t>
            </a:r>
            <a:br>
              <a:rPr lang="zh-CN" altLang="en-US" sz="1800" b="1" dirty="0" smtClean="0"/>
            </a:br>
            <a:endParaRPr lang="zh-CN" altLang="en-US" sz="1800" b="1" dirty="0" smtClean="0"/>
          </a:p>
        </p:txBody>
      </p:sp>
      <p:pic>
        <p:nvPicPr>
          <p:cNvPr id="13" name="图片 12" descr="E:\曹飞\2017\2017-8-8地铁PPT\7.png7"/>
          <p:cNvPicPr>
            <a:picLocks noChangeAspect="1"/>
          </p:cNvPicPr>
          <p:nvPr/>
        </p:nvPicPr>
        <p:blipFill>
          <a:blip r:embed="rId1" cstate="email"/>
          <a:srcRect/>
          <a:stretch>
            <a:fillRect/>
          </a:stretch>
        </p:blipFill>
        <p:spPr>
          <a:xfrm>
            <a:off x="-6667" y="4477465"/>
            <a:ext cx="9168289" cy="668179"/>
          </a:xfrm>
          <a:prstGeom prst="rect">
            <a:avLst/>
          </a:prstGeom>
        </p:spPr>
      </p:pic>
      <p:pic>
        <p:nvPicPr>
          <p:cNvPr id="8" name="图片 7" descr="E:\曹飞\2017\2017-8-8地铁PPT\6.png6"/>
          <p:cNvPicPr>
            <a:picLocks noChangeAspect="1"/>
          </p:cNvPicPr>
          <p:nvPr/>
        </p:nvPicPr>
        <p:blipFill>
          <a:blip r:embed="rId2" cstate="email"/>
          <a:srcRect/>
          <a:stretch>
            <a:fillRect/>
          </a:stretch>
        </p:blipFill>
        <p:spPr>
          <a:xfrm>
            <a:off x="2261712" y="230427"/>
            <a:ext cx="6463189" cy="343376"/>
          </a:xfrm>
          <a:prstGeom prst="rect">
            <a:avLst/>
          </a:prstGeom>
        </p:spPr>
      </p:pic>
      <p:pic>
        <p:nvPicPr>
          <p:cNvPr id="9" name="图片 8"/>
          <p:cNvPicPr>
            <a:picLocks noChangeAspect="1"/>
          </p:cNvPicPr>
          <p:nvPr/>
        </p:nvPicPr>
        <p:blipFill>
          <a:blip r:embed="rId3"/>
          <a:stretch>
            <a:fillRect/>
          </a:stretch>
        </p:blipFill>
        <p:spPr>
          <a:xfrm>
            <a:off x="575945" y="297180"/>
            <a:ext cx="1685925" cy="419100"/>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par>
                                <p:cTn id="10" presetID="12" presetClass="entr" presetSubtype="8"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p:tgtEl>
                                          <p:spTgt spid="8"/>
                                        </p:tgtEl>
                                        <p:attrNameLst>
                                          <p:attrName>ppt_x</p:attrName>
                                        </p:attrNameLst>
                                      </p:cBhvr>
                                      <p:tavLst>
                                        <p:tav tm="0">
                                          <p:val>
                                            <p:strVal val="#ppt_x-#ppt_w*1.125000"/>
                                          </p:val>
                                        </p:tav>
                                        <p:tav tm="100000">
                                          <p:val>
                                            <p:strVal val="#ppt_x"/>
                                          </p:val>
                                        </p:tav>
                                      </p:tavLst>
                                    </p:anim>
                                    <p:animEffect transition="in" filter="wipe(right)">
                                      <p:cBhvr>
                                        <p:cTn id="13" dur="500"/>
                                        <p:tgtEl>
                                          <p:spTgt spid="8"/>
                                        </p:tgtEl>
                                      </p:cBhvr>
                                    </p:animEffect>
                                  </p:childTnLst>
                                </p:cTn>
                              </p:par>
                              <p:par>
                                <p:cTn id="14" presetID="12" presetClass="entr" presetSubtype="8" fill="hold" grpId="1" nodeType="withEffect">
                                  <p:stCondLst>
                                    <p:cond delay="0"/>
                                  </p:stCondLst>
                                  <p:childTnLst>
                                    <p:set>
                                      <p:cBhvr>
                                        <p:cTn id="15" dur="1" fill="hold">
                                          <p:stCondLst>
                                            <p:cond delay="0"/>
                                          </p:stCondLst>
                                        </p:cTn>
                                        <p:tgtEl>
                                          <p:spTgt spid="14"/>
                                        </p:tgtEl>
                                        <p:attrNameLst>
                                          <p:attrName>style.visibility</p:attrName>
                                        </p:attrNameLst>
                                      </p:cBhvr>
                                      <p:to>
                                        <p:strVal val="visible"/>
                                      </p:to>
                                    </p:set>
                                    <p:anim calcmode="lin" valueType="num">
                                      <p:cBhvr additive="base">
                                        <p:cTn id="16" dur="250"/>
                                        <p:tgtEl>
                                          <p:spTgt spid="14"/>
                                        </p:tgtEl>
                                        <p:attrNameLst>
                                          <p:attrName>ppt_x</p:attrName>
                                        </p:attrNameLst>
                                      </p:cBhvr>
                                      <p:tavLst>
                                        <p:tav tm="0">
                                          <p:val>
                                            <p:strVal val="#ppt_x-#ppt_w*1.125000"/>
                                          </p:val>
                                        </p:tav>
                                        <p:tav tm="100000">
                                          <p:val>
                                            <p:strVal val="#ppt_x"/>
                                          </p:val>
                                        </p:tav>
                                      </p:tavLst>
                                    </p:anim>
                                    <p:animEffect transition="in" filter="wipe(right)">
                                      <p:cBhvr>
                                        <p:cTn id="17"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3"/>
          <p:cNvSpPr>
            <a:spLocks noGrp="1" noRot="1" noChangeArrowheads="1"/>
          </p:cNvSpPr>
          <p:nvPr>
            <p:ph idx="1"/>
          </p:nvPr>
        </p:nvSpPr>
        <p:spPr>
          <a:xfrm>
            <a:off x="426720" y="829310"/>
            <a:ext cx="8465820" cy="3647440"/>
          </a:xfrm>
        </p:spPr>
        <p:txBody>
          <a:bodyPr>
            <a:normAutofit fontScale="62500"/>
          </a:bodyPr>
          <a:lstStyle/>
          <a:p>
            <a:pPr eaLnBrk="1" hangingPunct="1">
              <a:lnSpc>
                <a:spcPct val="90000"/>
              </a:lnSpc>
              <a:buClr>
                <a:srgbClr val="0066CC"/>
              </a:buClr>
              <a:buFont typeface="Wingdings" panose="05000000000000000000" pitchFamily="2" charset="2"/>
              <a:buNone/>
            </a:pPr>
            <a:r>
              <a:rPr lang="en-US" altLang="zh-CN" sz="1800" dirty="0">
                <a:latin typeface="仿宋_GB2312" panose="02010609030101010101" pitchFamily="49" charset="-122"/>
                <a:ea typeface="仿宋_GB2312" panose="02010609030101010101" pitchFamily="49" charset="-122"/>
                <a:cs typeface="仿宋_GB2312" panose="02010609030101010101" pitchFamily="49" charset="-122"/>
              </a:rPr>
              <a:t>会议通知</a:t>
            </a:r>
            <a:endParaRPr lang="en-US" altLang="zh-CN" sz="1800" dirty="0">
              <a:latin typeface="仿宋_GB2312" panose="02010609030101010101" pitchFamily="49" charset="-122"/>
              <a:ea typeface="仿宋_GB2312" panose="02010609030101010101" pitchFamily="49" charset="-122"/>
              <a:cs typeface="仿宋_GB2312" panose="02010609030101010101" pitchFamily="49" charset="-122"/>
            </a:endParaRPr>
          </a:p>
          <a:p>
            <a:pPr marL="0" indent="0" eaLnBrk="1" hangingPunct="1">
              <a:lnSpc>
                <a:spcPct val="80000"/>
              </a:lnSpc>
              <a:buNone/>
            </a:pPr>
            <a:r>
              <a:rPr lang="en-US" altLang="zh-CN" sz="1800" dirty="0">
                <a:latin typeface="仿宋_GB2312" panose="02010609030101010101" pitchFamily="49" charset="-122"/>
                <a:ea typeface="仿宋_GB2312" panose="02010609030101010101" pitchFamily="49" charset="-122"/>
                <a:cs typeface="仿宋_GB2312" panose="02010609030101010101" pitchFamily="49" charset="-122"/>
              </a:rPr>
              <a:t>会议通知要求以极其简短的文字，写明会议名称、目的、内容（日期、时间、地点、出席对象以及对出席者的要求等）</a:t>
            </a:r>
            <a:endParaRPr lang="en-US" altLang="zh-CN" sz="1800" dirty="0">
              <a:latin typeface="仿宋_GB2312" panose="02010609030101010101" pitchFamily="49" charset="-122"/>
              <a:ea typeface="仿宋_GB2312" panose="02010609030101010101" pitchFamily="49" charset="-122"/>
              <a:cs typeface="仿宋_GB2312" panose="02010609030101010101" pitchFamily="49" charset="-122"/>
            </a:endParaRPr>
          </a:p>
          <a:p>
            <a:pPr marL="0" indent="0" algn="ctr" eaLnBrk="1" hangingPunct="1">
              <a:lnSpc>
                <a:spcPct val="80000"/>
              </a:lnSpc>
              <a:buNone/>
            </a:pPr>
            <a:br>
              <a:rPr lang="en-US" altLang="zh-CN" sz="1800" dirty="0">
                <a:latin typeface="仿宋_GB2312" panose="02010609030101010101" pitchFamily="49" charset="-122"/>
                <a:ea typeface="仿宋_GB2312" panose="02010609030101010101" pitchFamily="49" charset="-122"/>
                <a:cs typeface="仿宋_GB2312" panose="02010609030101010101" pitchFamily="49" charset="-122"/>
              </a:rPr>
            </a:br>
            <a:r>
              <a:rPr lang="en-US" altLang="zh-CN" sz="1800" dirty="0">
                <a:latin typeface="仿宋_GB2312" panose="02010609030101010101" pitchFamily="49" charset="-122"/>
                <a:ea typeface="仿宋_GB2312" panose="02010609030101010101" pitchFamily="49" charset="-122"/>
                <a:cs typeface="仿宋_GB2312" panose="02010609030101010101" pitchFamily="49" charset="-122"/>
              </a:rPr>
              <a:t>　　 </a:t>
            </a:r>
            <a:br>
              <a:rPr lang="en-US" altLang="zh-CN" sz="1800" dirty="0">
                <a:latin typeface="仿宋_GB2312" panose="02010609030101010101" pitchFamily="49" charset="-122"/>
                <a:ea typeface="仿宋_GB2312" panose="02010609030101010101" pitchFamily="49" charset="-122"/>
                <a:cs typeface="仿宋_GB2312" panose="02010609030101010101" pitchFamily="49" charset="-122"/>
              </a:rPr>
            </a:br>
            <a:r>
              <a:rPr lang="en-US" altLang="zh-CN" sz="1800" dirty="0">
                <a:latin typeface="仿宋_GB2312" panose="02010609030101010101" pitchFamily="49" charset="-122"/>
                <a:ea typeface="仿宋_GB2312" panose="02010609030101010101" pitchFamily="49" charset="-122"/>
                <a:cs typeface="仿宋_GB2312" panose="02010609030101010101" pitchFamily="49" charset="-122"/>
              </a:rPr>
              <a:t>ΧΧΧΧ关于召开ΧΧ大会的通知</a:t>
            </a:r>
            <a:endParaRPr lang="en-US" altLang="zh-CN" sz="1800" dirty="0">
              <a:latin typeface="仿宋_GB2312" panose="02010609030101010101" pitchFamily="49" charset="-122"/>
              <a:ea typeface="仿宋_GB2312" panose="02010609030101010101" pitchFamily="49" charset="-122"/>
              <a:cs typeface="仿宋_GB2312" panose="02010609030101010101" pitchFamily="49" charset="-122"/>
            </a:endParaRPr>
          </a:p>
          <a:p>
            <a:pPr algn="ctr" eaLnBrk="1" hangingPunct="1">
              <a:lnSpc>
                <a:spcPct val="80000"/>
              </a:lnSpc>
              <a:spcBef>
                <a:spcPct val="0"/>
              </a:spcBef>
              <a:buFont typeface="Wingdings" panose="05000000000000000000" pitchFamily="2" charset="2"/>
              <a:buNone/>
            </a:pPr>
            <a:r>
              <a:rPr lang="en-US" altLang="zh-CN" sz="1800" dirty="0">
                <a:latin typeface="仿宋_GB2312" panose="02010609030101010101" pitchFamily="49" charset="-122"/>
                <a:ea typeface="仿宋_GB2312" panose="02010609030101010101" pitchFamily="49" charset="-122"/>
                <a:cs typeface="仿宋_GB2312" panose="02010609030101010101" pitchFamily="49" charset="-122"/>
              </a:rPr>
              <a:t>Χ字【200Χ】ΧΧ 号</a:t>
            </a:r>
            <a:endParaRPr lang="en-US" altLang="zh-CN" sz="1800" dirty="0">
              <a:latin typeface="仿宋_GB2312" panose="02010609030101010101" pitchFamily="49" charset="-122"/>
              <a:ea typeface="仿宋_GB2312" panose="02010609030101010101" pitchFamily="49" charset="-122"/>
              <a:cs typeface="仿宋_GB2312" panose="02010609030101010101" pitchFamily="49" charset="-122"/>
            </a:endParaRPr>
          </a:p>
          <a:p>
            <a:pPr eaLnBrk="1" hangingPunct="1">
              <a:lnSpc>
                <a:spcPct val="80000"/>
              </a:lnSpc>
              <a:spcBef>
                <a:spcPct val="0"/>
              </a:spcBef>
              <a:buFont typeface="Wingdings" panose="05000000000000000000" pitchFamily="2" charset="2"/>
              <a:buNone/>
            </a:pPr>
            <a:r>
              <a:rPr lang="en-US" altLang="zh-CN" sz="1800" dirty="0">
                <a:latin typeface="仿宋_GB2312" panose="02010609030101010101" pitchFamily="49" charset="-122"/>
                <a:ea typeface="仿宋_GB2312" panose="02010609030101010101" pitchFamily="49" charset="-122"/>
                <a:cs typeface="仿宋_GB2312" panose="02010609030101010101" pitchFamily="49" charset="-122"/>
              </a:rPr>
              <a:t>  ΧΧΧΧ:</a:t>
            </a:r>
            <a:endParaRPr lang="en-US" altLang="zh-CN" sz="1800" dirty="0">
              <a:latin typeface="仿宋_GB2312" panose="02010609030101010101" pitchFamily="49" charset="-122"/>
              <a:ea typeface="仿宋_GB2312" panose="02010609030101010101" pitchFamily="49" charset="-122"/>
              <a:cs typeface="仿宋_GB2312" panose="02010609030101010101" pitchFamily="49" charset="-122"/>
            </a:endParaRPr>
          </a:p>
          <a:p>
            <a:pPr indent="342900" eaLnBrk="1" hangingPunct="1">
              <a:lnSpc>
                <a:spcPct val="80000"/>
              </a:lnSpc>
              <a:spcBef>
                <a:spcPct val="0"/>
              </a:spcBef>
              <a:buFont typeface="Wingdings" panose="05000000000000000000" pitchFamily="2" charset="2"/>
              <a:buNone/>
            </a:pPr>
            <a:r>
              <a:rPr lang="en-US" altLang="zh-CN" sz="1800" dirty="0">
                <a:latin typeface="仿宋_GB2312" panose="02010609030101010101" pitchFamily="49" charset="-122"/>
                <a:ea typeface="仿宋_GB2312" panose="02010609030101010101" pitchFamily="49" charset="-122"/>
                <a:cs typeface="仿宋_GB2312" panose="02010609030101010101" pitchFamily="49" charset="-122"/>
              </a:rPr>
              <a:t>为了ΧΧΧΧ，决定召开ΧΧ会，现将有关事项通知如下：</a:t>
            </a:r>
            <a:endParaRPr lang="en-US" altLang="zh-CN" sz="1800" dirty="0">
              <a:latin typeface="仿宋_GB2312" panose="02010609030101010101" pitchFamily="49" charset="-122"/>
              <a:ea typeface="仿宋_GB2312" panose="02010609030101010101" pitchFamily="49" charset="-122"/>
              <a:cs typeface="仿宋_GB2312" panose="02010609030101010101" pitchFamily="49" charset="-122"/>
            </a:endParaRPr>
          </a:p>
          <a:p>
            <a:pPr indent="342900" eaLnBrk="1" hangingPunct="1">
              <a:lnSpc>
                <a:spcPct val="80000"/>
              </a:lnSpc>
              <a:spcBef>
                <a:spcPct val="0"/>
              </a:spcBef>
              <a:buFont typeface="Wingdings" panose="05000000000000000000" pitchFamily="2" charset="2"/>
              <a:buNone/>
            </a:pPr>
            <a:r>
              <a:rPr lang="en-US" altLang="zh-CN" sz="1800" dirty="0">
                <a:latin typeface="仿宋_GB2312" panose="02010609030101010101" pitchFamily="49" charset="-122"/>
                <a:ea typeface="仿宋_GB2312" panose="02010609030101010101" pitchFamily="49" charset="-122"/>
                <a:cs typeface="仿宋_GB2312" panose="02010609030101010101" pitchFamily="49" charset="-122"/>
              </a:rPr>
              <a:t>一、 ΧΧΧΧ（议题，议程）</a:t>
            </a:r>
            <a:endParaRPr lang="en-US" altLang="zh-CN" sz="1800" dirty="0">
              <a:latin typeface="仿宋_GB2312" panose="02010609030101010101" pitchFamily="49" charset="-122"/>
              <a:ea typeface="仿宋_GB2312" panose="02010609030101010101" pitchFamily="49" charset="-122"/>
              <a:cs typeface="仿宋_GB2312" panose="02010609030101010101" pitchFamily="49" charset="-122"/>
            </a:endParaRPr>
          </a:p>
          <a:p>
            <a:pPr indent="342900" eaLnBrk="1" hangingPunct="1">
              <a:lnSpc>
                <a:spcPct val="80000"/>
              </a:lnSpc>
              <a:spcBef>
                <a:spcPct val="0"/>
              </a:spcBef>
              <a:buFont typeface="Wingdings" panose="05000000000000000000" pitchFamily="2" charset="2"/>
              <a:buNone/>
            </a:pPr>
            <a:r>
              <a:rPr lang="en-US" altLang="zh-CN" sz="1800" dirty="0">
                <a:latin typeface="仿宋_GB2312" panose="02010609030101010101" pitchFamily="49" charset="-122"/>
                <a:ea typeface="仿宋_GB2312" panose="02010609030101010101" pitchFamily="49" charset="-122"/>
                <a:cs typeface="仿宋_GB2312" panose="02010609030101010101" pitchFamily="49" charset="-122"/>
              </a:rPr>
              <a:t>二、 ΧΧΧΧ（时间，会期）</a:t>
            </a:r>
            <a:endParaRPr lang="en-US" altLang="zh-CN" sz="1800" dirty="0">
              <a:latin typeface="仿宋_GB2312" panose="02010609030101010101" pitchFamily="49" charset="-122"/>
              <a:ea typeface="仿宋_GB2312" panose="02010609030101010101" pitchFamily="49" charset="-122"/>
              <a:cs typeface="仿宋_GB2312" panose="02010609030101010101" pitchFamily="49" charset="-122"/>
            </a:endParaRPr>
          </a:p>
          <a:p>
            <a:pPr indent="342900" eaLnBrk="1" hangingPunct="1">
              <a:lnSpc>
                <a:spcPct val="80000"/>
              </a:lnSpc>
              <a:spcBef>
                <a:spcPct val="0"/>
              </a:spcBef>
              <a:buFont typeface="Wingdings" panose="05000000000000000000" pitchFamily="2" charset="2"/>
              <a:buNone/>
            </a:pPr>
            <a:r>
              <a:rPr lang="en-US" altLang="zh-CN" sz="1800" dirty="0">
                <a:latin typeface="仿宋_GB2312" panose="02010609030101010101" pitchFamily="49" charset="-122"/>
                <a:ea typeface="仿宋_GB2312" panose="02010609030101010101" pitchFamily="49" charset="-122"/>
                <a:cs typeface="仿宋_GB2312" panose="02010609030101010101" pitchFamily="49" charset="-122"/>
              </a:rPr>
              <a:t>三、 ΧΧΧΧ（报道的时间、地点）</a:t>
            </a:r>
            <a:endParaRPr lang="en-US" altLang="zh-CN" sz="1800" dirty="0">
              <a:latin typeface="仿宋_GB2312" panose="02010609030101010101" pitchFamily="49" charset="-122"/>
              <a:ea typeface="仿宋_GB2312" panose="02010609030101010101" pitchFamily="49" charset="-122"/>
              <a:cs typeface="仿宋_GB2312" panose="02010609030101010101" pitchFamily="49" charset="-122"/>
            </a:endParaRPr>
          </a:p>
          <a:p>
            <a:pPr indent="342900" eaLnBrk="1" hangingPunct="1">
              <a:lnSpc>
                <a:spcPct val="80000"/>
              </a:lnSpc>
              <a:spcBef>
                <a:spcPct val="0"/>
              </a:spcBef>
              <a:buFont typeface="Wingdings" panose="05000000000000000000" pitchFamily="2" charset="2"/>
              <a:buNone/>
            </a:pPr>
            <a:r>
              <a:rPr lang="en-US" altLang="zh-CN" sz="1800" dirty="0">
                <a:latin typeface="仿宋_GB2312" panose="02010609030101010101" pitchFamily="49" charset="-122"/>
                <a:ea typeface="仿宋_GB2312" panose="02010609030101010101" pitchFamily="49" charset="-122"/>
                <a:cs typeface="仿宋_GB2312" panose="02010609030101010101" pitchFamily="49" charset="-122"/>
              </a:rPr>
              <a:t>四、 ΧΧΧΧ（参加会议的人员）</a:t>
            </a:r>
            <a:endParaRPr lang="en-US" altLang="zh-CN" sz="1800" dirty="0">
              <a:latin typeface="仿宋_GB2312" panose="02010609030101010101" pitchFamily="49" charset="-122"/>
              <a:ea typeface="仿宋_GB2312" panose="02010609030101010101" pitchFamily="49" charset="-122"/>
              <a:cs typeface="仿宋_GB2312" panose="02010609030101010101" pitchFamily="49" charset="-122"/>
            </a:endParaRPr>
          </a:p>
          <a:p>
            <a:pPr indent="342900" eaLnBrk="1" hangingPunct="1">
              <a:lnSpc>
                <a:spcPct val="80000"/>
              </a:lnSpc>
              <a:spcBef>
                <a:spcPct val="0"/>
              </a:spcBef>
              <a:buFont typeface="Wingdings" panose="05000000000000000000" pitchFamily="2" charset="2"/>
              <a:buNone/>
            </a:pPr>
            <a:r>
              <a:rPr lang="en-US" altLang="zh-CN" sz="1800" dirty="0">
                <a:latin typeface="仿宋_GB2312" panose="02010609030101010101" pitchFamily="49" charset="-122"/>
                <a:ea typeface="仿宋_GB2312" panose="02010609030101010101" pitchFamily="49" charset="-122"/>
                <a:cs typeface="仿宋_GB2312" panose="02010609030101010101" pitchFamily="49" charset="-122"/>
              </a:rPr>
              <a:t>五、 ΧΧΧΧ（与会人员应做的准备）</a:t>
            </a:r>
            <a:endParaRPr lang="en-US" altLang="zh-CN" sz="1800" dirty="0">
              <a:latin typeface="仿宋_GB2312" panose="02010609030101010101" pitchFamily="49" charset="-122"/>
              <a:ea typeface="仿宋_GB2312" panose="02010609030101010101" pitchFamily="49" charset="-122"/>
              <a:cs typeface="仿宋_GB2312" panose="02010609030101010101" pitchFamily="49" charset="-122"/>
            </a:endParaRPr>
          </a:p>
          <a:p>
            <a:pPr indent="342900" eaLnBrk="1" hangingPunct="1">
              <a:lnSpc>
                <a:spcPct val="80000"/>
              </a:lnSpc>
              <a:spcBef>
                <a:spcPct val="0"/>
              </a:spcBef>
              <a:buFont typeface="Wingdings" panose="05000000000000000000" pitchFamily="2" charset="2"/>
              <a:buNone/>
            </a:pPr>
            <a:r>
              <a:rPr lang="en-US" altLang="zh-CN" sz="1800" dirty="0">
                <a:latin typeface="仿宋_GB2312" panose="02010609030101010101" pitchFamily="49" charset="-122"/>
                <a:ea typeface="仿宋_GB2312" panose="02010609030101010101" pitchFamily="49" charset="-122"/>
                <a:cs typeface="仿宋_GB2312" panose="02010609030101010101" pitchFamily="49" charset="-122"/>
              </a:rPr>
              <a:t>六、 ΧΧΧΧ（交通）</a:t>
            </a:r>
            <a:endParaRPr lang="en-US" altLang="zh-CN" sz="1800" dirty="0">
              <a:latin typeface="仿宋_GB2312" panose="02010609030101010101" pitchFamily="49" charset="-122"/>
              <a:ea typeface="仿宋_GB2312" panose="02010609030101010101" pitchFamily="49" charset="-122"/>
              <a:cs typeface="仿宋_GB2312" panose="02010609030101010101" pitchFamily="49" charset="-122"/>
            </a:endParaRPr>
          </a:p>
          <a:p>
            <a:pPr indent="342900" eaLnBrk="1" hangingPunct="1">
              <a:lnSpc>
                <a:spcPct val="80000"/>
              </a:lnSpc>
              <a:spcBef>
                <a:spcPct val="0"/>
              </a:spcBef>
              <a:buFont typeface="Wingdings" panose="05000000000000000000" pitchFamily="2" charset="2"/>
              <a:buNone/>
            </a:pPr>
            <a:r>
              <a:rPr lang="en-US" altLang="zh-CN" sz="1800" dirty="0">
                <a:latin typeface="仿宋_GB2312" panose="02010609030101010101" pitchFamily="49" charset="-122"/>
                <a:ea typeface="仿宋_GB2312" panose="02010609030101010101" pitchFamily="49" charset="-122"/>
                <a:cs typeface="仿宋_GB2312" panose="02010609030101010101" pitchFamily="49" charset="-122"/>
              </a:rPr>
              <a:t>七、 ΧΧΧΧ（住宿，收费事项）</a:t>
            </a:r>
            <a:endParaRPr lang="en-US" altLang="zh-CN" sz="1800" dirty="0">
              <a:latin typeface="仿宋_GB2312" panose="02010609030101010101" pitchFamily="49" charset="-122"/>
              <a:ea typeface="仿宋_GB2312" panose="02010609030101010101" pitchFamily="49" charset="-122"/>
              <a:cs typeface="仿宋_GB2312" panose="02010609030101010101" pitchFamily="49" charset="-122"/>
            </a:endParaRPr>
          </a:p>
          <a:p>
            <a:pPr indent="342900" eaLnBrk="1" hangingPunct="1">
              <a:lnSpc>
                <a:spcPct val="80000"/>
              </a:lnSpc>
              <a:spcBef>
                <a:spcPct val="0"/>
              </a:spcBef>
              <a:buFont typeface="Wingdings" panose="05000000000000000000" pitchFamily="2" charset="2"/>
              <a:buNone/>
            </a:pPr>
            <a:r>
              <a:rPr lang="en-US" altLang="zh-CN" sz="1800" dirty="0">
                <a:latin typeface="仿宋_GB2312" panose="02010609030101010101" pitchFamily="49" charset="-122"/>
                <a:ea typeface="仿宋_GB2312" panose="02010609030101010101" pitchFamily="49" charset="-122"/>
                <a:cs typeface="仿宋_GB2312" panose="02010609030101010101" pitchFamily="49" charset="-122"/>
              </a:rPr>
              <a:t>特此通知</a:t>
            </a:r>
            <a:endParaRPr lang="en-US" altLang="zh-CN" sz="1800" dirty="0">
              <a:latin typeface="仿宋_GB2312" panose="02010609030101010101" pitchFamily="49" charset="-122"/>
              <a:ea typeface="仿宋_GB2312" panose="02010609030101010101" pitchFamily="49" charset="-122"/>
              <a:cs typeface="仿宋_GB2312" panose="02010609030101010101" pitchFamily="49" charset="-122"/>
            </a:endParaRPr>
          </a:p>
          <a:p>
            <a:pPr algn="ctr" eaLnBrk="1" hangingPunct="1">
              <a:lnSpc>
                <a:spcPct val="80000"/>
              </a:lnSpc>
              <a:spcBef>
                <a:spcPct val="0"/>
              </a:spcBef>
              <a:buFontTx/>
              <a:buNone/>
            </a:pPr>
            <a:endParaRPr lang="en-US" altLang="zh-CN" sz="1800" dirty="0">
              <a:latin typeface="仿宋_GB2312" panose="02010609030101010101" pitchFamily="49" charset="-122"/>
              <a:ea typeface="仿宋_GB2312" panose="02010609030101010101" pitchFamily="49" charset="-122"/>
              <a:cs typeface="仿宋_GB2312" panose="02010609030101010101" pitchFamily="49" charset="-122"/>
            </a:endParaRPr>
          </a:p>
          <a:p>
            <a:pPr algn="ctr" eaLnBrk="1" hangingPunct="1">
              <a:lnSpc>
                <a:spcPct val="80000"/>
              </a:lnSpc>
              <a:spcBef>
                <a:spcPct val="0"/>
              </a:spcBef>
              <a:buFontTx/>
              <a:buNone/>
            </a:pPr>
            <a:r>
              <a:rPr lang="en-US" altLang="zh-CN" sz="1800" dirty="0">
                <a:latin typeface="仿宋_GB2312" panose="02010609030101010101" pitchFamily="49" charset="-122"/>
                <a:ea typeface="仿宋_GB2312" panose="02010609030101010101" pitchFamily="49" charset="-122"/>
                <a:cs typeface="仿宋_GB2312" panose="02010609030101010101" pitchFamily="49" charset="-122"/>
              </a:rPr>
              <a:t>                                 ΧΧΧΧ（公章）</a:t>
            </a:r>
            <a:endParaRPr lang="en-US" altLang="zh-CN" sz="1800" dirty="0">
              <a:latin typeface="仿宋_GB2312" panose="02010609030101010101" pitchFamily="49" charset="-122"/>
              <a:ea typeface="仿宋_GB2312" panose="02010609030101010101" pitchFamily="49" charset="-122"/>
              <a:cs typeface="仿宋_GB2312" panose="02010609030101010101" pitchFamily="49" charset="-122"/>
            </a:endParaRPr>
          </a:p>
          <a:p>
            <a:pPr algn="ctr" eaLnBrk="1" hangingPunct="1">
              <a:lnSpc>
                <a:spcPct val="80000"/>
              </a:lnSpc>
              <a:spcBef>
                <a:spcPct val="0"/>
              </a:spcBef>
              <a:buFontTx/>
              <a:buNone/>
            </a:pPr>
            <a:r>
              <a:rPr lang="en-US" altLang="zh-CN" sz="1800" dirty="0">
                <a:latin typeface="仿宋_GB2312" panose="02010609030101010101" pitchFamily="49" charset="-122"/>
                <a:ea typeface="仿宋_GB2312" panose="02010609030101010101" pitchFamily="49" charset="-122"/>
                <a:cs typeface="仿宋_GB2312" panose="02010609030101010101" pitchFamily="49" charset="-122"/>
              </a:rPr>
              <a:t>                                  Χ年Χ月Χ日</a:t>
            </a:r>
            <a:endParaRPr lang="en-US" altLang="zh-CN" sz="1800" dirty="0">
              <a:latin typeface="仿宋_GB2312" panose="02010609030101010101" pitchFamily="49" charset="-122"/>
              <a:ea typeface="仿宋_GB2312" panose="02010609030101010101" pitchFamily="49" charset="-122"/>
              <a:cs typeface="仿宋_GB2312" panose="02010609030101010101" pitchFamily="49" charset="-122"/>
            </a:endParaRPr>
          </a:p>
          <a:p>
            <a:pPr algn="just" eaLnBrk="1" hangingPunct="1">
              <a:lnSpc>
                <a:spcPct val="80000"/>
              </a:lnSpc>
              <a:spcBef>
                <a:spcPct val="0"/>
              </a:spcBef>
              <a:buFontTx/>
              <a:buNone/>
            </a:pPr>
            <a:br>
              <a:rPr lang="en-US" altLang="zh-CN" sz="1800" dirty="0">
                <a:latin typeface="仿宋_GB2312" panose="02010609030101010101" pitchFamily="49" charset="-122"/>
                <a:ea typeface="仿宋_GB2312" panose="02010609030101010101" pitchFamily="49" charset="-122"/>
                <a:cs typeface="仿宋_GB2312" panose="02010609030101010101" pitchFamily="49" charset="-122"/>
              </a:rPr>
            </a:br>
            <a:endParaRPr lang="zh-CN" altLang="en-US" sz="2000" b="1" dirty="0" smtClean="0">
              <a:solidFill>
                <a:srgbClr val="A50021"/>
              </a:solidFill>
              <a:latin typeface="仿宋_GB2312" panose="02010609030101010101" pitchFamily="49" charset="-122"/>
              <a:ea typeface="仿宋_GB2312" panose="02010609030101010101" pitchFamily="49" charset="-122"/>
            </a:endParaRPr>
          </a:p>
        </p:txBody>
      </p:sp>
      <p:pic>
        <p:nvPicPr>
          <p:cNvPr id="13" name="图片 12" descr="E:\曹飞\2017\2017-8-8地铁PPT\7.png7"/>
          <p:cNvPicPr>
            <a:picLocks noChangeAspect="1"/>
          </p:cNvPicPr>
          <p:nvPr/>
        </p:nvPicPr>
        <p:blipFill>
          <a:blip r:embed="rId1" cstate="email"/>
          <a:srcRect/>
          <a:stretch>
            <a:fillRect/>
          </a:stretch>
        </p:blipFill>
        <p:spPr>
          <a:xfrm>
            <a:off x="-6667" y="4477465"/>
            <a:ext cx="9168289" cy="668179"/>
          </a:xfrm>
          <a:prstGeom prst="rect">
            <a:avLst/>
          </a:prstGeom>
        </p:spPr>
      </p:pic>
      <p:pic>
        <p:nvPicPr>
          <p:cNvPr id="9" name="图片 8"/>
          <p:cNvPicPr>
            <a:picLocks noChangeAspect="1"/>
          </p:cNvPicPr>
          <p:nvPr/>
        </p:nvPicPr>
        <p:blipFill>
          <a:blip r:embed="rId2"/>
          <a:stretch>
            <a:fillRect/>
          </a:stretch>
        </p:blipFill>
        <p:spPr>
          <a:xfrm>
            <a:off x="575945" y="297180"/>
            <a:ext cx="1685925" cy="419100"/>
          </a:xfrm>
          <a:prstGeom prst="rect">
            <a:avLst/>
          </a:prstGeom>
        </p:spPr>
      </p:pic>
      <p:pic>
        <p:nvPicPr>
          <p:cNvPr id="8" name="图片 7" descr="E:\曹飞\2017\2017-8-8地铁PPT\6.png6"/>
          <p:cNvPicPr>
            <a:picLocks noChangeAspect="1"/>
          </p:cNvPicPr>
          <p:nvPr/>
        </p:nvPicPr>
        <p:blipFill>
          <a:blip r:embed="rId3" cstate="email"/>
          <a:srcRect/>
          <a:stretch>
            <a:fillRect/>
          </a:stretch>
        </p:blipFill>
        <p:spPr>
          <a:xfrm>
            <a:off x="2261712" y="230427"/>
            <a:ext cx="6463189" cy="343376"/>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par>
                                <p:cTn id="10" presetID="12" presetClass="entr" presetSubtype="8"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p:tgtEl>
                                          <p:spTgt spid="8"/>
                                        </p:tgtEl>
                                        <p:attrNameLst>
                                          <p:attrName>ppt_x</p:attrName>
                                        </p:attrNameLst>
                                      </p:cBhvr>
                                      <p:tavLst>
                                        <p:tav tm="0">
                                          <p:val>
                                            <p:strVal val="#ppt_x-#ppt_w*1.125000"/>
                                          </p:val>
                                        </p:tav>
                                        <p:tav tm="100000">
                                          <p:val>
                                            <p:strVal val="#ppt_x"/>
                                          </p:val>
                                        </p:tav>
                                      </p:tavLst>
                                    </p:anim>
                                    <p:animEffect transition="in" filter="wipe(right)">
                                      <p:cBhvr>
                                        <p:cTn id="13" dur="500"/>
                                        <p:tgtEl>
                                          <p:spTgt spid="8"/>
                                        </p:tgtEl>
                                      </p:cBhvr>
                                    </p:animEffect>
                                  </p:childTnLst>
                                </p:cTn>
                              </p:par>
                              <p:par>
                                <p:cTn id="14" presetID="12" presetClass="entr" presetSubtype="8" fill="hold" grpId="1" nodeType="withEffect">
                                  <p:stCondLst>
                                    <p:cond delay="0"/>
                                  </p:stCondLst>
                                  <p:childTnLst>
                                    <p:set>
                                      <p:cBhvr>
                                        <p:cTn id="15" dur="1" fill="hold">
                                          <p:stCondLst>
                                            <p:cond delay="0"/>
                                          </p:stCondLst>
                                        </p:cTn>
                                        <p:tgtEl>
                                          <p:spTgt spid="14"/>
                                        </p:tgtEl>
                                        <p:attrNameLst>
                                          <p:attrName>style.visibility</p:attrName>
                                        </p:attrNameLst>
                                      </p:cBhvr>
                                      <p:to>
                                        <p:strVal val="visible"/>
                                      </p:to>
                                    </p:set>
                                    <p:anim calcmode="lin" valueType="num">
                                      <p:cBhvr additive="base">
                                        <p:cTn id="16" dur="250"/>
                                        <p:tgtEl>
                                          <p:spTgt spid="14"/>
                                        </p:tgtEl>
                                        <p:attrNameLst>
                                          <p:attrName>ppt_x</p:attrName>
                                        </p:attrNameLst>
                                      </p:cBhvr>
                                      <p:tavLst>
                                        <p:tav tm="0">
                                          <p:val>
                                            <p:strVal val="#ppt_x-#ppt_w*1.125000"/>
                                          </p:val>
                                        </p:tav>
                                        <p:tav tm="100000">
                                          <p:val>
                                            <p:strVal val="#ppt_x"/>
                                          </p:val>
                                        </p:tav>
                                      </p:tavLst>
                                    </p:anim>
                                    <p:animEffect transition="in" filter="wipe(right)">
                                      <p:cBhvr>
                                        <p:cTn id="17"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C:\Users\TCSJ\Desktop\地铁PPT\bg2.pngbg2"/>
          <p:cNvPicPr>
            <a:picLocks noChangeAspect="1"/>
          </p:cNvPicPr>
          <p:nvPr/>
        </p:nvPicPr>
        <p:blipFill>
          <a:blip r:embed="rId1"/>
          <a:srcRect/>
          <a:stretch>
            <a:fillRect/>
          </a:stretch>
        </p:blipFill>
        <p:spPr>
          <a:xfrm>
            <a:off x="-7144" y="30949"/>
            <a:ext cx="9158288" cy="5152073"/>
          </a:xfrm>
          <a:prstGeom prst="rect">
            <a:avLst/>
          </a:prstGeom>
        </p:spPr>
      </p:pic>
      <p:pic>
        <p:nvPicPr>
          <p:cNvPr id="3" name="图片 2" descr="E:\曹飞\2017\2017-8-8地铁PPT\5.png5"/>
          <p:cNvPicPr>
            <a:picLocks noChangeAspect="1"/>
          </p:cNvPicPr>
          <p:nvPr/>
        </p:nvPicPr>
        <p:blipFill>
          <a:blip r:embed="rId2" cstate="email"/>
          <a:srcRect/>
          <a:stretch>
            <a:fillRect/>
          </a:stretch>
        </p:blipFill>
        <p:spPr>
          <a:xfrm>
            <a:off x="-2210752" y="-2100739"/>
            <a:ext cx="7341394" cy="8766810"/>
          </a:xfrm>
          <a:prstGeom prst="rect">
            <a:avLst/>
          </a:prstGeom>
        </p:spPr>
      </p:pic>
      <p:pic>
        <p:nvPicPr>
          <p:cNvPr id="10" name="图片 9" descr="E:\曹飞\2017\2017-8-8地铁PPT\3.png3"/>
          <p:cNvPicPr>
            <a:picLocks noChangeAspect="1"/>
          </p:cNvPicPr>
          <p:nvPr/>
        </p:nvPicPr>
        <p:blipFill>
          <a:blip r:embed="rId3" cstate="email"/>
          <a:srcRect/>
          <a:stretch>
            <a:fillRect/>
          </a:stretch>
        </p:blipFill>
        <p:spPr>
          <a:xfrm>
            <a:off x="653415" y="4402218"/>
            <a:ext cx="8497729" cy="382429"/>
          </a:xfrm>
          <a:prstGeom prst="rect">
            <a:avLst/>
          </a:prstGeom>
        </p:spPr>
      </p:pic>
      <p:sp>
        <p:nvSpPr>
          <p:cNvPr id="9" name="Freeform 5"/>
          <p:cNvSpPr/>
          <p:nvPr/>
        </p:nvSpPr>
        <p:spPr bwMode="auto">
          <a:xfrm>
            <a:off x="4808220" y="2646521"/>
            <a:ext cx="1236345" cy="1493520"/>
          </a:xfrm>
          <a:custGeom>
            <a:avLst/>
            <a:gdLst>
              <a:gd name="T0" fmla="*/ 1625 w 1625"/>
              <a:gd name="T1" fmla="*/ 1477 h 1623"/>
              <a:gd name="T2" fmla="*/ 1625 w 1625"/>
              <a:gd name="T3" fmla="*/ 1623 h 1623"/>
              <a:gd name="T4" fmla="*/ 0 w 1625"/>
              <a:gd name="T5" fmla="*/ 1623 h 1623"/>
              <a:gd name="T6" fmla="*/ 0 w 1625"/>
              <a:gd name="T7" fmla="*/ 0 h 1623"/>
              <a:gd name="T8" fmla="*/ 1625 w 1625"/>
              <a:gd name="T9" fmla="*/ 0 h 1623"/>
              <a:gd name="T10" fmla="*/ 1625 w 1625"/>
              <a:gd name="T11" fmla="*/ 608 h 1623"/>
            </a:gdLst>
            <a:ahLst/>
            <a:cxnLst>
              <a:cxn ang="0">
                <a:pos x="T0" y="T1"/>
              </a:cxn>
              <a:cxn ang="0">
                <a:pos x="T2" y="T3"/>
              </a:cxn>
              <a:cxn ang="0">
                <a:pos x="T4" y="T5"/>
              </a:cxn>
              <a:cxn ang="0">
                <a:pos x="T6" y="T7"/>
              </a:cxn>
              <a:cxn ang="0">
                <a:pos x="T8" y="T9"/>
              </a:cxn>
              <a:cxn ang="0">
                <a:pos x="T10" y="T11"/>
              </a:cxn>
            </a:cxnLst>
            <a:rect l="0" t="0" r="r" b="b"/>
            <a:pathLst>
              <a:path w="1625" h="1623">
                <a:moveTo>
                  <a:pt x="1625" y="1477"/>
                </a:moveTo>
                <a:lnTo>
                  <a:pt x="1625" y="1623"/>
                </a:lnTo>
                <a:lnTo>
                  <a:pt x="0" y="1623"/>
                </a:lnTo>
                <a:lnTo>
                  <a:pt x="0" y="0"/>
                </a:lnTo>
                <a:lnTo>
                  <a:pt x="1625" y="0"/>
                </a:lnTo>
                <a:lnTo>
                  <a:pt x="1625" y="608"/>
                </a:lnTo>
              </a:path>
            </a:pathLst>
          </a:custGeom>
          <a:noFill/>
          <a:ln w="76200" cap="flat">
            <a:solidFill>
              <a:srgbClr val="C09D3C"/>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lstStyle/>
          <a:p>
            <a:endParaRPr lang="zh-CN" altLang="en-US">
              <a:solidFill>
                <a:prstClr val="black"/>
              </a:solidFill>
              <a:latin typeface="Arial" panose="020B0604020202020204"/>
              <a:ea typeface="微软雅黑" panose="020B0503020204020204" charset="-122"/>
              <a:sym typeface="Arial" panose="020B0604020202020204"/>
            </a:endParaRPr>
          </a:p>
        </p:txBody>
      </p:sp>
      <p:sp>
        <p:nvSpPr>
          <p:cNvPr id="7" name="TextBox 24"/>
          <p:cNvSpPr txBox="1"/>
          <p:nvPr/>
        </p:nvSpPr>
        <p:spPr>
          <a:xfrm>
            <a:off x="5938362" y="3442653"/>
            <a:ext cx="2846546" cy="421262"/>
          </a:xfrm>
          <a:prstGeom prst="rect">
            <a:avLst/>
          </a:prstGeom>
          <a:noFill/>
        </p:spPr>
        <p:txBody>
          <a:bodyPr wrap="square" lIns="51428" tIns="25714" rIns="51428" bIns="25714" rtlCol="0">
            <a:spAutoFit/>
          </a:bodyPr>
          <a:lstStyle/>
          <a:p>
            <a:pPr algn="ctr"/>
            <a:r>
              <a:rPr lang="zh-CN" altLang="en-US" sz="2400" b="1" dirty="0">
                <a:solidFill>
                  <a:srgbClr val="C09D3C"/>
                </a:solidFill>
                <a:latin typeface="微软雅黑" panose="020B0503020204020204" charset="-122"/>
                <a:ea typeface="微软雅黑" panose="020B0503020204020204" charset="-122"/>
                <a:sym typeface="+mn-ea"/>
              </a:rPr>
              <a:t>函</a:t>
            </a:r>
            <a:endParaRPr lang="zh-CN" altLang="en-US" sz="2400" b="1" dirty="0">
              <a:solidFill>
                <a:schemeClr val="tx1">
                  <a:lumMod val="75000"/>
                  <a:lumOff val="25000"/>
                </a:schemeClr>
              </a:solidFill>
              <a:latin typeface="微软雅黑" panose="020B0503020204020204" charset="-122"/>
              <a:ea typeface="微软雅黑" panose="020B0503020204020204" charset="-122"/>
              <a:sym typeface="+mn-ea"/>
            </a:endParaRPr>
          </a:p>
        </p:txBody>
      </p:sp>
      <p:cxnSp>
        <p:nvCxnSpPr>
          <p:cNvPr id="11" name="直接连接符 10"/>
          <p:cNvCxnSpPr/>
          <p:nvPr/>
        </p:nvCxnSpPr>
        <p:spPr>
          <a:xfrm>
            <a:off x="6000274" y="3896678"/>
            <a:ext cx="2676182" cy="0"/>
          </a:xfrm>
          <a:prstGeom prst="line">
            <a:avLst/>
          </a:prstGeom>
          <a:ln w="34925">
            <a:solidFill>
              <a:srgbClr val="C09D3C"/>
            </a:solidFill>
          </a:ln>
        </p:spPr>
        <p:style>
          <a:lnRef idx="1">
            <a:srgbClr val="814E67"/>
          </a:lnRef>
          <a:fillRef idx="0">
            <a:srgbClr val="814E67"/>
          </a:fillRef>
          <a:effectRef idx="0">
            <a:srgbClr val="814E67"/>
          </a:effectRef>
          <a:fontRef idx="minor">
            <a:srgbClr val="000000"/>
          </a:fontRef>
        </p:style>
      </p:cxnSp>
      <p:sp>
        <p:nvSpPr>
          <p:cNvPr id="14" name="TextBox 24"/>
          <p:cNvSpPr txBox="1"/>
          <p:nvPr/>
        </p:nvSpPr>
        <p:spPr>
          <a:xfrm>
            <a:off x="4932522" y="3074194"/>
            <a:ext cx="1312069" cy="1065848"/>
          </a:xfrm>
          <a:prstGeom prst="rect">
            <a:avLst/>
          </a:prstGeom>
          <a:noFill/>
        </p:spPr>
        <p:txBody>
          <a:bodyPr wrap="square" lIns="51428" tIns="25714" rIns="51428" bIns="25714" rtlCol="0">
            <a:spAutoFit/>
          </a:bodyPr>
          <a:lstStyle/>
          <a:p>
            <a:r>
              <a:rPr lang="en-US" altLang="zh-CN" sz="6600" dirty="0" smtClean="0">
                <a:solidFill>
                  <a:srgbClr val="C09D3C"/>
                </a:solidFill>
                <a:latin typeface="Arial" panose="020B0604020202020204"/>
                <a:ea typeface="微软雅黑" panose="020B0503020204020204" charset="-122"/>
                <a:sym typeface="Arial" panose="020B0604020202020204"/>
              </a:rPr>
              <a:t>05</a:t>
            </a:r>
            <a:endParaRPr lang="en-US" altLang="zh-CN" sz="6600" dirty="0">
              <a:solidFill>
                <a:srgbClr val="C09D3C"/>
              </a:solidFill>
              <a:latin typeface="Arial" panose="020B0604020202020204"/>
              <a:ea typeface="微软雅黑" panose="020B0503020204020204" charset="-122"/>
              <a:sym typeface="Arial" panose="020B0604020202020204"/>
            </a:endParaRPr>
          </a:p>
        </p:txBody>
      </p:sp>
    </p:spTree>
  </p:cSld>
  <p:clrMapOvr>
    <a:masterClrMapping/>
  </p:clrMapOvr>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75945" y="1205230"/>
            <a:ext cx="7626350" cy="3145790"/>
          </a:xfrm>
        </p:spPr>
        <p:txBody>
          <a:bodyPr/>
          <a:lstStyle/>
          <a:p>
            <a:pPr marL="0" indent="0">
              <a:buNone/>
            </a:pPr>
            <a:r>
              <a:rPr lang="en-US" altLang="zh-CN" sz="1800" dirty="0" smtClean="0">
                <a:latin typeface="黑体" panose="02010609060101010101" pitchFamily="49" charset="-122"/>
                <a:ea typeface="黑体" panose="02010609060101010101" pitchFamily="49" charset="-122"/>
              </a:rPr>
              <a:t>    </a:t>
            </a:r>
            <a:r>
              <a:rPr lang="zh-CN" altLang="en-US" sz="1800" dirty="0" smtClean="0">
                <a:latin typeface="黑体" panose="02010609060101010101" pitchFamily="49" charset="-122"/>
                <a:ea typeface="黑体" panose="02010609060101010101" pitchFamily="49" charset="-122"/>
              </a:rPr>
              <a:t>函</a:t>
            </a:r>
            <a:endParaRPr lang="en-US" altLang="zh-CN" sz="1800" dirty="0" smtClean="0">
              <a:latin typeface="黑体" panose="02010609060101010101" pitchFamily="49" charset="-122"/>
              <a:ea typeface="黑体" panose="02010609060101010101" pitchFamily="49" charset="-122"/>
            </a:endParaRPr>
          </a:p>
          <a:p>
            <a:pPr marL="0" indent="0">
              <a:buNone/>
            </a:pPr>
            <a:r>
              <a:rPr lang="zh-CN" altLang="en-US" sz="1800" dirty="0">
                <a:latin typeface="仿宋_GB2312" panose="02010609030101010101" pitchFamily="49" charset="-122"/>
                <a:ea typeface="仿宋_GB2312" panose="02010609030101010101" pitchFamily="49" charset="-122"/>
              </a:rPr>
              <a:t>    函是在不相隶属机关之间商洽工作、询问和答复问题、请求批准和答复审批事项时使用的文种。</a:t>
            </a:r>
            <a:endParaRPr lang="zh-CN" altLang="en-US" sz="1800" dirty="0">
              <a:latin typeface="仿宋_GB2312" panose="02010609030101010101" pitchFamily="49" charset="-122"/>
              <a:ea typeface="仿宋_GB2312" panose="02010609030101010101" pitchFamily="49" charset="-122"/>
            </a:endParaRPr>
          </a:p>
        </p:txBody>
      </p:sp>
      <p:pic>
        <p:nvPicPr>
          <p:cNvPr id="13" name="图片 12" descr="E:\曹飞\2017\2017-8-8地铁PPT\7.png7"/>
          <p:cNvPicPr>
            <a:picLocks noChangeAspect="1"/>
          </p:cNvPicPr>
          <p:nvPr/>
        </p:nvPicPr>
        <p:blipFill>
          <a:blip r:embed="rId1" cstate="email"/>
          <a:srcRect/>
          <a:stretch>
            <a:fillRect/>
          </a:stretch>
        </p:blipFill>
        <p:spPr>
          <a:xfrm>
            <a:off x="-6667" y="4477465"/>
            <a:ext cx="9168289" cy="668179"/>
          </a:xfrm>
          <a:prstGeom prst="rect">
            <a:avLst/>
          </a:prstGeom>
        </p:spPr>
      </p:pic>
      <p:pic>
        <p:nvPicPr>
          <p:cNvPr id="9" name="图片 8"/>
          <p:cNvPicPr>
            <a:picLocks noChangeAspect="1"/>
          </p:cNvPicPr>
          <p:nvPr/>
        </p:nvPicPr>
        <p:blipFill>
          <a:blip r:embed="rId2"/>
          <a:stretch>
            <a:fillRect/>
          </a:stretch>
        </p:blipFill>
        <p:spPr>
          <a:xfrm>
            <a:off x="575945" y="297180"/>
            <a:ext cx="1685925" cy="419100"/>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pic>
        <p:nvPicPr>
          <p:cNvPr id="8" name="图片 7" descr="E:\曹飞\2017\2017-8-8地铁PPT\6.png6"/>
          <p:cNvPicPr>
            <a:picLocks noChangeAspect="1"/>
          </p:cNvPicPr>
          <p:nvPr/>
        </p:nvPicPr>
        <p:blipFill>
          <a:blip r:embed="rId3" cstate="email"/>
          <a:srcRect/>
          <a:stretch>
            <a:fillRect/>
          </a:stretch>
        </p:blipFill>
        <p:spPr>
          <a:xfrm>
            <a:off x="2261712" y="230427"/>
            <a:ext cx="6463189" cy="34337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par>
                                <p:cTn id="10" presetID="12" presetClass="entr" presetSubtype="8" fill="hold" grpId="1" nodeType="withEffect">
                                  <p:stCondLst>
                                    <p:cond delay="0"/>
                                  </p:stCondLst>
                                  <p:childTnLst>
                                    <p:set>
                                      <p:cBhvr>
                                        <p:cTn id="11" dur="1" fill="hold">
                                          <p:stCondLst>
                                            <p:cond delay="0"/>
                                          </p:stCondLst>
                                        </p:cTn>
                                        <p:tgtEl>
                                          <p:spTgt spid="14"/>
                                        </p:tgtEl>
                                        <p:attrNameLst>
                                          <p:attrName>style.visibility</p:attrName>
                                        </p:attrNameLst>
                                      </p:cBhvr>
                                      <p:to>
                                        <p:strVal val="visible"/>
                                      </p:to>
                                    </p:set>
                                    <p:anim calcmode="lin" valueType="num">
                                      <p:cBhvr additive="base">
                                        <p:cTn id="12" dur="250"/>
                                        <p:tgtEl>
                                          <p:spTgt spid="14"/>
                                        </p:tgtEl>
                                        <p:attrNameLst>
                                          <p:attrName>ppt_x</p:attrName>
                                        </p:attrNameLst>
                                      </p:cBhvr>
                                      <p:tavLst>
                                        <p:tav tm="0">
                                          <p:val>
                                            <p:strVal val="#ppt_x-#ppt_w*1.125000"/>
                                          </p:val>
                                        </p:tav>
                                        <p:tav tm="100000">
                                          <p:val>
                                            <p:strVal val="#ppt_x"/>
                                          </p:val>
                                        </p:tav>
                                      </p:tavLst>
                                    </p:anim>
                                    <p:animEffect transition="in" filter="wipe(right)">
                                      <p:cBhvr>
                                        <p:cTn id="13" dur="250"/>
                                        <p:tgtEl>
                                          <p:spTgt spid="14"/>
                                        </p:tgtEl>
                                      </p:cBhvr>
                                    </p:animEffect>
                                  </p:childTnLst>
                                </p:cTn>
                              </p:par>
                              <p:par>
                                <p:cTn id="14" presetID="12" presetClass="entr" presetSubtype="8"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 calcmode="lin" valueType="num">
                                      <p:cBhvr additive="base">
                                        <p:cTn id="16" dur="500"/>
                                        <p:tgtEl>
                                          <p:spTgt spid="8"/>
                                        </p:tgtEl>
                                        <p:attrNameLst>
                                          <p:attrName>ppt_x</p:attrName>
                                        </p:attrNameLst>
                                      </p:cBhvr>
                                      <p:tavLst>
                                        <p:tav tm="0">
                                          <p:val>
                                            <p:strVal val="#ppt_x-#ppt_w*1.125000"/>
                                          </p:val>
                                        </p:tav>
                                        <p:tav tm="100000">
                                          <p:val>
                                            <p:strVal val="#ppt_x"/>
                                          </p:val>
                                        </p:tav>
                                      </p:tavLst>
                                    </p:anim>
                                    <p:animEffect transition="in" filter="wipe(right)">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760730" y="1029335"/>
            <a:ext cx="7646035" cy="2992120"/>
          </a:xfrm>
        </p:spPr>
        <p:txBody>
          <a:bodyPr>
            <a:normAutofit lnSpcReduction="10000"/>
          </a:bodyPr>
          <a:lstStyle/>
          <a:p>
            <a:pPr marL="0" indent="0">
              <a:buNone/>
            </a:pPr>
            <a:r>
              <a:rPr lang="en-US" altLang="zh-CN" sz="1800" dirty="0">
                <a:latin typeface="仿宋_GB2312" panose="02010609030101010101" pitchFamily="49" charset="-122"/>
                <a:ea typeface="仿宋_GB2312" panose="02010609030101010101" pitchFamily="49" charset="-122"/>
              </a:rPr>
              <a:t>    </a:t>
            </a:r>
            <a:r>
              <a:rPr lang="zh-CN" altLang="en-US" sz="1800" dirty="0">
                <a:latin typeface="黑体" panose="02010609060101010101" pitchFamily="49" charset="-122"/>
                <a:ea typeface="黑体" panose="02010609060101010101" pitchFamily="49" charset="-122"/>
              </a:rPr>
              <a:t>一、</a:t>
            </a:r>
            <a:r>
              <a:rPr lang="zh-CN" altLang="en-US" sz="1800" dirty="0">
                <a:latin typeface="黑体" panose="02010609060101010101" pitchFamily="49" charset="-122"/>
                <a:ea typeface="黑体" panose="02010609060101010101" pitchFamily="49" charset="-122"/>
              </a:rPr>
              <a:t>函的特点</a:t>
            </a:r>
            <a:endParaRPr lang="zh-CN" altLang="en-US" sz="1800" dirty="0">
              <a:latin typeface="黑体" panose="02010609060101010101" pitchFamily="49" charset="-122"/>
              <a:ea typeface="黑体" panose="02010609060101010101" pitchFamily="49" charset="-122"/>
            </a:endParaRPr>
          </a:p>
          <a:p>
            <a:pPr marL="0" indent="0">
              <a:buNone/>
            </a:pPr>
            <a:r>
              <a:rPr lang="zh-CN" altLang="en-US" sz="1800" dirty="0">
                <a:latin typeface="仿宋_GB2312" panose="02010609030101010101" pitchFamily="49" charset="-122"/>
                <a:ea typeface="仿宋_GB2312" panose="02010609030101010101" pitchFamily="49" charset="-122"/>
              </a:rPr>
              <a:t>    1.平等性和沟通性。</a:t>
            </a:r>
            <a:endParaRPr lang="zh-CN" altLang="en-US" sz="1800" dirty="0">
              <a:latin typeface="仿宋_GB2312" panose="02010609030101010101" pitchFamily="49" charset="-122"/>
              <a:ea typeface="仿宋_GB2312" panose="02010609030101010101" pitchFamily="49" charset="-122"/>
            </a:endParaRPr>
          </a:p>
          <a:p>
            <a:pPr marL="0" indent="0">
              <a:buNone/>
            </a:pPr>
            <a:r>
              <a:rPr lang="zh-CN" altLang="en-US" sz="1800" dirty="0">
                <a:latin typeface="仿宋_GB2312" panose="02010609030101010101" pitchFamily="49" charset="-122"/>
                <a:ea typeface="仿宋_GB2312" panose="02010609030101010101" pitchFamily="49" charset="-122"/>
              </a:rPr>
              <a:t>    函主要用于不相隶属机关之间商洽工作、询问和答复问题、体现着双方平等沟通的关系，这是其他上行文和下行文所不具备的特点。</a:t>
            </a:r>
            <a:endParaRPr lang="zh-CN" altLang="en-US" sz="1800" dirty="0">
              <a:latin typeface="仿宋_GB2312" panose="02010609030101010101" pitchFamily="49" charset="-122"/>
              <a:ea typeface="仿宋_GB2312" panose="02010609030101010101" pitchFamily="49" charset="-122"/>
            </a:endParaRPr>
          </a:p>
          <a:p>
            <a:pPr marL="0" indent="0">
              <a:buNone/>
            </a:pPr>
            <a:r>
              <a:rPr lang="zh-CN" altLang="en-US" sz="1800" dirty="0">
                <a:latin typeface="仿宋_GB2312" panose="02010609030101010101" pitchFamily="49" charset="-122"/>
                <a:ea typeface="仿宋_GB2312" panose="02010609030101010101" pitchFamily="49" charset="-122"/>
              </a:rPr>
              <a:t>    2.灵活性与广泛性。</a:t>
            </a:r>
            <a:endParaRPr lang="zh-CN" altLang="en-US" sz="1800" dirty="0">
              <a:latin typeface="仿宋_GB2312" panose="02010609030101010101" pitchFamily="49" charset="-122"/>
              <a:ea typeface="仿宋_GB2312" panose="02010609030101010101" pitchFamily="49" charset="-122"/>
            </a:endParaRPr>
          </a:p>
          <a:p>
            <a:pPr marL="0" indent="0">
              <a:buNone/>
            </a:pPr>
            <a:r>
              <a:rPr lang="zh-CN" altLang="en-US" sz="1800" dirty="0">
                <a:latin typeface="仿宋_GB2312" panose="02010609030101010101" pitchFamily="49" charset="-122"/>
                <a:ea typeface="仿宋_GB2312" panose="02010609030101010101" pitchFamily="49" charset="-122"/>
              </a:rPr>
              <a:t>    凡是申请事项、建议咨询、商洽工作、答复询问等均可用函。</a:t>
            </a:r>
            <a:endParaRPr lang="zh-CN" altLang="en-US" sz="1800" dirty="0">
              <a:latin typeface="仿宋_GB2312" panose="02010609030101010101" pitchFamily="49" charset="-122"/>
              <a:ea typeface="仿宋_GB2312" panose="02010609030101010101" pitchFamily="49" charset="-122"/>
            </a:endParaRPr>
          </a:p>
          <a:p>
            <a:pPr marL="0" indent="0">
              <a:buNone/>
            </a:pPr>
            <a:r>
              <a:rPr lang="zh-CN" altLang="en-US" sz="1800" dirty="0">
                <a:latin typeface="仿宋_GB2312" panose="02010609030101010101" pitchFamily="49" charset="-122"/>
                <a:ea typeface="仿宋_GB2312" panose="02010609030101010101" pitchFamily="49" charset="-122"/>
              </a:rPr>
              <a:t>    3.单一性和权威性。</a:t>
            </a:r>
            <a:endParaRPr lang="zh-CN" altLang="en-US" sz="1800" dirty="0">
              <a:latin typeface="仿宋_GB2312" panose="02010609030101010101" pitchFamily="49" charset="-122"/>
              <a:ea typeface="仿宋_GB2312" panose="02010609030101010101" pitchFamily="49" charset="-122"/>
            </a:endParaRPr>
          </a:p>
          <a:p>
            <a:pPr marL="0" indent="0">
              <a:buNone/>
            </a:pPr>
            <a:r>
              <a:rPr lang="zh-CN" altLang="en-US" sz="1800" dirty="0">
                <a:latin typeface="仿宋_GB2312" panose="02010609030101010101" pitchFamily="49" charset="-122"/>
                <a:ea typeface="仿宋_GB2312" panose="02010609030101010101" pitchFamily="49" charset="-122"/>
              </a:rPr>
              <a:t>    函的内容必须单纯，一份函只能写一件事项。函属于法定公文，代表发文机关的决策与意图，具有法定效用。</a:t>
            </a:r>
            <a:endParaRPr lang="zh-CN" altLang="en-US" sz="1800" dirty="0">
              <a:latin typeface="仿宋_GB2312" panose="02010609030101010101" pitchFamily="49" charset="-122"/>
              <a:ea typeface="仿宋_GB2312" panose="02010609030101010101" pitchFamily="49" charset="-122"/>
            </a:endParaRPr>
          </a:p>
        </p:txBody>
      </p:sp>
      <p:pic>
        <p:nvPicPr>
          <p:cNvPr id="13" name="图片 12" descr="E:\曹飞\2017\2017-8-8地铁PPT\7.png7"/>
          <p:cNvPicPr>
            <a:picLocks noChangeAspect="1"/>
          </p:cNvPicPr>
          <p:nvPr/>
        </p:nvPicPr>
        <p:blipFill>
          <a:blip r:embed="rId1" cstate="email"/>
          <a:srcRect/>
          <a:stretch>
            <a:fillRect/>
          </a:stretch>
        </p:blipFill>
        <p:spPr>
          <a:xfrm>
            <a:off x="-6667" y="4477465"/>
            <a:ext cx="9168289" cy="668179"/>
          </a:xfrm>
          <a:prstGeom prst="rect">
            <a:avLst/>
          </a:prstGeom>
        </p:spPr>
      </p:pic>
      <p:pic>
        <p:nvPicPr>
          <p:cNvPr id="8" name="图片 7" descr="E:\曹飞\2017\2017-8-8地铁PPT\6.png6"/>
          <p:cNvPicPr>
            <a:picLocks noChangeAspect="1"/>
          </p:cNvPicPr>
          <p:nvPr/>
        </p:nvPicPr>
        <p:blipFill>
          <a:blip r:embed="rId2" cstate="email"/>
          <a:srcRect/>
          <a:stretch>
            <a:fillRect/>
          </a:stretch>
        </p:blipFill>
        <p:spPr>
          <a:xfrm>
            <a:off x="2261712" y="230427"/>
            <a:ext cx="6463189" cy="343376"/>
          </a:xfrm>
          <a:prstGeom prst="rect">
            <a:avLst/>
          </a:prstGeom>
        </p:spPr>
      </p:pic>
      <p:pic>
        <p:nvPicPr>
          <p:cNvPr id="9" name="图片 8"/>
          <p:cNvPicPr>
            <a:picLocks noChangeAspect="1"/>
          </p:cNvPicPr>
          <p:nvPr/>
        </p:nvPicPr>
        <p:blipFill>
          <a:blip r:embed="rId3"/>
          <a:stretch>
            <a:fillRect/>
          </a:stretch>
        </p:blipFill>
        <p:spPr>
          <a:xfrm>
            <a:off x="575945" y="297180"/>
            <a:ext cx="1685925" cy="419100"/>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par>
                                <p:cTn id="10" presetID="12" presetClass="entr" presetSubtype="8"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p:tgtEl>
                                          <p:spTgt spid="8"/>
                                        </p:tgtEl>
                                        <p:attrNameLst>
                                          <p:attrName>ppt_x</p:attrName>
                                        </p:attrNameLst>
                                      </p:cBhvr>
                                      <p:tavLst>
                                        <p:tav tm="0">
                                          <p:val>
                                            <p:strVal val="#ppt_x-#ppt_w*1.125000"/>
                                          </p:val>
                                        </p:tav>
                                        <p:tav tm="100000">
                                          <p:val>
                                            <p:strVal val="#ppt_x"/>
                                          </p:val>
                                        </p:tav>
                                      </p:tavLst>
                                    </p:anim>
                                    <p:animEffect transition="in" filter="wipe(right)">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0240" y="843280"/>
            <a:ext cx="7593965" cy="3145790"/>
          </a:xfrm>
        </p:spPr>
        <p:txBody>
          <a:bodyPr/>
          <a:lstStyle/>
          <a:p>
            <a:pPr marL="0" indent="0">
              <a:buNone/>
            </a:pPr>
            <a:r>
              <a:rPr lang="en-US" altLang="zh-CN" sz="1800" dirty="0" smtClean="0">
                <a:latin typeface="黑体" panose="02010609060101010101" pitchFamily="49" charset="-122"/>
                <a:ea typeface="黑体" panose="02010609060101010101" pitchFamily="49" charset="-122"/>
              </a:rPr>
              <a:t>    </a:t>
            </a:r>
            <a:r>
              <a:rPr lang="zh-CN" altLang="en-US" sz="1800" dirty="0" smtClean="0">
                <a:latin typeface="黑体" panose="02010609060101010101" pitchFamily="49" charset="-122"/>
                <a:ea typeface="黑体" panose="02010609060101010101" pitchFamily="49" charset="-122"/>
              </a:rPr>
              <a:t>二、函</a:t>
            </a:r>
            <a:r>
              <a:rPr lang="zh-CN" altLang="en-US" sz="1800" dirty="0">
                <a:latin typeface="黑体" panose="02010609060101010101" pitchFamily="49" charset="-122"/>
                <a:ea typeface="黑体" panose="02010609060101010101" pitchFamily="49" charset="-122"/>
              </a:rPr>
              <a:t>的分类</a:t>
            </a:r>
            <a:endParaRPr lang="zh-CN" altLang="en-US" sz="1800" dirty="0">
              <a:latin typeface="黑体" panose="02010609060101010101" pitchFamily="49" charset="-122"/>
              <a:ea typeface="黑体" panose="02010609060101010101" pitchFamily="49" charset="-122"/>
            </a:endParaRPr>
          </a:p>
          <a:p>
            <a:pPr marL="0" indent="0">
              <a:buNone/>
            </a:pPr>
            <a:r>
              <a:rPr lang="zh-CN" altLang="en-US" sz="1800" dirty="0">
                <a:latin typeface="仿宋_GB2312" panose="02010609030101010101" pitchFamily="49" charset="-122"/>
                <a:ea typeface="仿宋_GB2312" panose="02010609030101010101" pitchFamily="49" charset="-122"/>
              </a:rPr>
              <a:t>    </a:t>
            </a:r>
            <a:endParaRPr lang="zh-CN" altLang="en-US" sz="1800" dirty="0">
              <a:latin typeface="仿宋_GB2312" panose="02010609030101010101" pitchFamily="49" charset="-122"/>
              <a:ea typeface="仿宋_GB2312" panose="02010609030101010101" pitchFamily="49" charset="-122"/>
            </a:endParaRPr>
          </a:p>
          <a:p>
            <a:pPr marL="0" indent="0">
              <a:buNone/>
            </a:pPr>
            <a:r>
              <a:rPr lang="zh-CN" altLang="en-US" sz="1800" dirty="0">
                <a:latin typeface="仿宋_GB2312" panose="02010609030101010101" pitchFamily="49" charset="-122"/>
                <a:ea typeface="仿宋_GB2312" panose="02010609030101010101" pitchFamily="49" charset="-122"/>
              </a:rPr>
              <a:t>    1.按发文目的分，可分为发函和复函。</a:t>
            </a:r>
            <a:endParaRPr lang="zh-CN" altLang="en-US" sz="1800" dirty="0">
              <a:latin typeface="仿宋_GB2312" panose="02010609030101010101" pitchFamily="49" charset="-122"/>
              <a:ea typeface="仿宋_GB2312" panose="02010609030101010101" pitchFamily="49" charset="-122"/>
            </a:endParaRPr>
          </a:p>
          <a:p>
            <a:pPr marL="0" indent="0">
              <a:buNone/>
            </a:pPr>
            <a:r>
              <a:rPr lang="zh-CN" altLang="en-US" sz="1800" dirty="0">
                <a:latin typeface="仿宋_GB2312" panose="02010609030101010101" pitchFamily="49" charset="-122"/>
                <a:ea typeface="仿宋_GB2312" panose="02010609030101010101" pitchFamily="49" charset="-122"/>
              </a:rPr>
              <a:t>    2.按内容和用途分，可分为商洽函、询问函、请批函和告知函。</a:t>
            </a:r>
            <a:endParaRPr lang="zh-CN" altLang="en-US" sz="1800" dirty="0">
              <a:latin typeface="仿宋_GB2312" panose="02010609030101010101" pitchFamily="49" charset="-122"/>
              <a:ea typeface="仿宋_GB2312" panose="02010609030101010101" pitchFamily="49" charset="-122"/>
            </a:endParaRPr>
          </a:p>
        </p:txBody>
      </p:sp>
      <p:pic>
        <p:nvPicPr>
          <p:cNvPr id="13" name="图片 12" descr="E:\曹飞\2017\2017-8-8地铁PPT\7.png7"/>
          <p:cNvPicPr>
            <a:picLocks noChangeAspect="1"/>
          </p:cNvPicPr>
          <p:nvPr/>
        </p:nvPicPr>
        <p:blipFill>
          <a:blip r:embed="rId1" cstate="email"/>
          <a:srcRect/>
          <a:stretch>
            <a:fillRect/>
          </a:stretch>
        </p:blipFill>
        <p:spPr>
          <a:xfrm>
            <a:off x="-6667" y="4477465"/>
            <a:ext cx="9168289" cy="668179"/>
          </a:xfrm>
          <a:prstGeom prst="rect">
            <a:avLst/>
          </a:prstGeom>
        </p:spPr>
      </p:pic>
      <p:pic>
        <p:nvPicPr>
          <p:cNvPr id="9" name="图片 8"/>
          <p:cNvPicPr>
            <a:picLocks noChangeAspect="1"/>
          </p:cNvPicPr>
          <p:nvPr/>
        </p:nvPicPr>
        <p:blipFill>
          <a:blip r:embed="rId2"/>
          <a:stretch>
            <a:fillRect/>
          </a:stretch>
        </p:blipFill>
        <p:spPr>
          <a:xfrm>
            <a:off x="575945" y="297180"/>
            <a:ext cx="1685925" cy="419100"/>
          </a:xfrm>
          <a:prstGeom prst="rect">
            <a:avLst/>
          </a:prstGeom>
        </p:spPr>
      </p:pic>
      <p:pic>
        <p:nvPicPr>
          <p:cNvPr id="8" name="图片 7" descr="E:\曹飞\2017\2017-8-8地铁PPT\6.png6"/>
          <p:cNvPicPr>
            <a:picLocks noChangeAspect="1"/>
          </p:cNvPicPr>
          <p:nvPr/>
        </p:nvPicPr>
        <p:blipFill>
          <a:blip r:embed="rId3" cstate="email"/>
          <a:srcRect/>
          <a:stretch>
            <a:fillRect/>
          </a:stretch>
        </p:blipFill>
        <p:spPr>
          <a:xfrm>
            <a:off x="2261712" y="230427"/>
            <a:ext cx="6463189" cy="343376"/>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par>
                                <p:cTn id="10" presetID="12" presetClass="entr" presetSubtype="8"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p:tgtEl>
                                          <p:spTgt spid="8"/>
                                        </p:tgtEl>
                                        <p:attrNameLst>
                                          <p:attrName>ppt_x</p:attrName>
                                        </p:attrNameLst>
                                      </p:cBhvr>
                                      <p:tavLst>
                                        <p:tav tm="0">
                                          <p:val>
                                            <p:strVal val="#ppt_x-#ppt_w*1.125000"/>
                                          </p:val>
                                        </p:tav>
                                        <p:tav tm="100000">
                                          <p:val>
                                            <p:strVal val="#ppt_x"/>
                                          </p:val>
                                        </p:tav>
                                      </p:tavLst>
                                    </p:anim>
                                    <p:animEffect transition="in" filter="wipe(right)">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768350" y="735330"/>
            <a:ext cx="7176770" cy="2052320"/>
          </a:xfrm>
        </p:spPr>
        <p:txBody>
          <a:bodyPr/>
          <a:lstStyle/>
          <a:p>
            <a:pPr marL="0" indent="0">
              <a:buNone/>
            </a:pPr>
            <a:r>
              <a:rPr lang="en-US" altLang="zh-CN" sz="1800" dirty="0" smtClean="0">
                <a:latin typeface="仿宋_GB2312" panose="02010609030101010101" pitchFamily="49" charset="-122"/>
                <a:ea typeface="仿宋_GB2312" panose="02010609030101010101" pitchFamily="49" charset="-122"/>
              </a:rPr>
              <a:t>    </a:t>
            </a:r>
            <a:r>
              <a:rPr lang="zh-CN" altLang="en-US" sz="1800" dirty="0" smtClean="0">
                <a:latin typeface="仿宋_GB2312" panose="02010609030101010101" pitchFamily="49" charset="-122"/>
                <a:ea typeface="仿宋_GB2312" panose="02010609030101010101" pitchFamily="49" charset="-122"/>
              </a:rPr>
              <a:t>商洽函</a:t>
            </a:r>
            <a:endParaRPr lang="en-US" altLang="zh-CN" sz="1800" dirty="0" smtClean="0">
              <a:latin typeface="仿宋_GB2312" panose="02010609030101010101" pitchFamily="49" charset="-122"/>
              <a:ea typeface="仿宋_GB2312" panose="02010609030101010101" pitchFamily="49" charset="-122"/>
            </a:endParaRPr>
          </a:p>
          <a:p>
            <a:pPr marL="0" indent="0">
              <a:buNone/>
            </a:pPr>
            <a:r>
              <a:rPr lang="zh-CN" altLang="en-US" sz="1800" dirty="0">
                <a:latin typeface="仿宋_GB2312" panose="02010609030101010101" pitchFamily="49" charset="-122"/>
                <a:ea typeface="仿宋_GB2312" panose="02010609030101010101" pitchFamily="49" charset="-122"/>
              </a:rPr>
              <a:t>    商洽函是用于平行机关或不相隶属的机关之间商洽</a:t>
            </a:r>
            <a:r>
              <a:rPr lang="zh-CN" altLang="en-US" sz="1800" dirty="0" smtClean="0">
                <a:latin typeface="仿宋_GB2312" panose="02010609030101010101" pitchFamily="49" charset="-122"/>
                <a:ea typeface="仿宋_GB2312" panose="02010609030101010101" pitchFamily="49" charset="-122"/>
              </a:rPr>
              <a:t>工作</a:t>
            </a:r>
            <a:r>
              <a:rPr lang="zh-CN" altLang="en-US" sz="1800" dirty="0">
                <a:latin typeface="仿宋_GB2312" panose="02010609030101010101" pitchFamily="49" charset="-122"/>
                <a:ea typeface="仿宋_GB2312" panose="02010609030101010101" pitchFamily="49" charset="-122"/>
              </a:rPr>
              <a:t>的函，这类函使用</a:t>
            </a:r>
            <a:r>
              <a:rPr lang="zh-CN" altLang="en-US" sz="1800" dirty="0" smtClean="0">
                <a:latin typeface="仿宋_GB2312" panose="02010609030101010101" pitchFamily="49" charset="-122"/>
                <a:ea typeface="仿宋_GB2312" panose="02010609030101010101" pitchFamily="49" charset="-122"/>
              </a:rPr>
              <a:t>较多。</a:t>
            </a:r>
            <a:endParaRPr lang="en-US" altLang="zh-CN" sz="1800" dirty="0" smtClean="0">
              <a:latin typeface="仿宋_GB2312" panose="02010609030101010101" pitchFamily="49" charset="-122"/>
              <a:ea typeface="仿宋_GB2312" panose="02010609030101010101" pitchFamily="49" charset="-122"/>
            </a:endParaRPr>
          </a:p>
        </p:txBody>
      </p:sp>
      <p:pic>
        <p:nvPicPr>
          <p:cNvPr id="13" name="图片 12" descr="E:\曹飞\2017\2017-8-8地铁PPT\7.png7"/>
          <p:cNvPicPr>
            <a:picLocks noChangeAspect="1"/>
          </p:cNvPicPr>
          <p:nvPr/>
        </p:nvPicPr>
        <p:blipFill>
          <a:blip r:embed="rId1" cstate="email"/>
          <a:srcRect/>
          <a:stretch>
            <a:fillRect/>
          </a:stretch>
        </p:blipFill>
        <p:spPr>
          <a:xfrm>
            <a:off x="-6667" y="4477465"/>
            <a:ext cx="9168289" cy="668179"/>
          </a:xfrm>
          <a:prstGeom prst="rect">
            <a:avLst/>
          </a:prstGeom>
        </p:spPr>
      </p:pic>
      <p:pic>
        <p:nvPicPr>
          <p:cNvPr id="8" name="图片 7" descr="E:\曹飞\2017\2017-8-8地铁PPT\6.png6"/>
          <p:cNvPicPr>
            <a:picLocks noChangeAspect="1"/>
          </p:cNvPicPr>
          <p:nvPr/>
        </p:nvPicPr>
        <p:blipFill>
          <a:blip r:embed="rId2" cstate="email"/>
          <a:srcRect/>
          <a:stretch>
            <a:fillRect/>
          </a:stretch>
        </p:blipFill>
        <p:spPr>
          <a:xfrm>
            <a:off x="2261712" y="230427"/>
            <a:ext cx="6463189" cy="343376"/>
          </a:xfrm>
          <a:prstGeom prst="rect">
            <a:avLst/>
          </a:prstGeom>
        </p:spPr>
      </p:pic>
      <p:pic>
        <p:nvPicPr>
          <p:cNvPr id="9" name="图片 8"/>
          <p:cNvPicPr>
            <a:picLocks noChangeAspect="1"/>
          </p:cNvPicPr>
          <p:nvPr/>
        </p:nvPicPr>
        <p:blipFill>
          <a:blip r:embed="rId3"/>
          <a:stretch>
            <a:fillRect/>
          </a:stretch>
        </p:blipFill>
        <p:spPr>
          <a:xfrm>
            <a:off x="575945" y="297180"/>
            <a:ext cx="1685925" cy="419100"/>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par>
                                <p:cTn id="10" presetID="12" presetClass="entr" presetSubtype="8"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p:tgtEl>
                                          <p:spTgt spid="8"/>
                                        </p:tgtEl>
                                        <p:attrNameLst>
                                          <p:attrName>ppt_x</p:attrName>
                                        </p:attrNameLst>
                                      </p:cBhvr>
                                      <p:tavLst>
                                        <p:tav tm="0">
                                          <p:val>
                                            <p:strVal val="#ppt_x-#ppt_w*1.125000"/>
                                          </p:val>
                                        </p:tav>
                                        <p:tav tm="100000">
                                          <p:val>
                                            <p:strVal val="#ppt_x"/>
                                          </p:val>
                                        </p:tav>
                                      </p:tavLst>
                                    </p:anim>
                                    <p:animEffect transition="in" filter="wipe(right)">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06730" y="843280"/>
            <a:ext cx="7841615" cy="3145790"/>
          </a:xfrm>
        </p:spPr>
        <p:txBody>
          <a:bodyPr/>
          <a:lstStyle/>
          <a:p>
            <a:pPr marL="0" indent="0">
              <a:buNone/>
            </a:pPr>
            <a:r>
              <a:rPr lang="en-US" altLang="zh-CN" sz="1800" dirty="0">
                <a:latin typeface="仿宋_GB2312" panose="02010609030101010101" pitchFamily="49" charset="-122"/>
                <a:ea typeface="仿宋_GB2312" panose="02010609030101010101" pitchFamily="49" charset="-122"/>
              </a:rPr>
              <a:t>   </a:t>
            </a:r>
            <a:r>
              <a:rPr lang="zh-CN" altLang="en-US" sz="1800" dirty="0">
                <a:latin typeface="仿宋_GB2312" panose="02010609030101010101" pitchFamily="49" charset="-122"/>
                <a:ea typeface="仿宋_GB2312" panose="02010609030101010101" pitchFamily="49" charset="-122"/>
              </a:rPr>
              <a:t>告知函</a:t>
            </a:r>
            <a:endParaRPr lang="zh-CN" altLang="en-US" sz="1800" dirty="0">
              <a:latin typeface="仿宋_GB2312" panose="02010609030101010101" pitchFamily="49" charset="-122"/>
              <a:ea typeface="仿宋_GB2312" panose="02010609030101010101" pitchFamily="49" charset="-122"/>
            </a:endParaRPr>
          </a:p>
          <a:p>
            <a:pPr marL="0" indent="0">
              <a:buNone/>
            </a:pPr>
            <a:r>
              <a:rPr lang="zh-CN" altLang="en-US" sz="1800" dirty="0">
                <a:latin typeface="仿宋_GB2312" panose="02010609030101010101" pitchFamily="49" charset="-122"/>
                <a:ea typeface="仿宋_GB2312" panose="02010609030101010101" pitchFamily="49" charset="-122"/>
              </a:rPr>
              <a:t>   告知函，是平级或不相隶属单位之间相互通知事情时使用的函。</a:t>
            </a:r>
            <a:endParaRPr lang="zh-CN" altLang="en-US" sz="1800" dirty="0">
              <a:latin typeface="仿宋_GB2312" panose="02010609030101010101" pitchFamily="49" charset="-122"/>
              <a:ea typeface="仿宋_GB2312" panose="02010609030101010101" pitchFamily="49" charset="-122"/>
            </a:endParaRPr>
          </a:p>
        </p:txBody>
      </p:sp>
      <p:pic>
        <p:nvPicPr>
          <p:cNvPr id="13" name="图片 12" descr="E:\曹飞\2017\2017-8-8地铁PPT\7.png7"/>
          <p:cNvPicPr>
            <a:picLocks noChangeAspect="1"/>
          </p:cNvPicPr>
          <p:nvPr/>
        </p:nvPicPr>
        <p:blipFill>
          <a:blip r:embed="rId1" cstate="email"/>
          <a:srcRect/>
          <a:stretch>
            <a:fillRect/>
          </a:stretch>
        </p:blipFill>
        <p:spPr>
          <a:xfrm>
            <a:off x="-6667" y="4477465"/>
            <a:ext cx="9168289" cy="668179"/>
          </a:xfrm>
          <a:prstGeom prst="rect">
            <a:avLst/>
          </a:prstGeom>
        </p:spPr>
      </p:pic>
      <p:pic>
        <p:nvPicPr>
          <p:cNvPr id="9" name="图片 8"/>
          <p:cNvPicPr>
            <a:picLocks noChangeAspect="1"/>
          </p:cNvPicPr>
          <p:nvPr/>
        </p:nvPicPr>
        <p:blipFill>
          <a:blip r:embed="rId2"/>
          <a:stretch>
            <a:fillRect/>
          </a:stretch>
        </p:blipFill>
        <p:spPr>
          <a:xfrm>
            <a:off x="575945" y="297180"/>
            <a:ext cx="1685925" cy="419100"/>
          </a:xfrm>
          <a:prstGeom prst="rect">
            <a:avLst/>
          </a:prstGeom>
        </p:spPr>
      </p:pic>
      <p:pic>
        <p:nvPicPr>
          <p:cNvPr id="8" name="图片 7" descr="E:\曹飞\2017\2017-8-8地铁PPT\6.png6"/>
          <p:cNvPicPr>
            <a:picLocks noChangeAspect="1"/>
          </p:cNvPicPr>
          <p:nvPr/>
        </p:nvPicPr>
        <p:blipFill>
          <a:blip r:embed="rId3" cstate="email"/>
          <a:srcRect/>
          <a:stretch>
            <a:fillRect/>
          </a:stretch>
        </p:blipFill>
        <p:spPr>
          <a:xfrm>
            <a:off x="2261712" y="230427"/>
            <a:ext cx="6463189" cy="343376"/>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par>
                                <p:cTn id="10" presetID="12" presetClass="entr" presetSubtype="8"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p:tgtEl>
                                          <p:spTgt spid="8"/>
                                        </p:tgtEl>
                                        <p:attrNameLst>
                                          <p:attrName>ppt_x</p:attrName>
                                        </p:attrNameLst>
                                      </p:cBhvr>
                                      <p:tavLst>
                                        <p:tav tm="0">
                                          <p:val>
                                            <p:strVal val="#ppt_x-#ppt_w*1.125000"/>
                                          </p:val>
                                        </p:tav>
                                        <p:tav tm="100000">
                                          <p:val>
                                            <p:strVal val="#ppt_x"/>
                                          </p:val>
                                        </p:tav>
                                      </p:tavLst>
                                    </p:anim>
                                    <p:animEffect transition="in" filter="wipe(right)">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835" y="1217930"/>
            <a:ext cx="7889240" cy="2501265"/>
          </a:xfrm>
        </p:spPr>
        <p:txBody>
          <a:bodyPr>
            <a:normAutofit/>
          </a:bodyPr>
          <a:lstStyle/>
          <a:p>
            <a:pPr marL="0" indent="0">
              <a:buNone/>
            </a:pPr>
            <a:r>
              <a:rPr lang="en-US" altLang="zh-CN" sz="1800"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三、函与请示的区别</a:t>
            </a:r>
            <a:endParaRPr lang="zh-CN" altLang="en-US" sz="1800" dirty="0">
              <a:latin typeface="黑体" panose="02010609060101010101" pitchFamily="49" charset="-122"/>
              <a:ea typeface="黑体" panose="02010609060101010101" pitchFamily="49" charset="-122"/>
            </a:endParaRPr>
          </a:p>
          <a:p>
            <a:pPr marL="0" indent="0">
              <a:buNone/>
            </a:pPr>
            <a:r>
              <a:rPr lang="zh-CN" altLang="en-US" sz="1800" dirty="0">
                <a:latin typeface="仿宋_GB2312" panose="02010609030101010101" pitchFamily="49" charset="-122"/>
                <a:ea typeface="仿宋_GB2312" panose="02010609030101010101" pitchFamily="49" charset="-122"/>
              </a:rPr>
              <a:t>    函与请示的共同点在于它们的适用范围中都有请求批准的功用。不同点在于：</a:t>
            </a:r>
            <a:endParaRPr lang="zh-CN" altLang="en-US" sz="1800" dirty="0">
              <a:latin typeface="仿宋_GB2312" panose="02010609030101010101" pitchFamily="49" charset="-122"/>
              <a:ea typeface="仿宋_GB2312" panose="02010609030101010101" pitchFamily="49" charset="-122"/>
            </a:endParaRPr>
          </a:p>
          <a:p>
            <a:pPr marL="0" indent="0">
              <a:buNone/>
            </a:pPr>
            <a:r>
              <a:rPr lang="zh-CN" altLang="en-US" sz="1800" dirty="0">
                <a:latin typeface="仿宋_GB2312" panose="02010609030101010101" pitchFamily="49" charset="-122"/>
                <a:ea typeface="仿宋_GB2312" panose="02010609030101010101" pitchFamily="49" charset="-122"/>
              </a:rPr>
              <a:t>    1.行文时间不同。</a:t>
            </a:r>
            <a:endParaRPr lang="zh-CN" altLang="en-US" sz="1800" dirty="0">
              <a:latin typeface="仿宋_GB2312" panose="02010609030101010101" pitchFamily="49" charset="-122"/>
              <a:ea typeface="仿宋_GB2312" panose="02010609030101010101" pitchFamily="49" charset="-122"/>
            </a:endParaRPr>
          </a:p>
          <a:p>
            <a:pPr marL="0" indent="0">
              <a:buNone/>
            </a:pPr>
            <a:r>
              <a:rPr lang="zh-CN" altLang="en-US" sz="1800" dirty="0">
                <a:latin typeface="仿宋_GB2312" panose="02010609030101010101" pitchFamily="49" charset="-122"/>
                <a:ea typeface="仿宋_GB2312" panose="02010609030101010101" pitchFamily="49" charset="-122"/>
              </a:rPr>
              <a:t>    2.行文方向不同。</a:t>
            </a:r>
            <a:endParaRPr lang="zh-CN" altLang="en-US" sz="1800" dirty="0">
              <a:latin typeface="仿宋_GB2312" panose="02010609030101010101" pitchFamily="49" charset="-122"/>
              <a:ea typeface="仿宋_GB2312" panose="02010609030101010101" pitchFamily="49" charset="-122"/>
            </a:endParaRPr>
          </a:p>
          <a:p>
            <a:pPr marL="0" indent="0">
              <a:buNone/>
            </a:pPr>
            <a:r>
              <a:rPr lang="zh-CN" altLang="en-US" sz="1800" dirty="0">
                <a:latin typeface="仿宋_GB2312" panose="02010609030101010101" pitchFamily="49" charset="-122"/>
                <a:ea typeface="仿宋_GB2312" panose="02010609030101010101" pitchFamily="49" charset="-122"/>
              </a:rPr>
              <a:t>    3.行文功能不同。</a:t>
            </a:r>
            <a:endParaRPr lang="zh-CN" altLang="en-US" sz="1800" dirty="0">
              <a:latin typeface="仿宋_GB2312" panose="02010609030101010101" pitchFamily="49" charset="-122"/>
              <a:ea typeface="仿宋_GB2312" panose="02010609030101010101" pitchFamily="49" charset="-122"/>
            </a:endParaRPr>
          </a:p>
          <a:p>
            <a:pPr marL="0" indent="0">
              <a:buNone/>
            </a:pPr>
            <a:r>
              <a:rPr lang="zh-CN" altLang="en-US" sz="1800" dirty="0">
                <a:latin typeface="仿宋_GB2312" panose="02010609030101010101" pitchFamily="49" charset="-122"/>
                <a:ea typeface="仿宋_GB2312" panose="02010609030101010101" pitchFamily="49" charset="-122"/>
              </a:rPr>
              <a:t>    4.行文结果不同。</a:t>
            </a:r>
            <a:endParaRPr lang="zh-CN" altLang="en-US" sz="1800" dirty="0">
              <a:latin typeface="仿宋_GB2312" panose="02010609030101010101" pitchFamily="49" charset="-122"/>
              <a:ea typeface="仿宋_GB2312" panose="02010609030101010101" pitchFamily="49" charset="-122"/>
            </a:endParaRPr>
          </a:p>
        </p:txBody>
      </p:sp>
      <p:pic>
        <p:nvPicPr>
          <p:cNvPr id="13" name="图片 12" descr="E:\曹飞\2017\2017-8-8地铁PPT\7.png7"/>
          <p:cNvPicPr>
            <a:picLocks noChangeAspect="1"/>
          </p:cNvPicPr>
          <p:nvPr/>
        </p:nvPicPr>
        <p:blipFill>
          <a:blip r:embed="rId1" cstate="email"/>
          <a:srcRect/>
          <a:stretch>
            <a:fillRect/>
          </a:stretch>
        </p:blipFill>
        <p:spPr>
          <a:xfrm>
            <a:off x="-6667" y="4477465"/>
            <a:ext cx="9168289" cy="668179"/>
          </a:xfrm>
          <a:prstGeom prst="rect">
            <a:avLst/>
          </a:prstGeom>
        </p:spPr>
      </p:pic>
      <p:pic>
        <p:nvPicPr>
          <p:cNvPr id="8" name="图片 7" descr="E:\曹飞\2017\2017-8-8地铁PPT\6.png6"/>
          <p:cNvPicPr>
            <a:picLocks noChangeAspect="1"/>
          </p:cNvPicPr>
          <p:nvPr/>
        </p:nvPicPr>
        <p:blipFill>
          <a:blip r:embed="rId2" cstate="email"/>
          <a:srcRect/>
          <a:stretch>
            <a:fillRect/>
          </a:stretch>
        </p:blipFill>
        <p:spPr>
          <a:xfrm>
            <a:off x="2261712" y="230427"/>
            <a:ext cx="6463189" cy="343376"/>
          </a:xfrm>
          <a:prstGeom prst="rect">
            <a:avLst/>
          </a:prstGeom>
        </p:spPr>
      </p:pic>
      <p:pic>
        <p:nvPicPr>
          <p:cNvPr id="9" name="图片 8"/>
          <p:cNvPicPr>
            <a:picLocks noChangeAspect="1"/>
          </p:cNvPicPr>
          <p:nvPr/>
        </p:nvPicPr>
        <p:blipFill>
          <a:blip r:embed="rId3"/>
          <a:stretch>
            <a:fillRect/>
          </a:stretch>
        </p:blipFill>
        <p:spPr>
          <a:xfrm>
            <a:off x="575945" y="297180"/>
            <a:ext cx="1685925" cy="419100"/>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par>
                                <p:cTn id="10" presetID="12" presetClass="entr" presetSubtype="8"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p:tgtEl>
                                          <p:spTgt spid="8"/>
                                        </p:tgtEl>
                                        <p:attrNameLst>
                                          <p:attrName>ppt_x</p:attrName>
                                        </p:attrNameLst>
                                      </p:cBhvr>
                                      <p:tavLst>
                                        <p:tav tm="0">
                                          <p:val>
                                            <p:strVal val="#ppt_x-#ppt_w*1.125000"/>
                                          </p:val>
                                        </p:tav>
                                        <p:tav tm="100000">
                                          <p:val>
                                            <p:strVal val="#ppt_x"/>
                                          </p:val>
                                        </p:tav>
                                      </p:tavLst>
                                    </p:anim>
                                    <p:animEffect transition="in" filter="wipe(right)">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73380" y="862330"/>
            <a:ext cx="8350885" cy="3161665"/>
          </a:xfrm>
        </p:spPr>
        <p:txBody>
          <a:bodyPr>
            <a:normAutofit fontScale="87500"/>
          </a:bodyPr>
          <a:lstStyle/>
          <a:p>
            <a:pPr marL="0" indent="0">
              <a:buNone/>
            </a:pPr>
            <a:r>
              <a:rPr lang="en-US" altLang="zh-CN" sz="2665" dirty="0">
                <a:latin typeface="黑体" panose="02010609060101010101" pitchFamily="49" charset="-122"/>
                <a:ea typeface="黑体" panose="02010609060101010101" pitchFamily="49" charset="-122"/>
                <a:sym typeface="+mn-ea"/>
              </a:rPr>
              <a:t>  </a:t>
            </a:r>
            <a:r>
              <a:rPr lang="en-US" altLang="zh-CN" sz="2055" dirty="0">
                <a:latin typeface="黑体" panose="02010609060101010101" pitchFamily="49" charset="-122"/>
                <a:ea typeface="黑体" panose="02010609060101010101" pitchFamily="49" charset="-122"/>
                <a:sym typeface="+mn-ea"/>
              </a:rPr>
              <a:t> </a:t>
            </a:r>
            <a:r>
              <a:rPr lang="zh-CN" altLang="en-US" sz="2055" dirty="0">
                <a:latin typeface="黑体" panose="02010609060101010101" pitchFamily="49" charset="-122"/>
                <a:ea typeface="黑体" panose="02010609060101010101" pitchFamily="49" charset="-122"/>
                <a:sym typeface="+mn-ea"/>
              </a:rPr>
              <a:t>四、</a:t>
            </a:r>
            <a:r>
              <a:rPr lang="zh-CN" altLang="en-US" sz="2055" dirty="0" smtClean="0">
                <a:latin typeface="黑体" panose="02010609060101010101" pitchFamily="49" charset="-122"/>
                <a:ea typeface="黑体" panose="02010609060101010101" pitchFamily="49" charset="-122"/>
              </a:rPr>
              <a:t>函</a:t>
            </a:r>
            <a:r>
              <a:rPr lang="zh-CN" altLang="en-US" sz="2055" dirty="0">
                <a:latin typeface="黑体" panose="02010609060101010101" pitchFamily="49" charset="-122"/>
                <a:ea typeface="黑体" panose="02010609060101010101" pitchFamily="49" charset="-122"/>
              </a:rPr>
              <a:t>的基本结构</a:t>
            </a:r>
            <a:endParaRPr lang="zh-CN" altLang="en-US" sz="2665" dirty="0">
              <a:latin typeface="黑体" panose="02010609060101010101" pitchFamily="49" charset="-122"/>
              <a:ea typeface="黑体" panose="02010609060101010101" pitchFamily="49" charset="-122"/>
            </a:endParaRPr>
          </a:p>
          <a:p>
            <a:pPr marL="0" indent="0">
              <a:buNone/>
            </a:pPr>
            <a:r>
              <a:rPr lang="zh-CN" altLang="en-US" sz="2400" dirty="0"/>
              <a:t>       </a:t>
            </a:r>
            <a:r>
              <a:rPr lang="zh-CN" altLang="en-US" sz="1800" dirty="0">
                <a:latin typeface="仿宋_GB2312" panose="02010609030101010101" pitchFamily="49" charset="-122"/>
                <a:ea typeface="仿宋_GB2312" panose="02010609030101010101" pitchFamily="49" charset="-122"/>
              </a:rPr>
              <a:t>函由标题、发文字号、主送机关、正文、落款组成。</a:t>
            </a:r>
            <a:endParaRPr lang="zh-CN" altLang="en-US" sz="1800" dirty="0">
              <a:latin typeface="仿宋_GB2312" panose="02010609030101010101" pitchFamily="49" charset="-122"/>
              <a:ea typeface="仿宋_GB2312" panose="02010609030101010101" pitchFamily="49" charset="-122"/>
            </a:endParaRPr>
          </a:p>
          <a:p>
            <a:pPr marL="0" indent="0">
              <a:buNone/>
            </a:pPr>
            <a:r>
              <a:rPr lang="zh-CN" altLang="en-US" sz="1800" dirty="0">
                <a:latin typeface="仿宋_GB2312" panose="02010609030101010101" pitchFamily="49" charset="-122"/>
                <a:ea typeface="仿宋_GB2312" panose="02010609030101010101" pitchFamily="49" charset="-122"/>
              </a:rPr>
              <a:t>    1.标题</a:t>
            </a:r>
            <a:endParaRPr lang="zh-CN" altLang="en-US" sz="1800" dirty="0">
              <a:latin typeface="仿宋_GB2312" panose="02010609030101010101" pitchFamily="49" charset="-122"/>
              <a:ea typeface="仿宋_GB2312" panose="02010609030101010101" pitchFamily="49" charset="-122"/>
            </a:endParaRPr>
          </a:p>
          <a:p>
            <a:pPr marL="0" indent="0">
              <a:buNone/>
            </a:pPr>
            <a:r>
              <a:rPr lang="zh-CN" altLang="en-US" sz="1800" dirty="0">
                <a:latin typeface="仿宋_GB2312" panose="02010609030101010101" pitchFamily="49" charset="-122"/>
                <a:ea typeface="仿宋_GB2312" panose="02010609030101010101" pitchFamily="49" charset="-122"/>
              </a:rPr>
              <a:t>    作为正式公文的函，其标题和一般公文的写法一样，由发文机关名称、主要内容（事由）、文种组成。</a:t>
            </a:r>
            <a:endParaRPr lang="zh-CN" altLang="en-US" sz="1800" dirty="0">
              <a:latin typeface="仿宋_GB2312" panose="02010609030101010101" pitchFamily="49" charset="-122"/>
              <a:ea typeface="仿宋_GB2312" panose="02010609030101010101" pitchFamily="49" charset="-122"/>
            </a:endParaRPr>
          </a:p>
          <a:p>
            <a:pPr marL="0" indent="0">
              <a:buNone/>
            </a:pPr>
            <a:r>
              <a:rPr lang="zh-CN" altLang="en-US" sz="1800" dirty="0">
                <a:latin typeface="仿宋_GB2312" panose="02010609030101010101" pitchFamily="49" charset="-122"/>
                <a:ea typeface="仿宋_GB2312" panose="02010609030101010101" pitchFamily="49" charset="-122"/>
              </a:rPr>
              <a:t>    2.发文字号</a:t>
            </a:r>
            <a:endParaRPr lang="zh-CN" altLang="en-US" sz="1800" dirty="0">
              <a:latin typeface="仿宋_GB2312" panose="02010609030101010101" pitchFamily="49" charset="-122"/>
              <a:ea typeface="仿宋_GB2312" panose="02010609030101010101" pitchFamily="49" charset="-122"/>
            </a:endParaRPr>
          </a:p>
          <a:p>
            <a:pPr marL="0" indent="0">
              <a:buNone/>
            </a:pPr>
            <a:r>
              <a:rPr lang="zh-CN" altLang="en-US" sz="1800" dirty="0">
                <a:latin typeface="仿宋_GB2312" panose="02010609030101010101" pitchFamily="49" charset="-122"/>
                <a:ea typeface="仿宋_GB2312" panose="02010609030101010101" pitchFamily="49" charset="-122"/>
              </a:rPr>
              <a:t>    函要有正规的发文字号，写法与一般公文相同，由机关代字、年号、顺序号组成。</a:t>
            </a:r>
            <a:endParaRPr lang="zh-CN" altLang="en-US" sz="1800" dirty="0">
              <a:latin typeface="仿宋_GB2312" panose="02010609030101010101" pitchFamily="49" charset="-122"/>
              <a:ea typeface="仿宋_GB2312" panose="02010609030101010101" pitchFamily="49" charset="-122"/>
            </a:endParaRPr>
          </a:p>
          <a:p>
            <a:pPr marL="0" indent="0">
              <a:buNone/>
            </a:pPr>
            <a:r>
              <a:rPr lang="zh-CN" altLang="en-US" sz="1800" dirty="0">
                <a:latin typeface="仿宋_GB2312" panose="02010609030101010101" pitchFamily="49" charset="-122"/>
                <a:ea typeface="仿宋_GB2312" panose="02010609030101010101" pitchFamily="49" charset="-122"/>
              </a:rPr>
              <a:t>    3.主送机关</a:t>
            </a:r>
            <a:endParaRPr lang="zh-CN" altLang="en-US" sz="1800" dirty="0">
              <a:latin typeface="仿宋_GB2312" panose="02010609030101010101" pitchFamily="49" charset="-122"/>
              <a:ea typeface="仿宋_GB2312" panose="02010609030101010101" pitchFamily="49" charset="-122"/>
            </a:endParaRPr>
          </a:p>
          <a:p>
            <a:pPr marL="0" indent="0">
              <a:buNone/>
            </a:pPr>
            <a:r>
              <a:rPr lang="zh-CN" altLang="en-US" sz="1800" dirty="0">
                <a:latin typeface="仿宋_GB2312" panose="02010609030101010101" pitchFamily="49" charset="-122"/>
                <a:ea typeface="仿宋_GB2312" panose="02010609030101010101" pitchFamily="49" charset="-122"/>
              </a:rPr>
              <a:t>    函的主送机关是明确、单一的，常常只有一个。但有时内容涉及部门较多，也可排列多个主送机关。</a:t>
            </a:r>
            <a:endParaRPr lang="zh-CN" altLang="en-US" sz="1800" dirty="0">
              <a:latin typeface="仿宋_GB2312" panose="02010609030101010101" pitchFamily="49" charset="-122"/>
              <a:ea typeface="仿宋_GB2312" panose="02010609030101010101" pitchFamily="49" charset="-122"/>
            </a:endParaRPr>
          </a:p>
          <a:p>
            <a:endParaRPr lang="zh-CN" altLang="en-US" sz="1800" dirty="0">
              <a:latin typeface="仿宋_GB2312" panose="02010609030101010101" pitchFamily="49" charset="-122"/>
              <a:ea typeface="仿宋_GB2312" panose="02010609030101010101" pitchFamily="49" charset="-122"/>
            </a:endParaRPr>
          </a:p>
        </p:txBody>
      </p:sp>
      <p:pic>
        <p:nvPicPr>
          <p:cNvPr id="13" name="图片 12" descr="E:\曹飞\2017\2017-8-8地铁PPT\7.png7"/>
          <p:cNvPicPr>
            <a:picLocks noChangeAspect="1"/>
          </p:cNvPicPr>
          <p:nvPr/>
        </p:nvPicPr>
        <p:blipFill>
          <a:blip r:embed="rId1" cstate="email"/>
          <a:srcRect/>
          <a:stretch>
            <a:fillRect/>
          </a:stretch>
        </p:blipFill>
        <p:spPr>
          <a:xfrm>
            <a:off x="-6667" y="4477465"/>
            <a:ext cx="9168289" cy="668179"/>
          </a:xfrm>
          <a:prstGeom prst="rect">
            <a:avLst/>
          </a:prstGeom>
        </p:spPr>
      </p:pic>
      <p:pic>
        <p:nvPicPr>
          <p:cNvPr id="9" name="图片 8"/>
          <p:cNvPicPr>
            <a:picLocks noChangeAspect="1"/>
          </p:cNvPicPr>
          <p:nvPr/>
        </p:nvPicPr>
        <p:blipFill>
          <a:blip r:embed="rId2"/>
          <a:stretch>
            <a:fillRect/>
          </a:stretch>
        </p:blipFill>
        <p:spPr>
          <a:xfrm>
            <a:off x="575945" y="297180"/>
            <a:ext cx="1685925" cy="419100"/>
          </a:xfrm>
          <a:prstGeom prst="rect">
            <a:avLst/>
          </a:prstGeom>
        </p:spPr>
      </p:pic>
      <p:pic>
        <p:nvPicPr>
          <p:cNvPr id="8" name="图片 7" descr="E:\曹飞\2017\2017-8-8地铁PPT\6.png6"/>
          <p:cNvPicPr>
            <a:picLocks noChangeAspect="1"/>
          </p:cNvPicPr>
          <p:nvPr/>
        </p:nvPicPr>
        <p:blipFill>
          <a:blip r:embed="rId3" cstate="email"/>
          <a:srcRect/>
          <a:stretch>
            <a:fillRect/>
          </a:stretch>
        </p:blipFill>
        <p:spPr>
          <a:xfrm>
            <a:off x="2261712" y="230427"/>
            <a:ext cx="6463189" cy="343376"/>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par>
                                <p:cTn id="10" presetID="12" presetClass="entr" presetSubtype="8"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p:tgtEl>
                                          <p:spTgt spid="8"/>
                                        </p:tgtEl>
                                        <p:attrNameLst>
                                          <p:attrName>ppt_x</p:attrName>
                                        </p:attrNameLst>
                                      </p:cBhvr>
                                      <p:tavLst>
                                        <p:tav tm="0">
                                          <p:val>
                                            <p:strVal val="#ppt_x-#ppt_w*1.125000"/>
                                          </p:val>
                                        </p:tav>
                                        <p:tav tm="100000">
                                          <p:val>
                                            <p:strVal val="#ppt_x"/>
                                          </p:val>
                                        </p:tav>
                                      </p:tavLst>
                                    </p:anim>
                                    <p:animEffect transition="in" filter="wipe(right)">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58140" y="1019175"/>
            <a:ext cx="8198485" cy="3364865"/>
          </a:xfrm>
        </p:spPr>
        <p:txBody>
          <a:bodyPr>
            <a:normAutofit/>
          </a:bodyPr>
          <a:lstStyle/>
          <a:p>
            <a:pPr marL="0" indent="0">
              <a:buNone/>
            </a:pPr>
            <a:r>
              <a:rPr lang="en-US" altLang="zh-CN" sz="1800" dirty="0">
                <a:latin typeface="仿宋_GB2312" panose="02010609030101010101" pitchFamily="49" charset="-122"/>
                <a:ea typeface="仿宋_GB2312" panose="02010609030101010101" pitchFamily="49" charset="-122"/>
              </a:rPr>
              <a:t>     </a:t>
            </a:r>
            <a:r>
              <a:rPr lang="zh-CN" altLang="en-US" sz="1800" dirty="0">
                <a:latin typeface="仿宋_GB2312" panose="02010609030101010101" pitchFamily="49" charset="-122"/>
                <a:ea typeface="仿宋_GB2312" panose="02010609030101010101" pitchFamily="49" charset="-122"/>
              </a:rPr>
              <a:t>4.正文</a:t>
            </a:r>
            <a:endParaRPr lang="zh-CN" altLang="en-US" sz="1800" dirty="0">
              <a:latin typeface="仿宋_GB2312" panose="02010609030101010101" pitchFamily="49" charset="-122"/>
              <a:ea typeface="仿宋_GB2312" panose="02010609030101010101" pitchFamily="49" charset="-122"/>
            </a:endParaRPr>
          </a:p>
          <a:p>
            <a:pPr marL="0" indent="0">
              <a:buNone/>
            </a:pPr>
            <a:r>
              <a:rPr lang="zh-CN" altLang="en-US" sz="1800" dirty="0">
                <a:latin typeface="仿宋_GB2312" panose="02010609030101010101" pitchFamily="49" charset="-122"/>
                <a:ea typeface="仿宋_GB2312" panose="02010609030101010101" pitchFamily="49" charset="-122"/>
              </a:rPr>
              <a:t>    （</a:t>
            </a:r>
            <a:r>
              <a:rPr lang="en-US" altLang="zh-CN" sz="1800" dirty="0">
                <a:latin typeface="仿宋_GB2312" panose="02010609030101010101" pitchFamily="49" charset="-122"/>
                <a:ea typeface="仿宋_GB2312" panose="02010609030101010101" pitchFamily="49" charset="-122"/>
              </a:rPr>
              <a:t>1</a:t>
            </a:r>
            <a:r>
              <a:rPr lang="zh-CN" altLang="en-US" sz="1800" dirty="0">
                <a:latin typeface="仿宋_GB2312" panose="02010609030101010101" pitchFamily="49" charset="-122"/>
                <a:ea typeface="仿宋_GB2312" panose="02010609030101010101" pitchFamily="49" charset="-122"/>
              </a:rPr>
              <a:t>）发函缘由。这是函的开头部分，主要用来说明发函的根据、目的、原因等。</a:t>
            </a:r>
            <a:endParaRPr lang="zh-CN" altLang="en-US" sz="1800" dirty="0">
              <a:latin typeface="仿宋_GB2312" panose="02010609030101010101" pitchFamily="49" charset="-122"/>
              <a:ea typeface="仿宋_GB2312" panose="02010609030101010101" pitchFamily="49" charset="-122"/>
            </a:endParaRPr>
          </a:p>
          <a:p>
            <a:pPr marL="0" indent="0">
              <a:buNone/>
            </a:pPr>
            <a:r>
              <a:rPr lang="zh-CN" altLang="en-US" sz="1800" dirty="0">
                <a:latin typeface="仿宋_GB2312" panose="02010609030101010101" pitchFamily="49" charset="-122"/>
                <a:ea typeface="仿宋_GB2312" panose="02010609030101010101" pitchFamily="49" charset="-122"/>
                <a:sym typeface="+mn-ea"/>
              </a:rPr>
              <a:t>    （</a:t>
            </a:r>
            <a:r>
              <a:rPr lang="en-US" altLang="zh-CN" sz="1800" dirty="0">
                <a:latin typeface="仿宋_GB2312" panose="02010609030101010101" pitchFamily="49" charset="-122"/>
                <a:ea typeface="仿宋_GB2312" panose="02010609030101010101" pitchFamily="49" charset="-122"/>
                <a:sym typeface="+mn-ea"/>
              </a:rPr>
              <a:t>2</a:t>
            </a:r>
            <a:r>
              <a:rPr lang="zh-CN" altLang="en-US" sz="1800" dirty="0">
                <a:latin typeface="仿宋_GB2312" panose="02010609030101010101" pitchFamily="49" charset="-122"/>
                <a:ea typeface="仿宋_GB2312" panose="02010609030101010101" pitchFamily="49" charset="-122"/>
                <a:sym typeface="+mn-ea"/>
              </a:rPr>
              <a:t>）</a:t>
            </a:r>
            <a:r>
              <a:rPr lang="zh-CN" altLang="en-US" sz="1800" dirty="0">
                <a:latin typeface="仿宋_GB2312" panose="02010609030101010101" pitchFamily="49" charset="-122"/>
                <a:ea typeface="仿宋_GB2312" panose="02010609030101010101" pitchFamily="49" charset="-122"/>
              </a:rPr>
              <a:t>事项。这是函的主体部分，商洽工作、提出询问或作出答复、提请     批准等主要内容，都在这一部分表达。其中：</a:t>
            </a:r>
            <a:endParaRPr lang="zh-CN" altLang="en-US" sz="1800" dirty="0">
              <a:latin typeface="仿宋_GB2312" panose="02010609030101010101" pitchFamily="49" charset="-122"/>
              <a:ea typeface="仿宋_GB2312" panose="02010609030101010101" pitchFamily="49" charset="-122"/>
            </a:endParaRPr>
          </a:p>
          <a:p>
            <a:pPr marL="0" indent="0">
              <a:buNone/>
            </a:pPr>
            <a:r>
              <a:rPr lang="zh-CN" altLang="en-US" sz="1800" dirty="0">
                <a:latin typeface="仿宋_GB2312" panose="02010609030101010101" pitchFamily="49" charset="-122"/>
                <a:ea typeface="仿宋_GB2312" panose="02010609030101010101" pitchFamily="49" charset="-122"/>
              </a:rPr>
              <a:t>     商洽函要写明商洽的原因、事项和发文人意见；</a:t>
            </a:r>
            <a:endParaRPr lang="zh-CN" altLang="en-US" sz="1800" dirty="0">
              <a:latin typeface="仿宋_GB2312" panose="02010609030101010101" pitchFamily="49" charset="-122"/>
              <a:ea typeface="仿宋_GB2312" panose="02010609030101010101" pitchFamily="49" charset="-122"/>
            </a:endParaRPr>
          </a:p>
          <a:p>
            <a:pPr marL="0" indent="0">
              <a:buNone/>
            </a:pPr>
            <a:r>
              <a:rPr lang="zh-CN" altLang="en-US" sz="1800" dirty="0">
                <a:latin typeface="仿宋_GB2312" panose="02010609030101010101" pitchFamily="49" charset="-122"/>
                <a:ea typeface="仿宋_GB2312" panose="02010609030101010101" pitchFamily="49" charset="-122"/>
              </a:rPr>
              <a:t>     询问函要写明询问的问题以及询问问题的缘由；</a:t>
            </a:r>
            <a:endParaRPr lang="zh-CN" altLang="en-US" sz="1800" dirty="0">
              <a:latin typeface="仿宋_GB2312" panose="02010609030101010101" pitchFamily="49" charset="-122"/>
              <a:ea typeface="仿宋_GB2312" panose="02010609030101010101" pitchFamily="49" charset="-122"/>
            </a:endParaRPr>
          </a:p>
          <a:p>
            <a:pPr marL="0" indent="0">
              <a:buNone/>
            </a:pPr>
            <a:r>
              <a:rPr lang="zh-CN" altLang="en-US" sz="1800" dirty="0">
                <a:latin typeface="仿宋_GB2312" panose="02010609030101010101" pitchFamily="49" charset="-122"/>
                <a:ea typeface="仿宋_GB2312" panose="02010609030101010101" pitchFamily="49" charset="-122"/>
              </a:rPr>
              <a:t>     答复函要紧扣所询问的问题或事项发表意见，作出答复；</a:t>
            </a:r>
            <a:endParaRPr lang="zh-CN" altLang="en-US" sz="1800" dirty="0">
              <a:latin typeface="仿宋_GB2312" panose="02010609030101010101" pitchFamily="49" charset="-122"/>
              <a:ea typeface="仿宋_GB2312" panose="02010609030101010101" pitchFamily="49" charset="-122"/>
            </a:endParaRPr>
          </a:p>
          <a:p>
            <a:pPr marL="0" indent="0">
              <a:buNone/>
            </a:pPr>
            <a:r>
              <a:rPr lang="zh-CN" altLang="en-US" sz="1800" dirty="0">
                <a:latin typeface="仿宋_GB2312" panose="02010609030101010101" pitchFamily="49" charset="-122"/>
                <a:ea typeface="仿宋_GB2312" panose="02010609030101010101" pitchFamily="49" charset="-122"/>
              </a:rPr>
              <a:t>     请批函要说明请批事项的原因、意见。</a:t>
            </a:r>
            <a:endParaRPr lang="zh-CN" altLang="en-US" sz="1800" dirty="0">
              <a:latin typeface="仿宋_GB2312" panose="02010609030101010101" pitchFamily="49" charset="-122"/>
              <a:ea typeface="仿宋_GB2312" panose="02010609030101010101" pitchFamily="49" charset="-122"/>
            </a:endParaRPr>
          </a:p>
        </p:txBody>
      </p:sp>
      <p:pic>
        <p:nvPicPr>
          <p:cNvPr id="13" name="图片 12" descr="E:\曹飞\2017\2017-8-8地铁PPT\7.png7"/>
          <p:cNvPicPr>
            <a:picLocks noChangeAspect="1"/>
          </p:cNvPicPr>
          <p:nvPr/>
        </p:nvPicPr>
        <p:blipFill>
          <a:blip r:embed="rId1" cstate="email"/>
          <a:srcRect/>
          <a:stretch>
            <a:fillRect/>
          </a:stretch>
        </p:blipFill>
        <p:spPr>
          <a:xfrm>
            <a:off x="-6667" y="4477465"/>
            <a:ext cx="9168289" cy="668179"/>
          </a:xfrm>
          <a:prstGeom prst="rect">
            <a:avLst/>
          </a:prstGeom>
        </p:spPr>
      </p:pic>
      <p:pic>
        <p:nvPicPr>
          <p:cNvPr id="8" name="图片 7" descr="E:\曹飞\2017\2017-8-8地铁PPT\6.png6"/>
          <p:cNvPicPr>
            <a:picLocks noChangeAspect="1"/>
          </p:cNvPicPr>
          <p:nvPr/>
        </p:nvPicPr>
        <p:blipFill>
          <a:blip r:embed="rId2" cstate="email"/>
          <a:srcRect/>
          <a:stretch>
            <a:fillRect/>
          </a:stretch>
        </p:blipFill>
        <p:spPr>
          <a:xfrm>
            <a:off x="2261712" y="230427"/>
            <a:ext cx="6463189" cy="343376"/>
          </a:xfrm>
          <a:prstGeom prst="rect">
            <a:avLst/>
          </a:prstGeom>
        </p:spPr>
      </p:pic>
      <p:pic>
        <p:nvPicPr>
          <p:cNvPr id="9" name="图片 8"/>
          <p:cNvPicPr>
            <a:picLocks noChangeAspect="1"/>
          </p:cNvPicPr>
          <p:nvPr/>
        </p:nvPicPr>
        <p:blipFill>
          <a:blip r:embed="rId3"/>
          <a:stretch>
            <a:fillRect/>
          </a:stretch>
        </p:blipFill>
        <p:spPr>
          <a:xfrm>
            <a:off x="575945" y="297180"/>
            <a:ext cx="1685925" cy="419100"/>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par>
                                <p:cTn id="10" presetID="12" presetClass="entr" presetSubtype="8"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p:tgtEl>
                                          <p:spTgt spid="8"/>
                                        </p:tgtEl>
                                        <p:attrNameLst>
                                          <p:attrName>ppt_x</p:attrName>
                                        </p:attrNameLst>
                                      </p:cBhvr>
                                      <p:tavLst>
                                        <p:tav tm="0">
                                          <p:val>
                                            <p:strVal val="#ppt_x-#ppt_w*1.125000"/>
                                          </p:val>
                                        </p:tav>
                                        <p:tav tm="100000">
                                          <p:val>
                                            <p:strVal val="#ppt_x"/>
                                          </p:val>
                                        </p:tav>
                                      </p:tavLst>
                                    </p:anim>
                                    <p:animEffect transition="in" filter="wipe(right)">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43890" y="929005"/>
            <a:ext cx="7744460" cy="3641090"/>
          </a:xfrm>
        </p:spPr>
        <p:txBody>
          <a:bodyPr>
            <a:normAutofit/>
          </a:bodyPr>
          <a:lstStyle/>
          <a:p>
            <a:pPr marL="0" indent="0">
              <a:buNone/>
            </a:pPr>
            <a:r>
              <a:rPr lang="en-US" altLang="zh-CN" sz="1800" dirty="0">
                <a:latin typeface="仿宋_GB2312" panose="02010609030101010101" pitchFamily="49" charset="-122"/>
                <a:ea typeface="仿宋_GB2312" panose="02010609030101010101" pitchFamily="49" charset="-122"/>
              </a:rPr>
              <a:t>    4.</a:t>
            </a:r>
            <a:r>
              <a:rPr lang="zh-CN" altLang="en-US" sz="1800" dirty="0">
                <a:latin typeface="仿宋_GB2312" panose="02010609030101010101" pitchFamily="49" charset="-122"/>
                <a:ea typeface="仿宋_GB2312" panose="02010609030101010101" pitchFamily="49" charset="-122"/>
              </a:rPr>
              <a:t>正文</a:t>
            </a:r>
            <a:endParaRPr lang="zh-CN" altLang="en-US" sz="1800" dirty="0">
              <a:latin typeface="仿宋_GB2312" panose="02010609030101010101" pitchFamily="49" charset="-122"/>
              <a:ea typeface="仿宋_GB2312" panose="02010609030101010101" pitchFamily="49" charset="-122"/>
            </a:endParaRPr>
          </a:p>
          <a:p>
            <a:pPr marL="0" indent="0">
              <a:buNone/>
            </a:pPr>
            <a:r>
              <a:rPr lang="zh-CN" altLang="en-US" sz="1800" dirty="0">
                <a:latin typeface="仿宋_GB2312" panose="02010609030101010101" pitchFamily="49" charset="-122"/>
                <a:ea typeface="仿宋_GB2312" panose="02010609030101010101" pitchFamily="49" charset="-122"/>
              </a:rPr>
              <a:t>    （</a:t>
            </a:r>
            <a:r>
              <a:rPr lang="en-US" altLang="zh-CN" sz="1800" dirty="0">
                <a:latin typeface="仿宋_GB2312" panose="02010609030101010101" pitchFamily="49" charset="-122"/>
                <a:ea typeface="仿宋_GB2312" panose="02010609030101010101" pitchFamily="49" charset="-122"/>
              </a:rPr>
              <a:t>3</a:t>
            </a:r>
            <a:r>
              <a:rPr lang="zh-CN" altLang="en-US" sz="1800" dirty="0">
                <a:latin typeface="仿宋_GB2312" panose="02010609030101010101" pitchFamily="49" charset="-122"/>
                <a:ea typeface="仿宋_GB2312" panose="02010609030101010101" pitchFamily="49" charset="-122"/>
              </a:rPr>
              <a:t>）希望请求。这是结尾部分，向对方提出希望或请求，或希望对方给予支持和帮助，或希望对方给予合作，或请求对方提供情况，或请求对方给予批准，等等。</a:t>
            </a:r>
            <a:endParaRPr lang="zh-CN" altLang="en-US" sz="1800" dirty="0">
              <a:latin typeface="仿宋_GB2312" panose="02010609030101010101" pitchFamily="49" charset="-122"/>
              <a:ea typeface="仿宋_GB2312" panose="02010609030101010101" pitchFamily="49" charset="-122"/>
            </a:endParaRPr>
          </a:p>
          <a:p>
            <a:pPr marL="0" indent="0">
              <a:buNone/>
            </a:pPr>
            <a:r>
              <a:rPr lang="zh-CN" altLang="en-US" sz="1800" dirty="0">
                <a:latin typeface="仿宋_GB2312" panose="02010609030101010101" pitchFamily="49" charset="-122"/>
                <a:ea typeface="仿宋_GB2312" panose="02010609030101010101" pitchFamily="49" charset="-122"/>
              </a:rPr>
              <a:t>    最后，另起一行以“特此函商”、“特此函询”、“请即复函”、“特此函告”、“特此函复”等惯用结语收束。</a:t>
            </a:r>
            <a:endParaRPr lang="zh-CN" altLang="en-US" sz="1800" dirty="0">
              <a:latin typeface="仿宋_GB2312" panose="02010609030101010101" pitchFamily="49" charset="-122"/>
              <a:ea typeface="仿宋_GB2312" panose="02010609030101010101" pitchFamily="49" charset="-122"/>
            </a:endParaRPr>
          </a:p>
          <a:p>
            <a:pPr marL="0" indent="0">
              <a:buNone/>
            </a:pPr>
            <a:r>
              <a:rPr lang="en-US" altLang="zh-CN" sz="1800" dirty="0">
                <a:latin typeface="仿宋_GB2312" panose="02010609030101010101" pitchFamily="49" charset="-122"/>
                <a:ea typeface="仿宋_GB2312" panose="02010609030101010101" pitchFamily="49" charset="-122"/>
              </a:rPr>
              <a:t>    5.</a:t>
            </a:r>
            <a:r>
              <a:rPr lang="zh-CN" altLang="en-US" sz="1800" dirty="0">
                <a:latin typeface="仿宋_GB2312" panose="02010609030101010101" pitchFamily="49" charset="-122"/>
                <a:ea typeface="仿宋_GB2312" panose="02010609030101010101" pitchFamily="49" charset="-122"/>
              </a:rPr>
              <a:t>落款</a:t>
            </a:r>
            <a:endParaRPr lang="zh-CN" altLang="en-US" sz="1800" dirty="0">
              <a:latin typeface="仿宋_GB2312" panose="02010609030101010101" pitchFamily="49" charset="-122"/>
              <a:ea typeface="仿宋_GB2312" panose="02010609030101010101" pitchFamily="49" charset="-122"/>
            </a:endParaRPr>
          </a:p>
          <a:p>
            <a:pPr marL="0" indent="0">
              <a:buNone/>
            </a:pPr>
            <a:r>
              <a:rPr lang="zh-CN" altLang="en-US" sz="1800" dirty="0">
                <a:latin typeface="仿宋_GB2312" panose="02010609030101010101" pitchFamily="49" charset="-122"/>
                <a:ea typeface="仿宋_GB2312" panose="02010609030101010101" pitchFamily="49" charset="-122"/>
              </a:rPr>
              <a:t>    发文机关和时间写在正文之后右下方。</a:t>
            </a:r>
            <a:endParaRPr lang="zh-CN" altLang="en-US" sz="1800" dirty="0">
              <a:latin typeface="仿宋_GB2312" panose="02010609030101010101" pitchFamily="49" charset="-122"/>
              <a:ea typeface="仿宋_GB2312" panose="02010609030101010101" pitchFamily="49" charset="-122"/>
            </a:endParaRPr>
          </a:p>
        </p:txBody>
      </p:sp>
      <p:pic>
        <p:nvPicPr>
          <p:cNvPr id="13" name="图片 12" descr="E:\曹飞\2017\2017-8-8地铁PPT\7.png7"/>
          <p:cNvPicPr>
            <a:picLocks noChangeAspect="1"/>
          </p:cNvPicPr>
          <p:nvPr/>
        </p:nvPicPr>
        <p:blipFill>
          <a:blip r:embed="rId1" cstate="email"/>
          <a:srcRect/>
          <a:stretch>
            <a:fillRect/>
          </a:stretch>
        </p:blipFill>
        <p:spPr>
          <a:xfrm>
            <a:off x="-6667" y="4477465"/>
            <a:ext cx="9168289" cy="668179"/>
          </a:xfrm>
          <a:prstGeom prst="rect">
            <a:avLst/>
          </a:prstGeom>
        </p:spPr>
      </p:pic>
      <p:pic>
        <p:nvPicPr>
          <p:cNvPr id="9" name="图片 8"/>
          <p:cNvPicPr>
            <a:picLocks noChangeAspect="1"/>
          </p:cNvPicPr>
          <p:nvPr/>
        </p:nvPicPr>
        <p:blipFill>
          <a:blip r:embed="rId2"/>
          <a:stretch>
            <a:fillRect/>
          </a:stretch>
        </p:blipFill>
        <p:spPr>
          <a:xfrm>
            <a:off x="575945" y="297180"/>
            <a:ext cx="1685925" cy="419100"/>
          </a:xfrm>
          <a:prstGeom prst="rect">
            <a:avLst/>
          </a:prstGeom>
        </p:spPr>
      </p:pic>
      <p:pic>
        <p:nvPicPr>
          <p:cNvPr id="8" name="图片 7" descr="E:\曹飞\2017\2017-8-8地铁PPT\6.png6"/>
          <p:cNvPicPr>
            <a:picLocks noChangeAspect="1"/>
          </p:cNvPicPr>
          <p:nvPr/>
        </p:nvPicPr>
        <p:blipFill>
          <a:blip r:embed="rId3" cstate="email"/>
          <a:srcRect/>
          <a:stretch>
            <a:fillRect/>
          </a:stretch>
        </p:blipFill>
        <p:spPr>
          <a:xfrm>
            <a:off x="2261712" y="230427"/>
            <a:ext cx="6463189" cy="343376"/>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par>
                                <p:cTn id="10" presetID="12" presetClass="entr" presetSubtype="8"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p:tgtEl>
                                          <p:spTgt spid="8"/>
                                        </p:tgtEl>
                                        <p:attrNameLst>
                                          <p:attrName>ppt_x</p:attrName>
                                        </p:attrNameLst>
                                      </p:cBhvr>
                                      <p:tavLst>
                                        <p:tav tm="0">
                                          <p:val>
                                            <p:strVal val="#ppt_x-#ppt_w*1.125000"/>
                                          </p:val>
                                        </p:tav>
                                        <p:tav tm="100000">
                                          <p:val>
                                            <p:strVal val="#ppt_x"/>
                                          </p:val>
                                        </p:tav>
                                      </p:tavLst>
                                    </p:anim>
                                    <p:animEffect transition="in" filter="wipe(right)">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5605" y="853440"/>
            <a:ext cx="8398510" cy="3345180"/>
          </a:xfrm>
        </p:spPr>
        <p:txBody>
          <a:bodyPr>
            <a:noAutofit/>
          </a:bodyPr>
          <a:lstStyle/>
          <a:p>
            <a:pPr marL="0" indent="0">
              <a:buNone/>
            </a:pPr>
            <a:r>
              <a:rPr lang="en-US" altLang="zh-CN" sz="1800"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五、函的写作技法</a:t>
            </a:r>
            <a:endParaRPr lang="zh-CN" altLang="en-US" sz="1700" dirty="0">
              <a:latin typeface="仿宋_GB2312" panose="02010609030101010101" pitchFamily="49" charset="-122"/>
              <a:ea typeface="仿宋_GB2312" panose="02010609030101010101" pitchFamily="49" charset="-122"/>
            </a:endParaRPr>
          </a:p>
          <a:p>
            <a:pPr marL="0" indent="0">
              <a:buNone/>
            </a:pPr>
            <a:r>
              <a:rPr lang="en-US" altLang="zh-CN" sz="1700" dirty="0">
                <a:latin typeface="仿宋_GB2312" panose="02010609030101010101" pitchFamily="49" charset="-122"/>
                <a:ea typeface="仿宋_GB2312" panose="02010609030101010101" pitchFamily="49" charset="-122"/>
              </a:rPr>
              <a:t>    </a:t>
            </a:r>
            <a:r>
              <a:rPr lang="en-US" altLang="zh-CN" sz="1800" dirty="0">
                <a:latin typeface="仿宋_GB2312" panose="02010609030101010101" pitchFamily="49" charset="-122"/>
                <a:ea typeface="仿宋_GB2312" panose="02010609030101010101" pitchFamily="49" charset="-122"/>
              </a:rPr>
              <a:t>1.</a:t>
            </a:r>
            <a:r>
              <a:rPr lang="zh-CN" altLang="en-US" sz="1800" dirty="0">
                <a:latin typeface="仿宋_GB2312" panose="02010609030101010101" pitchFamily="49" charset="-122"/>
                <a:ea typeface="仿宋_GB2312" panose="02010609030101010101" pitchFamily="49" charset="-122"/>
              </a:rPr>
              <a:t>叙事清楚，说理有节</a:t>
            </a:r>
            <a:endParaRPr lang="zh-CN" altLang="en-US" sz="1800" dirty="0">
              <a:latin typeface="仿宋_GB2312" panose="02010609030101010101" pitchFamily="49" charset="-122"/>
              <a:ea typeface="仿宋_GB2312" panose="02010609030101010101" pitchFamily="49" charset="-122"/>
            </a:endParaRPr>
          </a:p>
          <a:p>
            <a:pPr marL="0" indent="0">
              <a:buNone/>
            </a:pPr>
            <a:r>
              <a:rPr lang="zh-CN" altLang="en-US" sz="1800" dirty="0">
                <a:latin typeface="仿宋_GB2312" panose="02010609030101010101" pitchFamily="49" charset="-122"/>
                <a:ea typeface="仿宋_GB2312" panose="02010609030101010101" pitchFamily="49" charset="-122"/>
              </a:rPr>
              <a:t>    函是代表机关向外联系工作、商洽事情、请求帮助的，要让对方理解、接受、支持、取得圆满效果，首先叙事要清楚、明白；其次就要说理有节，令人信服。</a:t>
            </a:r>
            <a:endParaRPr lang="zh-CN" altLang="en-US" sz="1800" dirty="0">
              <a:latin typeface="仿宋_GB2312" panose="02010609030101010101" pitchFamily="49" charset="-122"/>
              <a:ea typeface="仿宋_GB2312" panose="02010609030101010101" pitchFamily="49" charset="-122"/>
            </a:endParaRPr>
          </a:p>
          <a:p>
            <a:pPr marL="0" indent="0">
              <a:buNone/>
            </a:pPr>
            <a:r>
              <a:rPr lang="en-US" altLang="zh-CN" sz="1800" dirty="0">
                <a:latin typeface="仿宋_GB2312" panose="02010609030101010101" pitchFamily="49" charset="-122"/>
                <a:ea typeface="仿宋_GB2312" panose="02010609030101010101" pitchFamily="49" charset="-122"/>
              </a:rPr>
              <a:t>    2.</a:t>
            </a:r>
            <a:r>
              <a:rPr lang="zh-CN" altLang="en-US" sz="1800" dirty="0">
                <a:latin typeface="仿宋_GB2312" panose="02010609030101010101" pitchFamily="49" charset="-122"/>
                <a:ea typeface="仿宋_GB2312" panose="02010609030101010101" pitchFamily="49" charset="-122"/>
              </a:rPr>
              <a:t>短小精悍，注意技法</a:t>
            </a:r>
            <a:endParaRPr lang="zh-CN" altLang="en-US" sz="1800" dirty="0">
              <a:latin typeface="仿宋_GB2312" panose="02010609030101010101" pitchFamily="49" charset="-122"/>
              <a:ea typeface="仿宋_GB2312" panose="02010609030101010101" pitchFamily="49" charset="-122"/>
            </a:endParaRPr>
          </a:p>
          <a:p>
            <a:pPr marL="0" indent="0">
              <a:buNone/>
            </a:pPr>
            <a:r>
              <a:rPr lang="zh-CN" altLang="en-US" sz="1800" dirty="0">
                <a:latin typeface="仿宋_GB2312" panose="02010609030101010101" pitchFamily="49" charset="-122"/>
                <a:ea typeface="仿宋_GB2312" panose="02010609030101010101" pitchFamily="49" charset="-122"/>
              </a:rPr>
              <a:t>    函不必详叙过程，不必大发议论，要字约意丰，直陈其事，力戒寒暄、套话、空话。</a:t>
            </a:r>
            <a:endParaRPr lang="zh-CN" altLang="en-US" sz="1800" dirty="0">
              <a:latin typeface="仿宋_GB2312" panose="02010609030101010101" pitchFamily="49" charset="-122"/>
              <a:ea typeface="仿宋_GB2312" panose="02010609030101010101" pitchFamily="49" charset="-122"/>
            </a:endParaRPr>
          </a:p>
          <a:p>
            <a:pPr marL="0" indent="0">
              <a:buNone/>
            </a:pPr>
            <a:r>
              <a:rPr lang="en-US" altLang="zh-CN" sz="1800" dirty="0">
                <a:latin typeface="仿宋_GB2312" panose="02010609030101010101" pitchFamily="49" charset="-122"/>
                <a:ea typeface="仿宋_GB2312" panose="02010609030101010101" pitchFamily="49" charset="-122"/>
              </a:rPr>
              <a:t>    3.</a:t>
            </a:r>
            <a:r>
              <a:rPr lang="zh-CN" altLang="en-US" sz="1800" dirty="0">
                <a:latin typeface="仿宋_GB2312" panose="02010609030101010101" pitchFamily="49" charset="-122"/>
                <a:ea typeface="仿宋_GB2312" panose="02010609030101010101" pitchFamily="49" charset="-122"/>
              </a:rPr>
              <a:t>行文简洁明确，用语把握分寸</a:t>
            </a:r>
            <a:endParaRPr lang="zh-CN" altLang="en-US" sz="1800" dirty="0">
              <a:latin typeface="仿宋_GB2312" panose="02010609030101010101" pitchFamily="49" charset="-122"/>
              <a:ea typeface="仿宋_GB2312" panose="02010609030101010101" pitchFamily="49" charset="-122"/>
            </a:endParaRPr>
          </a:p>
          <a:p>
            <a:pPr marL="0" indent="0">
              <a:buNone/>
            </a:pPr>
            <a:r>
              <a:rPr lang="zh-CN" altLang="en-US" sz="1800" dirty="0">
                <a:latin typeface="仿宋_GB2312" panose="02010609030101010101" pitchFamily="49" charset="-122"/>
                <a:ea typeface="仿宋_GB2312" panose="02010609030101010101" pitchFamily="49" charset="-122"/>
              </a:rPr>
              <a:t>    无论是平行机关还是不相隶属机关的行文，都要注意语气和有礼，不要倚势压人或强人所难，也不必逢迎恭维，曲意客套。</a:t>
            </a:r>
            <a:endParaRPr lang="zh-CN" altLang="en-US" sz="1800" dirty="0">
              <a:latin typeface="仿宋_GB2312" panose="02010609030101010101" pitchFamily="49" charset="-122"/>
              <a:ea typeface="仿宋_GB2312" panose="02010609030101010101" pitchFamily="49" charset="-122"/>
            </a:endParaRPr>
          </a:p>
          <a:p>
            <a:endParaRPr lang="zh-CN" altLang="en-US" sz="1800" dirty="0">
              <a:latin typeface="仿宋_GB2312" panose="02010609030101010101" pitchFamily="49" charset="-122"/>
              <a:ea typeface="仿宋_GB2312" panose="02010609030101010101" pitchFamily="49" charset="-122"/>
            </a:endParaRPr>
          </a:p>
        </p:txBody>
      </p:sp>
      <p:pic>
        <p:nvPicPr>
          <p:cNvPr id="13" name="图片 12" descr="E:\曹飞\2017\2017-8-8地铁PPT\7.png7"/>
          <p:cNvPicPr>
            <a:picLocks noChangeAspect="1"/>
          </p:cNvPicPr>
          <p:nvPr/>
        </p:nvPicPr>
        <p:blipFill>
          <a:blip r:embed="rId1" cstate="email"/>
          <a:srcRect/>
          <a:stretch>
            <a:fillRect/>
          </a:stretch>
        </p:blipFill>
        <p:spPr>
          <a:xfrm>
            <a:off x="-6667" y="4477465"/>
            <a:ext cx="9168289" cy="668179"/>
          </a:xfrm>
          <a:prstGeom prst="rect">
            <a:avLst/>
          </a:prstGeom>
        </p:spPr>
      </p:pic>
      <p:pic>
        <p:nvPicPr>
          <p:cNvPr id="8" name="图片 7" descr="E:\曹飞\2017\2017-8-8地铁PPT\6.png6"/>
          <p:cNvPicPr>
            <a:picLocks noChangeAspect="1"/>
          </p:cNvPicPr>
          <p:nvPr/>
        </p:nvPicPr>
        <p:blipFill>
          <a:blip r:embed="rId2" cstate="email"/>
          <a:srcRect/>
          <a:stretch>
            <a:fillRect/>
          </a:stretch>
        </p:blipFill>
        <p:spPr>
          <a:xfrm>
            <a:off x="2261712" y="230427"/>
            <a:ext cx="6463189" cy="343376"/>
          </a:xfrm>
          <a:prstGeom prst="rect">
            <a:avLst/>
          </a:prstGeom>
        </p:spPr>
      </p:pic>
      <p:pic>
        <p:nvPicPr>
          <p:cNvPr id="9" name="图片 8"/>
          <p:cNvPicPr>
            <a:picLocks noChangeAspect="1"/>
          </p:cNvPicPr>
          <p:nvPr/>
        </p:nvPicPr>
        <p:blipFill>
          <a:blip r:embed="rId3"/>
          <a:stretch>
            <a:fillRect/>
          </a:stretch>
        </p:blipFill>
        <p:spPr>
          <a:xfrm>
            <a:off x="575945" y="297180"/>
            <a:ext cx="1685925" cy="419100"/>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par>
                                <p:cTn id="10" presetID="12" presetClass="entr" presetSubtype="8"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p:tgtEl>
                                          <p:spTgt spid="8"/>
                                        </p:tgtEl>
                                        <p:attrNameLst>
                                          <p:attrName>ppt_x</p:attrName>
                                        </p:attrNameLst>
                                      </p:cBhvr>
                                      <p:tavLst>
                                        <p:tav tm="0">
                                          <p:val>
                                            <p:strVal val="#ppt_x-#ppt_w*1.125000"/>
                                          </p:val>
                                        </p:tav>
                                        <p:tav tm="100000">
                                          <p:val>
                                            <p:strVal val="#ppt_x"/>
                                          </p:val>
                                        </p:tav>
                                      </p:tavLst>
                                    </p:anim>
                                    <p:animEffect transition="in" filter="wipe(right)">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5605" y="789305"/>
            <a:ext cx="8425180" cy="3688715"/>
          </a:xfrm>
        </p:spPr>
        <p:txBody>
          <a:bodyPr>
            <a:normAutofit fontScale="32500" lnSpcReduction="20000"/>
          </a:bodyPr>
          <a:lstStyle/>
          <a:p>
            <a:pPr marL="0" indent="0">
              <a:buNone/>
            </a:pPr>
            <a:r>
              <a:rPr lang="zh-CN" altLang="en-US" sz="2000" dirty="0"/>
              <a:t>★</a:t>
            </a:r>
            <a:r>
              <a:rPr lang="zh-CN" altLang="en-US" sz="2000" dirty="0" smtClean="0"/>
              <a:t>商洽函</a:t>
            </a:r>
            <a:endParaRPr lang="en-US" altLang="zh-CN" sz="2000" dirty="0" smtClean="0"/>
          </a:p>
          <a:p>
            <a:pPr marL="0" indent="0" algn="ctr">
              <a:buNone/>
            </a:pPr>
            <a:r>
              <a:rPr lang="zh-CN" altLang="zh-CN" sz="4235" dirty="0">
                <a:latin typeface="黑体" panose="02010609060101010101" pitchFamily="49" charset="-122"/>
                <a:ea typeface="黑体" panose="02010609060101010101" pitchFamily="49" charset="-122"/>
                <a:cs typeface="仿宋_GB2312" panose="02010609030101010101" pitchFamily="49" charset="-122"/>
              </a:rPr>
              <a:t>郑州地铁集团有限公司运营</a:t>
            </a:r>
            <a:r>
              <a:rPr lang="zh-CN" altLang="zh-CN" sz="4235" dirty="0" smtClean="0">
                <a:latin typeface="黑体" panose="02010609060101010101" pitchFamily="49" charset="-122"/>
                <a:ea typeface="黑体" panose="02010609060101010101" pitchFamily="49" charset="-122"/>
                <a:cs typeface="仿宋_GB2312" panose="02010609030101010101" pitchFamily="49" charset="-122"/>
              </a:rPr>
              <a:t>分公司关于</a:t>
            </a:r>
            <a:r>
              <a:rPr lang="zh-CN" altLang="zh-CN" sz="4235" dirty="0">
                <a:latin typeface="黑体" panose="02010609060101010101" pitchFamily="49" charset="-122"/>
                <a:ea typeface="黑体" panose="02010609060101010101" pitchFamily="49" charset="-122"/>
                <a:cs typeface="仿宋_GB2312" panose="02010609030101010101" pitchFamily="49" charset="-122"/>
              </a:rPr>
              <a:t>绿城通若干问题的函</a:t>
            </a:r>
            <a:endParaRPr lang="zh-CN" altLang="zh-CN" sz="4235" dirty="0">
              <a:latin typeface="黑体" panose="02010609060101010101" pitchFamily="49" charset="-122"/>
              <a:ea typeface="黑体" panose="02010609060101010101" pitchFamily="49" charset="-122"/>
              <a:cs typeface="仿宋_GB2312" panose="02010609030101010101" pitchFamily="49" charset="-122"/>
            </a:endParaRPr>
          </a:p>
          <a:p>
            <a:pPr marL="0" indent="0">
              <a:buNone/>
            </a:pPr>
            <a:r>
              <a:rPr lang="en-US" altLang="zh-CN" sz="2880" b="1" dirty="0">
                <a:latin typeface="仿宋_GB2312" panose="02010609030101010101" pitchFamily="49" charset="-122"/>
                <a:ea typeface="仿宋_GB2312" panose="02010609030101010101" pitchFamily="49" charset="-122"/>
                <a:cs typeface="仿宋_GB2312" panose="02010609030101010101" pitchFamily="49" charset="-122"/>
              </a:rPr>
              <a:t> </a:t>
            </a:r>
            <a:endParaRPr lang="zh-CN" altLang="zh-CN" sz="2880" dirty="0">
              <a:latin typeface="仿宋_GB2312" panose="02010609030101010101" pitchFamily="49" charset="-122"/>
              <a:ea typeface="仿宋_GB2312" panose="02010609030101010101" pitchFamily="49" charset="-122"/>
              <a:cs typeface="仿宋_GB2312" panose="02010609030101010101" pitchFamily="49" charset="-122"/>
            </a:endParaRPr>
          </a:p>
          <a:p>
            <a:pPr marL="0" indent="0">
              <a:buNone/>
            </a:pPr>
            <a:r>
              <a:rPr lang="zh-CN" altLang="zh-CN" sz="4235" dirty="0">
                <a:latin typeface="仿宋_GB2312" panose="02010609030101010101" pitchFamily="49" charset="-122"/>
                <a:ea typeface="仿宋_GB2312" panose="02010609030101010101" pitchFamily="49" charset="-122"/>
                <a:cs typeface="仿宋_GB2312" panose="02010609030101010101" pitchFamily="49" charset="-122"/>
              </a:rPr>
              <a:t>郑州城市一卡通有限责任公司：</a:t>
            </a:r>
            <a:endParaRPr lang="zh-CN" altLang="zh-CN" sz="4235" dirty="0">
              <a:latin typeface="仿宋_GB2312" panose="02010609030101010101" pitchFamily="49" charset="-122"/>
              <a:ea typeface="仿宋_GB2312" panose="02010609030101010101" pitchFamily="49" charset="-122"/>
              <a:cs typeface="仿宋_GB2312" panose="02010609030101010101" pitchFamily="49" charset="-122"/>
            </a:endParaRPr>
          </a:p>
          <a:p>
            <a:pPr marL="0" indent="0">
              <a:buNone/>
            </a:pPr>
            <a:r>
              <a:rPr lang="en-US" altLang="zh-CN" sz="4235" dirty="0" smtClean="0">
                <a:latin typeface="仿宋_GB2312" panose="02010609030101010101" pitchFamily="49" charset="-122"/>
                <a:ea typeface="仿宋_GB2312" panose="02010609030101010101" pitchFamily="49" charset="-122"/>
                <a:cs typeface="仿宋_GB2312" panose="02010609030101010101" pitchFamily="49" charset="-122"/>
              </a:rPr>
              <a:t>    </a:t>
            </a:r>
            <a:r>
              <a:rPr lang="zh-CN" altLang="zh-CN" sz="4235" dirty="0" smtClean="0">
                <a:latin typeface="仿宋_GB2312" panose="02010609030101010101" pitchFamily="49" charset="-122"/>
                <a:ea typeface="仿宋_GB2312" panose="02010609030101010101" pitchFamily="49" charset="-122"/>
                <a:cs typeface="仿宋_GB2312" panose="02010609030101010101" pitchFamily="49" charset="-122"/>
              </a:rPr>
              <a:t>在地铁集团</a:t>
            </a:r>
            <a:r>
              <a:rPr lang="zh-CN" altLang="zh-CN" sz="4235" dirty="0">
                <a:latin typeface="仿宋_GB2312" panose="02010609030101010101" pitchFamily="49" charset="-122"/>
                <a:ea typeface="仿宋_GB2312" panose="02010609030101010101" pitchFamily="49" charset="-122"/>
                <a:cs typeface="仿宋_GB2312" panose="02010609030101010101" pitchFamily="49" charset="-122"/>
              </a:rPr>
              <a:t>车站运作过程中，乘客反映部分绿城通问题，给乘客带来不便，影响乘客出行体验，甚至引起乘客投诉，为进一步提升服务质量，提高乘客对绿城通票卡的满意度，请贵司予以考虑。现将主要问题反馈如下：</a:t>
            </a:r>
            <a:endParaRPr lang="zh-CN" altLang="zh-CN" sz="4235" dirty="0">
              <a:latin typeface="仿宋_GB2312" panose="02010609030101010101" pitchFamily="49" charset="-122"/>
              <a:ea typeface="仿宋_GB2312" panose="02010609030101010101" pitchFamily="49" charset="-122"/>
              <a:cs typeface="仿宋_GB2312" panose="02010609030101010101" pitchFamily="49" charset="-122"/>
            </a:endParaRPr>
          </a:p>
          <a:p>
            <a:pPr marL="0" indent="0">
              <a:buNone/>
            </a:pPr>
            <a:r>
              <a:rPr lang="en-US" altLang="zh-CN" sz="4235" dirty="0" smtClean="0">
                <a:latin typeface="仿宋_GB2312" panose="02010609030101010101" pitchFamily="49" charset="-122"/>
                <a:ea typeface="仿宋_GB2312" panose="02010609030101010101" pitchFamily="49" charset="-122"/>
                <a:cs typeface="仿宋_GB2312" panose="02010609030101010101" pitchFamily="49" charset="-122"/>
              </a:rPr>
              <a:t>     XXXXXX</a:t>
            </a:r>
            <a:endParaRPr lang="en-US" altLang="zh-CN" sz="4235" dirty="0" smtClean="0">
              <a:latin typeface="仿宋_GB2312" panose="02010609030101010101" pitchFamily="49" charset="-122"/>
              <a:ea typeface="仿宋_GB2312" panose="02010609030101010101" pitchFamily="49" charset="-122"/>
              <a:cs typeface="仿宋_GB2312" panose="02010609030101010101" pitchFamily="49" charset="-122"/>
            </a:endParaRPr>
          </a:p>
          <a:p>
            <a:pPr marL="0" indent="0">
              <a:buNone/>
            </a:pPr>
            <a:r>
              <a:rPr lang="en-US" altLang="zh-CN" sz="4235" dirty="0" smtClean="0">
                <a:latin typeface="仿宋_GB2312" panose="02010609030101010101" pitchFamily="49" charset="-122"/>
                <a:ea typeface="仿宋_GB2312" panose="02010609030101010101" pitchFamily="49" charset="-122"/>
                <a:cs typeface="仿宋_GB2312" panose="02010609030101010101" pitchFamily="49" charset="-122"/>
              </a:rPr>
              <a:t>     </a:t>
            </a:r>
            <a:r>
              <a:rPr lang="zh-CN" altLang="zh-CN" sz="4235" dirty="0" smtClean="0">
                <a:latin typeface="仿宋_GB2312" panose="02010609030101010101" pitchFamily="49" charset="-122"/>
                <a:ea typeface="仿宋_GB2312" panose="02010609030101010101" pitchFamily="49" charset="-122"/>
                <a:cs typeface="仿宋_GB2312" panose="02010609030101010101" pitchFamily="49" charset="-122"/>
              </a:rPr>
              <a:t>建议：</a:t>
            </a:r>
            <a:r>
              <a:rPr lang="en-US" altLang="zh-CN" sz="4235" dirty="0" smtClean="0">
                <a:latin typeface="仿宋_GB2312" panose="02010609030101010101" pitchFamily="49" charset="-122"/>
                <a:ea typeface="仿宋_GB2312" panose="02010609030101010101" pitchFamily="49" charset="-122"/>
                <a:cs typeface="仿宋_GB2312" panose="02010609030101010101" pitchFamily="49" charset="-122"/>
              </a:rPr>
              <a:t>XXXX</a:t>
            </a:r>
            <a:endParaRPr lang="zh-CN" altLang="zh-CN" sz="4235" dirty="0">
              <a:latin typeface="仿宋_GB2312" panose="02010609030101010101" pitchFamily="49" charset="-122"/>
              <a:ea typeface="仿宋_GB2312" panose="02010609030101010101" pitchFamily="49" charset="-122"/>
              <a:cs typeface="仿宋_GB2312" panose="02010609030101010101" pitchFamily="49" charset="-122"/>
            </a:endParaRPr>
          </a:p>
          <a:p>
            <a:pPr marL="0" indent="0">
              <a:buNone/>
            </a:pPr>
            <a:r>
              <a:rPr lang="en-US" altLang="zh-CN" sz="4235" dirty="0">
                <a:latin typeface="仿宋_GB2312" panose="02010609030101010101" pitchFamily="49" charset="-122"/>
                <a:ea typeface="仿宋_GB2312" panose="02010609030101010101" pitchFamily="49" charset="-122"/>
                <a:cs typeface="仿宋_GB2312" panose="02010609030101010101" pitchFamily="49" charset="-122"/>
              </a:rPr>
              <a:t>    </a:t>
            </a:r>
            <a:r>
              <a:rPr lang="en-US" altLang="zh-CN" sz="4235" dirty="0" smtClean="0">
                <a:latin typeface="仿宋_GB2312" panose="02010609030101010101" pitchFamily="49" charset="-122"/>
                <a:ea typeface="仿宋_GB2312" panose="02010609030101010101" pitchFamily="49" charset="-122"/>
                <a:cs typeface="仿宋_GB2312" panose="02010609030101010101" pitchFamily="49" charset="-122"/>
              </a:rPr>
              <a:t> </a:t>
            </a:r>
            <a:r>
              <a:rPr lang="zh-CN" altLang="zh-CN" sz="4235" dirty="0" smtClean="0">
                <a:latin typeface="仿宋_GB2312" panose="02010609030101010101" pitchFamily="49" charset="-122"/>
                <a:ea typeface="仿宋_GB2312" panose="02010609030101010101" pitchFamily="49" charset="-122"/>
                <a:cs typeface="仿宋_GB2312" panose="02010609030101010101" pitchFamily="49" charset="-122"/>
              </a:rPr>
              <a:t>特此</a:t>
            </a:r>
            <a:r>
              <a:rPr lang="zh-CN" altLang="zh-CN" sz="4235" dirty="0">
                <a:latin typeface="仿宋_GB2312" panose="02010609030101010101" pitchFamily="49" charset="-122"/>
                <a:ea typeface="仿宋_GB2312" panose="02010609030101010101" pitchFamily="49" charset="-122"/>
                <a:cs typeface="仿宋_GB2312" panose="02010609030101010101" pitchFamily="49" charset="-122"/>
              </a:rPr>
              <a:t>函达，回复为盼</a:t>
            </a:r>
            <a:r>
              <a:rPr lang="zh-CN" altLang="zh-CN" sz="2880" dirty="0">
                <a:latin typeface="仿宋_GB2312" panose="02010609030101010101" pitchFamily="49" charset="-122"/>
                <a:ea typeface="仿宋_GB2312" panose="02010609030101010101" pitchFamily="49" charset="-122"/>
                <a:cs typeface="仿宋_GB2312" panose="02010609030101010101" pitchFamily="49" charset="-122"/>
              </a:rPr>
              <a:t>。</a:t>
            </a:r>
            <a:endParaRPr lang="zh-CN" altLang="zh-CN" sz="2880" dirty="0">
              <a:latin typeface="仿宋_GB2312" panose="02010609030101010101" pitchFamily="49" charset="-122"/>
              <a:ea typeface="仿宋_GB2312" panose="02010609030101010101" pitchFamily="49" charset="-122"/>
              <a:cs typeface="仿宋_GB2312" panose="02010609030101010101" pitchFamily="49" charset="-122"/>
            </a:endParaRPr>
          </a:p>
          <a:p>
            <a:pPr marL="0" indent="0">
              <a:buNone/>
            </a:pPr>
            <a:r>
              <a:rPr lang="en-US" altLang="zh-CN" sz="2880" dirty="0">
                <a:latin typeface="仿宋_GB2312" panose="02010609030101010101" pitchFamily="49" charset="-122"/>
                <a:ea typeface="仿宋_GB2312" panose="02010609030101010101" pitchFamily="49" charset="-122"/>
                <a:cs typeface="仿宋_GB2312" panose="02010609030101010101" pitchFamily="49" charset="-122"/>
              </a:rPr>
              <a:t>                                </a:t>
            </a:r>
            <a:endParaRPr lang="zh-CN" altLang="zh-CN" sz="2880" dirty="0">
              <a:latin typeface="仿宋_GB2312" panose="02010609030101010101" pitchFamily="49" charset="-122"/>
              <a:ea typeface="仿宋_GB2312" panose="02010609030101010101" pitchFamily="49" charset="-122"/>
              <a:cs typeface="仿宋_GB2312" panose="02010609030101010101" pitchFamily="49" charset="-122"/>
            </a:endParaRPr>
          </a:p>
          <a:p>
            <a:pPr marL="0" indent="0">
              <a:buNone/>
            </a:pPr>
            <a:r>
              <a:rPr lang="en-US" altLang="zh-CN" sz="2880" dirty="0">
                <a:latin typeface="仿宋_GB2312" panose="02010609030101010101" pitchFamily="49" charset="-122"/>
                <a:ea typeface="仿宋_GB2312" panose="02010609030101010101" pitchFamily="49" charset="-122"/>
                <a:cs typeface="仿宋_GB2312" panose="02010609030101010101" pitchFamily="49" charset="-122"/>
              </a:rPr>
              <a:t> </a:t>
            </a:r>
            <a:endParaRPr lang="zh-CN" altLang="zh-CN" sz="2880" dirty="0">
              <a:latin typeface="仿宋_GB2312" panose="02010609030101010101" pitchFamily="49" charset="-122"/>
              <a:ea typeface="仿宋_GB2312" panose="02010609030101010101" pitchFamily="49" charset="-122"/>
              <a:cs typeface="仿宋_GB2312" panose="02010609030101010101" pitchFamily="49" charset="-122"/>
            </a:endParaRPr>
          </a:p>
          <a:p>
            <a:pPr marL="0" indent="0" algn="r">
              <a:buNone/>
            </a:pPr>
            <a:br>
              <a:rPr lang="zh-CN" altLang="zh-CN" sz="2880" dirty="0" smtClean="0">
                <a:effectLst/>
                <a:latin typeface="仿宋_GB2312" panose="02010609030101010101" pitchFamily="49" charset="-122"/>
                <a:ea typeface="仿宋_GB2312" panose="02010609030101010101" pitchFamily="49" charset="-122"/>
                <a:cs typeface="仿宋_GB2312" panose="02010609030101010101" pitchFamily="49" charset="-122"/>
              </a:rPr>
            </a:br>
            <a:br>
              <a:rPr lang="zh-CN" altLang="zh-CN" sz="2880" dirty="0" smtClean="0">
                <a:effectLst/>
                <a:latin typeface="仿宋_GB2312" panose="02010609030101010101" pitchFamily="49" charset="-122"/>
                <a:ea typeface="仿宋_GB2312" panose="02010609030101010101" pitchFamily="49" charset="-122"/>
                <a:cs typeface="仿宋_GB2312" panose="02010609030101010101" pitchFamily="49" charset="-122"/>
              </a:rPr>
            </a:br>
            <a:r>
              <a:rPr lang="en-US" altLang="zh-CN" sz="2880" dirty="0" smtClean="0">
                <a:effectLst/>
                <a:latin typeface="仿宋_GB2312" panose="02010609030101010101" pitchFamily="49" charset="-122"/>
                <a:ea typeface="仿宋_GB2312" panose="02010609030101010101" pitchFamily="49" charset="-122"/>
                <a:cs typeface="仿宋_GB2312" panose="02010609030101010101" pitchFamily="49" charset="-122"/>
              </a:rPr>
              <a:t>                                                                                                                                                                                                       </a:t>
            </a:r>
            <a:r>
              <a:rPr lang="zh-CN" altLang="zh-CN" sz="4235" dirty="0">
                <a:latin typeface="仿宋_GB2312" panose="02010609030101010101" pitchFamily="49" charset="-122"/>
                <a:ea typeface="仿宋_GB2312" panose="02010609030101010101" pitchFamily="49" charset="-122"/>
                <a:cs typeface="仿宋_GB2312" panose="02010609030101010101" pitchFamily="49" charset="-122"/>
              </a:rPr>
              <a:t>郑州地铁集团有限公司运营分公司</a:t>
            </a:r>
            <a:endParaRPr lang="zh-CN" altLang="zh-CN" sz="2880" dirty="0" smtClean="0">
              <a:latin typeface="仿宋_GB2312" panose="02010609030101010101" pitchFamily="49" charset="-122"/>
              <a:ea typeface="仿宋_GB2312" panose="02010609030101010101" pitchFamily="49" charset="-122"/>
              <a:cs typeface="仿宋_GB2312" panose="02010609030101010101" pitchFamily="49" charset="-122"/>
            </a:endParaRPr>
          </a:p>
          <a:p>
            <a:pPr marL="0" indent="0" algn="r">
              <a:buNone/>
            </a:pPr>
            <a:r>
              <a:rPr lang="en-US" altLang="zh-CN" sz="2880" dirty="0" smtClean="0">
                <a:latin typeface="仿宋_GB2312" panose="02010609030101010101" pitchFamily="49" charset="-122"/>
                <a:ea typeface="仿宋_GB2312" panose="02010609030101010101" pitchFamily="49" charset="-122"/>
                <a:cs typeface="仿宋_GB2312" panose="02010609030101010101" pitchFamily="49" charset="-122"/>
              </a:rPr>
              <a:t>                                                                                                                                                                                             </a:t>
            </a:r>
            <a:r>
              <a:rPr lang="zh-CN" altLang="zh-CN" sz="4235" dirty="0">
                <a:latin typeface="仿宋_GB2312" panose="02010609030101010101" pitchFamily="49" charset="-122"/>
                <a:ea typeface="仿宋_GB2312" panose="02010609030101010101" pitchFamily="49" charset="-122"/>
                <a:cs typeface="仿宋_GB2312" panose="02010609030101010101" pitchFamily="49" charset="-122"/>
              </a:rPr>
              <a:t>XXXX年X月X日</a:t>
            </a:r>
            <a:endParaRPr lang="zh-CN" altLang="zh-CN" sz="2880" dirty="0" smtClean="0">
              <a:latin typeface="仿宋_GB2312" panose="02010609030101010101" pitchFamily="49" charset="-122"/>
              <a:ea typeface="仿宋_GB2312" panose="02010609030101010101" pitchFamily="49" charset="-122"/>
              <a:cs typeface="仿宋_GB2312" panose="02010609030101010101" pitchFamily="49" charset="-122"/>
            </a:endParaRPr>
          </a:p>
          <a:p>
            <a:pPr marL="0" indent="0">
              <a:buNone/>
            </a:pPr>
            <a:r>
              <a:rPr lang="zh-CN" altLang="zh-CN" sz="2880" dirty="0" smtClean="0">
                <a:latin typeface="仿宋_GB2312" panose="02010609030101010101" pitchFamily="49" charset="-122"/>
                <a:ea typeface="仿宋_GB2312" panose="02010609030101010101" pitchFamily="49" charset="-122"/>
                <a:cs typeface="仿宋_GB2312" panose="02010609030101010101" pitchFamily="49" charset="-122"/>
              </a:rPr>
              <a:t>    </a:t>
            </a:r>
            <a:r>
              <a:rPr lang="zh-CN" altLang="zh-CN" sz="4235" dirty="0">
                <a:latin typeface="仿宋_GB2312" panose="02010609030101010101" pitchFamily="49" charset="-122"/>
                <a:ea typeface="仿宋_GB2312" panose="02010609030101010101" pitchFamily="49" charset="-122"/>
                <a:cs typeface="仿宋_GB2312" panose="02010609030101010101" pitchFamily="49" charset="-122"/>
              </a:rPr>
              <a:t>（联系人：XXX  电话：XXXXXXX）</a:t>
            </a:r>
            <a:endParaRPr lang="zh-CN" altLang="zh-CN" sz="4235" dirty="0">
              <a:latin typeface="仿宋_GB2312" panose="02010609030101010101" pitchFamily="49" charset="-122"/>
              <a:ea typeface="仿宋_GB2312" panose="02010609030101010101" pitchFamily="49" charset="-122"/>
              <a:cs typeface="仿宋_GB2312" panose="02010609030101010101" pitchFamily="49" charset="-122"/>
            </a:endParaRPr>
          </a:p>
        </p:txBody>
      </p:sp>
      <p:pic>
        <p:nvPicPr>
          <p:cNvPr id="13" name="图片 12" descr="E:\曹飞\2017\2017-8-8地铁PPT\7.png7"/>
          <p:cNvPicPr>
            <a:picLocks noChangeAspect="1"/>
          </p:cNvPicPr>
          <p:nvPr/>
        </p:nvPicPr>
        <p:blipFill>
          <a:blip r:embed="rId1" cstate="email"/>
          <a:srcRect/>
          <a:stretch>
            <a:fillRect/>
          </a:stretch>
        </p:blipFill>
        <p:spPr>
          <a:xfrm>
            <a:off x="-6667" y="4477465"/>
            <a:ext cx="9168289" cy="668179"/>
          </a:xfrm>
          <a:prstGeom prst="rect">
            <a:avLst/>
          </a:prstGeom>
        </p:spPr>
      </p:pic>
      <p:pic>
        <p:nvPicPr>
          <p:cNvPr id="9" name="图片 8"/>
          <p:cNvPicPr>
            <a:picLocks noChangeAspect="1"/>
          </p:cNvPicPr>
          <p:nvPr/>
        </p:nvPicPr>
        <p:blipFill>
          <a:blip r:embed="rId2"/>
          <a:stretch>
            <a:fillRect/>
          </a:stretch>
        </p:blipFill>
        <p:spPr>
          <a:xfrm>
            <a:off x="575945" y="297180"/>
            <a:ext cx="1685925" cy="419100"/>
          </a:xfrm>
          <a:prstGeom prst="rect">
            <a:avLst/>
          </a:prstGeom>
        </p:spPr>
      </p:pic>
      <p:pic>
        <p:nvPicPr>
          <p:cNvPr id="8" name="图片 7" descr="E:\曹飞\2017\2017-8-8地铁PPT\6.png6"/>
          <p:cNvPicPr>
            <a:picLocks noChangeAspect="1"/>
          </p:cNvPicPr>
          <p:nvPr/>
        </p:nvPicPr>
        <p:blipFill>
          <a:blip r:embed="rId3" cstate="email"/>
          <a:srcRect/>
          <a:stretch>
            <a:fillRect/>
          </a:stretch>
        </p:blipFill>
        <p:spPr>
          <a:xfrm>
            <a:off x="2261712" y="230427"/>
            <a:ext cx="6463189" cy="343376"/>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par>
                                <p:cTn id="10" presetID="12" presetClass="entr" presetSubtype="8"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p:tgtEl>
                                          <p:spTgt spid="8"/>
                                        </p:tgtEl>
                                        <p:attrNameLst>
                                          <p:attrName>ppt_x</p:attrName>
                                        </p:attrNameLst>
                                      </p:cBhvr>
                                      <p:tavLst>
                                        <p:tav tm="0">
                                          <p:val>
                                            <p:strVal val="#ppt_x-#ppt_w*1.125000"/>
                                          </p:val>
                                        </p:tav>
                                        <p:tav tm="100000">
                                          <p:val>
                                            <p:strVal val="#ppt_x"/>
                                          </p:val>
                                        </p:tav>
                                      </p:tavLst>
                                    </p:anim>
                                    <p:animEffect transition="in" filter="wipe(right)">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67970" y="798830"/>
            <a:ext cx="8524240" cy="3028315"/>
          </a:xfrm>
        </p:spPr>
        <p:txBody>
          <a:bodyPr>
            <a:normAutofit fontScale="55000" lnSpcReduction="20000"/>
          </a:bodyPr>
          <a:lstStyle/>
          <a:p>
            <a:pPr marL="0" indent="0">
              <a:buNone/>
            </a:pPr>
            <a:r>
              <a:rPr lang="zh-CN" altLang="en-US" sz="2000" dirty="0" smtClean="0"/>
              <a:t>★</a:t>
            </a:r>
            <a:r>
              <a:rPr lang="zh-CN" altLang="en-US" sz="2000" dirty="0"/>
              <a:t>告知</a:t>
            </a:r>
            <a:r>
              <a:rPr lang="zh-CN" altLang="en-US" sz="2000" dirty="0" smtClean="0"/>
              <a:t>函</a:t>
            </a:r>
            <a:endParaRPr lang="en-US" altLang="zh-CN" sz="2000" dirty="0" smtClean="0"/>
          </a:p>
          <a:p>
            <a:pPr marL="0" indent="0" algn="ctr">
              <a:buNone/>
            </a:pPr>
            <a:r>
              <a:rPr lang="zh-CN" altLang="zh-CN" sz="2000" dirty="0"/>
              <a:t>关于</a:t>
            </a:r>
            <a:r>
              <a:rPr lang="zh-CN" altLang="zh-CN" sz="2000" dirty="0" smtClean="0"/>
              <a:t>赴</a:t>
            </a:r>
            <a:r>
              <a:rPr lang="en-US" altLang="zh-CN" sz="2000" dirty="0" smtClean="0"/>
              <a:t>XXX</a:t>
            </a:r>
            <a:r>
              <a:rPr lang="zh-CN" altLang="zh-CN" sz="2000" dirty="0" smtClean="0"/>
              <a:t>地铁运营有限公司</a:t>
            </a:r>
            <a:r>
              <a:rPr lang="zh-CN" altLang="zh-CN" sz="2000" dirty="0"/>
              <a:t>调研学习的函</a:t>
            </a:r>
            <a:endParaRPr lang="zh-CN" altLang="zh-CN" sz="2000" dirty="0"/>
          </a:p>
          <a:p>
            <a:pPr marL="0" indent="0" algn="ctr">
              <a:buNone/>
            </a:pPr>
            <a:r>
              <a:rPr lang="en-US" altLang="zh-CN" sz="2000" dirty="0"/>
              <a:t> </a:t>
            </a:r>
            <a:endParaRPr lang="zh-CN" altLang="zh-CN" sz="2000" dirty="0"/>
          </a:p>
          <a:p>
            <a:pPr marL="0" indent="0">
              <a:buNone/>
            </a:pPr>
            <a:r>
              <a:rPr lang="en-US" altLang="zh-CN" sz="2000" dirty="0" smtClean="0"/>
              <a:t>XXX</a:t>
            </a:r>
            <a:r>
              <a:rPr lang="zh-CN" altLang="zh-CN" sz="2000" dirty="0" smtClean="0"/>
              <a:t>地铁运营有限公司</a:t>
            </a:r>
            <a:r>
              <a:rPr lang="zh-CN" altLang="zh-CN" sz="2000" dirty="0"/>
              <a:t>：</a:t>
            </a:r>
            <a:endParaRPr lang="zh-CN" altLang="zh-CN" sz="2000" dirty="0"/>
          </a:p>
          <a:p>
            <a:pPr marL="0" indent="0">
              <a:buNone/>
            </a:pPr>
            <a:r>
              <a:rPr lang="en-US" altLang="zh-CN" sz="2000" dirty="0" smtClean="0"/>
              <a:t>         </a:t>
            </a:r>
            <a:r>
              <a:rPr lang="zh-CN" altLang="zh-CN" sz="2000" dirty="0" smtClean="0"/>
              <a:t>为</a:t>
            </a:r>
            <a:r>
              <a:rPr lang="zh-CN" altLang="zh-CN" sz="2000" dirty="0"/>
              <a:t>学习贵公司</a:t>
            </a:r>
            <a:r>
              <a:rPr lang="zh-CN" altLang="zh-CN" sz="2000" dirty="0" smtClean="0"/>
              <a:t>在</a:t>
            </a:r>
            <a:r>
              <a:rPr lang="en-US" altLang="zh-CN" sz="2000" dirty="0" smtClean="0"/>
              <a:t>XXXX</a:t>
            </a:r>
            <a:r>
              <a:rPr lang="zh-CN" altLang="zh-CN" sz="2000" dirty="0" smtClean="0"/>
              <a:t>和</a:t>
            </a:r>
            <a:r>
              <a:rPr lang="en-US" altLang="zh-CN" sz="2000" dirty="0" smtClean="0"/>
              <a:t>XXXX</a:t>
            </a:r>
            <a:r>
              <a:rPr lang="zh-CN" altLang="zh-CN" sz="2000" dirty="0" smtClean="0"/>
              <a:t>方面</a:t>
            </a:r>
            <a:r>
              <a:rPr lang="zh-CN" altLang="zh-CN" sz="2000" dirty="0"/>
              <a:t>先进管理经验，进一步加强学习交流，</a:t>
            </a:r>
            <a:r>
              <a:rPr lang="zh-CN" altLang="zh-CN" sz="2000" dirty="0" smtClean="0">
                <a:sym typeface="+mn-ea"/>
              </a:rPr>
              <a:t>郑州地铁集团</a:t>
            </a:r>
            <a:r>
              <a:rPr lang="zh-CN" altLang="zh-CN" sz="2000" dirty="0">
                <a:sym typeface="+mn-ea"/>
              </a:rPr>
              <a:t>有限公司运营分公司</a:t>
            </a:r>
            <a:r>
              <a:rPr lang="zh-CN" altLang="zh-CN" sz="2000" dirty="0" smtClean="0"/>
              <a:t>由</a:t>
            </a:r>
            <a:r>
              <a:rPr lang="en-US" altLang="zh-CN" sz="2000" dirty="0" smtClean="0"/>
              <a:t>XXX</a:t>
            </a:r>
            <a:r>
              <a:rPr lang="zh-CN" altLang="zh-CN" sz="2000" dirty="0" smtClean="0"/>
              <a:t>中心主任</a:t>
            </a:r>
            <a:r>
              <a:rPr lang="en-US" altLang="zh-CN" sz="2000" dirty="0" smtClean="0"/>
              <a:t>XXX</a:t>
            </a:r>
            <a:r>
              <a:rPr lang="zh-CN" altLang="zh-CN" sz="2000" dirty="0" smtClean="0"/>
              <a:t>带队</a:t>
            </a:r>
            <a:r>
              <a:rPr lang="zh-CN" altLang="zh-CN" sz="2000" dirty="0"/>
              <a:t>，一行</a:t>
            </a:r>
            <a:r>
              <a:rPr lang="en-US" altLang="zh-CN" sz="2000" dirty="0"/>
              <a:t>4</a:t>
            </a:r>
            <a:r>
              <a:rPr lang="zh-CN" altLang="zh-CN" sz="2000" dirty="0"/>
              <a:t>人，兹</a:t>
            </a:r>
            <a:r>
              <a:rPr lang="zh-CN" altLang="zh-CN" sz="2000" dirty="0" smtClean="0"/>
              <a:t>定于</a:t>
            </a:r>
            <a:r>
              <a:rPr lang="en-US" altLang="zh-CN" sz="2000" dirty="0" smtClean="0"/>
              <a:t>XXXX</a:t>
            </a:r>
            <a:r>
              <a:rPr lang="zh-CN" altLang="zh-CN" sz="2000" dirty="0" smtClean="0"/>
              <a:t>年</a:t>
            </a:r>
            <a:r>
              <a:rPr lang="en-US" altLang="zh-CN" sz="2000" dirty="0" smtClean="0"/>
              <a:t>XX</a:t>
            </a:r>
            <a:r>
              <a:rPr lang="zh-CN" altLang="zh-CN" sz="2000" dirty="0" smtClean="0"/>
              <a:t>月</a:t>
            </a:r>
            <a:r>
              <a:rPr lang="en-US" altLang="zh-CN" sz="2000" dirty="0" smtClean="0"/>
              <a:t>XX</a:t>
            </a:r>
            <a:r>
              <a:rPr lang="zh-CN" altLang="zh-CN" sz="2000" dirty="0" smtClean="0"/>
              <a:t>日至</a:t>
            </a:r>
            <a:r>
              <a:rPr lang="en-US" altLang="zh-CN" sz="2000" dirty="0" smtClean="0"/>
              <a:t>XXXX</a:t>
            </a:r>
            <a:r>
              <a:rPr lang="zh-CN" altLang="zh-CN" sz="2000" dirty="0" smtClean="0"/>
              <a:t>年</a:t>
            </a:r>
            <a:r>
              <a:rPr lang="en-US" altLang="zh-CN" sz="2000" dirty="0" smtClean="0"/>
              <a:t>XX</a:t>
            </a:r>
            <a:r>
              <a:rPr lang="zh-CN" altLang="zh-CN" sz="2000" dirty="0" smtClean="0"/>
              <a:t>月</a:t>
            </a:r>
            <a:r>
              <a:rPr lang="en-US" altLang="zh-CN" sz="2000" dirty="0" smtClean="0"/>
              <a:t>XX</a:t>
            </a:r>
            <a:r>
              <a:rPr lang="zh-CN" altLang="zh-CN" sz="2000" dirty="0" smtClean="0"/>
              <a:t>日</a:t>
            </a:r>
            <a:r>
              <a:rPr lang="zh-CN" altLang="zh-CN" sz="2000" dirty="0"/>
              <a:t>赴贵公司交流学习，</a:t>
            </a:r>
            <a:r>
              <a:rPr lang="zh-CN" altLang="zh-CN" sz="2000" dirty="0" smtClean="0"/>
              <a:t>为期</a:t>
            </a:r>
            <a:r>
              <a:rPr lang="en-US" altLang="zh-CN" sz="2000" dirty="0" smtClean="0"/>
              <a:t>X</a:t>
            </a:r>
            <a:r>
              <a:rPr lang="zh-CN" altLang="zh-CN" sz="2000" dirty="0" smtClean="0"/>
              <a:t>天</a:t>
            </a:r>
            <a:r>
              <a:rPr lang="zh-CN" altLang="zh-CN" sz="2000" dirty="0"/>
              <a:t>。望贵公司予以接洽。</a:t>
            </a:r>
            <a:endParaRPr lang="zh-CN" altLang="zh-CN" sz="2000" dirty="0"/>
          </a:p>
          <a:p>
            <a:pPr marL="0" indent="0">
              <a:buNone/>
            </a:pPr>
            <a:r>
              <a:rPr lang="en-US" altLang="zh-CN" sz="2000" dirty="0" smtClean="0"/>
              <a:t>         </a:t>
            </a:r>
            <a:r>
              <a:rPr lang="zh-CN" altLang="zh-CN" sz="2000" dirty="0" smtClean="0"/>
              <a:t>特</a:t>
            </a:r>
            <a:r>
              <a:rPr lang="zh-CN" altLang="zh-CN" sz="2000" dirty="0"/>
              <a:t>达此函，回复为盼。</a:t>
            </a:r>
            <a:endParaRPr lang="zh-CN" altLang="zh-CN" sz="2000" dirty="0"/>
          </a:p>
          <a:p>
            <a:pPr marL="0" indent="0">
              <a:buNone/>
            </a:pPr>
            <a:r>
              <a:rPr lang="en-US" altLang="zh-CN" sz="2000" dirty="0"/>
              <a:t> </a:t>
            </a:r>
            <a:endParaRPr lang="zh-CN" altLang="zh-CN" sz="2000" dirty="0"/>
          </a:p>
          <a:p>
            <a:pPr marL="0" indent="0">
              <a:buNone/>
            </a:pPr>
            <a:r>
              <a:rPr lang="en-US" altLang="zh-CN" sz="2000" dirty="0" smtClean="0"/>
              <a:t>         </a:t>
            </a:r>
            <a:r>
              <a:rPr lang="zh-CN" altLang="zh-CN" sz="2000" dirty="0" smtClean="0"/>
              <a:t>附件</a:t>
            </a:r>
            <a:r>
              <a:rPr lang="zh-CN" altLang="zh-CN" sz="2000" dirty="0"/>
              <a:t>：</a:t>
            </a:r>
            <a:r>
              <a:rPr lang="en-US" altLang="zh-CN" sz="2000" dirty="0"/>
              <a:t>1.</a:t>
            </a:r>
            <a:r>
              <a:rPr lang="zh-CN" altLang="zh-CN" sz="2000" dirty="0"/>
              <a:t>调研学习成员</a:t>
            </a:r>
            <a:endParaRPr lang="zh-CN" altLang="zh-CN" sz="2000" dirty="0"/>
          </a:p>
          <a:p>
            <a:pPr marL="0" indent="0">
              <a:buNone/>
            </a:pPr>
            <a:r>
              <a:rPr lang="en-US" altLang="zh-CN" sz="2000" dirty="0"/>
              <a:t> </a:t>
            </a:r>
            <a:r>
              <a:rPr lang="en-US" altLang="zh-CN" sz="2000" dirty="0" smtClean="0"/>
              <a:t>                     2</a:t>
            </a:r>
            <a:r>
              <a:rPr lang="en-US" altLang="zh-CN" sz="2000" dirty="0"/>
              <a:t>.</a:t>
            </a:r>
            <a:r>
              <a:rPr lang="zh-CN" altLang="zh-CN" sz="2000" dirty="0"/>
              <a:t>调研学习内容</a:t>
            </a:r>
            <a:endParaRPr lang="zh-CN" altLang="zh-CN" sz="2000" dirty="0"/>
          </a:p>
          <a:p>
            <a:pPr marL="0" indent="0">
              <a:buNone/>
            </a:pPr>
            <a:r>
              <a:rPr lang="en-US" altLang="zh-CN" sz="2000" dirty="0" smtClean="0"/>
              <a:t>                      3</a:t>
            </a:r>
            <a:r>
              <a:rPr lang="en-US" altLang="zh-CN" sz="2000" dirty="0"/>
              <a:t>.</a:t>
            </a:r>
            <a:r>
              <a:rPr lang="zh-CN" altLang="zh-CN" sz="2000" dirty="0"/>
              <a:t>行程安排</a:t>
            </a:r>
            <a:endParaRPr lang="zh-CN" altLang="zh-CN" sz="2000" dirty="0"/>
          </a:p>
          <a:p>
            <a:pPr marL="0" indent="0">
              <a:buNone/>
            </a:pPr>
            <a:r>
              <a:rPr lang="en-US" altLang="zh-CN" sz="2000" dirty="0"/>
              <a:t> </a:t>
            </a:r>
            <a:endParaRPr lang="zh-CN" altLang="zh-CN" sz="2000" dirty="0"/>
          </a:p>
          <a:p>
            <a:pPr marL="0" indent="0">
              <a:buNone/>
            </a:pPr>
            <a:r>
              <a:rPr lang="en-US" altLang="zh-CN" sz="2000" dirty="0"/>
              <a:t> </a:t>
            </a:r>
            <a:endParaRPr lang="zh-CN" altLang="zh-CN" sz="2000" dirty="0"/>
          </a:p>
          <a:p>
            <a:pPr marL="0" indent="0">
              <a:buNone/>
            </a:pPr>
            <a:r>
              <a:rPr lang="en-US" altLang="zh-CN" sz="2000" dirty="0" smtClean="0">
                <a:effectLst/>
              </a:rPr>
              <a:t>     </a:t>
            </a:r>
            <a:br>
              <a:rPr lang="zh-CN" altLang="zh-CN" sz="2000" dirty="0" smtClean="0">
                <a:effectLst/>
              </a:rPr>
            </a:br>
            <a:r>
              <a:rPr lang="en-US" altLang="zh-CN" sz="2000" dirty="0" smtClean="0">
                <a:effectLst/>
              </a:rPr>
              <a:t>                                                                                                                                                                        </a:t>
            </a:r>
            <a:r>
              <a:rPr lang="zh-CN" altLang="zh-CN" sz="2000" dirty="0" smtClean="0"/>
              <a:t>郑州地铁集团</a:t>
            </a:r>
            <a:r>
              <a:rPr lang="zh-CN" altLang="zh-CN" sz="2000" dirty="0"/>
              <a:t>有限公司运营分公司</a:t>
            </a:r>
            <a:endParaRPr lang="zh-CN" altLang="zh-CN" sz="2000" dirty="0"/>
          </a:p>
          <a:p>
            <a:pPr marL="0" indent="0">
              <a:buNone/>
            </a:pPr>
            <a:r>
              <a:rPr lang="en-US" altLang="zh-CN" sz="2000" dirty="0"/>
              <a:t>                           </a:t>
            </a:r>
            <a:r>
              <a:rPr lang="en-US" altLang="zh-CN" sz="2000" dirty="0" smtClean="0"/>
              <a:t>                                                                                                                                                                    XXXX</a:t>
            </a:r>
            <a:r>
              <a:rPr lang="zh-CN" altLang="zh-CN" sz="2000" dirty="0" smtClean="0"/>
              <a:t>年</a:t>
            </a:r>
            <a:r>
              <a:rPr lang="en-US" altLang="zh-CN" sz="2000" dirty="0" smtClean="0"/>
              <a:t>X</a:t>
            </a:r>
            <a:r>
              <a:rPr lang="zh-CN" altLang="zh-CN" sz="2000" dirty="0" smtClean="0"/>
              <a:t>月</a:t>
            </a:r>
            <a:r>
              <a:rPr lang="en-US" altLang="zh-CN" sz="2000" dirty="0" smtClean="0"/>
              <a:t>X</a:t>
            </a:r>
            <a:r>
              <a:rPr lang="zh-CN" altLang="zh-CN" sz="2000" dirty="0" smtClean="0"/>
              <a:t>日</a:t>
            </a:r>
            <a:endParaRPr lang="zh-CN" altLang="zh-CN" sz="2000" dirty="0"/>
          </a:p>
          <a:p>
            <a:pPr marL="0" indent="0">
              <a:buNone/>
            </a:pPr>
            <a:r>
              <a:rPr lang="zh-CN" altLang="zh-CN" sz="2000" dirty="0"/>
              <a:t>    （联系人</a:t>
            </a:r>
            <a:r>
              <a:rPr lang="zh-CN" altLang="zh-CN" sz="2000" dirty="0" smtClean="0"/>
              <a:t>：</a:t>
            </a:r>
            <a:r>
              <a:rPr lang="en-US" altLang="zh-CN" sz="2000" dirty="0" smtClean="0"/>
              <a:t>XXX       </a:t>
            </a:r>
            <a:r>
              <a:rPr lang="zh-CN" altLang="zh-CN" sz="2000" dirty="0" smtClean="0"/>
              <a:t>联系</a:t>
            </a:r>
            <a:r>
              <a:rPr lang="zh-CN" altLang="zh-CN" sz="2000" dirty="0"/>
              <a:t>电话</a:t>
            </a:r>
            <a:r>
              <a:rPr lang="zh-CN" altLang="zh-CN" sz="2000" dirty="0" smtClean="0"/>
              <a:t>：</a:t>
            </a:r>
            <a:r>
              <a:rPr lang="en-US" altLang="zh-CN" sz="2000" dirty="0" smtClean="0"/>
              <a:t>XXXXXXX</a:t>
            </a:r>
            <a:r>
              <a:rPr lang="zh-CN" altLang="zh-CN" sz="2000" dirty="0" smtClean="0"/>
              <a:t>）</a:t>
            </a:r>
            <a:endParaRPr lang="zh-CN" altLang="zh-CN" sz="2000" dirty="0"/>
          </a:p>
          <a:p>
            <a:pPr marL="0" indent="0">
              <a:buNone/>
            </a:pPr>
            <a:endParaRPr lang="en-US" altLang="zh-CN" sz="2000" dirty="0"/>
          </a:p>
        </p:txBody>
      </p:sp>
      <p:pic>
        <p:nvPicPr>
          <p:cNvPr id="13" name="图片 12" descr="E:\曹飞\2017\2017-8-8地铁PPT\7.png7"/>
          <p:cNvPicPr>
            <a:picLocks noChangeAspect="1"/>
          </p:cNvPicPr>
          <p:nvPr/>
        </p:nvPicPr>
        <p:blipFill>
          <a:blip r:embed="rId1" cstate="email"/>
          <a:srcRect/>
          <a:stretch>
            <a:fillRect/>
          </a:stretch>
        </p:blipFill>
        <p:spPr>
          <a:xfrm>
            <a:off x="-6667" y="4477465"/>
            <a:ext cx="9168289" cy="668179"/>
          </a:xfrm>
          <a:prstGeom prst="rect">
            <a:avLst/>
          </a:prstGeom>
        </p:spPr>
      </p:pic>
      <p:pic>
        <p:nvPicPr>
          <p:cNvPr id="8" name="图片 7" descr="E:\曹飞\2017\2017-8-8地铁PPT\6.png6"/>
          <p:cNvPicPr>
            <a:picLocks noChangeAspect="1"/>
          </p:cNvPicPr>
          <p:nvPr/>
        </p:nvPicPr>
        <p:blipFill>
          <a:blip r:embed="rId2" cstate="email"/>
          <a:srcRect/>
          <a:stretch>
            <a:fillRect/>
          </a:stretch>
        </p:blipFill>
        <p:spPr>
          <a:xfrm>
            <a:off x="2261712" y="230427"/>
            <a:ext cx="6463189" cy="343376"/>
          </a:xfrm>
          <a:prstGeom prst="rect">
            <a:avLst/>
          </a:prstGeom>
        </p:spPr>
      </p:pic>
      <p:pic>
        <p:nvPicPr>
          <p:cNvPr id="9" name="图片 8"/>
          <p:cNvPicPr>
            <a:picLocks noChangeAspect="1"/>
          </p:cNvPicPr>
          <p:nvPr/>
        </p:nvPicPr>
        <p:blipFill>
          <a:blip r:embed="rId3"/>
          <a:stretch>
            <a:fillRect/>
          </a:stretch>
        </p:blipFill>
        <p:spPr>
          <a:xfrm>
            <a:off x="575945" y="297180"/>
            <a:ext cx="1685925" cy="419100"/>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par>
                                <p:cTn id="10" presetID="12" presetClass="entr" presetSubtype="8"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p:tgtEl>
                                          <p:spTgt spid="8"/>
                                        </p:tgtEl>
                                        <p:attrNameLst>
                                          <p:attrName>ppt_x</p:attrName>
                                        </p:attrNameLst>
                                      </p:cBhvr>
                                      <p:tavLst>
                                        <p:tav tm="0">
                                          <p:val>
                                            <p:strVal val="#ppt_x-#ppt_w*1.125000"/>
                                          </p:val>
                                        </p:tav>
                                        <p:tav tm="100000">
                                          <p:val>
                                            <p:strVal val="#ppt_x"/>
                                          </p:val>
                                        </p:tav>
                                      </p:tavLst>
                                    </p:anim>
                                    <p:animEffect transition="in" filter="wipe(right)">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51520" y="735547"/>
            <a:ext cx="8540750" cy="3145631"/>
          </a:xfrm>
        </p:spPr>
        <p:txBody>
          <a:bodyPr>
            <a:normAutofit fontScale="92500" lnSpcReduction="20000"/>
          </a:bodyPr>
          <a:lstStyle/>
          <a:p>
            <a:pPr marL="0" indent="0">
              <a:buNone/>
            </a:pPr>
            <a:r>
              <a:rPr lang="zh-CN" altLang="en-US" sz="2000" dirty="0" smtClean="0"/>
              <a:t>★复函</a:t>
            </a:r>
            <a:endParaRPr lang="en-US" altLang="zh-CN" sz="2000" dirty="0" smtClean="0"/>
          </a:p>
          <a:p>
            <a:pPr marL="0" indent="0" algn="ctr">
              <a:buNone/>
            </a:pPr>
            <a:r>
              <a:rPr lang="zh-CN" altLang="en-US" sz="2000" dirty="0" smtClean="0"/>
              <a:t>关于同意担任“中原国际轨道交通技术博览会暨全球智慧智能轨道交通大会”主办单位的复函</a:t>
            </a:r>
            <a:endParaRPr lang="zh-CN" altLang="en-US" sz="2000" dirty="0" smtClean="0"/>
          </a:p>
          <a:p>
            <a:pPr marL="0" indent="0">
              <a:buNone/>
            </a:pPr>
            <a:endParaRPr lang="en-US" altLang="zh-CN" sz="2000" dirty="0" smtClean="0"/>
          </a:p>
          <a:p>
            <a:pPr marL="0" indent="0">
              <a:buNone/>
            </a:pPr>
            <a:r>
              <a:rPr lang="zh-CN" altLang="zh-CN" sz="1600" dirty="0"/>
              <a:t>国铁科创新轨道交通科技股份有限公司：</a:t>
            </a:r>
            <a:endParaRPr lang="zh-CN" altLang="zh-CN" sz="1600" dirty="0"/>
          </a:p>
          <a:p>
            <a:pPr marL="0" indent="0">
              <a:buNone/>
            </a:pPr>
            <a:r>
              <a:rPr lang="en-US" altLang="zh-CN" sz="1600" dirty="0" smtClean="0"/>
              <a:t>        </a:t>
            </a:r>
            <a:r>
              <a:rPr lang="zh-CN" altLang="zh-CN" sz="1600" dirty="0" smtClean="0"/>
              <a:t>接</a:t>
            </a:r>
            <a:r>
              <a:rPr lang="zh-CN" altLang="zh-CN" sz="1600" dirty="0"/>
              <a:t>贵司来函，邀请</a:t>
            </a:r>
            <a:r>
              <a:rPr lang="zh-CN" altLang="zh-CN" sz="1600" dirty="0" smtClean="0">
                <a:sym typeface="+mn-ea"/>
              </a:rPr>
              <a:t>郑州地铁集团有限公司运营分公司</a:t>
            </a:r>
            <a:r>
              <a:rPr lang="zh-CN" altLang="zh-CN" sz="1600" dirty="0"/>
              <a:t>担任</a:t>
            </a:r>
            <a:r>
              <a:rPr lang="en-US" altLang="zh-CN" sz="1600" dirty="0"/>
              <a:t>“</a:t>
            </a:r>
            <a:r>
              <a:rPr lang="zh-CN" altLang="zh-CN" sz="1600" dirty="0"/>
              <a:t>中原国际轨道交通技术博览会暨全球智慧智能轨道交通大会</a:t>
            </a:r>
            <a:r>
              <a:rPr lang="en-US" altLang="zh-CN" sz="1600" dirty="0"/>
              <a:t>”</a:t>
            </a:r>
            <a:r>
              <a:rPr lang="zh-CN" altLang="zh-CN" sz="1600" dirty="0"/>
              <a:t>主办单位，经</a:t>
            </a:r>
            <a:r>
              <a:rPr lang="zh-CN" altLang="zh-CN" sz="1600" dirty="0" smtClean="0">
                <a:sym typeface="+mn-ea"/>
              </a:rPr>
              <a:t>郑州地铁集团有限公司运营分公司</a:t>
            </a:r>
            <a:r>
              <a:rPr lang="zh-CN" altLang="zh-CN" sz="1600" dirty="0"/>
              <a:t>研究决定，同意作为主办单位共同组织本次论坛暨展览会</a:t>
            </a:r>
            <a:r>
              <a:rPr lang="zh-CN" altLang="zh-CN" sz="1600" dirty="0" smtClean="0"/>
              <a:t>。</a:t>
            </a:r>
            <a:endParaRPr lang="en-US" altLang="zh-CN" sz="1600" dirty="0" smtClean="0"/>
          </a:p>
          <a:p>
            <a:pPr marL="0" indent="0">
              <a:buNone/>
            </a:pPr>
            <a:r>
              <a:rPr lang="en-US" altLang="zh-CN" sz="1600" dirty="0"/>
              <a:t> </a:t>
            </a:r>
            <a:r>
              <a:rPr lang="en-US" altLang="zh-CN" sz="1600" dirty="0" smtClean="0"/>
              <a:t>       </a:t>
            </a:r>
            <a:r>
              <a:rPr lang="zh-CN" altLang="zh-CN" sz="1600" dirty="0" smtClean="0"/>
              <a:t>专</a:t>
            </a:r>
            <a:r>
              <a:rPr lang="zh-CN" altLang="zh-CN" sz="1600" dirty="0"/>
              <a:t>此函</a:t>
            </a:r>
            <a:r>
              <a:rPr lang="zh-CN" altLang="zh-CN" sz="1600" dirty="0" smtClean="0"/>
              <a:t>达。</a:t>
            </a:r>
            <a:endParaRPr lang="en-US" altLang="zh-CN" sz="1600" dirty="0" smtClean="0"/>
          </a:p>
          <a:p>
            <a:pPr marL="0" indent="0">
              <a:buNone/>
            </a:pPr>
            <a:br>
              <a:rPr lang="zh-CN" altLang="zh-CN" sz="1600" dirty="0" smtClean="0">
                <a:effectLst/>
              </a:rPr>
            </a:br>
            <a:r>
              <a:rPr lang="en-US" altLang="zh-CN" sz="1600" dirty="0" smtClean="0">
                <a:effectLst/>
              </a:rPr>
              <a:t>                                                                                                                        </a:t>
            </a:r>
            <a:r>
              <a:rPr lang="zh-CN" altLang="zh-CN" sz="1600" dirty="0" smtClean="0"/>
              <a:t>郑州地铁集团有限公司运营分公司</a:t>
            </a:r>
            <a:endParaRPr lang="zh-CN" altLang="zh-CN" sz="1600" dirty="0" smtClean="0"/>
          </a:p>
          <a:p>
            <a:pPr marL="0" indent="0">
              <a:buNone/>
            </a:pPr>
            <a:r>
              <a:rPr lang="en-US" altLang="zh-CN" sz="1600" dirty="0" smtClean="0"/>
              <a:t>                                                                                                                                                XXXX</a:t>
            </a:r>
            <a:r>
              <a:rPr lang="zh-CN" altLang="zh-CN" sz="1600" dirty="0" smtClean="0"/>
              <a:t>年</a:t>
            </a:r>
            <a:r>
              <a:rPr lang="en-US" altLang="zh-CN" sz="1600" dirty="0" smtClean="0"/>
              <a:t>X</a:t>
            </a:r>
            <a:r>
              <a:rPr lang="zh-CN" altLang="zh-CN" sz="1600" dirty="0" smtClean="0"/>
              <a:t>月</a:t>
            </a:r>
            <a:r>
              <a:rPr lang="en-US" altLang="zh-CN" sz="1600" dirty="0" smtClean="0"/>
              <a:t>X</a:t>
            </a:r>
            <a:r>
              <a:rPr lang="zh-CN" altLang="zh-CN" sz="1600" dirty="0" smtClean="0"/>
              <a:t>日</a:t>
            </a:r>
            <a:endParaRPr lang="en-US" altLang="zh-CN" sz="1600" dirty="0" smtClean="0"/>
          </a:p>
          <a:p>
            <a:pPr marL="0" indent="0">
              <a:buNone/>
            </a:pPr>
            <a:r>
              <a:rPr lang="en-US" altLang="zh-CN" sz="1600" dirty="0"/>
              <a:t> </a:t>
            </a:r>
            <a:r>
              <a:rPr lang="en-US" altLang="zh-CN" sz="1600" dirty="0" smtClean="0"/>
              <a:t>    </a:t>
            </a:r>
            <a:r>
              <a:rPr lang="zh-CN" altLang="zh-CN" sz="1600" dirty="0" smtClean="0"/>
              <a:t>（联系人：</a:t>
            </a:r>
            <a:r>
              <a:rPr lang="en-US" altLang="zh-CN" sz="1600" dirty="0" smtClean="0"/>
              <a:t>XXX       </a:t>
            </a:r>
            <a:r>
              <a:rPr lang="zh-CN" altLang="zh-CN" sz="1600" dirty="0" smtClean="0"/>
              <a:t>电话：</a:t>
            </a:r>
            <a:r>
              <a:rPr lang="en-US" altLang="zh-CN" sz="1600" dirty="0" smtClean="0"/>
              <a:t>XXX</a:t>
            </a:r>
            <a:r>
              <a:rPr lang="zh-CN" altLang="zh-CN" sz="1600" dirty="0" smtClean="0"/>
              <a:t>）</a:t>
            </a:r>
            <a:endParaRPr lang="zh-CN" altLang="zh-CN" sz="1600" dirty="0" smtClean="0"/>
          </a:p>
          <a:p>
            <a:pPr marL="0" indent="0">
              <a:buNone/>
            </a:pPr>
            <a:endParaRPr lang="en-US" altLang="zh-CN" sz="1600" dirty="0" smtClean="0"/>
          </a:p>
          <a:p>
            <a:pPr marL="0" indent="0">
              <a:buNone/>
            </a:pPr>
            <a:endParaRPr lang="zh-CN" altLang="zh-CN" sz="1600" dirty="0"/>
          </a:p>
        </p:txBody>
      </p:sp>
      <p:pic>
        <p:nvPicPr>
          <p:cNvPr id="13" name="图片 12" descr="E:\曹飞\2017\2017-8-8地铁PPT\7.png7"/>
          <p:cNvPicPr>
            <a:picLocks noChangeAspect="1"/>
          </p:cNvPicPr>
          <p:nvPr/>
        </p:nvPicPr>
        <p:blipFill>
          <a:blip r:embed="rId1" cstate="email"/>
          <a:srcRect/>
          <a:stretch>
            <a:fillRect/>
          </a:stretch>
        </p:blipFill>
        <p:spPr>
          <a:xfrm>
            <a:off x="-6667" y="4477465"/>
            <a:ext cx="9168289" cy="668179"/>
          </a:xfrm>
          <a:prstGeom prst="rect">
            <a:avLst/>
          </a:prstGeom>
        </p:spPr>
      </p:pic>
      <p:pic>
        <p:nvPicPr>
          <p:cNvPr id="9" name="图片 8"/>
          <p:cNvPicPr>
            <a:picLocks noChangeAspect="1"/>
          </p:cNvPicPr>
          <p:nvPr/>
        </p:nvPicPr>
        <p:blipFill>
          <a:blip r:embed="rId2"/>
          <a:stretch>
            <a:fillRect/>
          </a:stretch>
        </p:blipFill>
        <p:spPr>
          <a:xfrm>
            <a:off x="575945" y="297180"/>
            <a:ext cx="1685925" cy="419100"/>
          </a:xfrm>
          <a:prstGeom prst="rect">
            <a:avLst/>
          </a:prstGeom>
        </p:spPr>
      </p:pic>
      <p:pic>
        <p:nvPicPr>
          <p:cNvPr id="8" name="图片 7" descr="E:\曹飞\2017\2017-8-8地铁PPT\6.png6"/>
          <p:cNvPicPr>
            <a:picLocks noChangeAspect="1"/>
          </p:cNvPicPr>
          <p:nvPr/>
        </p:nvPicPr>
        <p:blipFill>
          <a:blip r:embed="rId3" cstate="email"/>
          <a:srcRect/>
          <a:stretch>
            <a:fillRect/>
          </a:stretch>
        </p:blipFill>
        <p:spPr>
          <a:xfrm>
            <a:off x="2261712" y="230427"/>
            <a:ext cx="6463189" cy="343376"/>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par>
                                <p:cTn id="10" presetID="12" presetClass="entr" presetSubtype="8"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p:tgtEl>
                                          <p:spTgt spid="8"/>
                                        </p:tgtEl>
                                        <p:attrNameLst>
                                          <p:attrName>ppt_x</p:attrName>
                                        </p:attrNameLst>
                                      </p:cBhvr>
                                      <p:tavLst>
                                        <p:tav tm="0">
                                          <p:val>
                                            <p:strVal val="#ppt_x-#ppt_w*1.125000"/>
                                          </p:val>
                                        </p:tav>
                                        <p:tav tm="100000">
                                          <p:val>
                                            <p:strVal val="#ppt_x"/>
                                          </p:val>
                                        </p:tav>
                                      </p:tavLst>
                                    </p:anim>
                                    <p:animEffect transition="in" filter="wipe(right)">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C:\Users\TCSJ\Desktop\地铁PPT\bg2.pngbg2"/>
          <p:cNvPicPr>
            <a:picLocks noChangeAspect="1"/>
          </p:cNvPicPr>
          <p:nvPr/>
        </p:nvPicPr>
        <p:blipFill>
          <a:blip r:embed="rId1"/>
          <a:srcRect/>
          <a:stretch>
            <a:fillRect/>
          </a:stretch>
        </p:blipFill>
        <p:spPr>
          <a:xfrm>
            <a:off x="-7144" y="30949"/>
            <a:ext cx="9158288" cy="5152073"/>
          </a:xfrm>
          <a:prstGeom prst="rect">
            <a:avLst/>
          </a:prstGeom>
        </p:spPr>
      </p:pic>
      <p:pic>
        <p:nvPicPr>
          <p:cNvPr id="3" name="图片 2" descr="E:\曹飞\2017\2017-8-8地铁PPT\5.png5"/>
          <p:cNvPicPr>
            <a:picLocks noChangeAspect="1"/>
          </p:cNvPicPr>
          <p:nvPr/>
        </p:nvPicPr>
        <p:blipFill>
          <a:blip r:embed="rId2" cstate="email"/>
          <a:srcRect/>
          <a:stretch>
            <a:fillRect/>
          </a:stretch>
        </p:blipFill>
        <p:spPr>
          <a:xfrm>
            <a:off x="-2210752" y="-2100739"/>
            <a:ext cx="7341394" cy="8766810"/>
          </a:xfrm>
          <a:prstGeom prst="rect">
            <a:avLst/>
          </a:prstGeom>
        </p:spPr>
      </p:pic>
      <p:pic>
        <p:nvPicPr>
          <p:cNvPr id="10" name="图片 9" descr="E:\曹飞\2017\2017-8-8地铁PPT\3.png3"/>
          <p:cNvPicPr>
            <a:picLocks noChangeAspect="1"/>
          </p:cNvPicPr>
          <p:nvPr/>
        </p:nvPicPr>
        <p:blipFill>
          <a:blip r:embed="rId3" cstate="email"/>
          <a:srcRect/>
          <a:stretch>
            <a:fillRect/>
          </a:stretch>
        </p:blipFill>
        <p:spPr>
          <a:xfrm>
            <a:off x="653415" y="4402218"/>
            <a:ext cx="8497729" cy="382429"/>
          </a:xfrm>
          <a:prstGeom prst="rect">
            <a:avLst/>
          </a:prstGeom>
        </p:spPr>
      </p:pic>
      <p:sp>
        <p:nvSpPr>
          <p:cNvPr id="7" name="TextBox 24"/>
          <p:cNvSpPr txBox="1"/>
          <p:nvPr/>
        </p:nvSpPr>
        <p:spPr>
          <a:xfrm>
            <a:off x="5938362" y="3442653"/>
            <a:ext cx="2846546" cy="419735"/>
          </a:xfrm>
          <a:prstGeom prst="rect">
            <a:avLst/>
          </a:prstGeom>
          <a:noFill/>
        </p:spPr>
        <p:txBody>
          <a:bodyPr wrap="square" lIns="51428" tIns="25714" rIns="51428" bIns="25714" rtlCol="0">
            <a:spAutoFit/>
          </a:bodyPr>
          <a:lstStyle/>
          <a:p>
            <a:pPr algn="ctr"/>
            <a:r>
              <a:rPr lang="zh-CN" altLang="en-US" sz="2400" b="1" dirty="0">
                <a:solidFill>
                  <a:srgbClr val="C09D3C"/>
                </a:solidFill>
                <a:latin typeface="微软雅黑" panose="020B0503020204020204" charset="-122"/>
                <a:ea typeface="微软雅黑" panose="020B0503020204020204" charset="-122"/>
                <a:sym typeface="+mn-ea"/>
              </a:rPr>
              <a:t>简报写作技法</a:t>
            </a:r>
            <a:endParaRPr lang="zh-CN" altLang="en-US" sz="2400" b="1" dirty="0">
              <a:solidFill>
                <a:schemeClr val="tx1">
                  <a:lumMod val="75000"/>
                  <a:lumOff val="25000"/>
                </a:schemeClr>
              </a:solidFill>
              <a:latin typeface="微软雅黑" panose="020B0503020204020204" charset="-122"/>
              <a:ea typeface="微软雅黑" panose="020B0503020204020204" charset="-122"/>
              <a:sym typeface="+mn-ea"/>
            </a:endParaRPr>
          </a:p>
        </p:txBody>
      </p:sp>
      <p:cxnSp>
        <p:nvCxnSpPr>
          <p:cNvPr id="11" name="直接连接符 10"/>
          <p:cNvCxnSpPr/>
          <p:nvPr/>
        </p:nvCxnSpPr>
        <p:spPr>
          <a:xfrm>
            <a:off x="6000274" y="3896678"/>
            <a:ext cx="2676182" cy="0"/>
          </a:xfrm>
          <a:prstGeom prst="line">
            <a:avLst/>
          </a:prstGeom>
          <a:ln w="34925">
            <a:solidFill>
              <a:srgbClr val="C09D3C"/>
            </a:solidFill>
          </a:ln>
        </p:spPr>
        <p:style>
          <a:lnRef idx="1">
            <a:srgbClr val="814E67"/>
          </a:lnRef>
          <a:fillRef idx="0">
            <a:srgbClr val="814E67"/>
          </a:fillRef>
          <a:effectRef idx="0">
            <a:srgbClr val="814E67"/>
          </a:effectRef>
          <a:fontRef idx="minor">
            <a:srgbClr val="000000"/>
          </a:fontRef>
        </p:style>
      </p:cxnSp>
    </p:spTree>
  </p:cSld>
  <p:clrMapOvr>
    <a:masterClrMapping/>
  </p:clrMapOvr>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E:\曹飞\2017\2017-8-8地铁PPT\6.png6"/>
          <p:cNvPicPr>
            <a:picLocks noChangeAspect="1"/>
          </p:cNvPicPr>
          <p:nvPr/>
        </p:nvPicPr>
        <p:blipFill>
          <a:blip r:embed="rId1" cstate="email"/>
          <a:srcRect/>
          <a:stretch>
            <a:fillRect/>
          </a:stretch>
        </p:blipFill>
        <p:spPr>
          <a:xfrm>
            <a:off x="2261712" y="230427"/>
            <a:ext cx="6463189" cy="343376"/>
          </a:xfrm>
          <a:prstGeom prst="rect">
            <a:avLst/>
          </a:prstGeom>
        </p:spPr>
      </p:pic>
      <p:pic>
        <p:nvPicPr>
          <p:cNvPr id="9" name="图片 8"/>
          <p:cNvPicPr>
            <a:picLocks noChangeAspect="1"/>
          </p:cNvPicPr>
          <p:nvPr/>
        </p:nvPicPr>
        <p:blipFill>
          <a:blip r:embed="rId2"/>
          <a:stretch>
            <a:fillRect/>
          </a:stretch>
        </p:blipFill>
        <p:spPr>
          <a:xfrm>
            <a:off x="575945" y="297180"/>
            <a:ext cx="1685925" cy="419100"/>
          </a:xfrm>
          <a:prstGeom prst="rect">
            <a:avLst/>
          </a:prstGeom>
        </p:spPr>
      </p:pic>
      <p:pic>
        <p:nvPicPr>
          <p:cNvPr id="13" name="图片 12" descr="E:\曹飞\2017\2017-8-8地铁PPT\7.png7"/>
          <p:cNvPicPr>
            <a:picLocks noChangeAspect="1"/>
          </p:cNvPicPr>
          <p:nvPr/>
        </p:nvPicPr>
        <p:blipFill>
          <a:blip r:embed="rId3" cstate="email"/>
          <a:srcRect/>
          <a:stretch>
            <a:fillRect/>
          </a:stretch>
        </p:blipFill>
        <p:spPr>
          <a:xfrm>
            <a:off x="-6667" y="4477465"/>
            <a:ext cx="9168289" cy="668179"/>
          </a:xfrm>
          <a:prstGeom prst="rect">
            <a:avLst/>
          </a:prstGeom>
        </p:spPr>
      </p:pic>
      <p:sp>
        <p:nvSpPr>
          <p:cNvPr id="100" name="文本框 99"/>
          <p:cNvSpPr txBox="1"/>
          <p:nvPr/>
        </p:nvSpPr>
        <p:spPr>
          <a:xfrm>
            <a:off x="1086485" y="933450"/>
            <a:ext cx="6512560" cy="614045"/>
          </a:xfrm>
          <a:prstGeom prst="rect">
            <a:avLst/>
          </a:prstGeom>
          <a:noFill/>
          <a:ln w="9525">
            <a:noFill/>
          </a:ln>
        </p:spPr>
        <p:txBody>
          <a:bodyPr wrap="square">
            <a:spAutoFit/>
          </a:bodyPr>
          <a:p>
            <a:pPr indent="394970"/>
            <a:r>
              <a:rPr lang="zh-CN" b="0">
                <a:latin typeface="黑体" panose="02010609060101010101" pitchFamily="49" charset="-122"/>
                <a:ea typeface="黑体" panose="02010609060101010101" pitchFamily="49" charset="-122"/>
              </a:rPr>
              <a:t>一、定义</a:t>
            </a:r>
            <a:endParaRPr lang="zh-CN" b="0">
              <a:latin typeface="黑体" panose="02010609060101010101" pitchFamily="49" charset="-122"/>
              <a:ea typeface="黑体" panose="02010609060101010101" pitchFamily="49" charset="-122"/>
            </a:endParaRPr>
          </a:p>
          <a:p>
            <a:pPr indent="394970"/>
            <a:r>
              <a:rPr lang="zh-CN" sz="1600" b="0">
                <a:ea typeface="宋体" panose="02010600030101010101" pitchFamily="2" charset="-122"/>
              </a:rPr>
              <a:t>简报是沟通情况、交流经验、传播信息的一种信息类公文。</a:t>
            </a:r>
            <a:endParaRPr lang="zh-CN" altLang="en-US"/>
          </a:p>
        </p:txBody>
      </p:sp>
      <p:sp>
        <p:nvSpPr>
          <p:cNvPr id="5" name="文本框 4"/>
          <p:cNvSpPr txBox="1"/>
          <p:nvPr/>
        </p:nvSpPr>
        <p:spPr>
          <a:xfrm>
            <a:off x="936625" y="1616075"/>
            <a:ext cx="7407275" cy="2861310"/>
          </a:xfrm>
          <a:prstGeom prst="rect">
            <a:avLst/>
          </a:prstGeom>
          <a:noFill/>
          <a:ln w="9525">
            <a:noFill/>
          </a:ln>
        </p:spPr>
        <p:txBody>
          <a:bodyPr wrap="square">
            <a:spAutoFit/>
          </a:bodyPr>
          <a:p>
            <a:pPr indent="394970"/>
            <a:r>
              <a:rPr lang="en-US" altLang="zh-CN" sz="1800" b="0">
                <a:latin typeface="黑体" panose="02010609060101010101" pitchFamily="49" charset="-122"/>
                <a:ea typeface="黑体" panose="02010609060101010101" pitchFamily="49" charset="-122"/>
              </a:rPr>
              <a:t> </a:t>
            </a:r>
            <a:r>
              <a:rPr lang="zh-CN" sz="1800" b="0">
                <a:latin typeface="黑体" panose="02010609060101010101" pitchFamily="49" charset="-122"/>
                <a:ea typeface="黑体" panose="02010609060101010101" pitchFamily="49" charset="-122"/>
              </a:rPr>
              <a:t>二、特点</a:t>
            </a:r>
            <a:r>
              <a:rPr lang="zh-CN" sz="1600" b="0">
                <a:ea typeface="宋体" panose="02010600030101010101" pitchFamily="2" charset="-122"/>
                <a:cs typeface="Times New Roman" panose="02020603050405020304" pitchFamily="18" charset="0"/>
              </a:rPr>
              <a:t>       </a:t>
            </a:r>
            <a:r>
              <a:rPr lang="zh-CN" b="0">
                <a:latin typeface="仿宋_GB2312" panose="02010609030101010101" pitchFamily="49" charset="-122"/>
                <a:ea typeface="仿宋_GB2312" panose="02010609030101010101" pitchFamily="49" charset="-122"/>
                <a:cs typeface="仿宋_GB2312" panose="02010609030101010101" pitchFamily="49" charset="-122"/>
              </a:rPr>
              <a:t> 1.简明。简短是其突出特点，这主要表现为内容集中、语言简洁、结构简单、篇幅简短。一般情况下，一篇简报只报道一个主题。</a:t>
            </a:r>
            <a:r>
              <a:rPr lang="en-US" b="0">
                <a:latin typeface="仿宋_GB2312" panose="02010609030101010101" pitchFamily="49" charset="-122"/>
                <a:ea typeface="仿宋_GB2312" panose="02010609030101010101" pitchFamily="49" charset="-122"/>
                <a:cs typeface="仿宋_GB2312" panose="02010609030101010101" pitchFamily="49" charset="-122"/>
              </a:rPr>
              <a:t>    2.</a:t>
            </a:r>
            <a:r>
              <a:rPr lang="zh-CN" b="0">
                <a:latin typeface="仿宋_GB2312" panose="02010609030101010101" pitchFamily="49" charset="-122"/>
                <a:ea typeface="仿宋_GB2312" panose="02010609030101010101" pitchFamily="49" charset="-122"/>
                <a:cs typeface="仿宋_GB2312" panose="02010609030101010101" pitchFamily="49" charset="-122"/>
              </a:rPr>
              <a:t>快速。简报讲究实效，快写、快编、快发是基本要求。</a:t>
            </a:r>
            <a:r>
              <a:rPr lang="en-US" b="0">
                <a:latin typeface="仿宋_GB2312" panose="02010609030101010101" pitchFamily="49" charset="-122"/>
                <a:ea typeface="仿宋_GB2312" panose="02010609030101010101" pitchFamily="49" charset="-122"/>
                <a:cs typeface="仿宋_GB2312" panose="02010609030101010101" pitchFamily="49" charset="-122"/>
              </a:rPr>
              <a:t>    3.</a:t>
            </a:r>
            <a:r>
              <a:rPr lang="zh-CN" b="0">
                <a:latin typeface="仿宋_GB2312" panose="02010609030101010101" pitchFamily="49" charset="-122"/>
                <a:ea typeface="仿宋_GB2312" panose="02010609030101010101" pitchFamily="49" charset="-122"/>
                <a:cs typeface="仿宋_GB2312" panose="02010609030101010101" pitchFamily="49" charset="-122"/>
              </a:rPr>
              <a:t>新颖。简报努力反映新情况、新问题、新经验，不仅写作内容是新鲜的，写作角度、立意观点也要追求新新颖。</a:t>
            </a:r>
            <a:r>
              <a:rPr lang="en-US" b="0">
                <a:latin typeface="仿宋_GB2312" panose="02010609030101010101" pitchFamily="49" charset="-122"/>
                <a:ea typeface="仿宋_GB2312" panose="02010609030101010101" pitchFamily="49" charset="-122"/>
                <a:cs typeface="仿宋_GB2312" panose="02010609030101010101" pitchFamily="49" charset="-122"/>
              </a:rPr>
              <a:t>    4.</a:t>
            </a:r>
            <a:r>
              <a:rPr lang="zh-CN" b="0">
                <a:latin typeface="仿宋_GB2312" panose="02010609030101010101" pitchFamily="49" charset="-122"/>
                <a:ea typeface="仿宋_GB2312" panose="02010609030101010101" pitchFamily="49" charset="-122"/>
                <a:cs typeface="仿宋_GB2312" panose="02010609030101010101" pitchFamily="49" charset="-122"/>
              </a:rPr>
              <a:t>求实。简报要少务虚，多务实，反映的问题必须实事求是，不能添枝加叶，更不能道听途说，弄虚作假。不讲过多大道理。    5.对内。简报一般只在单位内部传阅，只有部分特殊简报才对外发布。</a:t>
            </a:r>
            <a:endParaRPr lang="zh-CN" altLang="en-US">
              <a:latin typeface="仿宋_GB2312" panose="02010609030101010101" pitchFamily="49" charset="-122"/>
              <a:ea typeface="仿宋_GB2312" panose="02010609030101010101" pitchFamily="49" charset="-122"/>
              <a:cs typeface="仿宋_GB2312" panose="02010609030101010101" pitchFamily="49" charset="-122"/>
            </a:endParaRPr>
          </a:p>
        </p:txBody>
      </p:sp>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p:tgtEl>
                                          <p:spTgt spid="4"/>
                                        </p:tgtEl>
                                        <p:attrNameLst>
                                          <p:attrName>ppt_x</p:attrName>
                                        </p:attrNameLst>
                                      </p:cBhvr>
                                      <p:tavLst>
                                        <p:tav tm="0">
                                          <p:val>
                                            <p:strVal val="#ppt_x-#ppt_w*1.125000"/>
                                          </p:val>
                                        </p:tav>
                                        <p:tav tm="100000">
                                          <p:val>
                                            <p:strVal val="#ppt_x"/>
                                          </p:val>
                                        </p:tav>
                                      </p:tavLst>
                                    </p:anim>
                                    <p:animEffect transition="in" filter="wipe(right)">
                                      <p:cBhvr>
                                        <p:cTn id="8" dur="500"/>
                                        <p:tgtEl>
                                          <p:spTgt spid="4"/>
                                        </p:tgtEl>
                                      </p:cBhvr>
                                    </p:animEffect>
                                  </p:childTnLst>
                                </p:cTn>
                              </p:par>
                              <p:par>
                                <p:cTn id="9" presetID="42"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1000"/>
                                        <p:tgtEl>
                                          <p:spTgt spid="13"/>
                                        </p:tgtEl>
                                      </p:cBhvr>
                                    </p:animEffect>
                                    <p:anim calcmode="lin" valueType="num">
                                      <p:cBhvr>
                                        <p:cTn id="12" dur="1000" fill="hold"/>
                                        <p:tgtEl>
                                          <p:spTgt spid="13"/>
                                        </p:tgtEl>
                                        <p:attrNameLst>
                                          <p:attrName>ppt_x</p:attrName>
                                        </p:attrNameLst>
                                      </p:cBhvr>
                                      <p:tavLst>
                                        <p:tav tm="0">
                                          <p:val>
                                            <p:strVal val="#ppt_x"/>
                                          </p:val>
                                        </p:tav>
                                        <p:tav tm="100000">
                                          <p:val>
                                            <p:strVal val="#ppt_x"/>
                                          </p:val>
                                        </p:tav>
                                      </p:tavLst>
                                    </p:anim>
                                    <p:anim calcmode="lin" valueType="num">
                                      <p:cBhvr>
                                        <p:cTn id="13"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E:\曹飞\2017\2017-8-8地铁PPT\6.png6"/>
          <p:cNvPicPr>
            <a:picLocks noChangeAspect="1"/>
          </p:cNvPicPr>
          <p:nvPr/>
        </p:nvPicPr>
        <p:blipFill>
          <a:blip r:embed="rId1" cstate="email"/>
          <a:srcRect/>
          <a:stretch>
            <a:fillRect/>
          </a:stretch>
        </p:blipFill>
        <p:spPr>
          <a:xfrm>
            <a:off x="2261712" y="230427"/>
            <a:ext cx="6463189" cy="343376"/>
          </a:xfrm>
          <a:prstGeom prst="rect">
            <a:avLst/>
          </a:prstGeom>
        </p:spPr>
      </p:pic>
      <p:pic>
        <p:nvPicPr>
          <p:cNvPr id="9" name="图片 8"/>
          <p:cNvPicPr>
            <a:picLocks noChangeAspect="1"/>
          </p:cNvPicPr>
          <p:nvPr/>
        </p:nvPicPr>
        <p:blipFill>
          <a:blip r:embed="rId2"/>
          <a:stretch>
            <a:fillRect/>
          </a:stretch>
        </p:blipFill>
        <p:spPr>
          <a:xfrm>
            <a:off x="575945" y="297180"/>
            <a:ext cx="1685925" cy="419100"/>
          </a:xfrm>
          <a:prstGeom prst="rect">
            <a:avLst/>
          </a:prstGeom>
        </p:spPr>
      </p:pic>
      <p:pic>
        <p:nvPicPr>
          <p:cNvPr id="13" name="图片 12" descr="E:\曹飞\2017\2017-8-8地铁PPT\7.png7"/>
          <p:cNvPicPr>
            <a:picLocks noChangeAspect="1"/>
          </p:cNvPicPr>
          <p:nvPr/>
        </p:nvPicPr>
        <p:blipFill>
          <a:blip r:embed="rId3" cstate="email"/>
          <a:srcRect/>
          <a:stretch>
            <a:fillRect/>
          </a:stretch>
        </p:blipFill>
        <p:spPr>
          <a:xfrm>
            <a:off x="-6667" y="4477465"/>
            <a:ext cx="9168289" cy="668179"/>
          </a:xfrm>
          <a:prstGeom prst="rect">
            <a:avLst/>
          </a:prstGeom>
        </p:spPr>
      </p:pic>
      <p:sp>
        <p:nvSpPr>
          <p:cNvPr id="3" name="文本框 2"/>
          <p:cNvSpPr txBox="1"/>
          <p:nvPr/>
        </p:nvSpPr>
        <p:spPr>
          <a:xfrm>
            <a:off x="935990" y="1143635"/>
            <a:ext cx="7331075" cy="2584450"/>
          </a:xfrm>
          <a:prstGeom prst="rect">
            <a:avLst/>
          </a:prstGeom>
          <a:noFill/>
          <a:ln w="9525">
            <a:noFill/>
          </a:ln>
        </p:spPr>
        <p:txBody>
          <a:bodyPr wrap="square">
            <a:spAutoFit/>
          </a:bodyPr>
          <a:p>
            <a:pPr indent="394970"/>
            <a:r>
              <a:rPr lang="en-US" altLang="zh-CN" b="0">
                <a:latin typeface="黑体" panose="02010609060101010101" pitchFamily="49" charset="-122"/>
                <a:ea typeface="黑体" panose="02010609060101010101" pitchFamily="49" charset="-122"/>
              </a:rPr>
              <a:t> </a:t>
            </a:r>
            <a:r>
              <a:rPr lang="zh-CN" b="0">
                <a:latin typeface="黑体" panose="02010609060101010101" pitchFamily="49" charset="-122"/>
                <a:ea typeface="黑体" panose="02010609060101010101" pitchFamily="49" charset="-122"/>
              </a:rPr>
              <a:t>三、分类</a:t>
            </a:r>
            <a:endParaRPr lang="zh-CN" b="0">
              <a:latin typeface="黑体" panose="02010609060101010101" pitchFamily="49" charset="-122"/>
              <a:ea typeface="黑体" panose="02010609060101010101" pitchFamily="49" charset="-122"/>
            </a:endParaRPr>
          </a:p>
          <a:p>
            <a:pPr indent="394970"/>
            <a:r>
              <a:rPr lang="zh-CN" b="0">
                <a:latin typeface="仿宋_GB2312" panose="02010609030101010101" pitchFamily="49" charset="-122"/>
                <a:ea typeface="仿宋_GB2312" panose="02010609030101010101" pitchFamily="49" charset="-122"/>
                <a:cs typeface="仿宋_GB2312" panose="02010609030101010101" pitchFamily="49" charset="-122"/>
              </a:rPr>
              <a:t> 按内容分，可分为三类。    1.工作简报。主要用于反映本系统、本部门工作开展情况，总结经验教训，表扬先进，批评后进，指导工作。</a:t>
            </a:r>
            <a:r>
              <a:rPr lang="en-US" b="0">
                <a:latin typeface="仿宋_GB2312" panose="02010609030101010101" pitchFamily="49" charset="-122"/>
                <a:ea typeface="仿宋_GB2312" panose="02010609030101010101" pitchFamily="49" charset="-122"/>
                <a:cs typeface="仿宋_GB2312" panose="02010609030101010101" pitchFamily="49" charset="-122"/>
              </a:rPr>
              <a:t>    2.</a:t>
            </a:r>
            <a:r>
              <a:rPr lang="zh-CN" b="0">
                <a:latin typeface="仿宋_GB2312" panose="02010609030101010101" pitchFamily="49" charset="-122"/>
                <a:ea typeface="仿宋_GB2312" panose="02010609030101010101" pitchFamily="49" charset="-122"/>
                <a:cs typeface="仿宋_GB2312" panose="02010609030101010101" pitchFamily="49" charset="-122"/>
              </a:rPr>
              <a:t>会议简报。主要用于反映重要会议的进展情况，重要报告，讨论内容、通过决议，与会人员的发言、活动等事项，以便及时沟通情况，传递信息。    3.动态简报。主要反映工作动态和思想动态，及时反映工作中的新事件、新成绩、新问题、新建议，为有关部门提供重要信息、情况。</a:t>
            </a:r>
            <a:endParaRPr lang="zh-CN" altLang="en-US">
              <a:latin typeface="仿宋_GB2312" panose="02010609030101010101" pitchFamily="49" charset="-122"/>
              <a:ea typeface="仿宋_GB2312" panose="02010609030101010101" pitchFamily="49" charset="-122"/>
              <a:cs typeface="仿宋_GB2312" panose="02010609030101010101" pitchFamily="49" charset="-122"/>
            </a:endParaRPr>
          </a:p>
        </p:txBody>
      </p:sp>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p:tgtEl>
                                          <p:spTgt spid="4"/>
                                        </p:tgtEl>
                                        <p:attrNameLst>
                                          <p:attrName>ppt_x</p:attrName>
                                        </p:attrNameLst>
                                      </p:cBhvr>
                                      <p:tavLst>
                                        <p:tav tm="0">
                                          <p:val>
                                            <p:strVal val="#ppt_x-#ppt_w*1.125000"/>
                                          </p:val>
                                        </p:tav>
                                        <p:tav tm="100000">
                                          <p:val>
                                            <p:strVal val="#ppt_x"/>
                                          </p:val>
                                        </p:tav>
                                      </p:tavLst>
                                    </p:anim>
                                    <p:animEffect transition="in" filter="wipe(right)">
                                      <p:cBhvr>
                                        <p:cTn id="8" dur="500"/>
                                        <p:tgtEl>
                                          <p:spTgt spid="4"/>
                                        </p:tgtEl>
                                      </p:cBhvr>
                                    </p:animEffect>
                                  </p:childTnLst>
                                </p:cTn>
                              </p:par>
                              <p:par>
                                <p:cTn id="9" presetID="42"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1000"/>
                                        <p:tgtEl>
                                          <p:spTgt spid="13"/>
                                        </p:tgtEl>
                                      </p:cBhvr>
                                    </p:animEffect>
                                    <p:anim calcmode="lin" valueType="num">
                                      <p:cBhvr>
                                        <p:cTn id="12" dur="1000" fill="hold"/>
                                        <p:tgtEl>
                                          <p:spTgt spid="13"/>
                                        </p:tgtEl>
                                        <p:attrNameLst>
                                          <p:attrName>ppt_x</p:attrName>
                                        </p:attrNameLst>
                                      </p:cBhvr>
                                      <p:tavLst>
                                        <p:tav tm="0">
                                          <p:val>
                                            <p:strVal val="#ppt_x"/>
                                          </p:val>
                                        </p:tav>
                                        <p:tav tm="100000">
                                          <p:val>
                                            <p:strVal val="#ppt_x"/>
                                          </p:val>
                                        </p:tav>
                                      </p:tavLst>
                                    </p:anim>
                                    <p:anim calcmode="lin" valueType="num">
                                      <p:cBhvr>
                                        <p:cTn id="13"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E:\曹飞\2017\2017-8-8地铁PPT\6.png6"/>
          <p:cNvPicPr>
            <a:picLocks noChangeAspect="1"/>
          </p:cNvPicPr>
          <p:nvPr/>
        </p:nvPicPr>
        <p:blipFill>
          <a:blip r:embed="rId1" cstate="email"/>
          <a:srcRect/>
          <a:stretch>
            <a:fillRect/>
          </a:stretch>
        </p:blipFill>
        <p:spPr>
          <a:xfrm>
            <a:off x="2261712" y="230427"/>
            <a:ext cx="6463189" cy="343376"/>
          </a:xfrm>
          <a:prstGeom prst="rect">
            <a:avLst/>
          </a:prstGeom>
        </p:spPr>
      </p:pic>
      <p:pic>
        <p:nvPicPr>
          <p:cNvPr id="9" name="图片 8"/>
          <p:cNvPicPr>
            <a:picLocks noChangeAspect="1"/>
          </p:cNvPicPr>
          <p:nvPr/>
        </p:nvPicPr>
        <p:blipFill>
          <a:blip r:embed="rId2"/>
          <a:stretch>
            <a:fillRect/>
          </a:stretch>
        </p:blipFill>
        <p:spPr>
          <a:xfrm>
            <a:off x="575945" y="297180"/>
            <a:ext cx="1685925" cy="419100"/>
          </a:xfrm>
          <a:prstGeom prst="rect">
            <a:avLst/>
          </a:prstGeom>
        </p:spPr>
      </p:pic>
      <p:pic>
        <p:nvPicPr>
          <p:cNvPr id="13" name="图片 12" descr="E:\曹飞\2017\2017-8-8地铁PPT\7.png7"/>
          <p:cNvPicPr>
            <a:picLocks noChangeAspect="1"/>
          </p:cNvPicPr>
          <p:nvPr/>
        </p:nvPicPr>
        <p:blipFill>
          <a:blip r:embed="rId3" cstate="email"/>
          <a:srcRect/>
          <a:stretch>
            <a:fillRect/>
          </a:stretch>
        </p:blipFill>
        <p:spPr>
          <a:xfrm>
            <a:off x="-6667" y="4477465"/>
            <a:ext cx="9168289" cy="668179"/>
          </a:xfrm>
          <a:prstGeom prst="rect">
            <a:avLst/>
          </a:prstGeom>
        </p:spPr>
      </p:pic>
      <p:sp>
        <p:nvSpPr>
          <p:cNvPr id="3" name="文本框 2"/>
          <p:cNvSpPr txBox="1"/>
          <p:nvPr/>
        </p:nvSpPr>
        <p:spPr>
          <a:xfrm>
            <a:off x="935990" y="1143635"/>
            <a:ext cx="7331075" cy="2030095"/>
          </a:xfrm>
          <a:prstGeom prst="rect">
            <a:avLst/>
          </a:prstGeom>
          <a:noFill/>
          <a:ln w="9525">
            <a:noFill/>
          </a:ln>
        </p:spPr>
        <p:txBody>
          <a:bodyPr wrap="square">
            <a:spAutoFit/>
          </a:bodyPr>
          <a:p>
            <a:pPr indent="394970"/>
            <a:r>
              <a:rPr lang="en-US" altLang="zh-CN" b="0">
                <a:latin typeface="黑体" panose="02010609060101010101" pitchFamily="49" charset="-122"/>
                <a:ea typeface="黑体" panose="02010609060101010101" pitchFamily="49" charset="-122"/>
              </a:rPr>
              <a:t> </a:t>
            </a:r>
            <a:r>
              <a:rPr lang="zh-CN" altLang="en-US" b="0">
                <a:latin typeface="黑体" panose="02010609060101010101" pitchFamily="49" charset="-122"/>
                <a:ea typeface="黑体" panose="02010609060101010101" pitchFamily="49" charset="-122"/>
              </a:rPr>
              <a:t>四</a:t>
            </a:r>
            <a:r>
              <a:rPr lang="zh-CN" b="0">
                <a:latin typeface="黑体" panose="02010609060101010101" pitchFamily="49" charset="-122"/>
                <a:ea typeface="黑体" panose="02010609060101010101" pitchFamily="49" charset="-122"/>
              </a:rPr>
              <a:t>、基本结构</a:t>
            </a:r>
            <a:endParaRPr lang="zh-CN" b="0">
              <a:latin typeface="黑体" panose="02010609060101010101" pitchFamily="49" charset="-122"/>
              <a:ea typeface="黑体" panose="02010609060101010101" pitchFamily="49" charset="-122"/>
            </a:endParaRPr>
          </a:p>
          <a:p>
            <a:pPr indent="394970"/>
            <a:r>
              <a:rPr lang="zh-CN" altLang="en-US" dirty="0">
                <a:latin typeface="仿宋_GB2312" panose="02010609030101010101" pitchFamily="49" charset="-122"/>
                <a:ea typeface="仿宋_GB2312" panose="02010609030101010101" pitchFamily="49" charset="-122"/>
                <a:cs typeface="仿宋_GB2312" panose="02010609030101010101" pitchFamily="49" charset="-122"/>
                <a:sym typeface="+mn-ea"/>
              </a:rPr>
              <a:t> 简报由标题、正文组成。</a:t>
            </a:r>
            <a:endParaRPr lang="zh-CN" altLang="en-US" dirty="0">
              <a:latin typeface="仿宋_GB2312" panose="02010609030101010101" pitchFamily="49" charset="-122"/>
              <a:ea typeface="仿宋_GB2312" panose="02010609030101010101" pitchFamily="49" charset="-122"/>
              <a:cs typeface="仿宋_GB2312" panose="02010609030101010101" pitchFamily="49" charset="-122"/>
            </a:endParaRPr>
          </a:p>
          <a:p>
            <a:pPr indent="394970"/>
            <a:r>
              <a:rPr lang="zh-CN" altLang="en-US" dirty="0">
                <a:latin typeface="仿宋_GB2312" panose="02010609030101010101" pitchFamily="49" charset="-122"/>
                <a:ea typeface="仿宋_GB2312" panose="02010609030101010101" pitchFamily="49" charset="-122"/>
                <a:cs typeface="仿宋_GB2312" panose="02010609030101010101" pitchFamily="49" charset="-122"/>
                <a:sym typeface="+mn-ea"/>
              </a:rPr>
              <a:t> 标题要准确简要地反映简报内容的精髓。主要有概述式、对仗式、顶真针、双题式。</a:t>
            </a:r>
            <a:endParaRPr lang="zh-CN" altLang="en-US" dirty="0">
              <a:latin typeface="仿宋_GB2312" panose="02010609030101010101" pitchFamily="49" charset="-122"/>
              <a:ea typeface="仿宋_GB2312" panose="02010609030101010101" pitchFamily="49" charset="-122"/>
              <a:cs typeface="仿宋_GB2312" panose="02010609030101010101" pitchFamily="49" charset="-122"/>
            </a:endParaRPr>
          </a:p>
          <a:p>
            <a:pPr indent="394970"/>
            <a:r>
              <a:rPr lang="zh-CN" altLang="en-US" dirty="0">
                <a:latin typeface="仿宋_GB2312" panose="02010609030101010101" pitchFamily="49" charset="-122"/>
                <a:ea typeface="仿宋_GB2312" panose="02010609030101010101" pitchFamily="49" charset="-122"/>
                <a:cs typeface="仿宋_GB2312" panose="02010609030101010101" pitchFamily="49" charset="-122"/>
                <a:sym typeface="+mn-ea"/>
              </a:rPr>
              <a:t>正文要准确、具体地将所反映的内容表述清楚，其结构形式大体有四种：“</a:t>
            </a:r>
            <a:r>
              <a:rPr lang="zh-CN" altLang="en-US" dirty="0" smtClean="0">
                <a:latin typeface="仿宋_GB2312" panose="02010609030101010101" pitchFamily="49" charset="-122"/>
                <a:ea typeface="仿宋_GB2312" panose="02010609030101010101" pitchFamily="49" charset="-122"/>
                <a:cs typeface="仿宋_GB2312" panose="02010609030101010101" pitchFamily="49" charset="-122"/>
                <a:sym typeface="+mn-ea"/>
              </a:rPr>
              <a:t>导语</a:t>
            </a:r>
            <a:r>
              <a:rPr lang="en-US" altLang="zh-CN" dirty="0" smtClean="0">
                <a:latin typeface="仿宋_GB2312" panose="02010609030101010101" pitchFamily="49" charset="-122"/>
                <a:ea typeface="仿宋_GB2312" panose="02010609030101010101" pitchFamily="49" charset="-122"/>
                <a:cs typeface="仿宋_GB2312" panose="02010609030101010101" pitchFamily="49" charset="-122"/>
                <a:sym typeface="+mn-ea"/>
              </a:rPr>
              <a:t>-</a:t>
            </a:r>
            <a:r>
              <a:rPr lang="zh-CN" altLang="en-US" dirty="0" smtClean="0">
                <a:latin typeface="仿宋_GB2312" panose="02010609030101010101" pitchFamily="49" charset="-122"/>
                <a:ea typeface="仿宋_GB2312" panose="02010609030101010101" pitchFamily="49" charset="-122"/>
                <a:cs typeface="仿宋_GB2312" panose="02010609030101010101" pitchFamily="49" charset="-122"/>
                <a:sym typeface="+mn-ea"/>
              </a:rPr>
              <a:t>主体</a:t>
            </a:r>
            <a:r>
              <a:rPr lang="en-US" altLang="zh-CN" dirty="0" smtClean="0">
                <a:latin typeface="仿宋_GB2312" panose="02010609030101010101" pitchFamily="49" charset="-122"/>
                <a:ea typeface="仿宋_GB2312" panose="02010609030101010101" pitchFamily="49" charset="-122"/>
                <a:cs typeface="仿宋_GB2312" panose="02010609030101010101" pitchFamily="49" charset="-122"/>
                <a:sym typeface="+mn-ea"/>
              </a:rPr>
              <a:t>-</a:t>
            </a:r>
            <a:r>
              <a:rPr lang="zh-CN" altLang="en-US" dirty="0" smtClean="0">
                <a:latin typeface="仿宋_GB2312" panose="02010609030101010101" pitchFamily="49" charset="-122"/>
                <a:ea typeface="仿宋_GB2312" panose="02010609030101010101" pitchFamily="49" charset="-122"/>
                <a:cs typeface="仿宋_GB2312" panose="02010609030101010101" pitchFamily="49" charset="-122"/>
                <a:sym typeface="+mn-ea"/>
              </a:rPr>
              <a:t>结尾”</a:t>
            </a:r>
            <a:r>
              <a:rPr lang="zh-CN" altLang="en-US" dirty="0">
                <a:latin typeface="仿宋_GB2312" panose="02010609030101010101" pitchFamily="49" charset="-122"/>
                <a:ea typeface="仿宋_GB2312" panose="02010609030101010101" pitchFamily="49" charset="-122"/>
                <a:cs typeface="仿宋_GB2312" panose="02010609030101010101" pitchFamily="49" charset="-122"/>
                <a:sym typeface="+mn-ea"/>
              </a:rPr>
              <a:t>式；“主体</a:t>
            </a:r>
            <a:r>
              <a:rPr lang="en-US" altLang="zh-CN" dirty="0">
                <a:latin typeface="仿宋_GB2312" panose="02010609030101010101" pitchFamily="49" charset="-122"/>
                <a:ea typeface="仿宋_GB2312" panose="02010609030101010101" pitchFamily="49" charset="-122"/>
                <a:cs typeface="仿宋_GB2312" panose="02010609030101010101" pitchFamily="49" charset="-122"/>
                <a:sym typeface="+mn-ea"/>
              </a:rPr>
              <a:t>——</a:t>
            </a:r>
            <a:r>
              <a:rPr lang="zh-CN" altLang="en-US" dirty="0">
                <a:latin typeface="仿宋_GB2312" panose="02010609030101010101" pitchFamily="49" charset="-122"/>
                <a:ea typeface="仿宋_GB2312" panose="02010609030101010101" pitchFamily="49" charset="-122"/>
                <a:cs typeface="仿宋_GB2312" panose="02010609030101010101" pitchFamily="49" charset="-122"/>
                <a:sym typeface="+mn-ea"/>
              </a:rPr>
              <a:t>结尾”式；“导语</a:t>
            </a:r>
            <a:r>
              <a:rPr lang="en-US" altLang="zh-CN" dirty="0">
                <a:latin typeface="仿宋_GB2312" panose="02010609030101010101" pitchFamily="49" charset="-122"/>
                <a:ea typeface="仿宋_GB2312" panose="02010609030101010101" pitchFamily="49" charset="-122"/>
                <a:cs typeface="仿宋_GB2312" panose="02010609030101010101" pitchFamily="49" charset="-122"/>
                <a:sym typeface="+mn-ea"/>
              </a:rPr>
              <a:t>——</a:t>
            </a:r>
            <a:r>
              <a:rPr lang="zh-CN" altLang="en-US" dirty="0">
                <a:latin typeface="仿宋_GB2312" panose="02010609030101010101" pitchFamily="49" charset="-122"/>
                <a:ea typeface="仿宋_GB2312" panose="02010609030101010101" pitchFamily="49" charset="-122"/>
                <a:cs typeface="仿宋_GB2312" panose="02010609030101010101" pitchFamily="49" charset="-122"/>
                <a:sym typeface="+mn-ea"/>
              </a:rPr>
              <a:t>主体”式；</a:t>
            </a:r>
            <a:r>
              <a:rPr lang="zh-CN" altLang="en-US" dirty="0" smtClean="0">
                <a:latin typeface="仿宋_GB2312" panose="02010609030101010101" pitchFamily="49" charset="-122"/>
                <a:ea typeface="仿宋_GB2312" panose="02010609030101010101" pitchFamily="49" charset="-122"/>
                <a:cs typeface="仿宋_GB2312" panose="02010609030101010101" pitchFamily="49" charset="-122"/>
                <a:sym typeface="+mn-ea"/>
              </a:rPr>
              <a:t>“主体”式。</a:t>
            </a:r>
            <a:endParaRPr lang="zh-CN" b="0">
              <a:latin typeface="仿宋_GB2312" panose="02010609030101010101" pitchFamily="49" charset="-122"/>
              <a:ea typeface="仿宋_GB2312" panose="02010609030101010101" pitchFamily="49" charset="-122"/>
              <a:cs typeface="仿宋_GB2312" panose="02010609030101010101" pitchFamily="49" charset="-122"/>
            </a:endParaRPr>
          </a:p>
        </p:txBody>
      </p:sp>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p:tgtEl>
                                          <p:spTgt spid="4"/>
                                        </p:tgtEl>
                                        <p:attrNameLst>
                                          <p:attrName>ppt_x</p:attrName>
                                        </p:attrNameLst>
                                      </p:cBhvr>
                                      <p:tavLst>
                                        <p:tav tm="0">
                                          <p:val>
                                            <p:strVal val="#ppt_x-#ppt_w*1.125000"/>
                                          </p:val>
                                        </p:tav>
                                        <p:tav tm="100000">
                                          <p:val>
                                            <p:strVal val="#ppt_x"/>
                                          </p:val>
                                        </p:tav>
                                      </p:tavLst>
                                    </p:anim>
                                    <p:animEffect transition="in" filter="wipe(right)">
                                      <p:cBhvr>
                                        <p:cTn id="8" dur="500"/>
                                        <p:tgtEl>
                                          <p:spTgt spid="4"/>
                                        </p:tgtEl>
                                      </p:cBhvr>
                                    </p:animEffect>
                                  </p:childTnLst>
                                </p:cTn>
                              </p:par>
                              <p:par>
                                <p:cTn id="9" presetID="42"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1000"/>
                                        <p:tgtEl>
                                          <p:spTgt spid="13"/>
                                        </p:tgtEl>
                                      </p:cBhvr>
                                    </p:animEffect>
                                    <p:anim calcmode="lin" valueType="num">
                                      <p:cBhvr>
                                        <p:cTn id="12" dur="1000" fill="hold"/>
                                        <p:tgtEl>
                                          <p:spTgt spid="13"/>
                                        </p:tgtEl>
                                        <p:attrNameLst>
                                          <p:attrName>ppt_x</p:attrName>
                                        </p:attrNameLst>
                                      </p:cBhvr>
                                      <p:tavLst>
                                        <p:tav tm="0">
                                          <p:val>
                                            <p:strVal val="#ppt_x"/>
                                          </p:val>
                                        </p:tav>
                                        <p:tav tm="100000">
                                          <p:val>
                                            <p:strVal val="#ppt_x"/>
                                          </p:val>
                                        </p:tav>
                                      </p:tavLst>
                                    </p:anim>
                                    <p:anim calcmode="lin" valueType="num">
                                      <p:cBhvr>
                                        <p:cTn id="13"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E:\曹飞\2017\2017-8-8地铁PPT\6.png6"/>
          <p:cNvPicPr>
            <a:picLocks noChangeAspect="1"/>
          </p:cNvPicPr>
          <p:nvPr/>
        </p:nvPicPr>
        <p:blipFill>
          <a:blip r:embed="rId1" cstate="email"/>
          <a:srcRect/>
          <a:stretch>
            <a:fillRect/>
          </a:stretch>
        </p:blipFill>
        <p:spPr>
          <a:xfrm>
            <a:off x="2261712" y="230427"/>
            <a:ext cx="6463189" cy="343376"/>
          </a:xfrm>
          <a:prstGeom prst="rect">
            <a:avLst/>
          </a:prstGeom>
        </p:spPr>
      </p:pic>
      <p:pic>
        <p:nvPicPr>
          <p:cNvPr id="9" name="图片 8"/>
          <p:cNvPicPr>
            <a:picLocks noChangeAspect="1"/>
          </p:cNvPicPr>
          <p:nvPr/>
        </p:nvPicPr>
        <p:blipFill>
          <a:blip r:embed="rId2"/>
          <a:stretch>
            <a:fillRect/>
          </a:stretch>
        </p:blipFill>
        <p:spPr>
          <a:xfrm>
            <a:off x="575945" y="297180"/>
            <a:ext cx="1685925" cy="419100"/>
          </a:xfrm>
          <a:prstGeom prst="rect">
            <a:avLst/>
          </a:prstGeom>
        </p:spPr>
      </p:pic>
      <p:pic>
        <p:nvPicPr>
          <p:cNvPr id="13" name="图片 12" descr="E:\曹飞\2017\2017-8-8地铁PPT\7.png7"/>
          <p:cNvPicPr>
            <a:picLocks noChangeAspect="1"/>
          </p:cNvPicPr>
          <p:nvPr/>
        </p:nvPicPr>
        <p:blipFill>
          <a:blip r:embed="rId3" cstate="email"/>
          <a:srcRect/>
          <a:stretch>
            <a:fillRect/>
          </a:stretch>
        </p:blipFill>
        <p:spPr>
          <a:xfrm>
            <a:off x="-6667" y="4477465"/>
            <a:ext cx="9168289" cy="668179"/>
          </a:xfrm>
          <a:prstGeom prst="rect">
            <a:avLst/>
          </a:prstGeom>
        </p:spPr>
      </p:pic>
      <p:sp>
        <p:nvSpPr>
          <p:cNvPr id="3" name="文本框 2"/>
          <p:cNvSpPr txBox="1"/>
          <p:nvPr/>
        </p:nvSpPr>
        <p:spPr>
          <a:xfrm>
            <a:off x="935990" y="1143635"/>
            <a:ext cx="7331075" cy="2584450"/>
          </a:xfrm>
          <a:prstGeom prst="rect">
            <a:avLst/>
          </a:prstGeom>
          <a:noFill/>
          <a:ln w="9525">
            <a:noFill/>
          </a:ln>
        </p:spPr>
        <p:txBody>
          <a:bodyPr wrap="square">
            <a:spAutoFit/>
          </a:bodyPr>
          <a:p>
            <a:pPr indent="394970"/>
            <a:r>
              <a:rPr lang="en-US" altLang="zh-CN" b="0">
                <a:latin typeface="黑体" panose="02010609060101010101" pitchFamily="49" charset="-122"/>
                <a:ea typeface="黑体" panose="02010609060101010101" pitchFamily="49" charset="-122"/>
              </a:rPr>
              <a:t> </a:t>
            </a:r>
            <a:r>
              <a:rPr lang="zh-CN" altLang="en-US" b="0">
                <a:latin typeface="黑体" panose="02010609060101010101" pitchFamily="49" charset="-122"/>
                <a:ea typeface="黑体" panose="02010609060101010101" pitchFamily="49" charset="-122"/>
              </a:rPr>
              <a:t>五、</a:t>
            </a:r>
            <a:r>
              <a:rPr lang="zh-CN" altLang="en-US">
                <a:latin typeface="黑体" panose="02010609060101010101" pitchFamily="49" charset="-122"/>
                <a:ea typeface="黑体" panose="02010609060101010101" pitchFamily="49" charset="-122"/>
                <a:sym typeface="+mn-ea"/>
              </a:rPr>
              <a:t>简报的写作要点</a:t>
            </a:r>
            <a:endParaRPr lang="zh-CN" b="0">
              <a:latin typeface="黑体" panose="02010609060101010101" pitchFamily="49" charset="-122"/>
              <a:ea typeface="黑体" panose="02010609060101010101" pitchFamily="49" charset="-122"/>
            </a:endParaRPr>
          </a:p>
          <a:p>
            <a:pPr indent="394970"/>
            <a:r>
              <a:rPr lang="en-US" altLang="zh-CN" dirty="0">
                <a:latin typeface="仿宋_GB2312" panose="02010609030101010101" pitchFamily="49" charset="-122"/>
                <a:ea typeface="仿宋_GB2312" panose="02010609030101010101" pitchFamily="49" charset="-122"/>
                <a:cs typeface="仿宋_GB2312" panose="02010609030101010101" pitchFamily="49" charset="-122"/>
                <a:sym typeface="+mn-ea"/>
              </a:rPr>
              <a:t>1.</a:t>
            </a:r>
            <a:r>
              <a:rPr lang="zh-CN" altLang="en-US" dirty="0" smtClean="0">
                <a:latin typeface="仿宋_GB2312" panose="02010609030101010101" pitchFamily="49" charset="-122"/>
                <a:ea typeface="仿宋_GB2312" panose="02010609030101010101" pitchFamily="49" charset="-122"/>
                <a:cs typeface="仿宋_GB2312" panose="02010609030101010101" pitchFamily="49" charset="-122"/>
                <a:sym typeface="+mn-ea"/>
              </a:rPr>
              <a:t>要</a:t>
            </a:r>
            <a:r>
              <a:rPr lang="zh-CN" altLang="en-US" dirty="0">
                <a:latin typeface="仿宋_GB2312" panose="02010609030101010101" pitchFamily="49" charset="-122"/>
                <a:ea typeface="仿宋_GB2312" panose="02010609030101010101" pitchFamily="49" charset="-122"/>
                <a:cs typeface="仿宋_GB2312" panose="02010609030101010101" pitchFamily="49" charset="-122"/>
                <a:sym typeface="+mn-ea"/>
              </a:rPr>
              <a:t>真实</a:t>
            </a:r>
            <a:r>
              <a:rPr lang="zh-CN" altLang="en-US" dirty="0" smtClean="0">
                <a:latin typeface="仿宋_GB2312" panose="02010609030101010101" pitchFamily="49" charset="-122"/>
                <a:ea typeface="仿宋_GB2312" panose="02010609030101010101" pitchFamily="49" charset="-122"/>
                <a:cs typeface="仿宋_GB2312" panose="02010609030101010101" pitchFamily="49" charset="-122"/>
                <a:sym typeface="+mn-ea"/>
              </a:rPr>
              <a:t>准确。包括</a:t>
            </a:r>
            <a:r>
              <a:rPr lang="zh-CN" altLang="en-US" dirty="0">
                <a:latin typeface="仿宋_GB2312" panose="02010609030101010101" pitchFamily="49" charset="-122"/>
                <a:ea typeface="仿宋_GB2312" panose="02010609030101010101" pitchFamily="49" charset="-122"/>
                <a:cs typeface="仿宋_GB2312" panose="02010609030101010101" pitchFamily="49" charset="-122"/>
                <a:sym typeface="+mn-ea"/>
              </a:rPr>
              <a:t>具体时间、地点、人物、数字和引语，都要做到准确无误</a:t>
            </a:r>
            <a:r>
              <a:rPr lang="zh-CN" altLang="en-US" dirty="0" smtClean="0">
                <a:latin typeface="仿宋_GB2312" panose="02010609030101010101" pitchFamily="49" charset="-122"/>
                <a:ea typeface="仿宋_GB2312" panose="02010609030101010101" pitchFamily="49" charset="-122"/>
                <a:cs typeface="仿宋_GB2312" panose="02010609030101010101" pitchFamily="49" charset="-122"/>
                <a:sym typeface="+mn-ea"/>
              </a:rPr>
              <a:t>，不</a:t>
            </a:r>
            <a:r>
              <a:rPr lang="zh-CN" altLang="en-US" dirty="0">
                <a:latin typeface="仿宋_GB2312" panose="02010609030101010101" pitchFamily="49" charset="-122"/>
                <a:ea typeface="仿宋_GB2312" panose="02010609030101010101" pitchFamily="49" charset="-122"/>
                <a:cs typeface="仿宋_GB2312" panose="02010609030101010101" pitchFamily="49" charset="-122"/>
                <a:sym typeface="+mn-ea"/>
              </a:rPr>
              <a:t>凭空想象，不捏造事实</a:t>
            </a:r>
            <a:r>
              <a:rPr lang="zh-CN" altLang="en-US" dirty="0" smtClean="0">
                <a:latin typeface="仿宋_GB2312" panose="02010609030101010101" pitchFamily="49" charset="-122"/>
                <a:ea typeface="仿宋_GB2312" panose="02010609030101010101" pitchFamily="49" charset="-122"/>
                <a:cs typeface="仿宋_GB2312" panose="02010609030101010101" pitchFamily="49" charset="-122"/>
                <a:sym typeface="+mn-ea"/>
              </a:rPr>
              <a:t>。</a:t>
            </a:r>
            <a:endParaRPr lang="en-US" altLang="zh-CN" dirty="0" smtClean="0">
              <a:latin typeface="仿宋_GB2312" panose="02010609030101010101" pitchFamily="49" charset="-122"/>
              <a:ea typeface="仿宋_GB2312" panose="02010609030101010101" pitchFamily="49" charset="-122"/>
              <a:cs typeface="仿宋_GB2312" panose="02010609030101010101" pitchFamily="49" charset="-122"/>
            </a:endParaRPr>
          </a:p>
          <a:p>
            <a:pPr indent="394970"/>
            <a:r>
              <a:rPr lang="en-US" altLang="zh-CN" dirty="0" smtClean="0">
                <a:latin typeface="仿宋_GB2312" panose="02010609030101010101" pitchFamily="49" charset="-122"/>
                <a:ea typeface="仿宋_GB2312" panose="02010609030101010101" pitchFamily="49" charset="-122"/>
                <a:cs typeface="仿宋_GB2312" panose="02010609030101010101" pitchFamily="49" charset="-122"/>
                <a:sym typeface="+mn-ea"/>
              </a:rPr>
              <a:t>2.</a:t>
            </a:r>
            <a:r>
              <a:rPr lang="zh-CN" altLang="en-US" dirty="0" smtClean="0">
                <a:latin typeface="仿宋_GB2312" panose="02010609030101010101" pitchFamily="49" charset="-122"/>
                <a:ea typeface="仿宋_GB2312" panose="02010609030101010101" pitchFamily="49" charset="-122"/>
                <a:cs typeface="仿宋_GB2312" panose="02010609030101010101" pitchFamily="49" charset="-122"/>
                <a:sym typeface="+mn-ea"/>
              </a:rPr>
              <a:t>要短小精悍。首先</a:t>
            </a:r>
            <a:r>
              <a:rPr lang="zh-CN" altLang="en-US" dirty="0">
                <a:latin typeface="仿宋_GB2312" panose="02010609030101010101" pitchFamily="49" charset="-122"/>
                <a:ea typeface="仿宋_GB2312" panose="02010609030101010101" pitchFamily="49" charset="-122"/>
                <a:cs typeface="仿宋_GB2312" panose="02010609030101010101" pitchFamily="49" charset="-122"/>
                <a:sym typeface="+mn-ea"/>
              </a:rPr>
              <a:t>，选材要典型，内容要集中，一份简报一个主题。其次，事情摸得透，揭示本质，抓住</a:t>
            </a:r>
            <a:r>
              <a:rPr lang="zh-CN" altLang="en-US" dirty="0" smtClean="0">
                <a:latin typeface="仿宋_GB2312" panose="02010609030101010101" pitchFamily="49" charset="-122"/>
                <a:ea typeface="仿宋_GB2312" panose="02010609030101010101" pitchFamily="49" charset="-122"/>
                <a:cs typeface="仿宋_GB2312" panose="02010609030101010101" pitchFamily="49" charset="-122"/>
                <a:sym typeface="+mn-ea"/>
              </a:rPr>
              <a:t>关键。</a:t>
            </a:r>
            <a:r>
              <a:rPr lang="zh-CN" altLang="en-US" dirty="0">
                <a:latin typeface="仿宋_GB2312" panose="02010609030101010101" pitchFamily="49" charset="-122"/>
                <a:ea typeface="仿宋_GB2312" panose="02010609030101010101" pitchFamily="49" charset="-122"/>
                <a:cs typeface="仿宋_GB2312" panose="02010609030101010101" pitchFamily="49" charset="-122"/>
                <a:sym typeface="+mn-ea"/>
              </a:rPr>
              <a:t>最后，开门见山，直截了当</a:t>
            </a:r>
            <a:r>
              <a:rPr lang="zh-CN" altLang="en-US" dirty="0" smtClean="0">
                <a:latin typeface="仿宋_GB2312" panose="02010609030101010101" pitchFamily="49" charset="-122"/>
                <a:ea typeface="仿宋_GB2312" panose="02010609030101010101" pitchFamily="49" charset="-122"/>
                <a:cs typeface="仿宋_GB2312" panose="02010609030101010101" pitchFamily="49" charset="-122"/>
                <a:sym typeface="+mn-ea"/>
              </a:rPr>
              <a:t>，不</a:t>
            </a:r>
            <a:r>
              <a:rPr lang="zh-CN" altLang="en-US" dirty="0">
                <a:latin typeface="仿宋_GB2312" panose="02010609030101010101" pitchFamily="49" charset="-122"/>
                <a:ea typeface="仿宋_GB2312" panose="02010609030101010101" pitchFamily="49" charset="-122"/>
                <a:cs typeface="仿宋_GB2312" panose="02010609030101010101" pitchFamily="49" charset="-122"/>
                <a:sym typeface="+mn-ea"/>
              </a:rPr>
              <a:t>写意思相重的</a:t>
            </a:r>
            <a:r>
              <a:rPr lang="zh-CN" altLang="en-US" dirty="0" smtClean="0">
                <a:latin typeface="仿宋_GB2312" panose="02010609030101010101" pitchFamily="49" charset="-122"/>
                <a:ea typeface="仿宋_GB2312" panose="02010609030101010101" pitchFamily="49" charset="-122"/>
                <a:cs typeface="仿宋_GB2312" panose="02010609030101010101" pitchFamily="49" charset="-122"/>
                <a:sym typeface="+mn-ea"/>
              </a:rPr>
              <a:t>句子。</a:t>
            </a:r>
            <a:endParaRPr lang="zh-CN" altLang="en-US" dirty="0">
              <a:latin typeface="仿宋_GB2312" panose="02010609030101010101" pitchFamily="49" charset="-122"/>
              <a:ea typeface="仿宋_GB2312" panose="02010609030101010101" pitchFamily="49" charset="-122"/>
              <a:cs typeface="仿宋_GB2312" panose="02010609030101010101" pitchFamily="49" charset="-122"/>
            </a:endParaRPr>
          </a:p>
          <a:p>
            <a:pPr indent="394970"/>
            <a:r>
              <a:rPr lang="en-US" altLang="zh-CN" dirty="0" smtClean="0">
                <a:latin typeface="仿宋_GB2312" panose="02010609030101010101" pitchFamily="49" charset="-122"/>
                <a:ea typeface="仿宋_GB2312" panose="02010609030101010101" pitchFamily="49" charset="-122"/>
                <a:cs typeface="仿宋_GB2312" panose="02010609030101010101" pitchFamily="49" charset="-122"/>
                <a:sym typeface="+mn-ea"/>
              </a:rPr>
              <a:t>3.</a:t>
            </a:r>
            <a:r>
              <a:rPr lang="zh-CN" altLang="en-US" dirty="0" smtClean="0">
                <a:latin typeface="仿宋_GB2312" panose="02010609030101010101" pitchFamily="49" charset="-122"/>
                <a:ea typeface="仿宋_GB2312" panose="02010609030101010101" pitchFamily="49" charset="-122"/>
                <a:cs typeface="仿宋_GB2312" panose="02010609030101010101" pitchFamily="49" charset="-122"/>
                <a:sym typeface="+mn-ea"/>
              </a:rPr>
              <a:t>要</a:t>
            </a:r>
            <a:r>
              <a:rPr lang="zh-CN" altLang="en-US" dirty="0">
                <a:latin typeface="仿宋_GB2312" panose="02010609030101010101" pitchFamily="49" charset="-122"/>
                <a:ea typeface="仿宋_GB2312" panose="02010609030101010101" pitchFamily="49" charset="-122"/>
                <a:cs typeface="仿宋_GB2312" panose="02010609030101010101" pitchFamily="49" charset="-122"/>
                <a:sym typeface="+mn-ea"/>
              </a:rPr>
              <a:t>快写快</a:t>
            </a:r>
            <a:r>
              <a:rPr lang="zh-CN" altLang="en-US" dirty="0" smtClean="0">
                <a:latin typeface="仿宋_GB2312" panose="02010609030101010101" pitchFamily="49" charset="-122"/>
                <a:ea typeface="仿宋_GB2312" panose="02010609030101010101" pitchFamily="49" charset="-122"/>
                <a:cs typeface="仿宋_GB2312" panose="02010609030101010101" pitchFamily="49" charset="-122"/>
                <a:sym typeface="+mn-ea"/>
              </a:rPr>
              <a:t>发。简报不求全，但求快。只有快，才能真正发挥简报的指导性作用；否则，即使内容再好，也难以发挥应有的作用。</a:t>
            </a:r>
            <a:endParaRPr lang="zh-CN" altLang="en-US" dirty="0" smtClean="0">
              <a:latin typeface="仿宋_GB2312" panose="02010609030101010101" pitchFamily="49" charset="-122"/>
              <a:ea typeface="仿宋_GB2312" panose="02010609030101010101" pitchFamily="49" charset="-122"/>
              <a:cs typeface="仿宋_GB2312" panose="02010609030101010101" pitchFamily="49" charset="-122"/>
              <a:sym typeface="+mn-ea"/>
            </a:endParaRPr>
          </a:p>
          <a:p>
            <a:pPr indent="394970"/>
            <a:r>
              <a:rPr lang="en-US" altLang="zh-CN" dirty="0" smtClean="0">
                <a:latin typeface="仿宋_GB2312" panose="02010609030101010101" pitchFamily="49" charset="-122"/>
                <a:ea typeface="仿宋_GB2312" panose="02010609030101010101" pitchFamily="49" charset="-122"/>
                <a:cs typeface="仿宋_GB2312" panose="02010609030101010101" pitchFamily="49" charset="-122"/>
                <a:sym typeface="+mn-ea"/>
              </a:rPr>
              <a:t>4.</a:t>
            </a:r>
            <a:r>
              <a:rPr lang="zh-CN" altLang="en-US" dirty="0" smtClean="0">
                <a:latin typeface="仿宋_GB2312" panose="02010609030101010101" pitchFamily="49" charset="-122"/>
                <a:ea typeface="仿宋_GB2312" panose="02010609030101010101" pitchFamily="49" charset="-122"/>
                <a:cs typeface="仿宋_GB2312" panose="02010609030101010101" pitchFamily="49" charset="-122"/>
                <a:sym typeface="+mn-ea"/>
              </a:rPr>
              <a:t>要生动活泼。</a:t>
            </a:r>
            <a:endParaRPr lang="zh-CN" b="0">
              <a:latin typeface="仿宋_GB2312" panose="02010609030101010101" pitchFamily="49" charset="-122"/>
              <a:ea typeface="仿宋_GB2312" panose="02010609030101010101" pitchFamily="49" charset="-122"/>
              <a:cs typeface="仿宋_GB2312" panose="02010609030101010101" pitchFamily="49" charset="-122"/>
            </a:endParaRPr>
          </a:p>
        </p:txBody>
      </p:sp>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p:tgtEl>
                                          <p:spTgt spid="4"/>
                                        </p:tgtEl>
                                        <p:attrNameLst>
                                          <p:attrName>ppt_x</p:attrName>
                                        </p:attrNameLst>
                                      </p:cBhvr>
                                      <p:tavLst>
                                        <p:tav tm="0">
                                          <p:val>
                                            <p:strVal val="#ppt_x-#ppt_w*1.125000"/>
                                          </p:val>
                                        </p:tav>
                                        <p:tav tm="100000">
                                          <p:val>
                                            <p:strVal val="#ppt_x"/>
                                          </p:val>
                                        </p:tav>
                                      </p:tavLst>
                                    </p:anim>
                                    <p:animEffect transition="in" filter="wipe(right)">
                                      <p:cBhvr>
                                        <p:cTn id="8" dur="500"/>
                                        <p:tgtEl>
                                          <p:spTgt spid="4"/>
                                        </p:tgtEl>
                                      </p:cBhvr>
                                    </p:animEffect>
                                  </p:childTnLst>
                                </p:cTn>
                              </p:par>
                              <p:par>
                                <p:cTn id="9" presetID="42"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1000"/>
                                        <p:tgtEl>
                                          <p:spTgt spid="13"/>
                                        </p:tgtEl>
                                      </p:cBhvr>
                                    </p:animEffect>
                                    <p:anim calcmode="lin" valueType="num">
                                      <p:cBhvr>
                                        <p:cTn id="12" dur="1000" fill="hold"/>
                                        <p:tgtEl>
                                          <p:spTgt spid="13"/>
                                        </p:tgtEl>
                                        <p:attrNameLst>
                                          <p:attrName>ppt_x</p:attrName>
                                        </p:attrNameLst>
                                      </p:cBhvr>
                                      <p:tavLst>
                                        <p:tav tm="0">
                                          <p:val>
                                            <p:strVal val="#ppt_x"/>
                                          </p:val>
                                        </p:tav>
                                        <p:tav tm="100000">
                                          <p:val>
                                            <p:strVal val="#ppt_x"/>
                                          </p:val>
                                        </p:tav>
                                      </p:tavLst>
                                    </p:anim>
                                    <p:anim calcmode="lin" valueType="num">
                                      <p:cBhvr>
                                        <p:cTn id="13"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E:\曹飞\2017\2017-8-8地铁PPT\6.png6"/>
          <p:cNvPicPr>
            <a:picLocks noChangeAspect="1"/>
          </p:cNvPicPr>
          <p:nvPr/>
        </p:nvPicPr>
        <p:blipFill>
          <a:blip r:embed="rId1" cstate="email"/>
          <a:srcRect/>
          <a:stretch>
            <a:fillRect/>
          </a:stretch>
        </p:blipFill>
        <p:spPr>
          <a:xfrm>
            <a:off x="2261712" y="230427"/>
            <a:ext cx="6463189" cy="343376"/>
          </a:xfrm>
          <a:prstGeom prst="rect">
            <a:avLst/>
          </a:prstGeom>
        </p:spPr>
      </p:pic>
      <p:pic>
        <p:nvPicPr>
          <p:cNvPr id="9" name="图片 8"/>
          <p:cNvPicPr>
            <a:picLocks noChangeAspect="1"/>
          </p:cNvPicPr>
          <p:nvPr/>
        </p:nvPicPr>
        <p:blipFill>
          <a:blip r:embed="rId2"/>
          <a:stretch>
            <a:fillRect/>
          </a:stretch>
        </p:blipFill>
        <p:spPr>
          <a:xfrm>
            <a:off x="575945" y="297180"/>
            <a:ext cx="1685925" cy="419100"/>
          </a:xfrm>
          <a:prstGeom prst="rect">
            <a:avLst/>
          </a:prstGeom>
        </p:spPr>
      </p:pic>
      <p:pic>
        <p:nvPicPr>
          <p:cNvPr id="13" name="图片 12" descr="E:\曹飞\2017\2017-8-8地铁PPT\7.png7"/>
          <p:cNvPicPr>
            <a:picLocks noChangeAspect="1"/>
          </p:cNvPicPr>
          <p:nvPr/>
        </p:nvPicPr>
        <p:blipFill>
          <a:blip r:embed="rId3" cstate="email"/>
          <a:srcRect/>
          <a:stretch>
            <a:fillRect/>
          </a:stretch>
        </p:blipFill>
        <p:spPr>
          <a:xfrm>
            <a:off x="-6667" y="4477465"/>
            <a:ext cx="9168289" cy="668179"/>
          </a:xfrm>
          <a:prstGeom prst="rect">
            <a:avLst/>
          </a:prstGeom>
        </p:spPr>
      </p:pic>
      <p:sp>
        <p:nvSpPr>
          <p:cNvPr id="3" name="文本框 2"/>
          <p:cNvSpPr txBox="1"/>
          <p:nvPr/>
        </p:nvSpPr>
        <p:spPr>
          <a:xfrm>
            <a:off x="935990" y="1143635"/>
            <a:ext cx="7331075" cy="3415030"/>
          </a:xfrm>
          <a:prstGeom prst="rect">
            <a:avLst/>
          </a:prstGeom>
          <a:noFill/>
          <a:ln w="9525">
            <a:noFill/>
          </a:ln>
        </p:spPr>
        <p:txBody>
          <a:bodyPr wrap="square">
            <a:spAutoFit/>
          </a:bodyPr>
          <a:p>
            <a:pPr indent="394970" algn="ctr"/>
            <a:r>
              <a:rPr lang="en-US" altLang="zh-CN" b="0">
                <a:latin typeface="黑体" panose="02010609060101010101" pitchFamily="49" charset="-122"/>
                <a:ea typeface="黑体" panose="02010609060101010101" pitchFamily="49" charset="-122"/>
              </a:rPr>
              <a:t> </a:t>
            </a:r>
            <a:r>
              <a:rPr lang="zh-CN" altLang="en-US" b="0">
                <a:latin typeface="黑体" panose="02010609060101010101" pitchFamily="49" charset="-122"/>
                <a:ea typeface="黑体" panose="02010609060101010101" pitchFamily="49" charset="-122"/>
              </a:rPr>
              <a:t>市委书记吴天君调研我市重大工业项目建设工作</a:t>
            </a:r>
            <a:endParaRPr lang="zh-CN" altLang="en-US" b="0">
              <a:latin typeface="黑体" panose="02010609060101010101" pitchFamily="49" charset="-122"/>
              <a:ea typeface="黑体" panose="02010609060101010101" pitchFamily="49" charset="-122"/>
            </a:endParaRPr>
          </a:p>
          <a:p>
            <a:pPr indent="394970"/>
            <a:r>
              <a:rPr lang="zh-CN" altLang="en-US" b="0">
                <a:latin typeface="仿宋_GB2312" panose="02010609030101010101" pitchFamily="49" charset="-122"/>
                <a:ea typeface="仿宋_GB2312" panose="02010609030101010101" pitchFamily="49" charset="-122"/>
                <a:cs typeface="仿宋_GB2312" panose="02010609030101010101" pitchFamily="49" charset="-122"/>
              </a:rPr>
              <a:t> 5月23日至24日，市委书记吴天君带领市直有关部门负责人调研我市重大工业项目建设情况。吴天君强调，要把保增长作为当前经济工作的重中之重，加强组织领导，采取有效措施，扩大生产经营，推进项目建设，促进工业经济又好又快发展，为郑州都市区建设提供坚实的产业支撑。</a:t>
            </a:r>
            <a:endParaRPr lang="zh-CN" altLang="en-US" b="0">
              <a:latin typeface="仿宋_GB2312" panose="02010609030101010101" pitchFamily="49" charset="-122"/>
              <a:ea typeface="仿宋_GB2312" panose="02010609030101010101" pitchFamily="49" charset="-122"/>
              <a:cs typeface="仿宋_GB2312" panose="02010609030101010101" pitchFamily="49" charset="-122"/>
            </a:endParaRPr>
          </a:p>
          <a:p>
            <a:pPr indent="394970"/>
            <a:r>
              <a:rPr lang="zh-CN" altLang="en-US" b="0">
                <a:latin typeface="仿宋_GB2312" panose="02010609030101010101" pitchFamily="49" charset="-122"/>
                <a:ea typeface="仿宋_GB2312" panose="02010609030101010101" pitchFamily="49" charset="-122"/>
                <a:cs typeface="仿宋_GB2312" panose="02010609030101010101" pitchFamily="49" charset="-122"/>
              </a:rPr>
              <a:t> 市领导赵瑞东、孙金献、王跃华、马健等一同调研。</a:t>
            </a:r>
            <a:endParaRPr lang="zh-CN" altLang="en-US" b="0">
              <a:latin typeface="仿宋_GB2312" panose="02010609030101010101" pitchFamily="49" charset="-122"/>
              <a:ea typeface="仿宋_GB2312" panose="02010609030101010101" pitchFamily="49" charset="-122"/>
              <a:cs typeface="仿宋_GB2312" panose="02010609030101010101" pitchFamily="49" charset="-122"/>
            </a:endParaRPr>
          </a:p>
          <a:p>
            <a:pPr indent="394970"/>
            <a:r>
              <a:rPr lang="zh-CN" altLang="en-US" b="0">
                <a:latin typeface="仿宋_GB2312" panose="02010609030101010101" pitchFamily="49" charset="-122"/>
                <a:ea typeface="仿宋_GB2312" panose="02010609030101010101" pitchFamily="49" charset="-122"/>
                <a:cs typeface="仿宋_GB2312" panose="02010609030101010101" pitchFamily="49" charset="-122"/>
              </a:rPr>
              <a:t> 吴天君一行先后来到高新区、中牟县、经开区，深入到格力电器郑州产业园、郑州日产汽车有限公司、郑州宇通客车股份有限公司、海马汽车有限公司等企业，调研察看生产经营和项目建设情况。每到一处，吴天君都深入到生产一线，详细了解企业产品研发、结构调整、市场销售及新上项目推进情况，并现场协调解决企业发展中遇到的问题。</a:t>
            </a:r>
            <a:endParaRPr lang="zh-CN" altLang="en-US" b="0">
              <a:latin typeface="仿宋_GB2312" panose="02010609030101010101" pitchFamily="49" charset="-122"/>
              <a:ea typeface="仿宋_GB2312" panose="02010609030101010101" pitchFamily="49" charset="-122"/>
              <a:cs typeface="仿宋_GB2312" panose="02010609030101010101" pitchFamily="49" charset="-122"/>
            </a:endParaRPr>
          </a:p>
        </p:txBody>
      </p:sp>
      <p:sp>
        <p:nvSpPr>
          <p:cNvPr id="2" name="文本框 1"/>
          <p:cNvSpPr txBox="1"/>
          <p:nvPr/>
        </p:nvSpPr>
        <p:spPr>
          <a:xfrm>
            <a:off x="551815" y="687705"/>
            <a:ext cx="1427480" cy="829945"/>
          </a:xfrm>
          <a:prstGeom prst="rect">
            <a:avLst/>
          </a:prstGeom>
          <a:noFill/>
        </p:spPr>
        <p:txBody>
          <a:bodyPr wrap="square" rtlCol="0">
            <a:spAutoFit/>
          </a:bodyPr>
          <a:p>
            <a:r>
              <a:rPr lang="zh-CN" altLang="en-US" sz="2400" dirty="0">
                <a:solidFill>
                  <a:schemeClr val="bg1"/>
                </a:solidFill>
                <a:latin typeface="Impact" panose="020B0806030902050204" pitchFamily="34" charset="0"/>
              </a:rPr>
              <a:t>范文范文范文</a:t>
            </a:r>
            <a:endParaRPr lang="zh-CN" altLang="en-US" sz="2400" dirty="0">
              <a:solidFill>
                <a:schemeClr val="bg1"/>
              </a:solidFill>
              <a:latin typeface="Impact" panose="020B0806030902050204" pitchFamily="34" charset="0"/>
            </a:endParaRPr>
          </a:p>
        </p:txBody>
      </p:sp>
      <p:sp>
        <p:nvSpPr>
          <p:cNvPr id="100" name="文本框 99"/>
          <p:cNvSpPr txBox="1"/>
          <p:nvPr/>
        </p:nvSpPr>
        <p:spPr>
          <a:xfrm>
            <a:off x="842645" y="769620"/>
            <a:ext cx="774065" cy="368300"/>
          </a:xfrm>
          <a:prstGeom prst="rect">
            <a:avLst/>
          </a:prstGeom>
          <a:noFill/>
          <a:ln w="9525">
            <a:noFill/>
          </a:ln>
        </p:spPr>
        <p:txBody>
          <a:bodyPr wrap="square">
            <a:spAutoFit/>
          </a:bodyPr>
          <a:p>
            <a:pPr indent="0"/>
            <a:r>
              <a:rPr lang="zh-CN" b="0">
                <a:latin typeface="黑体" panose="02010609060101010101" pitchFamily="49" charset="-122"/>
                <a:ea typeface="黑体" panose="02010609060101010101" pitchFamily="49" charset="-122"/>
              </a:rPr>
              <a:t>范文：</a:t>
            </a:r>
            <a:endParaRPr lang="zh-CN" altLang="en-US" b="0">
              <a:latin typeface="黑体" panose="02010609060101010101" pitchFamily="49" charset="-122"/>
              <a:ea typeface="黑体" panose="02010609060101010101" pitchFamily="49" charset="-122"/>
            </a:endParaRPr>
          </a:p>
        </p:txBody>
      </p:sp>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p:tgtEl>
                                          <p:spTgt spid="4"/>
                                        </p:tgtEl>
                                        <p:attrNameLst>
                                          <p:attrName>ppt_x</p:attrName>
                                        </p:attrNameLst>
                                      </p:cBhvr>
                                      <p:tavLst>
                                        <p:tav tm="0">
                                          <p:val>
                                            <p:strVal val="#ppt_x-#ppt_w*1.125000"/>
                                          </p:val>
                                        </p:tav>
                                        <p:tav tm="100000">
                                          <p:val>
                                            <p:strVal val="#ppt_x"/>
                                          </p:val>
                                        </p:tav>
                                      </p:tavLst>
                                    </p:anim>
                                    <p:animEffect transition="in" filter="wipe(right)">
                                      <p:cBhvr>
                                        <p:cTn id="8" dur="500"/>
                                        <p:tgtEl>
                                          <p:spTgt spid="4"/>
                                        </p:tgtEl>
                                      </p:cBhvr>
                                    </p:animEffect>
                                  </p:childTnLst>
                                </p:cTn>
                              </p:par>
                              <p:par>
                                <p:cTn id="9" presetID="42"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1000"/>
                                        <p:tgtEl>
                                          <p:spTgt spid="13"/>
                                        </p:tgtEl>
                                      </p:cBhvr>
                                    </p:animEffect>
                                    <p:anim calcmode="lin" valueType="num">
                                      <p:cBhvr>
                                        <p:cTn id="12" dur="1000" fill="hold"/>
                                        <p:tgtEl>
                                          <p:spTgt spid="13"/>
                                        </p:tgtEl>
                                        <p:attrNameLst>
                                          <p:attrName>ppt_x</p:attrName>
                                        </p:attrNameLst>
                                      </p:cBhvr>
                                      <p:tavLst>
                                        <p:tav tm="0">
                                          <p:val>
                                            <p:strVal val="#ppt_x"/>
                                          </p:val>
                                        </p:tav>
                                        <p:tav tm="100000">
                                          <p:val>
                                            <p:strVal val="#ppt_x"/>
                                          </p:val>
                                        </p:tav>
                                      </p:tavLst>
                                    </p:anim>
                                    <p:anim calcmode="lin" valueType="num">
                                      <p:cBhvr>
                                        <p:cTn id="13"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E:\曹飞\2017\2017-8-8地铁PPT\6.png6"/>
          <p:cNvPicPr>
            <a:picLocks noChangeAspect="1"/>
          </p:cNvPicPr>
          <p:nvPr/>
        </p:nvPicPr>
        <p:blipFill>
          <a:blip r:embed="rId1" cstate="email"/>
          <a:srcRect/>
          <a:stretch>
            <a:fillRect/>
          </a:stretch>
        </p:blipFill>
        <p:spPr>
          <a:xfrm>
            <a:off x="2261712" y="230427"/>
            <a:ext cx="6463189" cy="343376"/>
          </a:xfrm>
          <a:prstGeom prst="rect">
            <a:avLst/>
          </a:prstGeom>
        </p:spPr>
      </p:pic>
      <p:pic>
        <p:nvPicPr>
          <p:cNvPr id="9" name="图片 8"/>
          <p:cNvPicPr>
            <a:picLocks noChangeAspect="1"/>
          </p:cNvPicPr>
          <p:nvPr/>
        </p:nvPicPr>
        <p:blipFill>
          <a:blip r:embed="rId2"/>
          <a:stretch>
            <a:fillRect/>
          </a:stretch>
        </p:blipFill>
        <p:spPr>
          <a:xfrm>
            <a:off x="575945" y="297180"/>
            <a:ext cx="1685925" cy="419100"/>
          </a:xfrm>
          <a:prstGeom prst="rect">
            <a:avLst/>
          </a:prstGeom>
        </p:spPr>
      </p:pic>
      <p:pic>
        <p:nvPicPr>
          <p:cNvPr id="13" name="图片 12" descr="E:\曹飞\2017\2017-8-8地铁PPT\7.png7"/>
          <p:cNvPicPr>
            <a:picLocks noChangeAspect="1"/>
          </p:cNvPicPr>
          <p:nvPr/>
        </p:nvPicPr>
        <p:blipFill>
          <a:blip r:embed="rId3" cstate="email"/>
          <a:srcRect/>
          <a:stretch>
            <a:fillRect/>
          </a:stretch>
        </p:blipFill>
        <p:spPr>
          <a:xfrm>
            <a:off x="-6667" y="4477465"/>
            <a:ext cx="9168289" cy="668179"/>
          </a:xfrm>
          <a:prstGeom prst="rect">
            <a:avLst/>
          </a:prstGeom>
        </p:spPr>
      </p:pic>
      <p:sp>
        <p:nvSpPr>
          <p:cNvPr id="3" name="文本框 2"/>
          <p:cNvSpPr txBox="1"/>
          <p:nvPr/>
        </p:nvSpPr>
        <p:spPr>
          <a:xfrm>
            <a:off x="906145" y="1193800"/>
            <a:ext cx="7331075" cy="1753235"/>
          </a:xfrm>
          <a:prstGeom prst="rect">
            <a:avLst/>
          </a:prstGeom>
          <a:noFill/>
          <a:ln w="9525">
            <a:noFill/>
          </a:ln>
        </p:spPr>
        <p:txBody>
          <a:bodyPr wrap="square">
            <a:spAutoFit/>
          </a:bodyPr>
          <a:p>
            <a:pPr indent="394970"/>
            <a:r>
              <a:rPr lang="en-US" altLang="zh-CN" b="0">
                <a:latin typeface="仿宋_GB2312" panose="02010609030101010101" pitchFamily="49" charset="-122"/>
                <a:ea typeface="仿宋_GB2312" panose="02010609030101010101" pitchFamily="49" charset="-122"/>
                <a:cs typeface="仿宋_GB2312" panose="02010609030101010101" pitchFamily="49" charset="-122"/>
              </a:rPr>
              <a:t> </a:t>
            </a:r>
            <a:r>
              <a:rPr lang="zh-CN" altLang="en-US" b="0">
                <a:latin typeface="仿宋_GB2312" panose="02010609030101010101" pitchFamily="49" charset="-122"/>
                <a:ea typeface="仿宋_GB2312" panose="02010609030101010101" pitchFamily="49" charset="-122"/>
                <a:cs typeface="仿宋_GB2312" panose="02010609030101010101" pitchFamily="49" charset="-122"/>
              </a:rPr>
              <a:t>吴天君指出，工业是拉动经济增长的主导力量，各级各部门要坚持以新型工业化为主导,把推进工业发展摆在更加突出的位置，准确把握形势，坚定信心决心，按照“保增长、调结构、促转型”的总体要求，大干四十天，努力实现全市工业经济上半年时间任务双过半。</a:t>
            </a:r>
            <a:endParaRPr lang="zh-CN" altLang="en-US" b="0">
              <a:latin typeface="仿宋_GB2312" panose="02010609030101010101" pitchFamily="49" charset="-122"/>
              <a:ea typeface="仿宋_GB2312" panose="02010609030101010101" pitchFamily="49" charset="-122"/>
              <a:cs typeface="仿宋_GB2312" panose="02010609030101010101" pitchFamily="49" charset="-122"/>
            </a:endParaRPr>
          </a:p>
          <a:p>
            <a:pPr indent="394970"/>
            <a:r>
              <a:rPr lang="zh-CN" altLang="en-US" b="0">
                <a:latin typeface="仿宋_GB2312" panose="02010609030101010101" pitchFamily="49" charset="-122"/>
                <a:ea typeface="仿宋_GB2312" panose="02010609030101010101" pitchFamily="49" charset="-122"/>
                <a:cs typeface="仿宋_GB2312" panose="02010609030101010101" pitchFamily="49" charset="-122"/>
              </a:rPr>
              <a:t> 吴天君围绕加快工业经济发展提出四点要求：一要×××。二要</a:t>
            </a:r>
            <a:r>
              <a:rPr lang="zh-CN" altLang="en-US">
                <a:latin typeface="仿宋_GB2312" panose="02010609030101010101" pitchFamily="49" charset="-122"/>
                <a:ea typeface="仿宋_GB2312" panose="02010609030101010101" pitchFamily="49" charset="-122"/>
                <a:cs typeface="仿宋_GB2312" panose="02010609030101010101" pitchFamily="49" charset="-122"/>
                <a:sym typeface="+mn-ea"/>
              </a:rPr>
              <a:t>×××</a:t>
            </a:r>
            <a:r>
              <a:rPr lang="zh-CN" altLang="en-US" b="0">
                <a:latin typeface="仿宋_GB2312" panose="02010609030101010101" pitchFamily="49" charset="-122"/>
                <a:ea typeface="仿宋_GB2312" panose="02010609030101010101" pitchFamily="49" charset="-122"/>
                <a:cs typeface="仿宋_GB2312" panose="02010609030101010101" pitchFamily="49" charset="-122"/>
              </a:rPr>
              <a:t>。三要</a:t>
            </a:r>
            <a:r>
              <a:rPr lang="zh-CN" altLang="en-US">
                <a:latin typeface="仿宋_GB2312" panose="02010609030101010101" pitchFamily="49" charset="-122"/>
                <a:ea typeface="仿宋_GB2312" panose="02010609030101010101" pitchFamily="49" charset="-122"/>
                <a:cs typeface="仿宋_GB2312" panose="02010609030101010101" pitchFamily="49" charset="-122"/>
                <a:sym typeface="+mn-ea"/>
              </a:rPr>
              <a:t>×××。</a:t>
            </a:r>
            <a:endParaRPr lang="zh-CN" altLang="en-US" b="0">
              <a:latin typeface="仿宋_GB2312" panose="02010609030101010101" pitchFamily="49" charset="-122"/>
              <a:ea typeface="仿宋_GB2312" panose="02010609030101010101" pitchFamily="49" charset="-122"/>
              <a:cs typeface="仿宋_GB2312" panose="02010609030101010101" pitchFamily="49" charset="-122"/>
            </a:endParaRPr>
          </a:p>
        </p:txBody>
      </p:sp>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p:tgtEl>
                                          <p:spTgt spid="4"/>
                                        </p:tgtEl>
                                        <p:attrNameLst>
                                          <p:attrName>ppt_x</p:attrName>
                                        </p:attrNameLst>
                                      </p:cBhvr>
                                      <p:tavLst>
                                        <p:tav tm="0">
                                          <p:val>
                                            <p:strVal val="#ppt_x-#ppt_w*1.125000"/>
                                          </p:val>
                                        </p:tav>
                                        <p:tav tm="100000">
                                          <p:val>
                                            <p:strVal val="#ppt_x"/>
                                          </p:val>
                                        </p:tav>
                                      </p:tavLst>
                                    </p:anim>
                                    <p:animEffect transition="in" filter="wipe(right)">
                                      <p:cBhvr>
                                        <p:cTn id="8" dur="500"/>
                                        <p:tgtEl>
                                          <p:spTgt spid="4"/>
                                        </p:tgtEl>
                                      </p:cBhvr>
                                    </p:animEffect>
                                  </p:childTnLst>
                                </p:cTn>
                              </p:par>
                              <p:par>
                                <p:cTn id="9" presetID="42"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1000"/>
                                        <p:tgtEl>
                                          <p:spTgt spid="13"/>
                                        </p:tgtEl>
                                      </p:cBhvr>
                                    </p:animEffect>
                                    <p:anim calcmode="lin" valueType="num">
                                      <p:cBhvr>
                                        <p:cTn id="12" dur="1000" fill="hold"/>
                                        <p:tgtEl>
                                          <p:spTgt spid="13"/>
                                        </p:tgtEl>
                                        <p:attrNameLst>
                                          <p:attrName>ppt_x</p:attrName>
                                        </p:attrNameLst>
                                      </p:cBhvr>
                                      <p:tavLst>
                                        <p:tav tm="0">
                                          <p:val>
                                            <p:strVal val="#ppt_x"/>
                                          </p:val>
                                        </p:tav>
                                        <p:tav tm="100000">
                                          <p:val>
                                            <p:strVal val="#ppt_x"/>
                                          </p:val>
                                        </p:tav>
                                      </p:tavLst>
                                    </p:anim>
                                    <p:anim calcmode="lin" valueType="num">
                                      <p:cBhvr>
                                        <p:cTn id="13"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1035685" y="1756410"/>
            <a:ext cx="7084060" cy="499110"/>
          </a:xfrm>
          <a:prstGeom prst="rect">
            <a:avLst/>
          </a:prstGeom>
          <a:noFill/>
        </p:spPr>
        <p:txBody>
          <a:bodyPr wrap="square" lIns="68580" tIns="34290" rIns="68580" bIns="34290" rtlCol="0">
            <a:spAutoFit/>
          </a:bodyPr>
          <a:lstStyle/>
          <a:p>
            <a:pPr algn="ctr"/>
            <a:r>
              <a:rPr lang="zh-CN" altLang="en-US" sz="2800" b="1" dirty="0" smtClean="0">
                <a:solidFill>
                  <a:srgbClr val="C09D3C"/>
                </a:solidFill>
                <a:latin typeface="微软雅黑" panose="020B0503020204020204" charset="-122"/>
                <a:ea typeface="微软雅黑" panose="020B0503020204020204" charset="-122"/>
                <a:sym typeface="+mn-ea"/>
              </a:rPr>
              <a:t>公文排版格式和字词表述易混易错典型案例</a:t>
            </a:r>
            <a:endParaRPr lang="zh-CN" altLang="en-US" sz="2800" b="1" dirty="0" smtClean="0">
              <a:solidFill>
                <a:srgbClr val="C09D3C"/>
              </a:solidFill>
              <a:latin typeface="微软雅黑" panose="020B0503020204020204" charset="-122"/>
              <a:ea typeface="微软雅黑" panose="020B0503020204020204" charset="-122"/>
              <a:sym typeface="+mn-ea"/>
            </a:endParaRPr>
          </a:p>
        </p:txBody>
      </p:sp>
      <p:pic>
        <p:nvPicPr>
          <p:cNvPr id="4" name="图片 3" descr="E:\曹飞\2017\2017-8-8地铁PPT\6.png6"/>
          <p:cNvPicPr>
            <a:picLocks noChangeAspect="1"/>
          </p:cNvPicPr>
          <p:nvPr/>
        </p:nvPicPr>
        <p:blipFill>
          <a:blip r:embed="rId1" cstate="email"/>
          <a:srcRect/>
          <a:stretch>
            <a:fillRect/>
          </a:stretch>
        </p:blipFill>
        <p:spPr>
          <a:xfrm>
            <a:off x="2261712" y="239317"/>
            <a:ext cx="6463189" cy="343376"/>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pic>
        <p:nvPicPr>
          <p:cNvPr id="13" name="图片 12" descr="E:\曹飞\2017\2017-8-8地铁PPT\7.png7"/>
          <p:cNvPicPr>
            <a:picLocks noChangeAspect="1"/>
          </p:cNvPicPr>
          <p:nvPr/>
        </p:nvPicPr>
        <p:blipFill>
          <a:blip r:embed="rId2" cstate="email"/>
          <a:srcRect/>
          <a:stretch>
            <a:fillRect/>
          </a:stretch>
        </p:blipFill>
        <p:spPr>
          <a:xfrm>
            <a:off x="-6667" y="4477465"/>
            <a:ext cx="9168289" cy="668179"/>
          </a:xfrm>
          <a:prstGeom prst="rect">
            <a:avLst/>
          </a:prstGeom>
        </p:spPr>
      </p:pic>
      <p:sp>
        <p:nvSpPr>
          <p:cNvPr id="5" name="矩形 4"/>
          <p:cNvSpPr/>
          <p:nvPr/>
        </p:nvSpPr>
        <p:spPr>
          <a:xfrm>
            <a:off x="1084421" y="1292647"/>
            <a:ext cx="6975158" cy="1135087"/>
          </a:xfrm>
          <a:prstGeom prst="rect">
            <a:avLst/>
          </a:prstGeom>
          <a:noFill/>
          <a:ln w="50800" cmpd="thickThin">
            <a:solidFill>
              <a:srgbClr val="C09D3C"/>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6" name="矩形 5"/>
          <p:cNvSpPr/>
          <p:nvPr/>
        </p:nvSpPr>
        <p:spPr>
          <a:xfrm rot="2700000">
            <a:off x="4243864" y="964034"/>
            <a:ext cx="656273" cy="656273"/>
          </a:xfrm>
          <a:prstGeom prst="rect">
            <a:avLst/>
          </a:prstGeom>
          <a:solidFill>
            <a:srgbClr val="C09D3C"/>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7" name="文本框 6"/>
          <p:cNvSpPr txBox="1"/>
          <p:nvPr/>
        </p:nvSpPr>
        <p:spPr>
          <a:xfrm>
            <a:off x="4322445" y="940222"/>
            <a:ext cx="510064" cy="557973"/>
          </a:xfrm>
          <a:prstGeom prst="rect">
            <a:avLst/>
          </a:prstGeom>
          <a:noFill/>
        </p:spPr>
        <p:txBody>
          <a:bodyPr wrap="square" lIns="68580" tIns="34290" rIns="68580" bIns="34290" rtlCol="0">
            <a:spAutoFit/>
          </a:bodyPr>
          <a:lstStyle/>
          <a:p>
            <a:pPr algn="ctr">
              <a:lnSpc>
                <a:spcPct val="150000"/>
              </a:lnSpc>
            </a:pPr>
            <a:r>
              <a:rPr lang="zh-CN" altLang="en-US" sz="2400" b="1" dirty="0">
                <a:solidFill>
                  <a:schemeClr val="bg1"/>
                </a:solidFill>
                <a:latin typeface="微软雅黑" panose="020B0503020204020204" charset="-122"/>
                <a:ea typeface="微软雅黑" panose="020B0503020204020204" charset="-122"/>
                <a:sym typeface="+mn-ea"/>
              </a:rPr>
              <a:t>三</a:t>
            </a:r>
            <a:endParaRPr lang="zh-CN" altLang="en-US" sz="2400" b="1" dirty="0">
              <a:solidFill>
                <a:schemeClr val="bg1"/>
              </a:solidFill>
              <a:latin typeface="微软雅黑" panose="020B0503020204020204" charset="-122"/>
              <a:ea typeface="微软雅黑" panose="020B0503020204020204" charset="-122"/>
              <a:sym typeface="+mn-ea"/>
            </a:endParaRPr>
          </a:p>
        </p:txBody>
      </p:sp>
      <p:pic>
        <p:nvPicPr>
          <p:cNvPr id="9" name="图片 8"/>
          <p:cNvPicPr>
            <a:picLocks noChangeAspect="1"/>
          </p:cNvPicPr>
          <p:nvPr/>
        </p:nvPicPr>
        <p:blipFill>
          <a:blip r:embed="rId3"/>
          <a:stretch>
            <a:fillRect/>
          </a:stretch>
        </p:blipFill>
        <p:spPr>
          <a:xfrm>
            <a:off x="575945" y="297180"/>
            <a:ext cx="1685925" cy="4191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prism dir="u"/>
      </p:transition>
    </mc:Choice>
    <mc:Fallback>
      <p:transition>
        <p:fade/>
      </p:transition>
    </mc:Fallback>
  </mc:AlternateContent>
  <p:timing>
    <p:tnLst>
      <p:par>
        <p:cTn id="1" dur="indefinite" restart="never" nodeType="tmRoot"/>
      </p:par>
    </p:tnLst>
    <p:bldLst>
      <p:bldP spid="14"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 name="图片占位符 8"/>
          <p:cNvPicPr>
            <a:picLocks noChangeAspect="1"/>
          </p:cNvPicPr>
          <p:nvPr>
            <p:ph type="pic" sz="quarter" idx="10"/>
          </p:nvPr>
        </p:nvPicPr>
        <p:blipFill>
          <a:blip r:embed="rId1"/>
          <a:stretch>
            <a:fillRect/>
          </a:stretch>
        </p:blipFill>
        <p:spPr>
          <a:xfrm>
            <a:off x="637540" y="317500"/>
            <a:ext cx="1685925" cy="419100"/>
          </a:xfrm>
          <a:prstGeom prst="rect">
            <a:avLst/>
          </a:prstGeom>
        </p:spPr>
      </p:pic>
      <p:pic>
        <p:nvPicPr>
          <p:cNvPr id="8" name="图片 7" descr="E:\曹飞\2017\2017-8-8地铁PPT\6.png6"/>
          <p:cNvPicPr>
            <a:picLocks noChangeAspect="1"/>
          </p:cNvPicPr>
          <p:nvPr/>
        </p:nvPicPr>
        <p:blipFill>
          <a:blip r:embed="rId2" cstate="email"/>
          <a:srcRect/>
          <a:stretch>
            <a:fillRect/>
          </a:stretch>
        </p:blipFill>
        <p:spPr>
          <a:xfrm>
            <a:off x="2261712" y="230427"/>
            <a:ext cx="6463189" cy="343376"/>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pic>
        <p:nvPicPr>
          <p:cNvPr id="13" name="图片 12" descr="E:\曹飞\2017\2017-8-8地铁PPT\7.png7"/>
          <p:cNvPicPr>
            <a:picLocks noChangeAspect="1"/>
          </p:cNvPicPr>
          <p:nvPr/>
        </p:nvPicPr>
        <p:blipFill>
          <a:blip r:embed="rId3" cstate="email"/>
          <a:srcRect/>
          <a:stretch>
            <a:fillRect/>
          </a:stretch>
        </p:blipFill>
        <p:spPr>
          <a:xfrm>
            <a:off x="-6667" y="4477465"/>
            <a:ext cx="9168289" cy="668179"/>
          </a:xfrm>
          <a:prstGeom prst="rect">
            <a:avLst/>
          </a:prstGeom>
        </p:spPr>
      </p:pic>
      <p:sp>
        <p:nvSpPr>
          <p:cNvPr id="11" name="文本框 10"/>
          <p:cNvSpPr txBox="1"/>
          <p:nvPr/>
        </p:nvSpPr>
        <p:spPr>
          <a:xfrm>
            <a:off x="580390" y="949007"/>
            <a:ext cx="5080000" cy="368300"/>
          </a:xfrm>
          <a:prstGeom prst="rect">
            <a:avLst/>
          </a:prstGeom>
          <a:noFill/>
          <a:ln w="9525">
            <a:noFill/>
          </a:ln>
        </p:spPr>
        <p:txBody>
          <a:bodyPr>
            <a:spAutoFit/>
          </a:bodyPr>
          <a:p>
            <a:pPr indent="409575"/>
            <a:r>
              <a:rPr lang="zh-CN">
                <a:latin typeface="黑体" panose="02010609060101010101" pitchFamily="49" charset="-122"/>
                <a:ea typeface="黑体" panose="02010609060101010101" pitchFamily="49" charset="-122"/>
              </a:rPr>
              <a:t>错误案例一：</a:t>
            </a:r>
            <a:endParaRPr lang="zh-CN" altLang="en-US">
              <a:latin typeface="黑体" panose="02010609060101010101" pitchFamily="49" charset="-122"/>
              <a:ea typeface="黑体" panose="02010609060101010101" pitchFamily="49" charset="-122"/>
            </a:endParaRPr>
          </a:p>
        </p:txBody>
      </p:sp>
      <p:pic>
        <p:nvPicPr>
          <p:cNvPr id="3" name="图片 2"/>
          <p:cNvPicPr>
            <a:picLocks noChangeAspect="1"/>
          </p:cNvPicPr>
          <p:nvPr/>
        </p:nvPicPr>
        <p:blipFill>
          <a:blip r:embed="rId4"/>
          <a:stretch>
            <a:fillRect/>
          </a:stretch>
        </p:blipFill>
        <p:spPr>
          <a:xfrm>
            <a:off x="1478915" y="1402715"/>
            <a:ext cx="6705600" cy="838200"/>
          </a:xfrm>
          <a:prstGeom prst="rect">
            <a:avLst/>
          </a:prstGeom>
        </p:spPr>
      </p:pic>
      <p:sp>
        <p:nvSpPr>
          <p:cNvPr id="100" name="文本框 99"/>
          <p:cNvSpPr txBox="1"/>
          <p:nvPr/>
        </p:nvSpPr>
        <p:spPr>
          <a:xfrm>
            <a:off x="1649095" y="2524760"/>
            <a:ext cx="6365240" cy="829945"/>
          </a:xfrm>
          <a:prstGeom prst="rect">
            <a:avLst/>
          </a:prstGeom>
          <a:noFill/>
          <a:ln w="9525">
            <a:noFill/>
          </a:ln>
        </p:spPr>
        <p:txBody>
          <a:bodyPr wrap="square">
            <a:spAutoFit/>
          </a:bodyPr>
          <a:p>
            <a:pPr indent="0"/>
            <a:r>
              <a:rPr lang="en-US" altLang="zh-CN" sz="1600" b="0">
                <a:latin typeface="Times New Roman" panose="02020603050405020304" pitchFamily="18" charset="0"/>
                <a:ea typeface="仿宋_GB2312" panose="02010609030101010101" pitchFamily="49" charset="-122"/>
              </a:rPr>
              <a:t>         </a:t>
            </a:r>
            <a:r>
              <a:rPr lang="zh-CN" sz="1600" b="0">
                <a:latin typeface="Times New Roman" panose="02020603050405020304" pitchFamily="18" charset="0"/>
                <a:ea typeface="仿宋_GB2312" panose="02010609030101010101" pitchFamily="49" charset="-122"/>
              </a:rPr>
              <a:t>一级标题</a:t>
            </a:r>
            <a:r>
              <a:rPr lang="en-US" sz="1600" b="0">
                <a:latin typeface="Times New Roman" panose="02020603050405020304" pitchFamily="18" charset="0"/>
                <a:ea typeface="仿宋_GB2312" panose="02010609030101010101" pitchFamily="49" charset="-122"/>
              </a:rPr>
              <a:t>“</a:t>
            </a:r>
            <a:r>
              <a:rPr lang="zh-CN" sz="1600" b="0">
                <a:latin typeface="Times New Roman" panose="02020603050405020304" pitchFamily="18" charset="0"/>
                <a:ea typeface="仿宋_GB2312" panose="02010609030101010101" pitchFamily="49" charset="-122"/>
              </a:rPr>
              <a:t>一、总体要求</a:t>
            </a:r>
            <a:r>
              <a:rPr lang="en-US" sz="1600" b="0">
                <a:latin typeface="Times New Roman" panose="02020603050405020304" pitchFamily="18" charset="0"/>
                <a:ea typeface="仿宋_GB2312" panose="02010609030101010101" pitchFamily="49" charset="-122"/>
              </a:rPr>
              <a:t>”</a:t>
            </a:r>
            <a:r>
              <a:rPr lang="zh-CN" sz="1600" b="0">
                <a:latin typeface="Times New Roman" panose="02020603050405020304" pitchFamily="18" charset="0"/>
                <a:ea typeface="仿宋_GB2312" panose="02010609030101010101" pitchFamily="49" charset="-122"/>
              </a:rPr>
              <a:t>下分为</a:t>
            </a:r>
            <a:r>
              <a:rPr lang="en-US" sz="1600" b="0">
                <a:latin typeface="Times New Roman" panose="02020603050405020304" pitchFamily="18" charset="0"/>
                <a:ea typeface="仿宋_GB2312" panose="02010609030101010101" pitchFamily="49" charset="-122"/>
              </a:rPr>
              <a:t>5</a:t>
            </a:r>
            <a:r>
              <a:rPr lang="zh-CN" sz="1600" b="0">
                <a:latin typeface="Times New Roman" panose="02020603050405020304" pitchFamily="18" charset="0"/>
                <a:ea typeface="仿宋_GB2312" panose="02010609030101010101" pitchFamily="49" charset="-122"/>
              </a:rPr>
              <a:t>段表述，每段用三级标题序号</a:t>
            </a:r>
            <a:r>
              <a:rPr lang="en-US" sz="1600" b="0">
                <a:latin typeface="Times New Roman" panose="02020603050405020304" pitchFamily="18" charset="0"/>
                <a:ea typeface="仿宋_GB2312" panose="02010609030101010101" pitchFamily="49" charset="-122"/>
              </a:rPr>
              <a:t>“1.”“2.”</a:t>
            </a:r>
            <a:r>
              <a:rPr lang="zh-CN" sz="1600" b="0">
                <a:latin typeface="Times New Roman" panose="02020603050405020304" pitchFamily="18" charset="0"/>
                <a:ea typeface="仿宋_GB2312" panose="02010609030101010101" pitchFamily="49" charset="-122"/>
              </a:rPr>
              <a:t>等标明序号，建议修改为二级标题序号</a:t>
            </a:r>
            <a:r>
              <a:rPr lang="en-US" sz="1600" b="0">
                <a:latin typeface="Times New Roman" panose="02020603050405020304" pitchFamily="18" charset="0"/>
                <a:ea typeface="仿宋_GB2312" panose="02010609030101010101" pitchFamily="49" charset="-122"/>
              </a:rPr>
              <a:t>“</a:t>
            </a:r>
            <a:r>
              <a:rPr lang="zh-CN" sz="1600" b="0">
                <a:latin typeface="Times New Roman" panose="02020603050405020304" pitchFamily="18" charset="0"/>
                <a:ea typeface="仿宋_GB2312" panose="02010609030101010101" pitchFamily="49" charset="-122"/>
              </a:rPr>
              <a:t>（一）</a:t>
            </a:r>
            <a:r>
              <a:rPr lang="en-US" sz="1600" b="0">
                <a:latin typeface="Times New Roman" panose="02020603050405020304" pitchFamily="18" charset="0"/>
                <a:ea typeface="仿宋_GB2312" panose="02010609030101010101" pitchFamily="49" charset="-122"/>
              </a:rPr>
              <a:t>”“</a:t>
            </a:r>
            <a:r>
              <a:rPr lang="zh-CN" sz="1600" b="0">
                <a:latin typeface="Times New Roman" panose="02020603050405020304" pitchFamily="18" charset="0"/>
                <a:ea typeface="仿宋_GB2312" panose="02010609030101010101" pitchFamily="49" charset="-122"/>
              </a:rPr>
              <a:t>（二）</a:t>
            </a:r>
            <a:r>
              <a:rPr lang="en-US" sz="1600" b="0">
                <a:latin typeface="Times New Roman" panose="02020603050405020304" pitchFamily="18" charset="0"/>
                <a:ea typeface="仿宋_GB2312" panose="02010609030101010101" pitchFamily="49" charset="-122"/>
              </a:rPr>
              <a:t>”</a:t>
            </a:r>
            <a:r>
              <a:rPr lang="zh-CN" sz="1600" b="0">
                <a:latin typeface="Times New Roman" panose="02020603050405020304" pitchFamily="18" charset="0"/>
                <a:ea typeface="仿宋_GB2312" panose="02010609030101010101" pitchFamily="49" charset="-122"/>
              </a:rPr>
              <a:t>等标明</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right)">
                                      <p:cBhvr>
                                        <p:cTn id="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占位符 2"/>
          <p:cNvPicPr>
            <a:picLocks noChangeAspect="1"/>
          </p:cNvPicPr>
          <p:nvPr>
            <p:ph type="pic" sz="quarter" idx="10"/>
          </p:nvPr>
        </p:nvPicPr>
        <p:blipFill>
          <a:blip r:embed="rId1"/>
          <a:stretch>
            <a:fillRect/>
          </a:stretch>
        </p:blipFill>
        <p:spPr>
          <a:xfrm>
            <a:off x="1350645" y="1301750"/>
            <a:ext cx="6324600" cy="981075"/>
          </a:xfrm>
          <a:prstGeom prst="rect">
            <a:avLst/>
          </a:prstGeom>
        </p:spPr>
      </p:pic>
      <p:sp>
        <p:nvSpPr>
          <p:cNvPr id="100" name="文本框 99"/>
          <p:cNvSpPr txBox="1"/>
          <p:nvPr/>
        </p:nvSpPr>
        <p:spPr>
          <a:xfrm>
            <a:off x="1350010" y="2675890"/>
            <a:ext cx="6549390" cy="922020"/>
          </a:xfrm>
          <a:prstGeom prst="rect">
            <a:avLst/>
          </a:prstGeom>
          <a:noFill/>
          <a:ln w="9525">
            <a:noFill/>
          </a:ln>
        </p:spPr>
        <p:txBody>
          <a:bodyPr wrap="square">
            <a:spAutoFit/>
          </a:bodyPr>
          <a:p>
            <a:pPr indent="0"/>
            <a:r>
              <a:rPr lang="en-US" sz="1600" b="0">
                <a:latin typeface="Times New Roman" panose="02020603050405020304" pitchFamily="18" charset="0"/>
              </a:rPr>
              <a:t>       </a:t>
            </a:r>
            <a:r>
              <a:rPr lang="en-US" b="0">
                <a:latin typeface="仿宋_GB2312" panose="02010609030101010101" pitchFamily="49" charset="-122"/>
                <a:ea typeface="仿宋_GB2312" panose="02010609030101010101" pitchFamily="49" charset="-122"/>
                <a:cs typeface="仿宋_GB2312" panose="02010609030101010101" pitchFamily="49" charset="-122"/>
              </a:rPr>
              <a:t>“7</a:t>
            </a:r>
            <a:r>
              <a:rPr lang="zh-CN" b="0">
                <a:latin typeface="仿宋_GB2312" panose="02010609030101010101" pitchFamily="49" charset="-122"/>
                <a:ea typeface="仿宋_GB2312" panose="02010609030101010101" pitchFamily="49" charset="-122"/>
                <a:cs typeface="仿宋_GB2312" panose="02010609030101010101" pitchFamily="49" charset="-122"/>
              </a:rPr>
              <a:t>月</a:t>
            </a:r>
            <a:r>
              <a:rPr lang="en-US" b="0">
                <a:latin typeface="仿宋_GB2312" panose="02010609030101010101" pitchFamily="49" charset="-122"/>
                <a:ea typeface="仿宋_GB2312" panose="02010609030101010101" pitchFamily="49" charset="-122"/>
                <a:cs typeface="仿宋_GB2312" panose="02010609030101010101" pitchFamily="49" charset="-122"/>
              </a:rPr>
              <a:t>6</a:t>
            </a:r>
            <a:r>
              <a:rPr lang="zh-CN" b="0">
                <a:latin typeface="仿宋_GB2312" panose="02010609030101010101" pitchFamily="49" charset="-122"/>
                <a:ea typeface="仿宋_GB2312" panose="02010609030101010101" pitchFamily="49" charset="-122"/>
                <a:cs typeface="仿宋_GB2312" panose="02010609030101010101" pitchFamily="49" charset="-122"/>
              </a:rPr>
              <a:t>日五龙口停车场整流变压器室着火”、“</a:t>
            </a:r>
            <a:r>
              <a:rPr lang="en-US" b="0">
                <a:latin typeface="仿宋_GB2312" panose="02010609030101010101" pitchFamily="49" charset="-122"/>
                <a:ea typeface="仿宋_GB2312" panose="02010609030101010101" pitchFamily="49" charset="-122"/>
                <a:cs typeface="仿宋_GB2312" panose="02010609030101010101" pitchFamily="49" charset="-122"/>
              </a:rPr>
              <a:t>8</a:t>
            </a:r>
            <a:r>
              <a:rPr lang="zh-CN" b="0">
                <a:latin typeface="仿宋_GB2312" panose="02010609030101010101" pitchFamily="49" charset="-122"/>
                <a:ea typeface="仿宋_GB2312" panose="02010609030101010101" pitchFamily="49" charset="-122"/>
                <a:cs typeface="仿宋_GB2312" panose="02010609030101010101" pitchFamily="49" charset="-122"/>
              </a:rPr>
              <a:t>月</a:t>
            </a:r>
            <a:r>
              <a:rPr lang="en-US" b="0">
                <a:latin typeface="仿宋_GB2312" panose="02010609030101010101" pitchFamily="49" charset="-122"/>
                <a:ea typeface="仿宋_GB2312" panose="02010609030101010101" pitchFamily="49" charset="-122"/>
                <a:cs typeface="仿宋_GB2312" panose="02010609030101010101" pitchFamily="49" charset="-122"/>
              </a:rPr>
              <a:t>12</a:t>
            </a:r>
            <a:r>
              <a:rPr lang="zh-CN" b="0">
                <a:latin typeface="仿宋_GB2312" panose="02010609030101010101" pitchFamily="49" charset="-122"/>
                <a:ea typeface="仿宋_GB2312" panose="02010609030101010101" pitchFamily="49" charset="-122"/>
                <a:cs typeface="仿宋_GB2312" panose="02010609030101010101" pitchFamily="49" charset="-122"/>
              </a:rPr>
              <a:t>日博学路站综合电源室通信电源系统</a:t>
            </a:r>
            <a:r>
              <a:rPr lang="en-US" b="0">
                <a:latin typeface="仿宋_GB2312" panose="02010609030101010101" pitchFamily="49" charset="-122"/>
                <a:ea typeface="仿宋_GB2312" panose="02010609030101010101" pitchFamily="49" charset="-122"/>
                <a:cs typeface="仿宋_GB2312" panose="02010609030101010101" pitchFamily="49" charset="-122"/>
              </a:rPr>
              <a:t>UPS</a:t>
            </a:r>
            <a:r>
              <a:rPr lang="zh-CN" b="0">
                <a:latin typeface="仿宋_GB2312" panose="02010609030101010101" pitchFamily="49" charset="-122"/>
                <a:ea typeface="仿宋_GB2312" panose="02010609030101010101" pitchFamily="49" charset="-122"/>
                <a:cs typeface="仿宋_GB2312" panose="02010609030101010101" pitchFamily="49" charset="-122"/>
              </a:rPr>
              <a:t>蓄电池组着火”中间可以不加顿号，引号已经可以起到间隔的作用。</a:t>
            </a:r>
            <a:endParaRPr lang="zh-CN" altLang="en-US">
              <a:latin typeface="仿宋_GB2312" panose="02010609030101010101" pitchFamily="49" charset="-122"/>
              <a:ea typeface="仿宋_GB2312" panose="02010609030101010101" pitchFamily="49" charset="-122"/>
              <a:cs typeface="仿宋_GB2312" panose="02010609030101010101" pitchFamily="49" charset="-122"/>
            </a:endParaRPr>
          </a:p>
        </p:txBody>
      </p:sp>
      <p:pic>
        <p:nvPicPr>
          <p:cNvPr id="8" name="图片 7" descr="E:\曹飞\2017\2017-8-8地铁PPT\6.png6"/>
          <p:cNvPicPr>
            <a:picLocks noChangeAspect="1"/>
          </p:cNvPicPr>
          <p:nvPr/>
        </p:nvPicPr>
        <p:blipFill>
          <a:blip r:embed="rId2" cstate="email"/>
          <a:srcRect/>
          <a:stretch>
            <a:fillRect/>
          </a:stretch>
        </p:blipFill>
        <p:spPr>
          <a:xfrm>
            <a:off x="2261712" y="230427"/>
            <a:ext cx="6463189" cy="343376"/>
          </a:xfrm>
          <a:prstGeom prst="rect">
            <a:avLst/>
          </a:prstGeom>
        </p:spPr>
      </p:pic>
      <p:pic>
        <p:nvPicPr>
          <p:cNvPr id="9" name="图片占位符 8"/>
          <p:cNvPicPr>
            <a:picLocks noChangeAspect="1"/>
          </p:cNvPicPr>
          <p:nvPr/>
        </p:nvPicPr>
        <p:blipFill>
          <a:blip r:embed="rId3"/>
          <a:stretch>
            <a:fillRect/>
          </a:stretch>
        </p:blipFill>
        <p:spPr>
          <a:xfrm>
            <a:off x="637540" y="317500"/>
            <a:ext cx="1685925" cy="419100"/>
          </a:xfrm>
          <a:prstGeom prst="rect">
            <a:avLst/>
          </a:prstGeom>
          <a:noFill/>
          <a:ln>
            <a:noFill/>
          </a:ln>
        </p:spPr>
      </p:pic>
      <p:pic>
        <p:nvPicPr>
          <p:cNvPr id="13" name="图片 12" descr="E:\曹飞\2017\2017-8-8地铁PPT\7.png7"/>
          <p:cNvPicPr>
            <a:picLocks noChangeAspect="1"/>
          </p:cNvPicPr>
          <p:nvPr/>
        </p:nvPicPr>
        <p:blipFill>
          <a:blip r:embed="rId4" cstate="email"/>
          <a:srcRect/>
          <a:stretch>
            <a:fillRect/>
          </a:stretch>
        </p:blipFill>
        <p:spPr>
          <a:xfrm>
            <a:off x="-6667" y="4477465"/>
            <a:ext cx="9168289" cy="668179"/>
          </a:xfrm>
          <a:prstGeom prst="rect">
            <a:avLst/>
          </a:prstGeom>
        </p:spPr>
      </p:pic>
      <p:sp>
        <p:nvSpPr>
          <p:cNvPr id="11" name="文本框 10"/>
          <p:cNvSpPr txBox="1"/>
          <p:nvPr/>
        </p:nvSpPr>
        <p:spPr>
          <a:xfrm>
            <a:off x="580390" y="949007"/>
            <a:ext cx="5080000" cy="368300"/>
          </a:xfrm>
          <a:prstGeom prst="rect">
            <a:avLst/>
          </a:prstGeom>
          <a:noFill/>
          <a:ln w="9525">
            <a:noFill/>
          </a:ln>
        </p:spPr>
        <p:txBody>
          <a:bodyPr>
            <a:spAutoFit/>
          </a:bodyPr>
          <a:p>
            <a:pPr indent="409575"/>
            <a:r>
              <a:rPr lang="zh-CN">
                <a:latin typeface="黑体" panose="02010609060101010101" pitchFamily="49" charset="-122"/>
                <a:ea typeface="黑体" panose="02010609060101010101" pitchFamily="49" charset="-122"/>
              </a:rPr>
              <a:t>错误案例一：</a:t>
            </a:r>
            <a:endParaRPr lang="zh-CN" altLang="en-US">
              <a:latin typeface="黑体" panose="02010609060101010101" pitchFamily="49" charset="-122"/>
              <a:ea typeface="黑体" panose="02010609060101010101" pitchFamily="49" charset="-122"/>
            </a:endParaRPr>
          </a:p>
        </p:txBody>
      </p:sp>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right)">
                                      <p:cBhvr>
                                        <p:cTn id="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descr="E:\曹飞\2017\2017-8-8地铁PPT\7.png7"/>
          <p:cNvPicPr>
            <a:picLocks noChangeAspect="1"/>
          </p:cNvPicPr>
          <p:nvPr/>
        </p:nvPicPr>
        <p:blipFill>
          <a:blip r:embed="rId1" cstate="email"/>
          <a:srcRect/>
          <a:stretch>
            <a:fillRect/>
          </a:stretch>
        </p:blipFill>
        <p:spPr>
          <a:xfrm>
            <a:off x="-6667" y="4477465"/>
            <a:ext cx="9168289" cy="668179"/>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pic>
        <p:nvPicPr>
          <p:cNvPr id="8" name="图片 7" descr="E:\曹飞\2017\2017-8-8地铁PPT\6.png6"/>
          <p:cNvPicPr>
            <a:picLocks noChangeAspect="1"/>
          </p:cNvPicPr>
          <p:nvPr/>
        </p:nvPicPr>
        <p:blipFill>
          <a:blip r:embed="rId2" cstate="email"/>
          <a:srcRect/>
          <a:stretch>
            <a:fillRect/>
          </a:stretch>
        </p:blipFill>
        <p:spPr>
          <a:xfrm>
            <a:off x="2261712" y="230427"/>
            <a:ext cx="6463189" cy="343376"/>
          </a:xfrm>
          <a:prstGeom prst="rect">
            <a:avLst/>
          </a:prstGeom>
        </p:spPr>
      </p:pic>
      <p:pic>
        <p:nvPicPr>
          <p:cNvPr id="9" name="图片 8"/>
          <p:cNvPicPr>
            <a:picLocks noChangeAspect="1"/>
          </p:cNvPicPr>
          <p:nvPr/>
        </p:nvPicPr>
        <p:blipFill>
          <a:blip r:embed="rId3"/>
          <a:stretch>
            <a:fillRect/>
          </a:stretch>
        </p:blipFill>
        <p:spPr>
          <a:xfrm>
            <a:off x="575945" y="297180"/>
            <a:ext cx="1685925" cy="419100"/>
          </a:xfrm>
          <a:prstGeom prst="rect">
            <a:avLst/>
          </a:prstGeom>
        </p:spPr>
      </p:pic>
      <p:pic>
        <p:nvPicPr>
          <p:cNvPr id="4" name="图片 3" descr="1"/>
          <p:cNvPicPr>
            <a:picLocks noChangeAspect="1"/>
          </p:cNvPicPr>
          <p:nvPr/>
        </p:nvPicPr>
        <p:blipFill>
          <a:blip r:embed="rId4"/>
          <a:stretch>
            <a:fillRect/>
          </a:stretch>
        </p:blipFill>
        <p:spPr>
          <a:xfrm>
            <a:off x="1615440" y="1525270"/>
            <a:ext cx="5924550" cy="400050"/>
          </a:xfrm>
          <a:prstGeom prst="rect">
            <a:avLst/>
          </a:prstGeom>
        </p:spPr>
      </p:pic>
      <p:sp>
        <p:nvSpPr>
          <p:cNvPr id="100" name="文本框 99"/>
          <p:cNvSpPr txBox="1"/>
          <p:nvPr/>
        </p:nvSpPr>
        <p:spPr>
          <a:xfrm>
            <a:off x="990600" y="2366010"/>
            <a:ext cx="7574915" cy="2030095"/>
          </a:xfrm>
          <a:prstGeom prst="rect">
            <a:avLst/>
          </a:prstGeom>
          <a:noFill/>
          <a:ln w="9525">
            <a:noFill/>
          </a:ln>
        </p:spPr>
        <p:txBody>
          <a:bodyPr wrap="square">
            <a:spAutoFit/>
          </a:bodyPr>
          <a:p>
            <a:pPr indent="409575"/>
            <a:r>
              <a:rPr lang="en-US" altLang="zh-CN" b="0">
                <a:latin typeface="仿宋_GB2312" panose="02010609030101010101" pitchFamily="49" charset="-122"/>
                <a:ea typeface="仿宋_GB2312" panose="02010609030101010101" pitchFamily="49" charset="-122"/>
                <a:cs typeface="仿宋_GB2312" panose="02010609030101010101" pitchFamily="49" charset="-122"/>
              </a:rPr>
              <a:t>时间连接符号使用错误，应使用11月20日—22日</a:t>
            </a:r>
            <a:endParaRPr lang="zh-CN" b="0">
              <a:latin typeface="仿宋_GB2312" panose="02010609030101010101" pitchFamily="49" charset="-122"/>
              <a:ea typeface="仿宋_GB2312" panose="02010609030101010101" pitchFamily="49" charset="-122"/>
              <a:cs typeface="仿宋_GB2312" panose="02010609030101010101" pitchFamily="49" charset="-122"/>
            </a:endParaRPr>
          </a:p>
          <a:p>
            <a:pPr indent="409575"/>
            <a:endParaRPr lang="zh-CN" b="0">
              <a:latin typeface="仿宋_GB2312" panose="02010609030101010101" pitchFamily="49" charset="-122"/>
              <a:ea typeface="仿宋_GB2312" panose="02010609030101010101" pitchFamily="49" charset="-122"/>
              <a:cs typeface="仿宋_GB2312" panose="02010609030101010101" pitchFamily="49" charset="-122"/>
            </a:endParaRPr>
          </a:p>
          <a:p>
            <a:pPr indent="409575"/>
            <a:r>
              <a:rPr lang="zh-CN" b="0">
                <a:latin typeface="仿宋_GB2312" panose="02010609030101010101" pitchFamily="49" charset="-122"/>
                <a:ea typeface="仿宋_GB2312" panose="02010609030101010101" pitchFamily="49" charset="-122"/>
                <a:cs typeface="仿宋_GB2312" panose="02010609030101010101" pitchFamily="49" charset="-122"/>
              </a:rPr>
              <a:t>连接号和破折号的使用</a:t>
            </a:r>
            <a:endParaRPr lang="zh-CN" b="0">
              <a:latin typeface="仿宋_GB2312" panose="02010609030101010101" pitchFamily="49" charset="-122"/>
              <a:ea typeface="仿宋_GB2312" panose="02010609030101010101" pitchFamily="49" charset="-122"/>
              <a:cs typeface="仿宋_GB2312" panose="02010609030101010101" pitchFamily="49" charset="-122"/>
            </a:endParaRPr>
          </a:p>
          <a:p>
            <a:pPr indent="409575"/>
            <a:r>
              <a:rPr lang="en-US" altLang="zh-CN" b="0">
                <a:latin typeface="仿宋_GB2312" panose="02010609030101010101" pitchFamily="49" charset="-122"/>
                <a:ea typeface="仿宋_GB2312" panose="02010609030101010101" pitchFamily="49" charset="-122"/>
                <a:cs typeface="仿宋_GB2312" panose="02010609030101010101" pitchFamily="49" charset="-122"/>
              </a:rPr>
              <a:t>1.</a:t>
            </a:r>
            <a:r>
              <a:rPr lang="zh-CN" b="0">
                <a:latin typeface="仿宋_GB2312" panose="02010609030101010101" pitchFamily="49" charset="-122"/>
                <a:ea typeface="仿宋_GB2312" panose="02010609030101010101" pitchFamily="49" charset="-122"/>
                <a:cs typeface="仿宋_GB2312" panose="02010609030101010101" pitchFamily="49" charset="-122"/>
              </a:rPr>
              <a:t>表示时间或空间范围的使用“～”，表示时间或地理空间起止的一般用“—”（占</a:t>
            </a:r>
            <a:r>
              <a:rPr lang="en-US" b="0">
                <a:latin typeface="仿宋_GB2312" panose="02010609030101010101" pitchFamily="49" charset="-122"/>
                <a:ea typeface="仿宋_GB2312" panose="02010609030101010101" pitchFamily="49" charset="-122"/>
                <a:cs typeface="仿宋_GB2312" panose="02010609030101010101" pitchFamily="49" charset="-122"/>
              </a:rPr>
              <a:t>1</a:t>
            </a:r>
            <a:r>
              <a:rPr lang="zh-CN" b="0">
                <a:latin typeface="仿宋_GB2312" panose="02010609030101010101" pitchFamily="49" charset="-122"/>
                <a:ea typeface="仿宋_GB2312" panose="02010609030101010101" pitchFamily="49" charset="-122"/>
                <a:cs typeface="仿宋_GB2312" panose="02010609030101010101" pitchFamily="49" charset="-122"/>
              </a:rPr>
              <a:t>字符）。</a:t>
            </a:r>
            <a:r>
              <a:rPr lang="en-US" b="0">
                <a:latin typeface="仿宋_GB2312" panose="02010609030101010101" pitchFamily="49" charset="-122"/>
                <a:ea typeface="仿宋_GB2312" panose="02010609030101010101" pitchFamily="49" charset="-122"/>
                <a:cs typeface="仿宋_GB2312" panose="02010609030101010101" pitchFamily="49" charset="-122"/>
              </a:rPr>
              <a:t> </a:t>
            </a:r>
            <a:endParaRPr lang="zh-CN" b="0">
              <a:latin typeface="仿宋_GB2312" panose="02010609030101010101" pitchFamily="49" charset="-122"/>
              <a:ea typeface="仿宋_GB2312" panose="02010609030101010101" pitchFamily="49" charset="-122"/>
              <a:cs typeface="仿宋_GB2312" panose="02010609030101010101" pitchFamily="49" charset="-122"/>
            </a:endParaRPr>
          </a:p>
          <a:p>
            <a:pPr indent="409575"/>
            <a:r>
              <a:rPr lang="en-US" altLang="zh-CN" b="0">
                <a:latin typeface="仿宋_GB2312" panose="02010609030101010101" pitchFamily="49" charset="-122"/>
                <a:ea typeface="仿宋_GB2312" panose="02010609030101010101" pitchFamily="49" charset="-122"/>
                <a:cs typeface="仿宋_GB2312" panose="02010609030101010101" pitchFamily="49" charset="-122"/>
              </a:rPr>
              <a:t>2.</a:t>
            </a:r>
            <a:r>
              <a:rPr lang="zh-CN" b="0">
                <a:latin typeface="仿宋_GB2312" panose="02010609030101010101" pitchFamily="49" charset="-122"/>
                <a:ea typeface="仿宋_GB2312" panose="02010609030101010101" pitchFamily="49" charset="-122"/>
                <a:cs typeface="仿宋_GB2312" panose="02010609030101010101" pitchFamily="49" charset="-122"/>
              </a:rPr>
              <a:t>凡文中使用破折号的应使用占两个空格的“——”（建议用宋体）而不用“～”或只占一个空格的“</a:t>
            </a:r>
            <a:r>
              <a:rPr lang="zh-CN" altLang="en-US" b="0" dirty="0">
                <a:latin typeface="仿宋_GB2312" panose="02010609030101010101" pitchFamily="49" charset="-122"/>
                <a:ea typeface="仿宋_GB2312" panose="02010609030101010101" pitchFamily="49" charset="-122"/>
                <a:cs typeface="仿宋_GB2312" panose="02010609030101010101" pitchFamily="49" charset="-122"/>
              </a:rPr>
              <a:t>—</a:t>
            </a:r>
            <a:r>
              <a:rPr lang="zh-CN" b="0">
                <a:latin typeface="仿宋_GB2312" panose="02010609030101010101" pitchFamily="49" charset="-122"/>
                <a:ea typeface="仿宋_GB2312" panose="02010609030101010101" pitchFamily="49" charset="-122"/>
                <a:cs typeface="仿宋_GB2312" panose="02010609030101010101" pitchFamily="49" charset="-122"/>
              </a:rPr>
              <a:t>”。</a:t>
            </a:r>
            <a:r>
              <a:rPr lang="en-US" b="0">
                <a:latin typeface="仿宋_GB2312" panose="02010609030101010101" pitchFamily="49" charset="-122"/>
                <a:ea typeface="仿宋_GB2312" panose="02010609030101010101" pitchFamily="49" charset="-122"/>
                <a:cs typeface="仿宋_GB2312" panose="02010609030101010101" pitchFamily="49" charset="-122"/>
              </a:rPr>
              <a:t> </a:t>
            </a:r>
            <a:endParaRPr lang="zh-CN" altLang="en-US">
              <a:latin typeface="仿宋_GB2312" panose="02010609030101010101" pitchFamily="49" charset="-122"/>
              <a:ea typeface="仿宋_GB2312" panose="02010609030101010101" pitchFamily="49" charset="-122"/>
              <a:cs typeface="仿宋_GB2312" panose="02010609030101010101" pitchFamily="49" charset="-122"/>
            </a:endParaRPr>
          </a:p>
        </p:txBody>
      </p:sp>
      <p:sp>
        <p:nvSpPr>
          <p:cNvPr id="11" name="文本框 10"/>
          <p:cNvSpPr txBox="1"/>
          <p:nvPr/>
        </p:nvSpPr>
        <p:spPr>
          <a:xfrm>
            <a:off x="480060" y="940752"/>
            <a:ext cx="5080000" cy="368300"/>
          </a:xfrm>
          <a:prstGeom prst="rect">
            <a:avLst/>
          </a:prstGeom>
          <a:noFill/>
          <a:ln w="9525">
            <a:noFill/>
          </a:ln>
        </p:spPr>
        <p:txBody>
          <a:bodyPr>
            <a:spAutoFit/>
          </a:bodyPr>
          <a:p>
            <a:pPr indent="409575"/>
            <a:r>
              <a:rPr lang="zh-CN">
                <a:latin typeface="黑体" panose="02010609060101010101" pitchFamily="49" charset="-122"/>
                <a:ea typeface="黑体" panose="02010609060101010101" pitchFamily="49" charset="-122"/>
              </a:rPr>
              <a:t>错误案例二：</a:t>
            </a:r>
            <a:endParaRPr lang="zh-CN" altLang="en-US">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par>
                                <p:cTn id="10" presetID="12" presetClass="entr" presetSubtype="8"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p:tgtEl>
                                          <p:spTgt spid="8"/>
                                        </p:tgtEl>
                                        <p:attrNameLst>
                                          <p:attrName>ppt_x</p:attrName>
                                        </p:attrNameLst>
                                      </p:cBhvr>
                                      <p:tavLst>
                                        <p:tav tm="0">
                                          <p:val>
                                            <p:strVal val="#ppt_x-#ppt_w*1.125000"/>
                                          </p:val>
                                        </p:tav>
                                        <p:tav tm="100000">
                                          <p:val>
                                            <p:strVal val="#ppt_x"/>
                                          </p:val>
                                        </p:tav>
                                      </p:tavLst>
                                    </p:anim>
                                    <p:animEffect transition="in" filter="wipe(right)">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descr="E:\曹飞\2017\2017-8-8地铁PPT\7.png7"/>
          <p:cNvPicPr>
            <a:picLocks noChangeAspect="1"/>
          </p:cNvPicPr>
          <p:nvPr/>
        </p:nvPicPr>
        <p:blipFill>
          <a:blip r:embed="rId1" cstate="email"/>
          <a:srcRect/>
          <a:stretch>
            <a:fillRect/>
          </a:stretch>
        </p:blipFill>
        <p:spPr>
          <a:xfrm>
            <a:off x="-6667" y="4477465"/>
            <a:ext cx="9168289" cy="668179"/>
          </a:xfrm>
          <a:prstGeom prst="rect">
            <a:avLst/>
          </a:prstGeom>
        </p:spPr>
      </p:pic>
      <p:pic>
        <p:nvPicPr>
          <p:cNvPr id="9" name="图片 8"/>
          <p:cNvPicPr>
            <a:picLocks noChangeAspect="1"/>
          </p:cNvPicPr>
          <p:nvPr/>
        </p:nvPicPr>
        <p:blipFill>
          <a:blip r:embed="rId2"/>
          <a:stretch>
            <a:fillRect/>
          </a:stretch>
        </p:blipFill>
        <p:spPr>
          <a:xfrm>
            <a:off x="575945" y="297180"/>
            <a:ext cx="1685925" cy="419100"/>
          </a:xfrm>
          <a:prstGeom prst="rect">
            <a:avLst/>
          </a:prstGeom>
        </p:spPr>
      </p:pic>
      <p:pic>
        <p:nvPicPr>
          <p:cNvPr id="8" name="图片 7" descr="E:\曹飞\2017\2017-8-8地铁PPT\6.png6"/>
          <p:cNvPicPr>
            <a:picLocks noChangeAspect="1"/>
          </p:cNvPicPr>
          <p:nvPr/>
        </p:nvPicPr>
        <p:blipFill>
          <a:blip r:embed="rId3" cstate="email"/>
          <a:srcRect/>
          <a:stretch>
            <a:fillRect/>
          </a:stretch>
        </p:blipFill>
        <p:spPr>
          <a:xfrm>
            <a:off x="2261712" y="230427"/>
            <a:ext cx="6463189" cy="343376"/>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sp>
        <p:nvSpPr>
          <p:cNvPr id="4" name="文本框 3"/>
          <p:cNvSpPr txBox="1"/>
          <p:nvPr/>
        </p:nvSpPr>
        <p:spPr>
          <a:xfrm>
            <a:off x="337185" y="900430"/>
            <a:ext cx="2413000" cy="460375"/>
          </a:xfrm>
          <a:prstGeom prst="rect">
            <a:avLst/>
          </a:prstGeom>
          <a:noFill/>
        </p:spPr>
        <p:txBody>
          <a:bodyPr wrap="square" rtlCol="0" anchor="t">
            <a:spAutoFit/>
          </a:bodyPr>
          <a:p>
            <a:pPr indent="409575"/>
            <a:r>
              <a:rPr lang="zh-CN">
                <a:latin typeface="黑体" panose="02010609060101010101" pitchFamily="49" charset="-122"/>
                <a:ea typeface="黑体" panose="02010609060101010101" pitchFamily="49" charset="-122"/>
                <a:sym typeface="+mn-ea"/>
              </a:rPr>
              <a:t>错误案例三</a:t>
            </a:r>
            <a:r>
              <a:rPr lang="zh-CN" sz="1800">
                <a:latin typeface="黑体" panose="02010609060101010101" pitchFamily="49" charset="-122"/>
                <a:ea typeface="黑体" panose="02010609060101010101" pitchFamily="49" charset="-122"/>
                <a:sym typeface="+mn-ea"/>
              </a:rPr>
              <a:t>：</a:t>
            </a:r>
            <a:endParaRPr lang="zh-CN" sz="1800">
              <a:latin typeface="黑体" panose="02010609060101010101" pitchFamily="49" charset="-122"/>
              <a:ea typeface="黑体" panose="02010609060101010101" pitchFamily="49" charset="-122"/>
            </a:endParaRPr>
          </a:p>
        </p:txBody>
      </p:sp>
      <p:sp>
        <p:nvSpPr>
          <p:cNvPr id="100" name="文本框 99"/>
          <p:cNvSpPr txBox="1"/>
          <p:nvPr/>
        </p:nvSpPr>
        <p:spPr>
          <a:xfrm>
            <a:off x="1122680" y="2835275"/>
            <a:ext cx="6822440" cy="583565"/>
          </a:xfrm>
          <a:prstGeom prst="rect">
            <a:avLst/>
          </a:prstGeom>
          <a:noFill/>
          <a:ln w="9525">
            <a:noFill/>
          </a:ln>
        </p:spPr>
        <p:txBody>
          <a:bodyPr wrap="square">
            <a:spAutoFit/>
          </a:bodyPr>
          <a:p>
            <a:pPr indent="0"/>
            <a:r>
              <a:rPr lang="en-US" altLang="zh-CN" sz="1600" b="0">
                <a:latin typeface="Times New Roman" panose="02020603050405020304" pitchFamily="18" charset="0"/>
                <a:ea typeface="仿宋_GB2312" panose="02010609030101010101" pitchFamily="49" charset="-122"/>
              </a:rPr>
              <a:t>        </a:t>
            </a:r>
            <a:r>
              <a:rPr lang="zh-CN" sz="1600" b="0">
                <a:latin typeface="Times New Roman" panose="02020603050405020304" pitchFamily="18" charset="0"/>
                <a:ea typeface="仿宋_GB2312" panose="02010609030101010101" pitchFamily="49" charset="-122"/>
              </a:rPr>
              <a:t>错误使用公文文体，通知、通报属于两个文体，建议修改为《关于运营分公司</a:t>
            </a:r>
            <a:r>
              <a:rPr lang="en-US" sz="1600" b="0">
                <a:latin typeface="Times New Roman" panose="02020603050405020304" pitchFamily="18" charset="0"/>
                <a:ea typeface="仿宋_GB2312" panose="02010609030101010101" pitchFamily="49" charset="-122"/>
              </a:rPr>
              <a:t>2019</a:t>
            </a:r>
            <a:r>
              <a:rPr lang="zh-CN" sz="1600" b="0">
                <a:latin typeface="Times New Roman" panose="02020603050405020304" pitchFamily="18" charset="0"/>
                <a:ea typeface="仿宋_GB2312" panose="02010609030101010101" pitchFamily="49" charset="-122"/>
              </a:rPr>
              <a:t>年</a:t>
            </a:r>
            <a:r>
              <a:rPr lang="en-US" sz="1600" b="0">
                <a:latin typeface="Times New Roman" panose="02020603050405020304" pitchFamily="18" charset="0"/>
                <a:ea typeface="仿宋_GB2312" panose="02010609030101010101" pitchFamily="49" charset="-122"/>
              </a:rPr>
              <a:t>10</a:t>
            </a:r>
            <a:r>
              <a:rPr lang="zh-CN" sz="1600" b="0">
                <a:latin typeface="Times New Roman" panose="02020603050405020304" pitchFamily="18" charset="0"/>
                <a:ea typeface="仿宋_GB2312" panose="02010609030101010101" pitchFamily="49" charset="-122"/>
              </a:rPr>
              <a:t>月份安全检查及隐患排查情况的通报》。</a:t>
            </a:r>
            <a:endParaRPr lang="zh-CN" altLang="en-US"/>
          </a:p>
        </p:txBody>
      </p:sp>
      <p:pic>
        <p:nvPicPr>
          <p:cNvPr id="10" name="图片 9"/>
          <p:cNvPicPr>
            <a:picLocks noChangeAspect="1"/>
          </p:cNvPicPr>
          <p:nvPr/>
        </p:nvPicPr>
        <p:blipFill>
          <a:blip r:embed="rId4"/>
          <a:stretch>
            <a:fillRect/>
          </a:stretch>
        </p:blipFill>
        <p:spPr>
          <a:xfrm>
            <a:off x="1512570" y="3418840"/>
            <a:ext cx="5867400" cy="1047750"/>
          </a:xfrm>
          <a:prstGeom prst="rect">
            <a:avLst/>
          </a:prstGeom>
        </p:spPr>
      </p:pic>
      <p:pic>
        <p:nvPicPr>
          <p:cNvPr id="12" name="图片 11"/>
          <p:cNvPicPr>
            <a:picLocks noChangeAspect="1"/>
          </p:cNvPicPr>
          <p:nvPr/>
        </p:nvPicPr>
        <p:blipFill>
          <a:blip r:embed="rId5"/>
          <a:stretch>
            <a:fillRect/>
          </a:stretch>
        </p:blipFill>
        <p:spPr>
          <a:xfrm>
            <a:off x="1699260" y="1477645"/>
            <a:ext cx="5343525" cy="10382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par>
                                <p:cTn id="10" presetID="12" presetClass="entr" presetSubtype="8"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p:tgtEl>
                                          <p:spTgt spid="8"/>
                                        </p:tgtEl>
                                        <p:attrNameLst>
                                          <p:attrName>ppt_x</p:attrName>
                                        </p:attrNameLst>
                                      </p:cBhvr>
                                      <p:tavLst>
                                        <p:tav tm="0">
                                          <p:val>
                                            <p:strVal val="#ppt_x-#ppt_w*1.125000"/>
                                          </p:val>
                                        </p:tav>
                                        <p:tav tm="100000">
                                          <p:val>
                                            <p:strVal val="#ppt_x"/>
                                          </p:val>
                                        </p:tav>
                                      </p:tavLst>
                                    </p:anim>
                                    <p:animEffect transition="in" filter="wipe(right)">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descr="E:\曹飞\2017\2017-8-8地铁PPT\7.png7"/>
          <p:cNvPicPr>
            <a:picLocks noChangeAspect="1"/>
          </p:cNvPicPr>
          <p:nvPr/>
        </p:nvPicPr>
        <p:blipFill>
          <a:blip r:embed="rId1" cstate="email"/>
          <a:srcRect/>
          <a:stretch>
            <a:fillRect/>
          </a:stretch>
        </p:blipFill>
        <p:spPr>
          <a:xfrm>
            <a:off x="-6667" y="4477465"/>
            <a:ext cx="9168289" cy="668179"/>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pic>
        <p:nvPicPr>
          <p:cNvPr id="8" name="图片 7" descr="E:\曹飞\2017\2017-8-8地铁PPT\6.png6"/>
          <p:cNvPicPr>
            <a:picLocks noChangeAspect="1"/>
          </p:cNvPicPr>
          <p:nvPr/>
        </p:nvPicPr>
        <p:blipFill>
          <a:blip r:embed="rId2" cstate="email"/>
          <a:srcRect/>
          <a:stretch>
            <a:fillRect/>
          </a:stretch>
        </p:blipFill>
        <p:spPr>
          <a:xfrm>
            <a:off x="2261712" y="230427"/>
            <a:ext cx="6463189" cy="343376"/>
          </a:xfrm>
          <a:prstGeom prst="rect">
            <a:avLst/>
          </a:prstGeom>
        </p:spPr>
      </p:pic>
      <p:pic>
        <p:nvPicPr>
          <p:cNvPr id="9" name="图片 8"/>
          <p:cNvPicPr>
            <a:picLocks noChangeAspect="1"/>
          </p:cNvPicPr>
          <p:nvPr/>
        </p:nvPicPr>
        <p:blipFill>
          <a:blip r:embed="rId3"/>
          <a:stretch>
            <a:fillRect/>
          </a:stretch>
        </p:blipFill>
        <p:spPr>
          <a:xfrm>
            <a:off x="575945" y="297180"/>
            <a:ext cx="1685925" cy="419100"/>
          </a:xfrm>
          <a:prstGeom prst="rect">
            <a:avLst/>
          </a:prstGeom>
        </p:spPr>
      </p:pic>
      <p:sp>
        <p:nvSpPr>
          <p:cNvPr id="4" name="文本框 3"/>
          <p:cNvSpPr txBox="1"/>
          <p:nvPr/>
        </p:nvSpPr>
        <p:spPr>
          <a:xfrm>
            <a:off x="337185" y="892175"/>
            <a:ext cx="2413000" cy="368300"/>
          </a:xfrm>
          <a:prstGeom prst="rect">
            <a:avLst/>
          </a:prstGeom>
          <a:noFill/>
        </p:spPr>
        <p:txBody>
          <a:bodyPr wrap="square" rtlCol="0" anchor="t">
            <a:spAutoFit/>
          </a:bodyPr>
          <a:p>
            <a:pPr indent="409575"/>
            <a:r>
              <a:rPr lang="zh-CN">
                <a:latin typeface="黑体" panose="02010609060101010101" pitchFamily="49" charset="-122"/>
                <a:ea typeface="黑体" panose="02010609060101010101" pitchFamily="49" charset="-122"/>
                <a:sym typeface="+mn-ea"/>
              </a:rPr>
              <a:t>错误案例四：</a:t>
            </a:r>
            <a:endParaRPr lang="zh-CN">
              <a:latin typeface="黑体" panose="02010609060101010101" pitchFamily="49" charset="-122"/>
              <a:ea typeface="黑体" panose="02010609060101010101" pitchFamily="49" charset="-122"/>
            </a:endParaRPr>
          </a:p>
        </p:txBody>
      </p:sp>
      <p:pic>
        <p:nvPicPr>
          <p:cNvPr id="5" name="图片 4" descr="4"/>
          <p:cNvPicPr>
            <a:picLocks noChangeAspect="1"/>
          </p:cNvPicPr>
          <p:nvPr/>
        </p:nvPicPr>
        <p:blipFill>
          <a:blip r:embed="rId4"/>
          <a:stretch>
            <a:fillRect/>
          </a:stretch>
        </p:blipFill>
        <p:spPr>
          <a:xfrm>
            <a:off x="438150" y="1369060"/>
            <a:ext cx="4442460" cy="3219450"/>
          </a:xfrm>
          <a:prstGeom prst="rect">
            <a:avLst/>
          </a:prstGeom>
        </p:spPr>
      </p:pic>
      <p:sp>
        <p:nvSpPr>
          <p:cNvPr id="100" name="文本框 99"/>
          <p:cNvSpPr txBox="1"/>
          <p:nvPr/>
        </p:nvSpPr>
        <p:spPr>
          <a:xfrm>
            <a:off x="5122545" y="1835150"/>
            <a:ext cx="3162300" cy="2584450"/>
          </a:xfrm>
          <a:prstGeom prst="rect">
            <a:avLst/>
          </a:prstGeom>
          <a:noFill/>
          <a:ln w="9525">
            <a:noFill/>
          </a:ln>
        </p:spPr>
        <p:txBody>
          <a:bodyPr wrap="square">
            <a:spAutoFit/>
          </a:bodyPr>
          <a:p>
            <a:pPr indent="0"/>
            <a:r>
              <a:rPr lang="en-US" altLang="zh-CN" sz="1600" b="0">
                <a:latin typeface="Times New Roman" panose="02020603050405020304" pitchFamily="18" charset="0"/>
                <a:ea typeface="仿宋_GB2312" panose="02010609030101010101" pitchFamily="49" charset="-122"/>
              </a:rPr>
              <a:t>        </a:t>
            </a:r>
            <a:r>
              <a:rPr lang="zh-CN" b="0">
                <a:latin typeface="Times New Roman" panose="02020603050405020304" pitchFamily="18" charset="0"/>
                <a:ea typeface="仿宋_GB2312" panose="02010609030101010101" pitchFamily="49" charset="-122"/>
              </a:rPr>
              <a:t>将方案作为附件下发，并在正文中标注了附件说明。方案、制度等不属于</a:t>
            </a:r>
            <a:r>
              <a:rPr lang="en-US" b="0">
                <a:latin typeface="Times New Roman" panose="02020603050405020304" pitchFamily="18" charset="0"/>
                <a:ea typeface="仿宋_GB2312" panose="02010609030101010101" pitchFamily="49" charset="-122"/>
              </a:rPr>
              <a:t>15</a:t>
            </a:r>
            <a:r>
              <a:rPr lang="zh-CN" b="0">
                <a:latin typeface="Times New Roman" panose="02020603050405020304" pitchFamily="18" charset="0"/>
                <a:ea typeface="仿宋_GB2312" panose="02010609030101010101" pitchFamily="49" charset="-122"/>
              </a:rPr>
              <a:t>种法定公文文种，应采用复式行文的方式行文，其印发的内容不属于公文的附件，在公文正文中不加附件说明，而应直接另面编排，其它格式方面的要求与正文一致。</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par>
                                <p:cTn id="10" presetID="12" presetClass="entr" presetSubtype="8"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p:tgtEl>
                                          <p:spTgt spid="8"/>
                                        </p:tgtEl>
                                        <p:attrNameLst>
                                          <p:attrName>ppt_x</p:attrName>
                                        </p:attrNameLst>
                                      </p:cBhvr>
                                      <p:tavLst>
                                        <p:tav tm="0">
                                          <p:val>
                                            <p:strVal val="#ppt_x-#ppt_w*1.125000"/>
                                          </p:val>
                                        </p:tav>
                                        <p:tav tm="100000">
                                          <p:val>
                                            <p:strVal val="#ppt_x"/>
                                          </p:val>
                                        </p:tav>
                                      </p:tavLst>
                                    </p:anim>
                                    <p:animEffect transition="in" filter="wipe(right)">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descr="E:\曹飞\2017\2017-8-8地铁PPT\7.png7"/>
          <p:cNvPicPr>
            <a:picLocks noChangeAspect="1"/>
          </p:cNvPicPr>
          <p:nvPr/>
        </p:nvPicPr>
        <p:blipFill>
          <a:blip r:embed="rId1" cstate="email"/>
          <a:srcRect/>
          <a:stretch>
            <a:fillRect/>
          </a:stretch>
        </p:blipFill>
        <p:spPr>
          <a:xfrm>
            <a:off x="-6667" y="4477465"/>
            <a:ext cx="9168289" cy="668179"/>
          </a:xfrm>
          <a:prstGeom prst="rect">
            <a:avLst/>
          </a:prstGeom>
        </p:spPr>
      </p:pic>
      <p:pic>
        <p:nvPicPr>
          <p:cNvPr id="9" name="图片 8"/>
          <p:cNvPicPr>
            <a:picLocks noChangeAspect="1"/>
          </p:cNvPicPr>
          <p:nvPr/>
        </p:nvPicPr>
        <p:blipFill>
          <a:blip r:embed="rId2"/>
          <a:stretch>
            <a:fillRect/>
          </a:stretch>
        </p:blipFill>
        <p:spPr>
          <a:xfrm>
            <a:off x="575945" y="297180"/>
            <a:ext cx="1685925" cy="419100"/>
          </a:xfrm>
          <a:prstGeom prst="rect">
            <a:avLst/>
          </a:prstGeom>
        </p:spPr>
      </p:pic>
      <p:pic>
        <p:nvPicPr>
          <p:cNvPr id="8" name="图片 7" descr="E:\曹飞\2017\2017-8-8地铁PPT\6.png6"/>
          <p:cNvPicPr>
            <a:picLocks noChangeAspect="1"/>
          </p:cNvPicPr>
          <p:nvPr/>
        </p:nvPicPr>
        <p:blipFill>
          <a:blip r:embed="rId3" cstate="email"/>
          <a:srcRect/>
          <a:stretch>
            <a:fillRect/>
          </a:stretch>
        </p:blipFill>
        <p:spPr>
          <a:xfrm>
            <a:off x="2261712" y="230427"/>
            <a:ext cx="6463189" cy="343376"/>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sp>
        <p:nvSpPr>
          <p:cNvPr id="4" name="文本框 3"/>
          <p:cNvSpPr txBox="1"/>
          <p:nvPr/>
        </p:nvSpPr>
        <p:spPr>
          <a:xfrm>
            <a:off x="337185" y="892175"/>
            <a:ext cx="2413000" cy="368300"/>
          </a:xfrm>
          <a:prstGeom prst="rect">
            <a:avLst/>
          </a:prstGeom>
          <a:noFill/>
        </p:spPr>
        <p:txBody>
          <a:bodyPr wrap="square" rtlCol="0" anchor="t">
            <a:spAutoFit/>
          </a:bodyPr>
          <a:p>
            <a:pPr indent="409575"/>
            <a:r>
              <a:rPr lang="zh-CN">
                <a:latin typeface="黑体" panose="02010609060101010101" pitchFamily="49" charset="-122"/>
                <a:ea typeface="黑体" panose="02010609060101010101" pitchFamily="49" charset="-122"/>
                <a:sym typeface="+mn-ea"/>
              </a:rPr>
              <a:t>错误案例五：</a:t>
            </a:r>
            <a:endParaRPr lang="zh-CN">
              <a:latin typeface="黑体" panose="02010609060101010101" pitchFamily="49" charset="-122"/>
              <a:ea typeface="黑体" panose="02010609060101010101" pitchFamily="49" charset="-122"/>
            </a:endParaRPr>
          </a:p>
        </p:txBody>
      </p:sp>
      <p:pic>
        <p:nvPicPr>
          <p:cNvPr id="5" name="图片 4" descr="5"/>
          <p:cNvPicPr>
            <a:picLocks noChangeAspect="1"/>
          </p:cNvPicPr>
          <p:nvPr/>
        </p:nvPicPr>
        <p:blipFill>
          <a:blip r:embed="rId4"/>
          <a:stretch>
            <a:fillRect/>
          </a:stretch>
        </p:blipFill>
        <p:spPr>
          <a:xfrm>
            <a:off x="1384935" y="1501775"/>
            <a:ext cx="5963285" cy="521335"/>
          </a:xfrm>
          <a:prstGeom prst="rect">
            <a:avLst/>
          </a:prstGeom>
        </p:spPr>
      </p:pic>
      <p:sp>
        <p:nvSpPr>
          <p:cNvPr id="100" name="文本框 99"/>
          <p:cNvSpPr txBox="1"/>
          <p:nvPr/>
        </p:nvSpPr>
        <p:spPr>
          <a:xfrm>
            <a:off x="817245" y="2108835"/>
            <a:ext cx="7558405" cy="922020"/>
          </a:xfrm>
          <a:prstGeom prst="rect">
            <a:avLst/>
          </a:prstGeom>
          <a:noFill/>
          <a:ln w="9525">
            <a:noFill/>
          </a:ln>
        </p:spPr>
        <p:txBody>
          <a:bodyPr wrap="square">
            <a:spAutoFit/>
          </a:bodyPr>
          <a:p>
            <a:pPr indent="0"/>
            <a:r>
              <a:rPr lang="en-US" altLang="zh-CN" sz="1600" b="0">
                <a:latin typeface="Times New Roman" panose="02020603050405020304" pitchFamily="18" charset="0"/>
                <a:ea typeface="仿宋_GB2312" panose="02010609030101010101" pitchFamily="49" charset="-122"/>
              </a:rPr>
              <a:t>       </a:t>
            </a:r>
            <a:r>
              <a:rPr lang="en-US" altLang="zh-CN" b="0">
                <a:latin typeface="Times New Roman" panose="02020603050405020304" pitchFamily="18" charset="0"/>
                <a:ea typeface="仿宋_GB2312" panose="02010609030101010101" pitchFamily="49" charset="-122"/>
              </a:rPr>
              <a:t> </a:t>
            </a:r>
            <a:r>
              <a:rPr lang="zh-CN" b="0">
                <a:latin typeface="Times New Roman" panose="02020603050405020304" pitchFamily="18" charset="0"/>
                <a:ea typeface="仿宋_GB2312" panose="02010609030101010101" pitchFamily="49" charset="-122"/>
              </a:rPr>
              <a:t>多处将线路名称表述为</a:t>
            </a:r>
            <a:r>
              <a:rPr lang="en-US" b="0">
                <a:latin typeface="Times New Roman" panose="02020603050405020304" pitchFamily="18" charset="0"/>
                <a:ea typeface="仿宋_GB2312" panose="02010609030101010101" pitchFamily="49" charset="-122"/>
              </a:rPr>
              <a:t>1</a:t>
            </a:r>
            <a:r>
              <a:rPr lang="zh-CN" b="0">
                <a:latin typeface="Times New Roman" panose="02020603050405020304" pitchFamily="18" charset="0"/>
                <a:ea typeface="仿宋_GB2312" panose="02010609030101010101" pitchFamily="49" charset="-122"/>
              </a:rPr>
              <a:t>号线二期工程，根据公司下发的相关文件规定，已开通线路后不加“工程”二字，</a:t>
            </a:r>
            <a:r>
              <a:rPr lang="en-US" b="0">
                <a:latin typeface="Times New Roman" panose="02020603050405020304" pitchFamily="18" charset="0"/>
                <a:ea typeface="仿宋_GB2312" panose="02010609030101010101" pitchFamily="49" charset="-122"/>
              </a:rPr>
              <a:t>1</a:t>
            </a:r>
            <a:r>
              <a:rPr lang="zh-CN" b="0">
                <a:latin typeface="Times New Roman" panose="02020603050405020304" pitchFamily="18" charset="0"/>
                <a:ea typeface="仿宋_GB2312" panose="02010609030101010101" pitchFamily="49" charset="-122"/>
              </a:rPr>
              <a:t>号线二期已于</a:t>
            </a:r>
            <a:r>
              <a:rPr lang="en-US" b="0">
                <a:latin typeface="Times New Roman" panose="02020603050405020304" pitchFamily="18" charset="0"/>
                <a:ea typeface="仿宋_GB2312" panose="02010609030101010101" pitchFamily="49" charset="-122"/>
              </a:rPr>
              <a:t>2017</a:t>
            </a:r>
            <a:r>
              <a:rPr lang="zh-CN" b="0">
                <a:latin typeface="Times New Roman" panose="02020603050405020304" pitchFamily="18" charset="0"/>
                <a:ea typeface="仿宋_GB2312" panose="02010609030101010101" pitchFamily="49" charset="-122"/>
              </a:rPr>
              <a:t>年初开通，应表述为“郑州市轨道交通</a:t>
            </a:r>
            <a:r>
              <a:rPr lang="en-US" b="0">
                <a:latin typeface="Times New Roman" panose="02020603050405020304" pitchFamily="18" charset="0"/>
                <a:ea typeface="仿宋_GB2312" panose="02010609030101010101" pitchFamily="49" charset="-122"/>
              </a:rPr>
              <a:t>1</a:t>
            </a:r>
            <a:r>
              <a:rPr lang="zh-CN" b="0">
                <a:latin typeface="Times New Roman" panose="02020603050405020304" pitchFamily="18" charset="0"/>
                <a:ea typeface="仿宋_GB2312" panose="02010609030101010101" pitchFamily="49" charset="-122"/>
              </a:rPr>
              <a:t>号线二期”。</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par>
                                <p:cTn id="10" presetID="12" presetClass="entr" presetSubtype="8"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p:tgtEl>
                                          <p:spTgt spid="8"/>
                                        </p:tgtEl>
                                        <p:attrNameLst>
                                          <p:attrName>ppt_x</p:attrName>
                                        </p:attrNameLst>
                                      </p:cBhvr>
                                      <p:tavLst>
                                        <p:tav tm="0">
                                          <p:val>
                                            <p:strVal val="#ppt_x-#ppt_w*1.125000"/>
                                          </p:val>
                                        </p:tav>
                                        <p:tav tm="100000">
                                          <p:val>
                                            <p:strVal val="#ppt_x"/>
                                          </p:val>
                                        </p:tav>
                                      </p:tavLst>
                                    </p:anim>
                                    <p:animEffect transition="in" filter="wipe(right)">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descr="E:\曹飞\2017\2017-8-8地铁PPT\7.png7"/>
          <p:cNvPicPr>
            <a:picLocks noChangeAspect="1"/>
          </p:cNvPicPr>
          <p:nvPr/>
        </p:nvPicPr>
        <p:blipFill>
          <a:blip r:embed="rId1" cstate="email"/>
          <a:srcRect/>
          <a:stretch>
            <a:fillRect/>
          </a:stretch>
        </p:blipFill>
        <p:spPr>
          <a:xfrm>
            <a:off x="-6667" y="4477465"/>
            <a:ext cx="9168289" cy="668179"/>
          </a:xfrm>
          <a:prstGeom prst="rect">
            <a:avLst/>
          </a:prstGeom>
        </p:spPr>
      </p:pic>
      <p:pic>
        <p:nvPicPr>
          <p:cNvPr id="8" name="图片 7" descr="E:\曹飞\2017\2017-8-8地铁PPT\6.png6"/>
          <p:cNvPicPr>
            <a:picLocks noChangeAspect="1"/>
          </p:cNvPicPr>
          <p:nvPr/>
        </p:nvPicPr>
        <p:blipFill>
          <a:blip r:embed="rId2" cstate="email"/>
          <a:srcRect/>
          <a:stretch>
            <a:fillRect/>
          </a:stretch>
        </p:blipFill>
        <p:spPr>
          <a:xfrm>
            <a:off x="2261712" y="220902"/>
            <a:ext cx="6463189" cy="343376"/>
          </a:xfrm>
          <a:prstGeom prst="rect">
            <a:avLst/>
          </a:prstGeom>
        </p:spPr>
      </p:pic>
      <p:pic>
        <p:nvPicPr>
          <p:cNvPr id="9" name="图片 8"/>
          <p:cNvPicPr>
            <a:picLocks noChangeAspect="1"/>
          </p:cNvPicPr>
          <p:nvPr/>
        </p:nvPicPr>
        <p:blipFill>
          <a:blip r:embed="rId3"/>
          <a:stretch>
            <a:fillRect/>
          </a:stretch>
        </p:blipFill>
        <p:spPr>
          <a:xfrm>
            <a:off x="575945" y="297180"/>
            <a:ext cx="1685925" cy="419100"/>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sp>
        <p:nvSpPr>
          <p:cNvPr id="4" name="文本框 3"/>
          <p:cNvSpPr txBox="1"/>
          <p:nvPr/>
        </p:nvSpPr>
        <p:spPr>
          <a:xfrm>
            <a:off x="337185" y="892175"/>
            <a:ext cx="2413000" cy="368300"/>
          </a:xfrm>
          <a:prstGeom prst="rect">
            <a:avLst/>
          </a:prstGeom>
          <a:noFill/>
        </p:spPr>
        <p:txBody>
          <a:bodyPr wrap="square" rtlCol="0" anchor="t">
            <a:spAutoFit/>
          </a:bodyPr>
          <a:p>
            <a:pPr indent="409575"/>
            <a:r>
              <a:rPr lang="zh-CN">
                <a:latin typeface="黑体" panose="02010609060101010101" pitchFamily="49" charset="-122"/>
                <a:ea typeface="黑体" panose="02010609060101010101" pitchFamily="49" charset="-122"/>
                <a:sym typeface="+mn-ea"/>
              </a:rPr>
              <a:t>错误案例六：</a:t>
            </a:r>
            <a:endParaRPr lang="zh-CN">
              <a:latin typeface="黑体" panose="02010609060101010101" pitchFamily="49" charset="-122"/>
              <a:ea typeface="黑体" panose="02010609060101010101" pitchFamily="49" charset="-122"/>
            </a:endParaRPr>
          </a:p>
        </p:txBody>
      </p:sp>
      <p:pic>
        <p:nvPicPr>
          <p:cNvPr id="7" name="图片 6"/>
          <p:cNvPicPr>
            <a:picLocks noChangeAspect="1"/>
          </p:cNvPicPr>
          <p:nvPr/>
        </p:nvPicPr>
        <p:blipFill>
          <a:blip r:embed="rId4"/>
          <a:stretch>
            <a:fillRect/>
          </a:stretch>
        </p:blipFill>
        <p:spPr>
          <a:xfrm>
            <a:off x="1336040" y="1388745"/>
            <a:ext cx="6471920" cy="30886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par>
                                <p:cTn id="10" presetID="12" presetClass="entr" presetSubtype="8"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p:tgtEl>
                                          <p:spTgt spid="8"/>
                                        </p:tgtEl>
                                        <p:attrNameLst>
                                          <p:attrName>ppt_x</p:attrName>
                                        </p:attrNameLst>
                                      </p:cBhvr>
                                      <p:tavLst>
                                        <p:tav tm="0">
                                          <p:val>
                                            <p:strVal val="#ppt_x-#ppt_w*1.125000"/>
                                          </p:val>
                                        </p:tav>
                                        <p:tav tm="100000">
                                          <p:val>
                                            <p:strVal val="#ppt_x"/>
                                          </p:val>
                                        </p:tav>
                                      </p:tavLst>
                                    </p:anim>
                                    <p:animEffect transition="in" filter="wipe(right)">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 name="图片 7" descr="E:\曹飞\2017\2017-8-8地铁PPT\6.png6"/>
          <p:cNvPicPr>
            <a:picLocks noChangeAspect="1"/>
          </p:cNvPicPr>
          <p:nvPr/>
        </p:nvPicPr>
        <p:blipFill>
          <a:blip r:embed="rId1" cstate="email"/>
          <a:srcRect/>
          <a:stretch>
            <a:fillRect/>
          </a:stretch>
        </p:blipFill>
        <p:spPr>
          <a:xfrm>
            <a:off x="2261712" y="220902"/>
            <a:ext cx="6463189" cy="343376"/>
          </a:xfrm>
          <a:prstGeom prst="rect">
            <a:avLst/>
          </a:prstGeom>
        </p:spPr>
      </p:pic>
      <p:pic>
        <p:nvPicPr>
          <p:cNvPr id="9" name="图片 8"/>
          <p:cNvPicPr>
            <a:picLocks noChangeAspect="1"/>
          </p:cNvPicPr>
          <p:nvPr/>
        </p:nvPicPr>
        <p:blipFill>
          <a:blip r:embed="rId2"/>
          <a:stretch>
            <a:fillRect/>
          </a:stretch>
        </p:blipFill>
        <p:spPr>
          <a:xfrm>
            <a:off x="575945" y="297180"/>
            <a:ext cx="1685925" cy="419100"/>
          </a:xfrm>
          <a:prstGeom prst="rect">
            <a:avLst/>
          </a:prstGeom>
        </p:spPr>
      </p:pic>
      <p:pic>
        <p:nvPicPr>
          <p:cNvPr id="13" name="图片 12" descr="E:\曹飞\2017\2017-8-8地铁PPT\7.png7"/>
          <p:cNvPicPr>
            <a:picLocks noChangeAspect="1"/>
          </p:cNvPicPr>
          <p:nvPr/>
        </p:nvPicPr>
        <p:blipFill>
          <a:blip r:embed="rId3" cstate="email"/>
          <a:srcRect/>
          <a:stretch>
            <a:fillRect/>
          </a:stretch>
        </p:blipFill>
        <p:spPr>
          <a:xfrm>
            <a:off x="-6667" y="4477465"/>
            <a:ext cx="9168289" cy="668179"/>
          </a:xfrm>
          <a:prstGeom prst="rect">
            <a:avLst/>
          </a:prstGeom>
        </p:spPr>
      </p:pic>
      <p:sp>
        <p:nvSpPr>
          <p:cNvPr id="100" name="文本框 99"/>
          <p:cNvSpPr txBox="1"/>
          <p:nvPr/>
        </p:nvSpPr>
        <p:spPr>
          <a:xfrm>
            <a:off x="951230" y="3639820"/>
            <a:ext cx="6436360" cy="645160"/>
          </a:xfrm>
          <a:prstGeom prst="rect">
            <a:avLst/>
          </a:prstGeom>
          <a:noFill/>
          <a:ln w="9525">
            <a:noFill/>
          </a:ln>
        </p:spPr>
        <p:txBody>
          <a:bodyPr wrap="square">
            <a:spAutoFit/>
          </a:bodyPr>
          <a:p>
            <a:pPr indent="0"/>
            <a:r>
              <a:rPr lang="en-US" altLang="zh-CN" sz="1600" b="0">
                <a:latin typeface="Times New Roman" panose="02020603050405020304" pitchFamily="18" charset="0"/>
                <a:ea typeface="仿宋_GB2312" panose="02010609030101010101" pitchFamily="49" charset="-122"/>
              </a:rPr>
              <a:t>        </a:t>
            </a:r>
            <a:r>
              <a:rPr lang="zh-CN" b="0">
                <a:latin typeface="Times New Roman" panose="02020603050405020304" pitchFamily="18" charset="0"/>
                <a:ea typeface="仿宋_GB2312" panose="02010609030101010101" pitchFamily="49" charset="-122"/>
              </a:rPr>
              <a:t>发文流程不规范，未经总经理签发直接推送至综合管理部校对、编号环节。</a:t>
            </a:r>
            <a:endParaRPr lang="zh-CN" altLang="en-US"/>
          </a:p>
        </p:txBody>
      </p:sp>
      <p:pic>
        <p:nvPicPr>
          <p:cNvPr id="7" name="内容占位符 6"/>
          <p:cNvPicPr>
            <a:picLocks noChangeAspect="1"/>
          </p:cNvPicPr>
          <p:nvPr>
            <p:ph idx="1"/>
          </p:nvPr>
        </p:nvPicPr>
        <p:blipFill>
          <a:blip r:embed="rId4"/>
          <a:stretch>
            <a:fillRect/>
          </a:stretch>
        </p:blipFill>
        <p:spPr>
          <a:xfrm>
            <a:off x="457200" y="903605"/>
            <a:ext cx="8229600" cy="20923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right)">
                                      <p:cBhvr>
                                        <p:cTn id="8" dur="500"/>
                                        <p:tgtEl>
                                          <p:spTgt spid="8"/>
                                        </p:tgtEl>
                                      </p:cBhvr>
                                    </p:animEffect>
                                  </p:childTnLst>
                                </p:cTn>
                              </p:par>
                              <p:par>
                                <p:cTn id="9" presetID="42"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1000"/>
                                        <p:tgtEl>
                                          <p:spTgt spid="13"/>
                                        </p:tgtEl>
                                      </p:cBhvr>
                                    </p:animEffect>
                                    <p:anim calcmode="lin" valueType="num">
                                      <p:cBhvr>
                                        <p:cTn id="12" dur="1000" fill="hold"/>
                                        <p:tgtEl>
                                          <p:spTgt spid="13"/>
                                        </p:tgtEl>
                                        <p:attrNameLst>
                                          <p:attrName>ppt_x</p:attrName>
                                        </p:attrNameLst>
                                      </p:cBhvr>
                                      <p:tavLst>
                                        <p:tav tm="0">
                                          <p:val>
                                            <p:strVal val="#ppt_x"/>
                                          </p:val>
                                        </p:tav>
                                        <p:tav tm="100000">
                                          <p:val>
                                            <p:strVal val="#ppt_x"/>
                                          </p:val>
                                        </p:tav>
                                      </p:tavLst>
                                    </p:anim>
                                    <p:anim calcmode="lin" valueType="num">
                                      <p:cBhvr>
                                        <p:cTn id="13"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descr="E:\曹飞\2017\2017-8-8地铁PPT\7.png7"/>
          <p:cNvPicPr>
            <a:picLocks noChangeAspect="1"/>
          </p:cNvPicPr>
          <p:nvPr/>
        </p:nvPicPr>
        <p:blipFill>
          <a:blip r:embed="rId1" cstate="email"/>
          <a:srcRect/>
          <a:stretch>
            <a:fillRect/>
          </a:stretch>
        </p:blipFill>
        <p:spPr>
          <a:xfrm>
            <a:off x="-6667" y="4477465"/>
            <a:ext cx="9168289" cy="668179"/>
          </a:xfrm>
          <a:prstGeom prst="rect">
            <a:avLst/>
          </a:prstGeom>
        </p:spPr>
      </p:pic>
      <p:pic>
        <p:nvPicPr>
          <p:cNvPr id="9" name="图片 8"/>
          <p:cNvPicPr>
            <a:picLocks noChangeAspect="1"/>
          </p:cNvPicPr>
          <p:nvPr/>
        </p:nvPicPr>
        <p:blipFill>
          <a:blip r:embed="rId2"/>
          <a:stretch>
            <a:fillRect/>
          </a:stretch>
        </p:blipFill>
        <p:spPr>
          <a:xfrm>
            <a:off x="575945" y="297180"/>
            <a:ext cx="1685925" cy="419100"/>
          </a:xfrm>
          <a:prstGeom prst="rect">
            <a:avLst/>
          </a:prstGeom>
        </p:spPr>
      </p:pic>
      <p:pic>
        <p:nvPicPr>
          <p:cNvPr id="8" name="图片 7" descr="E:\曹飞\2017\2017-8-8地铁PPT\6.png6"/>
          <p:cNvPicPr>
            <a:picLocks noChangeAspect="1"/>
          </p:cNvPicPr>
          <p:nvPr/>
        </p:nvPicPr>
        <p:blipFill>
          <a:blip r:embed="rId3" cstate="email"/>
          <a:srcRect/>
          <a:stretch>
            <a:fillRect/>
          </a:stretch>
        </p:blipFill>
        <p:spPr>
          <a:xfrm>
            <a:off x="2261712" y="230427"/>
            <a:ext cx="6463189" cy="343376"/>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sp>
        <p:nvSpPr>
          <p:cNvPr id="4" name="文本框 3"/>
          <p:cNvSpPr txBox="1"/>
          <p:nvPr/>
        </p:nvSpPr>
        <p:spPr>
          <a:xfrm>
            <a:off x="337185" y="892175"/>
            <a:ext cx="2413000" cy="368300"/>
          </a:xfrm>
          <a:prstGeom prst="rect">
            <a:avLst/>
          </a:prstGeom>
          <a:noFill/>
        </p:spPr>
        <p:txBody>
          <a:bodyPr wrap="square" rtlCol="0" anchor="t">
            <a:spAutoFit/>
          </a:bodyPr>
          <a:p>
            <a:pPr indent="409575"/>
            <a:r>
              <a:rPr lang="zh-CN">
                <a:latin typeface="黑体" panose="02010609060101010101" pitchFamily="49" charset="-122"/>
                <a:ea typeface="黑体" panose="02010609060101010101" pitchFamily="49" charset="-122"/>
                <a:sym typeface="+mn-ea"/>
              </a:rPr>
              <a:t>错误案例七：</a:t>
            </a:r>
            <a:endParaRPr lang="zh-CN">
              <a:latin typeface="黑体" panose="02010609060101010101" pitchFamily="49" charset="-122"/>
              <a:ea typeface="黑体" panose="02010609060101010101" pitchFamily="49" charset="-122"/>
            </a:endParaRPr>
          </a:p>
        </p:txBody>
      </p:sp>
      <p:pic>
        <p:nvPicPr>
          <p:cNvPr id="5" name="图片 4" descr="8-1"/>
          <p:cNvPicPr>
            <a:picLocks noChangeAspect="1"/>
          </p:cNvPicPr>
          <p:nvPr/>
        </p:nvPicPr>
        <p:blipFill>
          <a:blip r:embed="rId4"/>
          <a:stretch>
            <a:fillRect/>
          </a:stretch>
        </p:blipFill>
        <p:spPr>
          <a:xfrm>
            <a:off x="1047115" y="1419860"/>
            <a:ext cx="3606165" cy="3268980"/>
          </a:xfrm>
          <a:prstGeom prst="rect">
            <a:avLst/>
          </a:prstGeom>
        </p:spPr>
      </p:pic>
      <p:sp>
        <p:nvSpPr>
          <p:cNvPr id="100" name="文本框 99"/>
          <p:cNvSpPr txBox="1"/>
          <p:nvPr/>
        </p:nvSpPr>
        <p:spPr>
          <a:xfrm>
            <a:off x="4869815" y="1522095"/>
            <a:ext cx="3588385" cy="3138170"/>
          </a:xfrm>
          <a:prstGeom prst="rect">
            <a:avLst/>
          </a:prstGeom>
          <a:noFill/>
          <a:ln w="9525">
            <a:noFill/>
          </a:ln>
        </p:spPr>
        <p:txBody>
          <a:bodyPr wrap="square">
            <a:spAutoFit/>
          </a:bodyPr>
          <a:p>
            <a:pPr indent="390525"/>
            <a:r>
              <a:rPr lang="en-US" altLang="zh-CN" b="0">
                <a:latin typeface="Times New Roman" panose="02020603050405020304" pitchFamily="18" charset="0"/>
                <a:ea typeface="仿宋_GB2312" panose="02010609030101010101" pitchFamily="49" charset="-122"/>
              </a:rPr>
              <a:t>1.</a:t>
            </a:r>
            <a:r>
              <a:rPr lang="zh-CN" b="0">
                <a:latin typeface="Times New Roman" panose="02020603050405020304" pitchFamily="18" charset="0"/>
                <a:ea typeface="仿宋_GB2312" panose="02010609030101010101" pitchFamily="49" charset="-122"/>
              </a:rPr>
              <a:t>正文无页码，应采用</a:t>
            </a:r>
            <a:r>
              <a:rPr lang="en-US" b="0">
                <a:latin typeface="Times New Roman" panose="02020603050405020304" pitchFamily="18" charset="0"/>
                <a:ea typeface="仿宋_GB2312" panose="02010609030101010101" pitchFamily="49" charset="-122"/>
              </a:rPr>
              <a:t>4</a:t>
            </a:r>
            <a:r>
              <a:rPr lang="zh-CN" b="0">
                <a:latin typeface="Times New Roman" panose="02020603050405020304" pitchFamily="18" charset="0"/>
                <a:ea typeface="仿宋_GB2312" panose="02010609030101010101" pitchFamily="49" charset="-122"/>
              </a:rPr>
              <a:t>号半角宋体阿拉伯数码标识，数码左右各放一条</a:t>
            </a:r>
            <a:r>
              <a:rPr lang="en-US" b="0">
                <a:latin typeface="Times New Roman" panose="02020603050405020304" pitchFamily="18" charset="0"/>
                <a:ea typeface="仿宋_GB2312" panose="02010609030101010101" pitchFamily="49" charset="-122"/>
              </a:rPr>
              <a:t>4</a:t>
            </a:r>
            <a:r>
              <a:rPr lang="zh-CN" b="0">
                <a:latin typeface="Times New Roman" panose="02020603050405020304" pitchFamily="18" charset="0"/>
                <a:ea typeface="仿宋_GB2312" panose="02010609030101010101" pitchFamily="49" charset="-122"/>
              </a:rPr>
              <a:t>号一字线，一字线距版心下边缘</a:t>
            </a:r>
            <a:r>
              <a:rPr lang="en-US" b="0">
                <a:latin typeface="Times New Roman" panose="02020603050405020304" pitchFamily="18" charset="0"/>
                <a:ea typeface="仿宋_GB2312" panose="02010609030101010101" pitchFamily="49" charset="-122"/>
              </a:rPr>
              <a:t>7mm</a:t>
            </a:r>
            <a:r>
              <a:rPr lang="zh-CN" b="0">
                <a:latin typeface="Times New Roman" panose="02020603050405020304" pitchFamily="18" charset="0"/>
                <a:ea typeface="仿宋_GB2312" panose="02010609030101010101" pitchFamily="49" charset="-122"/>
              </a:rPr>
              <a:t>。页码外侧对齐时，单页码居右空</a:t>
            </a:r>
            <a:r>
              <a:rPr lang="en-US" b="0">
                <a:latin typeface="Times New Roman" panose="02020603050405020304" pitchFamily="18" charset="0"/>
                <a:ea typeface="仿宋_GB2312" panose="02010609030101010101" pitchFamily="49" charset="-122"/>
              </a:rPr>
              <a:t>l</a:t>
            </a:r>
            <a:r>
              <a:rPr lang="zh-CN" b="0">
                <a:latin typeface="Times New Roman" panose="02020603050405020304" pitchFamily="18" charset="0"/>
                <a:ea typeface="仿宋_GB2312" panose="02010609030101010101" pitchFamily="49" charset="-122"/>
              </a:rPr>
              <a:t>字，双页码居左空</a:t>
            </a:r>
            <a:r>
              <a:rPr lang="en-US" b="0">
                <a:latin typeface="Times New Roman" panose="02020603050405020304" pitchFamily="18" charset="0"/>
                <a:ea typeface="仿宋_GB2312" panose="02010609030101010101" pitchFamily="49" charset="-122"/>
              </a:rPr>
              <a:t>l</a:t>
            </a:r>
            <a:r>
              <a:rPr lang="zh-CN" b="0">
                <a:latin typeface="Times New Roman" panose="02020603050405020304" pitchFamily="18" charset="0"/>
                <a:ea typeface="仿宋_GB2312" panose="02010609030101010101" pitchFamily="49" charset="-122"/>
              </a:rPr>
              <a:t>字，空白页和空白页以后的页不标识页码。</a:t>
            </a:r>
            <a:endParaRPr lang="zh-CN" b="0">
              <a:latin typeface="Times New Roman" panose="02020603050405020304" pitchFamily="18" charset="0"/>
              <a:ea typeface="仿宋_GB2312" panose="02010609030101010101" pitchFamily="49" charset="-122"/>
            </a:endParaRPr>
          </a:p>
          <a:p>
            <a:pPr indent="390525"/>
            <a:r>
              <a:rPr lang="en-US" altLang="zh-CN" b="0">
                <a:latin typeface="Times New Roman" panose="02020603050405020304" pitchFamily="18" charset="0"/>
                <a:ea typeface="仿宋_GB2312" panose="02010609030101010101" pitchFamily="49" charset="-122"/>
              </a:rPr>
              <a:t>2.</a:t>
            </a:r>
            <a:r>
              <a:rPr lang="zh-CN" b="0">
                <a:latin typeface="Times New Roman" panose="02020603050405020304" pitchFamily="18" charset="0"/>
                <a:ea typeface="仿宋_GB2312" panose="02010609030101010101" pitchFamily="49" charset="-122"/>
              </a:rPr>
              <a:t>存在落款日期与正文空行、日期右空字符不正确问题，落款日期应右空</a:t>
            </a:r>
            <a:r>
              <a:rPr lang="en-US" b="0">
                <a:latin typeface="Times New Roman" panose="02020603050405020304" pitchFamily="18" charset="0"/>
                <a:ea typeface="仿宋_GB2312" panose="02010609030101010101" pitchFamily="49" charset="-122"/>
              </a:rPr>
              <a:t>4</a:t>
            </a:r>
            <a:r>
              <a:rPr lang="zh-CN" b="0">
                <a:latin typeface="Times New Roman" panose="02020603050405020304" pitchFamily="18" charset="0"/>
                <a:ea typeface="仿宋_GB2312" panose="02010609030101010101" pitchFamily="49" charset="-122"/>
              </a:rPr>
              <a:t>个字，落款名称在成文日期之上居中编排。</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par>
                                <p:cTn id="10" presetID="12" presetClass="entr" presetSubtype="8"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p:tgtEl>
                                          <p:spTgt spid="8"/>
                                        </p:tgtEl>
                                        <p:attrNameLst>
                                          <p:attrName>ppt_x</p:attrName>
                                        </p:attrNameLst>
                                      </p:cBhvr>
                                      <p:tavLst>
                                        <p:tav tm="0">
                                          <p:val>
                                            <p:strVal val="#ppt_x-#ppt_w*1.125000"/>
                                          </p:val>
                                        </p:tav>
                                        <p:tav tm="100000">
                                          <p:val>
                                            <p:strVal val="#ppt_x"/>
                                          </p:val>
                                        </p:tav>
                                      </p:tavLst>
                                    </p:anim>
                                    <p:animEffect transition="in" filter="wipe(right)">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descr="E:\曹飞\2017\2017-8-8地铁PPT\7.png7"/>
          <p:cNvPicPr>
            <a:picLocks noChangeAspect="1"/>
          </p:cNvPicPr>
          <p:nvPr/>
        </p:nvPicPr>
        <p:blipFill>
          <a:blip r:embed="rId1" cstate="email"/>
          <a:srcRect/>
          <a:stretch>
            <a:fillRect/>
          </a:stretch>
        </p:blipFill>
        <p:spPr>
          <a:xfrm>
            <a:off x="-6667" y="4477465"/>
            <a:ext cx="9168289" cy="668179"/>
          </a:xfrm>
          <a:prstGeom prst="rect">
            <a:avLst/>
          </a:prstGeom>
        </p:spPr>
      </p:pic>
      <p:pic>
        <p:nvPicPr>
          <p:cNvPr id="8" name="图片 7" descr="E:\曹飞\2017\2017-8-8地铁PPT\6.png6"/>
          <p:cNvPicPr>
            <a:picLocks noChangeAspect="1"/>
          </p:cNvPicPr>
          <p:nvPr/>
        </p:nvPicPr>
        <p:blipFill>
          <a:blip r:embed="rId2" cstate="email"/>
          <a:srcRect/>
          <a:stretch>
            <a:fillRect/>
          </a:stretch>
        </p:blipFill>
        <p:spPr>
          <a:xfrm>
            <a:off x="2261712" y="230427"/>
            <a:ext cx="6463189" cy="343376"/>
          </a:xfrm>
          <a:prstGeom prst="rect">
            <a:avLst/>
          </a:prstGeom>
        </p:spPr>
      </p:pic>
      <p:pic>
        <p:nvPicPr>
          <p:cNvPr id="9" name="图片 8"/>
          <p:cNvPicPr>
            <a:picLocks noChangeAspect="1"/>
          </p:cNvPicPr>
          <p:nvPr/>
        </p:nvPicPr>
        <p:blipFill>
          <a:blip r:embed="rId3"/>
          <a:stretch>
            <a:fillRect/>
          </a:stretch>
        </p:blipFill>
        <p:spPr>
          <a:xfrm>
            <a:off x="575945" y="297180"/>
            <a:ext cx="1685925" cy="419100"/>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sp>
        <p:nvSpPr>
          <p:cNvPr id="4" name="文本框 3"/>
          <p:cNvSpPr txBox="1"/>
          <p:nvPr/>
        </p:nvSpPr>
        <p:spPr>
          <a:xfrm>
            <a:off x="337185" y="892175"/>
            <a:ext cx="2413000" cy="368300"/>
          </a:xfrm>
          <a:prstGeom prst="rect">
            <a:avLst/>
          </a:prstGeom>
          <a:noFill/>
        </p:spPr>
        <p:txBody>
          <a:bodyPr wrap="square" rtlCol="0" anchor="t">
            <a:spAutoFit/>
          </a:bodyPr>
          <a:p>
            <a:pPr indent="409575"/>
            <a:r>
              <a:rPr lang="zh-CN">
                <a:latin typeface="黑体" panose="02010609060101010101" pitchFamily="49" charset="-122"/>
                <a:ea typeface="黑体" panose="02010609060101010101" pitchFamily="49" charset="-122"/>
                <a:sym typeface="+mn-ea"/>
              </a:rPr>
              <a:t>错误案例八：</a:t>
            </a:r>
            <a:endParaRPr lang="zh-CN">
              <a:latin typeface="黑体" panose="02010609060101010101" pitchFamily="49" charset="-122"/>
              <a:ea typeface="黑体" panose="02010609060101010101" pitchFamily="49" charset="-122"/>
            </a:endParaRPr>
          </a:p>
        </p:txBody>
      </p:sp>
      <p:pic>
        <p:nvPicPr>
          <p:cNvPr id="6" name="图片 5"/>
          <p:cNvPicPr>
            <a:picLocks noChangeAspect="1"/>
          </p:cNvPicPr>
          <p:nvPr/>
        </p:nvPicPr>
        <p:blipFill>
          <a:blip r:embed="rId4"/>
          <a:stretch>
            <a:fillRect/>
          </a:stretch>
        </p:blipFill>
        <p:spPr>
          <a:xfrm>
            <a:off x="1569720" y="1326515"/>
            <a:ext cx="5665470" cy="2190115"/>
          </a:xfrm>
          <a:prstGeom prst="rect">
            <a:avLst/>
          </a:prstGeom>
        </p:spPr>
      </p:pic>
      <p:sp>
        <p:nvSpPr>
          <p:cNvPr id="100" name="文本框 99"/>
          <p:cNvSpPr txBox="1"/>
          <p:nvPr/>
        </p:nvSpPr>
        <p:spPr>
          <a:xfrm>
            <a:off x="1569720" y="3624898"/>
            <a:ext cx="5080000" cy="337185"/>
          </a:xfrm>
          <a:prstGeom prst="rect">
            <a:avLst/>
          </a:prstGeom>
          <a:noFill/>
          <a:ln w="9525">
            <a:noFill/>
          </a:ln>
        </p:spPr>
        <p:txBody>
          <a:bodyPr>
            <a:spAutoFit/>
          </a:bodyPr>
          <a:p>
            <a:pPr indent="394970"/>
            <a:r>
              <a:rPr lang="zh-CN" sz="1600" b="0">
                <a:latin typeface="Times New Roman" panose="02020603050405020304" pitchFamily="18" charset="0"/>
                <a:ea typeface="仿宋_GB2312" panose="02010609030101010101" pitchFamily="49" charset="-122"/>
              </a:rPr>
              <a:t>附件无页码，附件页码格式应与正文页码格式相同。</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par>
                                <p:cTn id="10" presetID="12" presetClass="entr" presetSubtype="8"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p:tgtEl>
                                          <p:spTgt spid="8"/>
                                        </p:tgtEl>
                                        <p:attrNameLst>
                                          <p:attrName>ppt_x</p:attrName>
                                        </p:attrNameLst>
                                      </p:cBhvr>
                                      <p:tavLst>
                                        <p:tav tm="0">
                                          <p:val>
                                            <p:strVal val="#ppt_x-#ppt_w*1.125000"/>
                                          </p:val>
                                        </p:tav>
                                        <p:tav tm="100000">
                                          <p:val>
                                            <p:strVal val="#ppt_x"/>
                                          </p:val>
                                        </p:tav>
                                      </p:tavLst>
                                    </p:anim>
                                    <p:animEffect transition="in" filter="wipe(right)">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1872152" y="1756528"/>
            <a:ext cx="5410663" cy="500137"/>
          </a:xfrm>
          <a:prstGeom prst="rect">
            <a:avLst/>
          </a:prstGeom>
          <a:noFill/>
        </p:spPr>
        <p:txBody>
          <a:bodyPr wrap="square" lIns="68580" tIns="34290" rIns="68580" bIns="34290" rtlCol="0">
            <a:spAutoFit/>
          </a:bodyPr>
          <a:lstStyle/>
          <a:p>
            <a:pPr algn="ctr"/>
            <a:r>
              <a:rPr lang="zh-CN" altLang="en-US" sz="2800" b="1" dirty="0" smtClean="0">
                <a:solidFill>
                  <a:srgbClr val="C09D3C"/>
                </a:solidFill>
                <a:latin typeface="微软雅黑" panose="020B0503020204020204" charset="-122"/>
                <a:ea typeface="微软雅黑" panose="020B0503020204020204" charset="-122"/>
                <a:sym typeface="+mn-ea"/>
              </a:rPr>
              <a:t>写作经验及工作体会</a:t>
            </a:r>
            <a:endParaRPr lang="zh-CN" altLang="en-US" sz="2800" b="1" dirty="0" smtClean="0">
              <a:solidFill>
                <a:srgbClr val="C09D3C"/>
              </a:solidFill>
              <a:latin typeface="微软雅黑" panose="020B0503020204020204" charset="-122"/>
              <a:ea typeface="微软雅黑" panose="020B0503020204020204" charset="-122"/>
              <a:sym typeface="+mn-ea"/>
            </a:endParaRPr>
          </a:p>
        </p:txBody>
      </p:sp>
      <p:pic>
        <p:nvPicPr>
          <p:cNvPr id="4" name="图片 3" descr="E:\曹飞\2017\2017-8-8地铁PPT\6.png6"/>
          <p:cNvPicPr>
            <a:picLocks noChangeAspect="1"/>
          </p:cNvPicPr>
          <p:nvPr/>
        </p:nvPicPr>
        <p:blipFill>
          <a:blip r:embed="rId1" cstate="email"/>
          <a:srcRect/>
          <a:stretch>
            <a:fillRect/>
          </a:stretch>
        </p:blipFill>
        <p:spPr>
          <a:xfrm>
            <a:off x="2261712" y="239317"/>
            <a:ext cx="6463189" cy="343376"/>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pic>
        <p:nvPicPr>
          <p:cNvPr id="13" name="图片 12" descr="E:\曹飞\2017\2017-8-8地铁PPT\7.png7"/>
          <p:cNvPicPr>
            <a:picLocks noChangeAspect="1"/>
          </p:cNvPicPr>
          <p:nvPr/>
        </p:nvPicPr>
        <p:blipFill>
          <a:blip r:embed="rId2" cstate="email"/>
          <a:srcRect/>
          <a:stretch>
            <a:fillRect/>
          </a:stretch>
        </p:blipFill>
        <p:spPr>
          <a:xfrm>
            <a:off x="-6667" y="4477465"/>
            <a:ext cx="9168289" cy="668179"/>
          </a:xfrm>
          <a:prstGeom prst="rect">
            <a:avLst/>
          </a:prstGeom>
        </p:spPr>
      </p:pic>
      <p:sp>
        <p:nvSpPr>
          <p:cNvPr id="5" name="矩形 4"/>
          <p:cNvSpPr/>
          <p:nvPr/>
        </p:nvSpPr>
        <p:spPr>
          <a:xfrm>
            <a:off x="1084421" y="1292647"/>
            <a:ext cx="6975158" cy="1135087"/>
          </a:xfrm>
          <a:prstGeom prst="rect">
            <a:avLst/>
          </a:prstGeom>
          <a:noFill/>
          <a:ln w="50800" cmpd="thickThin">
            <a:solidFill>
              <a:srgbClr val="C09D3C"/>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6" name="矩形 5"/>
          <p:cNvSpPr/>
          <p:nvPr/>
        </p:nvSpPr>
        <p:spPr>
          <a:xfrm rot="2700000">
            <a:off x="4243864" y="964034"/>
            <a:ext cx="656273" cy="656273"/>
          </a:xfrm>
          <a:prstGeom prst="rect">
            <a:avLst/>
          </a:prstGeom>
          <a:solidFill>
            <a:srgbClr val="C09D3C"/>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7" name="文本框 6"/>
          <p:cNvSpPr txBox="1"/>
          <p:nvPr/>
        </p:nvSpPr>
        <p:spPr>
          <a:xfrm>
            <a:off x="4322445" y="940222"/>
            <a:ext cx="510064" cy="557973"/>
          </a:xfrm>
          <a:prstGeom prst="rect">
            <a:avLst/>
          </a:prstGeom>
          <a:noFill/>
        </p:spPr>
        <p:txBody>
          <a:bodyPr wrap="square" lIns="68580" tIns="34290" rIns="68580" bIns="34290" rtlCol="0">
            <a:spAutoFit/>
          </a:bodyPr>
          <a:lstStyle/>
          <a:p>
            <a:pPr algn="ctr">
              <a:lnSpc>
                <a:spcPct val="150000"/>
              </a:lnSpc>
            </a:pPr>
            <a:r>
              <a:rPr lang="zh-CN" altLang="en-US" sz="2400" b="1" dirty="0" smtClean="0">
                <a:solidFill>
                  <a:schemeClr val="bg1"/>
                </a:solidFill>
                <a:latin typeface="微软雅黑" panose="020B0503020204020204" charset="-122"/>
                <a:ea typeface="微软雅黑" panose="020B0503020204020204" charset="-122"/>
                <a:sym typeface="+mn-ea"/>
              </a:rPr>
              <a:t>四</a:t>
            </a:r>
            <a:endParaRPr lang="zh-CN" altLang="en-US" sz="2400" b="1" dirty="0">
              <a:solidFill>
                <a:schemeClr val="bg1"/>
              </a:solidFill>
              <a:latin typeface="微软雅黑" panose="020B0503020204020204" charset="-122"/>
              <a:ea typeface="微软雅黑" panose="020B0503020204020204" charset="-122"/>
              <a:sym typeface="+mn-ea"/>
            </a:endParaRPr>
          </a:p>
        </p:txBody>
      </p:sp>
      <p:pic>
        <p:nvPicPr>
          <p:cNvPr id="9" name="图片 8"/>
          <p:cNvPicPr>
            <a:picLocks noChangeAspect="1"/>
          </p:cNvPicPr>
          <p:nvPr/>
        </p:nvPicPr>
        <p:blipFill>
          <a:blip r:embed="rId3"/>
          <a:stretch>
            <a:fillRect/>
          </a:stretch>
        </p:blipFill>
        <p:spPr>
          <a:xfrm>
            <a:off x="575945" y="297180"/>
            <a:ext cx="1685925" cy="4191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prism dir="u"/>
      </p:transition>
    </mc:Choice>
    <mc:Fallback>
      <p:transition>
        <p:fade/>
      </p:transition>
    </mc:Fallback>
  </mc:AlternateContent>
  <p:timing>
    <p:tnLst>
      <p:par>
        <p:cTn id="1" dur="indefinite" restart="never" nodeType="tmRoot"/>
      </p:par>
    </p:tnLst>
    <p:bldLst>
      <p:bldP spid="14"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descr="E:\曹飞\2017\2017-8-8地铁PPT\7.png7"/>
          <p:cNvPicPr>
            <a:picLocks noChangeAspect="1"/>
          </p:cNvPicPr>
          <p:nvPr/>
        </p:nvPicPr>
        <p:blipFill>
          <a:blip r:embed="rId1" cstate="email"/>
          <a:srcRect/>
          <a:stretch>
            <a:fillRect/>
          </a:stretch>
        </p:blipFill>
        <p:spPr>
          <a:xfrm>
            <a:off x="-6667" y="4477465"/>
            <a:ext cx="9168289" cy="668179"/>
          </a:xfrm>
          <a:prstGeom prst="rect">
            <a:avLst/>
          </a:prstGeom>
        </p:spPr>
      </p:pic>
      <p:pic>
        <p:nvPicPr>
          <p:cNvPr id="8" name="图片 7" descr="E:\曹飞\2017\2017-8-8地铁PPT\6.png6"/>
          <p:cNvPicPr>
            <a:picLocks noChangeAspect="1"/>
          </p:cNvPicPr>
          <p:nvPr/>
        </p:nvPicPr>
        <p:blipFill>
          <a:blip r:embed="rId2" cstate="email"/>
          <a:srcRect/>
          <a:stretch>
            <a:fillRect/>
          </a:stretch>
        </p:blipFill>
        <p:spPr>
          <a:xfrm>
            <a:off x="2261712" y="230427"/>
            <a:ext cx="6463189" cy="343376"/>
          </a:xfrm>
          <a:prstGeom prst="rect">
            <a:avLst/>
          </a:prstGeom>
        </p:spPr>
      </p:pic>
      <p:pic>
        <p:nvPicPr>
          <p:cNvPr id="9" name="图片 8"/>
          <p:cNvPicPr>
            <a:picLocks noChangeAspect="1"/>
          </p:cNvPicPr>
          <p:nvPr/>
        </p:nvPicPr>
        <p:blipFill>
          <a:blip r:embed="rId3"/>
          <a:stretch>
            <a:fillRect/>
          </a:stretch>
        </p:blipFill>
        <p:spPr>
          <a:xfrm>
            <a:off x="575945" y="297180"/>
            <a:ext cx="1685925" cy="419100"/>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sp>
        <p:nvSpPr>
          <p:cNvPr id="2" name="文本框 1"/>
          <p:cNvSpPr txBox="1"/>
          <p:nvPr/>
        </p:nvSpPr>
        <p:spPr>
          <a:xfrm>
            <a:off x="1414780" y="1398905"/>
            <a:ext cx="6181090" cy="460375"/>
          </a:xfrm>
          <a:prstGeom prst="rect">
            <a:avLst/>
          </a:prstGeom>
          <a:noFill/>
        </p:spPr>
        <p:txBody>
          <a:bodyPr wrap="square" rtlCol="0">
            <a:spAutoFit/>
          </a:bodyPr>
          <a:p>
            <a:r>
              <a:rPr lang="en-US" altLang="zh-CN" sz="2400" dirty="0">
                <a:solidFill>
                  <a:schemeClr val="bg1"/>
                </a:solidFill>
                <a:latin typeface="Impact" panose="020B0806030902050204" pitchFamily="34" charset="0"/>
              </a:rPr>
              <a:t>确格式，清楚要求和关键点。</a:t>
            </a:r>
            <a:endParaRPr lang="en-US" altLang="zh-CN" sz="2400" dirty="0">
              <a:solidFill>
                <a:schemeClr val="bg1"/>
              </a:solidFill>
              <a:latin typeface="Impact" panose="020B0806030902050204" pitchFamily="34" charset="0"/>
            </a:endParaRPr>
          </a:p>
        </p:txBody>
      </p:sp>
      <p:sp>
        <p:nvSpPr>
          <p:cNvPr id="7" name="文本框 6"/>
          <p:cNvSpPr txBox="1"/>
          <p:nvPr/>
        </p:nvSpPr>
        <p:spPr>
          <a:xfrm>
            <a:off x="3302000" y="2156460"/>
            <a:ext cx="2540000" cy="829945"/>
          </a:xfrm>
          <a:prstGeom prst="rect">
            <a:avLst/>
          </a:prstGeom>
          <a:noFill/>
        </p:spPr>
        <p:txBody>
          <a:bodyPr wrap="square" rtlCol="0" anchor="t">
            <a:spAutoFit/>
          </a:bodyPr>
          <a:p>
            <a:r>
              <a:rPr lang="en-US" altLang="zh-CN" sz="2400" dirty="0">
                <a:solidFill>
                  <a:schemeClr val="bg1"/>
                </a:solidFill>
                <a:latin typeface="Impact" panose="020B0806030902050204" pitchFamily="34" charset="0"/>
              </a:rPr>
              <a:t>明确格式，清楚要求和关键点。</a:t>
            </a:r>
            <a:endParaRPr lang="en-US" altLang="zh-CN" sz="2400" dirty="0">
              <a:solidFill>
                <a:schemeClr val="bg1"/>
              </a:solidFill>
              <a:latin typeface="Impact" panose="020B0806030902050204" pitchFamily="34" charset="0"/>
            </a:endParaRPr>
          </a:p>
        </p:txBody>
      </p:sp>
      <p:sp>
        <p:nvSpPr>
          <p:cNvPr id="3" name="文本框 2"/>
          <p:cNvSpPr txBox="1"/>
          <p:nvPr/>
        </p:nvSpPr>
        <p:spPr>
          <a:xfrm>
            <a:off x="1096645" y="1682750"/>
            <a:ext cx="5751195" cy="1753235"/>
          </a:xfrm>
          <a:prstGeom prst="rect">
            <a:avLst/>
          </a:prstGeom>
          <a:noFill/>
        </p:spPr>
        <p:txBody>
          <a:bodyPr wrap="square" rtlCol="0">
            <a:spAutoFit/>
          </a:bodyPr>
          <a:p>
            <a:r>
              <a:rPr lang="en-US" altLang="zh-CN" dirty="0">
                <a:solidFill>
                  <a:schemeClr val="tx1"/>
                </a:solidFill>
                <a:latin typeface="仿宋_GB2312" panose="02010609030101010101" pitchFamily="49" charset="-122"/>
                <a:ea typeface="仿宋_GB2312" panose="02010609030101010101" pitchFamily="49" charset="-122"/>
                <a:cs typeface="仿宋_GB2312" panose="02010609030101010101" pitchFamily="49" charset="-122"/>
              </a:rPr>
              <a:t>1.明确格式，清楚要求和关键点。</a:t>
            </a:r>
            <a:endParaRPr lang="en-US" altLang="zh-CN" dirty="0">
              <a:solidFill>
                <a:schemeClr val="tx1"/>
              </a:solidFill>
              <a:latin typeface="仿宋_GB2312" panose="02010609030101010101" pitchFamily="49" charset="-122"/>
              <a:ea typeface="仿宋_GB2312" panose="02010609030101010101" pitchFamily="49" charset="-122"/>
              <a:cs typeface="仿宋_GB2312" panose="02010609030101010101" pitchFamily="49" charset="-122"/>
            </a:endParaRPr>
          </a:p>
          <a:p>
            <a:r>
              <a:rPr lang="en-US" altLang="zh-CN" dirty="0">
                <a:latin typeface="仿宋_GB2312" panose="02010609030101010101" pitchFamily="49" charset="-122"/>
                <a:ea typeface="仿宋_GB2312" panose="02010609030101010101" pitchFamily="49" charset="-122"/>
                <a:cs typeface="仿宋_GB2312" panose="02010609030101010101" pitchFamily="49" charset="-122"/>
                <a:sym typeface="+mn-ea"/>
              </a:rPr>
              <a:t>2.</a:t>
            </a:r>
            <a:r>
              <a:rPr lang="en-US" altLang="zh-CN" dirty="0">
                <a:solidFill>
                  <a:schemeClr val="tx1"/>
                </a:solidFill>
                <a:latin typeface="仿宋_GB2312" panose="02010609030101010101" pitchFamily="49" charset="-122"/>
                <a:ea typeface="仿宋_GB2312" panose="02010609030101010101" pitchFamily="49" charset="-122"/>
                <a:cs typeface="仿宋_GB2312" panose="02010609030101010101" pitchFamily="49" charset="-122"/>
              </a:rPr>
              <a:t>充实内容（素材），进行累积和筛选。</a:t>
            </a:r>
            <a:endParaRPr lang="en-US" altLang="zh-CN" dirty="0">
              <a:solidFill>
                <a:schemeClr val="tx1"/>
              </a:solidFill>
              <a:latin typeface="仿宋_GB2312" panose="02010609030101010101" pitchFamily="49" charset="-122"/>
              <a:ea typeface="仿宋_GB2312" panose="02010609030101010101" pitchFamily="49" charset="-122"/>
              <a:cs typeface="仿宋_GB2312" panose="02010609030101010101" pitchFamily="49" charset="-122"/>
            </a:endParaRPr>
          </a:p>
          <a:p>
            <a:r>
              <a:rPr lang="en-US" altLang="zh-CN" dirty="0">
                <a:solidFill>
                  <a:schemeClr val="tx1"/>
                </a:solidFill>
                <a:latin typeface="仿宋_GB2312" panose="02010609030101010101" pitchFamily="49" charset="-122"/>
                <a:ea typeface="仿宋_GB2312" panose="02010609030101010101" pitchFamily="49" charset="-122"/>
                <a:cs typeface="仿宋_GB2312" panose="02010609030101010101" pitchFamily="49" charset="-122"/>
              </a:rPr>
              <a:t>3.去糟取精，修改和完善。</a:t>
            </a:r>
            <a:endParaRPr lang="en-US" altLang="zh-CN" dirty="0">
              <a:solidFill>
                <a:schemeClr val="tx1"/>
              </a:solidFill>
              <a:latin typeface="仿宋_GB2312" panose="02010609030101010101" pitchFamily="49" charset="-122"/>
              <a:ea typeface="仿宋_GB2312" panose="02010609030101010101" pitchFamily="49" charset="-122"/>
              <a:cs typeface="仿宋_GB2312" panose="02010609030101010101" pitchFamily="49" charset="-122"/>
            </a:endParaRPr>
          </a:p>
          <a:p>
            <a:r>
              <a:rPr lang="en-US" altLang="zh-CN" dirty="0">
                <a:solidFill>
                  <a:schemeClr val="tx1"/>
                </a:solidFill>
                <a:latin typeface="仿宋_GB2312" panose="02010609030101010101" pitchFamily="49" charset="-122"/>
                <a:ea typeface="仿宋_GB2312" panose="02010609030101010101" pitchFamily="49" charset="-122"/>
                <a:cs typeface="仿宋_GB2312" panose="02010609030101010101" pitchFamily="49" charset="-122"/>
              </a:rPr>
              <a:t>4.全文通读，定稿和审阅。</a:t>
            </a:r>
            <a:endParaRPr lang="en-US" altLang="zh-CN" dirty="0">
              <a:solidFill>
                <a:schemeClr val="tx1"/>
              </a:solidFill>
              <a:latin typeface="仿宋_GB2312" panose="02010609030101010101" pitchFamily="49" charset="-122"/>
              <a:ea typeface="仿宋_GB2312" panose="02010609030101010101" pitchFamily="49" charset="-122"/>
              <a:cs typeface="仿宋_GB2312" panose="02010609030101010101" pitchFamily="49" charset="-122"/>
            </a:endParaRPr>
          </a:p>
          <a:p>
            <a:endParaRPr lang="en-US" altLang="zh-CN" dirty="0">
              <a:solidFill>
                <a:schemeClr val="tx1"/>
              </a:solidFill>
              <a:latin typeface="仿宋_GB2312" panose="02010609030101010101" pitchFamily="49" charset="-122"/>
              <a:ea typeface="仿宋_GB2312" panose="02010609030101010101" pitchFamily="49" charset="-122"/>
              <a:cs typeface="仿宋_GB2312" panose="02010609030101010101" pitchFamily="49" charset="-122"/>
            </a:endParaRPr>
          </a:p>
          <a:p>
            <a:r>
              <a:rPr lang="zh-CN" altLang="en-US" dirty="0">
                <a:solidFill>
                  <a:schemeClr val="bg1"/>
                </a:solidFill>
                <a:latin typeface="仿宋_GB2312" panose="02010609030101010101" pitchFamily="49" charset="-122"/>
                <a:ea typeface="仿宋_GB2312" panose="02010609030101010101" pitchFamily="49" charset="-122"/>
                <a:cs typeface="仿宋_GB2312" panose="02010609030101010101" pitchFamily="49" charset="-122"/>
              </a:rPr>
              <a:t>容（素材），进行累积和筛选。</a:t>
            </a:r>
            <a:endParaRPr lang="zh-CN" altLang="en-US" dirty="0">
              <a:solidFill>
                <a:schemeClr val="bg1"/>
              </a:solidFill>
              <a:latin typeface="仿宋_GB2312" panose="02010609030101010101" pitchFamily="49" charset="-122"/>
              <a:ea typeface="仿宋_GB2312" panose="02010609030101010101" pitchFamily="49" charset="-122"/>
              <a:cs typeface="仿宋_GB2312" panose="0201060903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par>
                                <p:cTn id="10" presetID="12" presetClass="entr" presetSubtype="8"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p:tgtEl>
                                          <p:spTgt spid="8"/>
                                        </p:tgtEl>
                                        <p:attrNameLst>
                                          <p:attrName>ppt_x</p:attrName>
                                        </p:attrNameLst>
                                      </p:cBhvr>
                                      <p:tavLst>
                                        <p:tav tm="0">
                                          <p:val>
                                            <p:strVal val="#ppt_x-#ppt_w*1.125000"/>
                                          </p:val>
                                        </p:tav>
                                        <p:tav tm="100000">
                                          <p:val>
                                            <p:strVal val="#ppt_x"/>
                                          </p:val>
                                        </p:tav>
                                      </p:tavLst>
                                    </p:anim>
                                    <p:animEffect transition="in" filter="wipe(right)">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E:\曹飞\2017\2017-8-8地铁PPT\logo.pnglogo"/>
          <p:cNvPicPr>
            <a:picLocks noChangeAspect="1"/>
          </p:cNvPicPr>
          <p:nvPr/>
        </p:nvPicPr>
        <p:blipFill>
          <a:blip r:embed="rId1" cstate="email"/>
          <a:srcRect/>
          <a:stretch>
            <a:fillRect/>
          </a:stretch>
        </p:blipFill>
        <p:spPr>
          <a:xfrm>
            <a:off x="515542" y="257175"/>
            <a:ext cx="1633061" cy="385763"/>
          </a:xfrm>
          <a:prstGeom prst="rect">
            <a:avLst/>
          </a:prstGeom>
        </p:spPr>
      </p:pic>
      <p:pic>
        <p:nvPicPr>
          <p:cNvPr id="8" name="图片 7" descr="E:\曹飞\2017\2017-8-8地铁PPT\6.png6"/>
          <p:cNvPicPr>
            <a:picLocks noChangeAspect="1"/>
          </p:cNvPicPr>
          <p:nvPr/>
        </p:nvPicPr>
        <p:blipFill>
          <a:blip r:embed="rId2" cstate="email"/>
          <a:srcRect/>
          <a:stretch>
            <a:fillRect/>
          </a:stretch>
        </p:blipFill>
        <p:spPr>
          <a:xfrm>
            <a:off x="2261712" y="239317"/>
            <a:ext cx="6463189" cy="343376"/>
          </a:xfrm>
          <a:prstGeom prst="rect">
            <a:avLst/>
          </a:prstGeom>
        </p:spPr>
      </p:pic>
      <p:sp>
        <p:nvSpPr>
          <p:cNvPr id="14" name="文本框 13"/>
          <p:cNvSpPr txBox="1"/>
          <p:nvPr/>
        </p:nvSpPr>
        <p:spPr>
          <a:xfrm>
            <a:off x="5744052" y="220980"/>
            <a:ext cx="2200751" cy="252889"/>
          </a:xfrm>
          <a:prstGeom prst="rect">
            <a:avLst/>
          </a:prstGeom>
          <a:noFill/>
        </p:spPr>
        <p:txBody>
          <a:bodyPr wrap="square" lIns="68580" tIns="34290" rIns="68580" bIns="34290" rtlCol="0">
            <a:spAutoFit/>
          </a:bodyPr>
          <a:lstStyle/>
          <a:p>
            <a:pPr algn="r"/>
            <a:r>
              <a:rPr lang="zh-CN" altLang="en-US" sz="1200" b="1" dirty="0" smtClean="0">
                <a:solidFill>
                  <a:srgbClr val="C09D3C"/>
                </a:solidFill>
                <a:latin typeface="微软雅黑" panose="020B0503020204020204" charset="-122"/>
                <a:ea typeface="微软雅黑" panose="020B0503020204020204" charset="-122"/>
              </a:rPr>
              <a:t>公文培训</a:t>
            </a:r>
            <a:endParaRPr lang="zh-CN" altLang="en-US" sz="1200" b="1" dirty="0">
              <a:solidFill>
                <a:srgbClr val="C09D3C"/>
              </a:solidFill>
              <a:latin typeface="微软雅黑" panose="020B0503020204020204" charset="-122"/>
              <a:ea typeface="微软雅黑" panose="020B0503020204020204" charset="-122"/>
            </a:endParaRPr>
          </a:p>
        </p:txBody>
      </p:sp>
      <p:pic>
        <p:nvPicPr>
          <p:cNvPr id="13" name="图片 12" descr="E:\曹飞\2017\2017-8-8地铁PPT\7.png7"/>
          <p:cNvPicPr>
            <a:picLocks noChangeAspect="1"/>
          </p:cNvPicPr>
          <p:nvPr/>
        </p:nvPicPr>
        <p:blipFill>
          <a:blip r:embed="rId3" cstate="email"/>
          <a:srcRect/>
          <a:stretch>
            <a:fillRect/>
          </a:stretch>
        </p:blipFill>
        <p:spPr>
          <a:xfrm>
            <a:off x="-6667" y="4477465"/>
            <a:ext cx="9168289" cy="668179"/>
          </a:xfrm>
          <a:prstGeom prst="rect">
            <a:avLst/>
          </a:prstGeom>
        </p:spPr>
      </p:pic>
      <p:sp>
        <p:nvSpPr>
          <p:cNvPr id="41" name="Text Box 2"/>
          <p:cNvSpPr txBox="1">
            <a:spLocks noChangeArrowheads="1"/>
          </p:cNvSpPr>
          <p:nvPr/>
        </p:nvSpPr>
        <p:spPr bwMode="auto">
          <a:xfrm>
            <a:off x="755576" y="1851670"/>
            <a:ext cx="7866134" cy="12220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342900" algn="ctr" eaLnBrk="1" hangingPunct="1">
              <a:lnSpc>
                <a:spcPct val="90000"/>
              </a:lnSpc>
              <a:spcBef>
                <a:spcPct val="20000"/>
              </a:spcBef>
              <a:buClr>
                <a:srgbClr val="0066CC"/>
              </a:buClr>
            </a:pPr>
            <a:r>
              <a:rPr lang="zh-CN" altLang="en-US" sz="8000" dirty="0" smtClean="0">
                <a:solidFill>
                  <a:schemeClr val="accent6"/>
                </a:solidFill>
                <a:latin typeface="方正小标宋简体" panose="02010601030101010101" pitchFamily="2" charset="-122"/>
                <a:ea typeface="方正小标宋简体" panose="02010601030101010101" pitchFamily="2" charset="-122"/>
                <a:cs typeface="Times New Roman" panose="02020603050405020304" pitchFamily="18" charset="0"/>
              </a:rPr>
              <a:t>谢谢！</a:t>
            </a:r>
            <a:endParaRPr lang="zh-CN" altLang="en-US" sz="8000" dirty="0">
              <a:solidFill>
                <a:schemeClr val="accent6"/>
              </a:solidFill>
              <a:latin typeface="方正小标宋简体" panose="02010601030101010101" pitchFamily="2" charset="-122"/>
              <a:ea typeface="方正小标宋简体" panose="02010601030101010101" pitchFamily="2" charset="-122"/>
              <a:cs typeface="Times New Roman" panose="02020603050405020304" pitchFamily="18" charset="0"/>
            </a:endParaRPr>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8" presetID="12" presetClass="entr" presetSubtype="8"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 calcmode="lin" valueType="num">
                                      <p:cBhvr additive="base">
                                        <p:cTn id="10" dur="500"/>
                                        <p:tgtEl>
                                          <p:spTgt spid="8"/>
                                        </p:tgtEl>
                                        <p:attrNameLst>
                                          <p:attrName>ppt_x</p:attrName>
                                        </p:attrNameLst>
                                      </p:cBhvr>
                                      <p:tavLst>
                                        <p:tav tm="0">
                                          <p:val>
                                            <p:strVal val="#ppt_x-#ppt_w*1.125000"/>
                                          </p:val>
                                        </p:tav>
                                        <p:tav tm="100000">
                                          <p:val>
                                            <p:strVal val="#ppt_x"/>
                                          </p:val>
                                        </p:tav>
                                      </p:tavLst>
                                    </p:anim>
                                    <p:animEffect transition="in" filter="wipe(right)">
                                      <p:cBhvr>
                                        <p:cTn id="11" dur="500"/>
                                        <p:tgtEl>
                                          <p:spTgt spid="8"/>
                                        </p:tgtEl>
                                      </p:cBhvr>
                                    </p:animEffect>
                                  </p:childTnLst>
                                </p:cTn>
                              </p:par>
                              <p:par>
                                <p:cTn id="12" presetID="12" presetClass="entr" presetSubtype="8" fill="hold" grpId="1" nodeType="withEffect">
                                  <p:stCondLst>
                                    <p:cond delay="0"/>
                                  </p:stCondLst>
                                  <p:childTnLst>
                                    <p:set>
                                      <p:cBhvr>
                                        <p:cTn id="13" dur="1" fill="hold">
                                          <p:stCondLst>
                                            <p:cond delay="0"/>
                                          </p:stCondLst>
                                        </p:cTn>
                                        <p:tgtEl>
                                          <p:spTgt spid="14"/>
                                        </p:tgtEl>
                                        <p:attrNameLst>
                                          <p:attrName>style.visibility</p:attrName>
                                        </p:attrNameLst>
                                      </p:cBhvr>
                                      <p:to>
                                        <p:strVal val="visible"/>
                                      </p:to>
                                    </p:set>
                                    <p:anim calcmode="lin" valueType="num">
                                      <p:cBhvr additive="base">
                                        <p:cTn id="14" dur="250"/>
                                        <p:tgtEl>
                                          <p:spTgt spid="14"/>
                                        </p:tgtEl>
                                        <p:attrNameLst>
                                          <p:attrName>ppt_x</p:attrName>
                                        </p:attrNameLst>
                                      </p:cBhvr>
                                      <p:tavLst>
                                        <p:tav tm="0">
                                          <p:val>
                                            <p:strVal val="#ppt_x-#ppt_w*1.125000"/>
                                          </p:val>
                                        </p:tav>
                                        <p:tav tm="100000">
                                          <p:val>
                                            <p:strVal val="#ppt_x"/>
                                          </p:val>
                                        </p:tav>
                                      </p:tavLst>
                                    </p:anim>
                                    <p:animEffect transition="in" filter="wipe(right)">
                                      <p:cBhvr>
                                        <p:cTn id="15" dur="250"/>
                                        <p:tgtEl>
                                          <p:spTgt spid="14"/>
                                        </p:tgtEl>
                                      </p:cBhvr>
                                    </p:animEffect>
                                  </p:childTnLst>
                                </p:cTn>
                              </p:par>
                              <p:par>
                                <p:cTn id="16" presetID="42"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1000"/>
                                        <p:tgtEl>
                                          <p:spTgt spid="13"/>
                                        </p:tgtEl>
                                      </p:cBhvr>
                                    </p:animEffect>
                                    <p:anim calcmode="lin" valueType="num">
                                      <p:cBhvr>
                                        <p:cTn id="19" dur="1000" fill="hold"/>
                                        <p:tgtEl>
                                          <p:spTgt spid="13"/>
                                        </p:tgtEl>
                                        <p:attrNameLst>
                                          <p:attrName>ppt_x</p:attrName>
                                        </p:attrNameLst>
                                      </p:cBhvr>
                                      <p:tavLst>
                                        <p:tav tm="0">
                                          <p:val>
                                            <p:strVal val="#ppt_x"/>
                                          </p:val>
                                        </p:tav>
                                        <p:tav tm="100000">
                                          <p:val>
                                            <p:strVal val="#ppt_x"/>
                                          </p:val>
                                        </p:tav>
                                      </p:tavLst>
                                    </p:anim>
                                    <p:anim calcmode="lin" valueType="num">
                                      <p:cBhvr>
                                        <p:cTn id="20"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Lst>
  </p:timing>
</p:sld>
</file>

<file path=ppt/tags/tag1.xml><?xml version="1.0" encoding="utf-8"?>
<p:tagLst xmlns:p="http://schemas.openxmlformats.org/presentationml/2006/main">
  <p:tag name="KSO_WM_TEMPLATE_TOPIC_ID" val="2806177"/>
  <p:tag name="KSO_WM_TEMPLATE_OUTLINE_ID" val="15"/>
  <p:tag name="KSO_WM_TEMPLATE_SCENE_ID" val="1"/>
  <p:tag name="KSO_WM_TEMPLATE_JOB_ID" val="2"/>
  <p:tag name="KSO_WM_TEMPLATE_TOPIC_DEFAULT" val="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lang="en-US" altLang="zh-CN" sz="2400" dirty="0">
            <a:solidFill>
              <a:schemeClr val="bg1"/>
            </a:solidFill>
            <a:latin typeface="Impact" panose="020B0806030902050204" pitchFamily="34"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otalTime>0</TotalTime>
  <Words>19254</Words>
  <Application>WPS 演示</Application>
  <PresentationFormat>全屏显示(16:9)</PresentationFormat>
  <Paragraphs>836</Paragraphs>
  <Slides>99</Slides>
  <Notes>35</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99</vt:i4>
      </vt:variant>
    </vt:vector>
  </HeadingPairs>
  <TitlesOfParts>
    <vt:vector size="114" baseType="lpstr">
      <vt:lpstr>Arial</vt:lpstr>
      <vt:lpstr>宋体</vt:lpstr>
      <vt:lpstr>Wingdings</vt:lpstr>
      <vt:lpstr>Impact</vt:lpstr>
      <vt:lpstr>微软雅黑</vt:lpstr>
      <vt:lpstr>方正小标宋简体</vt:lpstr>
      <vt:lpstr>黑体</vt:lpstr>
      <vt:lpstr>Times New Roman</vt:lpstr>
      <vt:lpstr>仿宋_GB2312</vt:lpstr>
      <vt:lpstr>Arial</vt:lpstr>
      <vt:lpstr>楷体</vt:lpstr>
      <vt:lpstr>楷体_GB2312</vt:lpstr>
      <vt:lpstr>Calibri</vt:lpstr>
      <vt:lpstr>Arial Unicode MS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三、报告的结构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China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hlz</cp:lastModifiedBy>
  <cp:revision>158</cp:revision>
  <dcterms:created xsi:type="dcterms:W3CDTF">2018-08-22T07:00:00Z</dcterms:created>
  <dcterms:modified xsi:type="dcterms:W3CDTF">2020-04-02T08:26:17Z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2052-11.1.0.9513</vt:lpwstr>
  </property>
</Properties>
</file>