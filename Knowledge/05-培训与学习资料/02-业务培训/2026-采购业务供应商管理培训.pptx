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51" r:id="rId3"/>
    <p:sldMasterId id="2147483653" r:id="rId4"/>
  </p:sldMasterIdLst>
  <p:notesMasterIdLst>
    <p:notesMasterId r:id="rId6"/>
  </p:notesMasterIdLst>
  <p:handoutMasterIdLst>
    <p:handoutMasterId r:id="rId19"/>
  </p:handoutMasterIdLst>
  <p:sldIdLst>
    <p:sldId id="258" r:id="rId5"/>
    <p:sldId id="259" r:id="rId7"/>
    <p:sldId id="338" r:id="rId8"/>
    <p:sldId id="343" r:id="rId9"/>
    <p:sldId id="344" r:id="rId10"/>
    <p:sldId id="294" r:id="rId11"/>
    <p:sldId id="339" r:id="rId12"/>
    <p:sldId id="340" r:id="rId13"/>
    <p:sldId id="347" r:id="rId14"/>
    <p:sldId id="346" r:id="rId15"/>
    <p:sldId id="263" r:id="rId16"/>
    <p:sldId id="341" r:id="rId17"/>
    <p:sldId id="342" r:id="rId18"/>
  </p:sldIdLst>
  <p:sldSz cx="12188825" cy="6858000"/>
  <p:notesSz cx="6858000" cy="9144000"/>
  <p:custDataLst>
    <p:tags r:id="rId24"/>
  </p:custDataLst>
  <p:defaultText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379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08022" initials="1" lastIdx="2"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6" d="100"/>
          <a:sy n="66" d="100"/>
        </p:scale>
        <p:origin x="-876" y="-96"/>
      </p:cViewPr>
      <p:guideLst>
        <p:guide orient="horz" pos="2205"/>
        <p:guide pos="3794"/>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4" Type="http://schemas.openxmlformats.org/officeDocument/2006/relationships/tags" Target="tags/tag2.xml"/><Relationship Id="rId23" Type="http://schemas.openxmlformats.org/officeDocument/2006/relationships/commentAuthors" Target="commentAuthors.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532E5F-2076-4530-B5DC-439A8C7D9B8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600" y="685800"/>
            <a:ext cx="60948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6883C7-C05D-4157-967A-96602B7DD26F}"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F6883C7-C05D-4157-967A-96602B7DD26F}"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DF6883C7-C05D-4157-967A-96602B7DD26F}"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F6883C7-C05D-4157-967A-96602B7DD26F}"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F6883C7-C05D-4157-967A-96602B7DD26F}"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F6883C7-C05D-4157-967A-96602B7DD26F}"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F6883C7-C05D-4157-967A-96602B7DD26F}"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F6883C7-C05D-4157-967A-96602B7DD26F}"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F6883C7-C05D-4157-967A-96602B7DD26F}"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F6883C7-C05D-4157-967A-96602B7DD26F}"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F6883C7-C05D-4157-967A-96602B7DD26F}"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DF6883C7-C05D-4157-967A-96602B7DD26F}"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DF6883C7-C05D-4157-967A-96602B7DD26F}"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DF6883C7-C05D-4157-967A-96602B7DD26F}" type="slidenum">
              <a:rPr lang="zh-CN" altLang="en-US" smtClean="0"/>
            </a:fld>
            <a:endParaRPr lang="zh-CN" altLang="en-US"/>
          </a:p>
        </p:txBody>
      </p:sp>
      <p:sp>
        <p:nvSpPr>
          <p:cNvPr id="5" name="页脚占位符 4"/>
          <p:cNvSpPr>
            <a:spLocks noGrp="1"/>
          </p:cNvSpPr>
          <p:nvPr>
            <p:ph type="ftr" sz="quarter" idx="4"/>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p:hf sldNum="0" hdr="0" ftr="0" dt="0"/>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5" Type="http://schemas.openxmlformats.org/officeDocument/2006/relationships/theme" Target="../theme/theme3.xml"/><Relationship Id="rId4" Type="http://schemas.openxmlformats.org/officeDocument/2006/relationships/image" Target="../media/image3.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图片 11"/>
          <p:cNvPicPr>
            <a:picLocks noChangeAspect="1"/>
          </p:cNvPicPr>
          <p:nvPr userDrawn="1"/>
        </p:nvPicPr>
        <p:blipFill>
          <a:blip r:embed="rId3" cstate="print"/>
          <a:stretch>
            <a:fillRect/>
          </a:stretch>
        </p:blipFill>
        <p:spPr>
          <a:xfrm>
            <a:off x="0" y="-26585"/>
            <a:ext cx="12189918" cy="1005491"/>
          </a:xfrm>
          <a:prstGeom prst="rect">
            <a:avLst/>
          </a:prstGeom>
          <a:noFill/>
          <a:ln w="9525">
            <a:noFill/>
          </a:ln>
        </p:spPr>
      </p:pic>
      <p:sp>
        <p:nvSpPr>
          <p:cNvPr id="2" name="文本框 1"/>
          <p:cNvSpPr txBox="1"/>
          <p:nvPr userDrawn="1"/>
        </p:nvSpPr>
        <p:spPr>
          <a:xfrm>
            <a:off x="40638" y="6445326"/>
            <a:ext cx="12148962" cy="414020"/>
          </a:xfrm>
          <a:prstGeom prst="rect">
            <a:avLst/>
          </a:prstGeom>
          <a:noFill/>
        </p:spPr>
        <p:txBody>
          <a:bodyPr wrap="square" rtlCol="0">
            <a:spAutoFit/>
          </a:bodyPr>
          <a:lstStyle/>
          <a:p>
            <a:pPr algn="ctr"/>
            <a:fld id="{9A0DB2DC-4C9A-4742-B13C-FB6460FD3503}"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436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856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275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695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14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34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145" algn="l" defTabSz="1088390" rtl="0" eaLnBrk="1" latinLnBrk="0" hangingPunct="1">
        <a:defRPr sz="2100" kern="1200">
          <a:solidFill>
            <a:schemeClr val="tx1"/>
          </a:solidFill>
          <a:latin typeface="+mn-lt"/>
          <a:ea typeface="+mn-ea"/>
          <a:cs typeface="+mn-cs"/>
        </a:defRPr>
      </a:lvl5pPr>
      <a:lvl6pPr marL="2720340" algn="l" defTabSz="1088390" rtl="0" eaLnBrk="1" latinLnBrk="0" hangingPunct="1">
        <a:defRPr sz="2100" kern="1200">
          <a:solidFill>
            <a:schemeClr val="tx1"/>
          </a:solidFill>
          <a:latin typeface="+mn-lt"/>
          <a:ea typeface="+mn-ea"/>
          <a:cs typeface="+mn-cs"/>
        </a:defRPr>
      </a:lvl6pPr>
      <a:lvl7pPr marL="3265170" algn="l" defTabSz="1088390" rtl="0" eaLnBrk="1" latinLnBrk="0" hangingPunct="1">
        <a:defRPr sz="2100" kern="1200">
          <a:solidFill>
            <a:schemeClr val="tx1"/>
          </a:solidFill>
          <a:latin typeface="+mn-lt"/>
          <a:ea typeface="+mn-ea"/>
          <a:cs typeface="+mn-cs"/>
        </a:defRPr>
      </a:lvl7pPr>
      <a:lvl8pPr marL="3809365" algn="l" defTabSz="1088390" rtl="0" eaLnBrk="1" latinLnBrk="0" hangingPunct="1">
        <a:defRPr sz="2100" kern="1200">
          <a:solidFill>
            <a:schemeClr val="tx1"/>
          </a:solidFill>
          <a:latin typeface="+mn-lt"/>
          <a:ea typeface="+mn-ea"/>
          <a:cs typeface="+mn-cs"/>
        </a:defRPr>
      </a:lvl8pPr>
      <a:lvl9pPr marL="4353560" algn="l" defTabSz="1088390" rtl="0" eaLnBrk="1" latinLnBrk="0" hangingPunct="1">
        <a:defRPr sz="2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2"/>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36468"/>
          <a:stretch>
            <a:fillRect/>
          </a:stretch>
        </p:blipFill>
        <p:spPr bwMode="auto">
          <a:xfrm>
            <a:off x="118538" y="6490941"/>
            <a:ext cx="2808198" cy="319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43258" y="909346"/>
            <a:ext cx="712835" cy="575957"/>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Lst>
  <p:hf sldNum="0"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436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856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275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695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14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34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145" algn="l" defTabSz="1088390" rtl="0" eaLnBrk="1" latinLnBrk="0" hangingPunct="1">
        <a:defRPr sz="2100" kern="1200">
          <a:solidFill>
            <a:schemeClr val="tx1"/>
          </a:solidFill>
          <a:latin typeface="+mn-lt"/>
          <a:ea typeface="+mn-ea"/>
          <a:cs typeface="+mn-cs"/>
        </a:defRPr>
      </a:lvl5pPr>
      <a:lvl6pPr marL="2720340" algn="l" defTabSz="1088390" rtl="0" eaLnBrk="1" latinLnBrk="0" hangingPunct="1">
        <a:defRPr sz="2100" kern="1200">
          <a:solidFill>
            <a:schemeClr val="tx1"/>
          </a:solidFill>
          <a:latin typeface="+mn-lt"/>
          <a:ea typeface="+mn-ea"/>
          <a:cs typeface="+mn-cs"/>
        </a:defRPr>
      </a:lvl6pPr>
      <a:lvl7pPr marL="3265170" algn="l" defTabSz="1088390" rtl="0" eaLnBrk="1" latinLnBrk="0" hangingPunct="1">
        <a:defRPr sz="2100" kern="1200">
          <a:solidFill>
            <a:schemeClr val="tx1"/>
          </a:solidFill>
          <a:latin typeface="+mn-lt"/>
          <a:ea typeface="+mn-ea"/>
          <a:cs typeface="+mn-cs"/>
        </a:defRPr>
      </a:lvl7pPr>
      <a:lvl8pPr marL="3809365" algn="l" defTabSz="1088390" rtl="0" eaLnBrk="1" latinLnBrk="0" hangingPunct="1">
        <a:defRPr sz="2100" kern="1200">
          <a:solidFill>
            <a:schemeClr val="tx1"/>
          </a:solidFill>
          <a:latin typeface="+mn-lt"/>
          <a:ea typeface="+mn-ea"/>
          <a:cs typeface="+mn-cs"/>
        </a:defRPr>
      </a:lvl8pPr>
      <a:lvl9pPr marL="4353560" algn="l" defTabSz="1088390" rtl="0" eaLnBrk="1" latinLnBrk="0" hangingPunct="1">
        <a:defRPr sz="21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671" r="37165"/>
          <a:stretch>
            <a:fillRect/>
          </a:stretch>
        </p:blipFill>
        <p:spPr bwMode="auto">
          <a:xfrm>
            <a:off x="112958" y="6428397"/>
            <a:ext cx="2741772" cy="310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5473" y="0"/>
            <a:ext cx="12215390" cy="781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51329" y="6157615"/>
            <a:ext cx="576041" cy="465430"/>
          </a:xfrm>
          <a:prstGeom prst="rect">
            <a:avLst/>
          </a:prstGeom>
        </p:spPr>
      </p:pic>
    </p:spTree>
  </p:cSld>
  <p:clrMap bg1="lt1" tx1="dk1" bg2="lt2" tx2="dk2" accent1="accent1" accent2="accent2" accent3="accent3" accent4="accent4" accent5="accent5" accent6="accent6" hlink="hlink" folHlink="folHlink"/>
  <p:sldLayoutIdLst>
    <p:sldLayoutId id="2147483654" r:id="rId1"/>
  </p:sldLayoutIdLst>
  <p:hf sldNum="0"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436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856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275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695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14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34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145" algn="l" defTabSz="1088390" rtl="0" eaLnBrk="1" latinLnBrk="0" hangingPunct="1">
        <a:defRPr sz="2100" kern="1200">
          <a:solidFill>
            <a:schemeClr val="tx1"/>
          </a:solidFill>
          <a:latin typeface="+mn-lt"/>
          <a:ea typeface="+mn-ea"/>
          <a:cs typeface="+mn-cs"/>
        </a:defRPr>
      </a:lvl5pPr>
      <a:lvl6pPr marL="2720340" algn="l" defTabSz="1088390" rtl="0" eaLnBrk="1" latinLnBrk="0" hangingPunct="1">
        <a:defRPr sz="2100" kern="1200">
          <a:solidFill>
            <a:schemeClr val="tx1"/>
          </a:solidFill>
          <a:latin typeface="+mn-lt"/>
          <a:ea typeface="+mn-ea"/>
          <a:cs typeface="+mn-cs"/>
        </a:defRPr>
      </a:lvl6pPr>
      <a:lvl7pPr marL="3265170" algn="l" defTabSz="1088390" rtl="0" eaLnBrk="1" latinLnBrk="0" hangingPunct="1">
        <a:defRPr sz="2100" kern="1200">
          <a:solidFill>
            <a:schemeClr val="tx1"/>
          </a:solidFill>
          <a:latin typeface="+mn-lt"/>
          <a:ea typeface="+mn-ea"/>
          <a:cs typeface="+mn-cs"/>
        </a:defRPr>
      </a:lvl7pPr>
      <a:lvl8pPr marL="3809365" algn="l" defTabSz="1088390" rtl="0" eaLnBrk="1" latinLnBrk="0" hangingPunct="1">
        <a:defRPr sz="2100" kern="1200">
          <a:solidFill>
            <a:schemeClr val="tx1"/>
          </a:solidFill>
          <a:latin typeface="+mn-lt"/>
          <a:ea typeface="+mn-ea"/>
          <a:cs typeface="+mn-cs"/>
        </a:defRPr>
      </a:lvl8pPr>
      <a:lvl9pPr marL="4353560" algn="l" defTabSz="1088390"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33" name="组合 3"/>
          <p:cNvGrpSpPr/>
          <p:nvPr/>
        </p:nvGrpSpPr>
        <p:grpSpPr>
          <a:xfrm>
            <a:off x="2998" y="1845276"/>
            <a:ext cx="12188156" cy="2474918"/>
            <a:chOff x="1958" y="2177866"/>
            <a:chExt cx="9144002" cy="1886742"/>
          </a:xfrm>
        </p:grpSpPr>
        <p:sp>
          <p:nvSpPr>
            <p:cNvPr id="21" name="矩形 20"/>
            <p:cNvSpPr/>
            <p:nvPr/>
          </p:nvSpPr>
          <p:spPr>
            <a:xfrm>
              <a:off x="1958" y="2177866"/>
              <a:ext cx="9144002" cy="1656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14" tIns="45706" rIns="91414" bIns="45706" anchor="ctr"/>
            <a:lstStyle/>
            <a:p>
              <a:pPr algn="ctr">
                <a:spcBef>
                  <a:spcPct val="0"/>
                </a:spcBef>
                <a:spcAft>
                  <a:spcPct val="0"/>
                </a:spcAft>
                <a:defRPr/>
              </a:pPr>
              <a:endParaRPr lang="zh-CN" altLang="en-US" noProof="1"/>
            </a:p>
          </p:txBody>
        </p:sp>
        <p:sp>
          <p:nvSpPr>
            <p:cNvPr id="22" name="矩形 21"/>
            <p:cNvSpPr/>
            <p:nvPr/>
          </p:nvSpPr>
          <p:spPr>
            <a:xfrm>
              <a:off x="1958" y="3842265"/>
              <a:ext cx="9144002" cy="222343"/>
            </a:xfrm>
            <a:prstGeom prst="rect">
              <a:avLst/>
            </a:prstGeom>
            <a:solidFill>
              <a:srgbClr val="97D2FF">
                <a:alpha val="9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14" tIns="45706" rIns="91414" bIns="45706" anchor="ctr"/>
            <a:lstStyle/>
            <a:p>
              <a:pPr algn="ctr">
                <a:spcBef>
                  <a:spcPct val="0"/>
                </a:spcBef>
                <a:spcAft>
                  <a:spcPct val="0"/>
                </a:spcAft>
                <a:defRPr/>
              </a:pPr>
              <a:endParaRPr lang="zh-CN" altLang="en-US" noProof="1"/>
            </a:p>
          </p:txBody>
        </p:sp>
      </p:grpSp>
      <p:sp>
        <p:nvSpPr>
          <p:cNvPr id="2" name="TextBox 1"/>
          <p:cNvSpPr txBox="1"/>
          <p:nvPr/>
        </p:nvSpPr>
        <p:spPr>
          <a:xfrm>
            <a:off x="4150360" y="2277223"/>
            <a:ext cx="8105775" cy="723265"/>
          </a:xfrm>
          <a:prstGeom prst="rect">
            <a:avLst/>
          </a:prstGeom>
          <a:noFill/>
        </p:spPr>
        <p:txBody>
          <a:bodyPr wrap="square" lIns="108829" tIns="54414" rIns="108829" bIns="54414" rtlCol="0">
            <a:spAutoFit/>
          </a:bodyPr>
          <a:lstStyle/>
          <a:p>
            <a:pPr algn="ctr"/>
            <a:r>
              <a:rPr lang="zh-CN" altLang="en-US" sz="4000" b="1" dirty="0" smtClean="0">
                <a:solidFill>
                  <a:schemeClr val="bg1"/>
                </a:solidFill>
                <a:latin typeface="微软雅黑" panose="020B0503020204020204" pitchFamily="34" charset="-122"/>
                <a:ea typeface="微软雅黑" panose="020B0503020204020204" pitchFamily="34" charset="-122"/>
              </a:rPr>
              <a:t>采购业务培训</a:t>
            </a:r>
            <a:r>
              <a:rPr lang="en-US" altLang="zh-CN" sz="4000" b="1" dirty="0">
                <a:solidFill>
                  <a:schemeClr val="bg1"/>
                </a:solidFill>
                <a:latin typeface="微软雅黑" panose="020B0503020204020204" pitchFamily="34" charset="-122"/>
                <a:ea typeface="微软雅黑" panose="020B0503020204020204" pitchFamily="34" charset="-122"/>
              </a:rPr>
              <a:t>—</a:t>
            </a:r>
            <a:r>
              <a:rPr lang="zh-CN" altLang="en-US" sz="4000" b="1" dirty="0">
                <a:solidFill>
                  <a:schemeClr val="bg1"/>
                </a:solidFill>
                <a:latin typeface="微软雅黑" panose="020B0503020204020204" pitchFamily="34" charset="-122"/>
                <a:ea typeface="微软雅黑" panose="020B0503020204020204" pitchFamily="34" charset="-122"/>
              </a:rPr>
              <a:t>供应商管理</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78066" y="1341314"/>
            <a:ext cx="3106312" cy="2079432"/>
          </a:xfrm>
          <a:prstGeom prst="rect">
            <a:avLst/>
          </a:prstGeom>
          <a:solidFill>
            <a:srgbClr val="FFFFFF">
              <a:shade val="85000"/>
            </a:srgbClr>
          </a:solidFill>
          <a:ln w="88900" cap="sq">
            <a:noFill/>
            <a:miter lim="800000"/>
            <a:headEnd/>
            <a:tailEnd/>
          </a:ln>
          <a:effectLst>
            <a:glow rad="228600">
              <a:schemeClr val="accent1">
                <a:satMod val="175000"/>
                <a:alpha val="40000"/>
              </a:schemeClr>
            </a:glo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custDataLst>
      <p:tags r:id="rId2"/>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矩形 4"/>
          <p:cNvSpPr/>
          <p:nvPr/>
        </p:nvSpPr>
        <p:spPr>
          <a:xfrm>
            <a:off x="4186329" y="981340"/>
            <a:ext cx="5868336" cy="687420"/>
          </a:xfrm>
          <a:prstGeom prst="rect">
            <a:avLst/>
          </a:prstGeom>
          <a:solidFill>
            <a:srgbClr val="0072C6"/>
          </a:solidFill>
          <a:ln w="12700">
            <a:noFill/>
          </a:ln>
        </p:spPr>
        <p:txBody>
          <a:bodyPr lIns="108829" tIns="54414" rIns="108829" bIns="54414" anchor="ctr"/>
          <a:lstStyle/>
          <a:p>
            <a:pPr lvl="0" algn="ctr"/>
            <a:r>
              <a:rPr lang="zh-CN" altLang="en-US" sz="3300" dirty="0">
                <a:solidFill>
                  <a:schemeClr val="bg1"/>
                </a:solidFill>
                <a:latin typeface="方正粗宋简体" panose="03000509000000000000" pitchFamily="65" charset="-122"/>
                <a:ea typeface="方正粗宋简体" panose="03000509000000000000" pitchFamily="65" charset="-122"/>
              </a:rPr>
              <a:t> 目 录</a:t>
            </a:r>
            <a:endParaRPr lang="zh-CN" altLang="en-US" sz="3300" dirty="0">
              <a:solidFill>
                <a:schemeClr val="bg1"/>
              </a:solidFill>
              <a:latin typeface="方正粗宋简体" panose="03000509000000000000" pitchFamily="65" charset="-122"/>
              <a:ea typeface="方正粗宋简体" panose="03000509000000000000" pitchFamily="65" charset="-122"/>
            </a:endParaRPr>
          </a:p>
        </p:txBody>
      </p:sp>
      <p:sp>
        <p:nvSpPr>
          <p:cNvPr id="45060" name="TextBox 26"/>
          <p:cNvSpPr txBox="1"/>
          <p:nvPr/>
        </p:nvSpPr>
        <p:spPr>
          <a:xfrm>
            <a:off x="4151103" y="2091547"/>
            <a:ext cx="6812990" cy="1014730"/>
          </a:xfrm>
          <a:prstGeom prst="rect">
            <a:avLst/>
          </a:prstGeom>
          <a:noFill/>
          <a:ln w="9525">
            <a:noFill/>
          </a:ln>
        </p:spPr>
        <p:txBody>
          <a:bodyPr wrap="square" anchor="t">
            <a:spAutoFit/>
          </a:bodyPr>
          <a:lstStyle/>
          <a:p>
            <a:pPr fontAlgn="base">
              <a:spcBef>
                <a:spcPct val="50000"/>
              </a:spcBef>
              <a:spcAft>
                <a:spcPct val="0"/>
              </a:spcAft>
              <a:defRPr/>
            </a:pPr>
            <a:r>
              <a:rPr lang="zh-CN" altLang="en-US" sz="2400" b="1" dirty="0">
                <a:solidFill>
                  <a:srgbClr val="0255A0"/>
                </a:solidFill>
                <a:latin typeface="微软雅黑" panose="020B0503020204020204" pitchFamily="34" charset="-122"/>
                <a:ea typeface="微软雅黑" panose="020B0503020204020204" pitchFamily="34" charset="-122"/>
                <a:cs typeface="+mn-ea"/>
                <a:sym typeface="宋体" panose="02010600030101010101" pitchFamily="2" charset="-122"/>
              </a:rPr>
              <a:t>一</a:t>
            </a:r>
            <a:r>
              <a:rPr lang="zh-CN" altLang="en-US" sz="2400" b="1" dirty="0" smtClean="0">
                <a:solidFill>
                  <a:srgbClr val="0255A0"/>
                </a:solidFill>
                <a:latin typeface="微软雅黑" panose="020B0503020204020204" pitchFamily="34" charset="-122"/>
                <a:ea typeface="微软雅黑" panose="020B0503020204020204" pitchFamily="34" charset="-122"/>
                <a:cs typeface="+mn-ea"/>
                <a:sym typeface="宋体" panose="02010600030101010101" pitchFamily="2" charset="-122"/>
              </a:rPr>
              <a:t>、供应商履约管理</a:t>
            </a:r>
            <a:r>
              <a:rPr lang="zh-CN" altLang="en-US" sz="2400" b="1" dirty="0" smtClean="0">
                <a:solidFill>
                  <a:srgbClr val="0255A0"/>
                </a:solidFill>
                <a:latin typeface="微软雅黑" panose="020B0503020204020204" pitchFamily="34" charset="-122"/>
                <a:ea typeface="微软雅黑" panose="020B0503020204020204" pitchFamily="34" charset="-122"/>
              </a:rPr>
              <a:t>相关制度要求</a:t>
            </a:r>
            <a:endParaRPr lang="en-US" altLang="zh-CN" sz="2400" b="1" dirty="0" smtClean="0">
              <a:solidFill>
                <a:srgbClr val="0255A0"/>
              </a:solidFill>
              <a:latin typeface="微软雅黑" panose="020B0503020204020204" pitchFamily="34" charset="-122"/>
              <a:ea typeface="微软雅黑" panose="020B0503020204020204" pitchFamily="34" charset="-122"/>
            </a:endParaRPr>
          </a:p>
          <a:p>
            <a:pPr lvl="0" fontAlgn="base">
              <a:spcBef>
                <a:spcPct val="50000"/>
              </a:spcBef>
              <a:spcAft>
                <a:spcPct val="0"/>
              </a:spcAft>
              <a:defRPr/>
            </a:pPr>
            <a:r>
              <a:rPr lang="zh-CN" altLang="en-US" sz="2400" b="1" dirty="0" smtClean="0">
                <a:solidFill>
                  <a:srgbClr val="0255A0"/>
                </a:solidFill>
                <a:latin typeface="微软雅黑" panose="020B0503020204020204" pitchFamily="34" charset="-122"/>
                <a:ea typeface="微软雅黑" panose="020B0503020204020204" pitchFamily="34" charset="-122"/>
              </a:rPr>
              <a:t>二、系统操作实务</a:t>
            </a:r>
            <a:endParaRPr lang="en-US" altLang="zh-CN" sz="2400" b="1" dirty="0" smtClean="0">
              <a:solidFill>
                <a:srgbClr val="0255A0"/>
              </a:solidFill>
              <a:latin typeface="微软雅黑" panose="020B0503020204020204" pitchFamily="34" charset="-122"/>
              <a:ea typeface="微软雅黑" panose="020B0503020204020204" pitchFamily="34" charset="-122"/>
            </a:endParaRPr>
          </a:p>
        </p:txBody>
      </p:sp>
      <p:pic>
        <p:nvPicPr>
          <p:cNvPr id="33"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32947" y="1419567"/>
            <a:ext cx="2917917" cy="1793608"/>
          </a:xfrm>
          <a:prstGeom prst="rect">
            <a:avLst/>
          </a:prstGeom>
          <a:noFill/>
          <a:scene3d>
            <a:camera prst="orthographicFront"/>
            <a:lightRig rig="threePt" dir="t"/>
          </a:scene3d>
          <a:sp3d>
            <a:bevelT w="114300" prst="artDeco"/>
          </a:sp3d>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525" y="45720"/>
            <a:ext cx="6656705" cy="58356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一</a:t>
            </a:r>
            <a:r>
              <a:rPr lang="zh-CN" altLang="en-US" sz="3200" b="1" dirty="0" smtClean="0">
                <a:solidFill>
                  <a:schemeClr val="bg1"/>
                </a:solidFill>
                <a:latin typeface="微软雅黑" panose="020B0503020204020204" pitchFamily="34" charset="-122"/>
                <a:ea typeface="微软雅黑" panose="020B0503020204020204" pitchFamily="34" charset="-122"/>
              </a:rPr>
              <a:t>、</a:t>
            </a:r>
            <a:r>
              <a:rPr lang="zh-CN" altLang="en-US" sz="3200" b="1" dirty="0" smtClean="0">
                <a:solidFill>
                  <a:schemeClr val="bg1"/>
                </a:solidFill>
                <a:latin typeface="微软雅黑" panose="020B0503020204020204" pitchFamily="34" charset="-122"/>
                <a:ea typeface="微软雅黑" panose="020B0503020204020204" pitchFamily="34" charset="-122"/>
                <a:sym typeface="宋体" panose="02010600030101010101" pitchFamily="2" charset="-122"/>
              </a:rPr>
              <a:t>供应商履约管理</a:t>
            </a:r>
            <a:r>
              <a:rPr lang="zh-CN" altLang="en-US" sz="3200" b="1" dirty="0" smtClean="0">
                <a:solidFill>
                  <a:schemeClr val="bg1"/>
                </a:solidFill>
                <a:latin typeface="微软雅黑" panose="020B0503020204020204" pitchFamily="34" charset="-122"/>
                <a:ea typeface="微软雅黑" panose="020B0503020204020204" pitchFamily="34" charset="-122"/>
                <a:sym typeface="+mn-ea"/>
              </a:rPr>
              <a:t>相关制度要求</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263390" y="1197085"/>
            <a:ext cx="11519147" cy="3707765"/>
          </a:xfrm>
          <a:prstGeom prst="rect">
            <a:avLst/>
          </a:prstGeom>
          <a:noFill/>
        </p:spPr>
        <p:txBody>
          <a:bodyPr wrap="square" rtlCol="0">
            <a:spAutoFit/>
          </a:bodyPr>
          <a:lstStyle/>
          <a:p>
            <a:pPr indent="457200">
              <a:lnSpc>
                <a:spcPct val="125000"/>
              </a:lnSpc>
            </a:pPr>
            <a:r>
              <a:rPr lang="zh-CN" altLang="en-US" sz="2400" b="1" dirty="0">
                <a:latin typeface="微软雅黑" panose="020B0503020204020204" pitchFamily="34" charset="-122"/>
                <a:ea typeface="微软雅黑" panose="020B0503020204020204" pitchFamily="34" charset="-122"/>
              </a:rPr>
              <a:t>（一）合同履行档案</a:t>
            </a:r>
            <a:endParaRPr lang="zh-CN" altLang="en-US" sz="2400" b="1" dirty="0">
              <a:latin typeface="微软雅黑" panose="020B0503020204020204" pitchFamily="34" charset="-122"/>
              <a:ea typeface="微软雅黑" panose="020B0503020204020204" pitchFamily="34" charset="-122"/>
            </a:endParaRPr>
          </a:p>
          <a:p>
            <a:pPr lvl="0" indent="508000" defTabSz="1087120" fontAlgn="base">
              <a:lnSpc>
                <a:spcPct val="125000"/>
              </a:lnSpc>
              <a:spcBef>
                <a:spcPct val="0"/>
              </a:spcBef>
              <a:spcAft>
                <a:spcPct val="0"/>
              </a:spcAft>
              <a:defRPr/>
              <a:extLst>
                <a:ext uri="{35155182-B16C-46BC-9424-99874614C6A1}">
                  <wpsdc:indentchars xmlns:wpsdc="http://www.wps.cn/officeDocument/2017/drawingmlCustomData" val="200" checksum="282533468"/>
                </a:ext>
              </a:extLst>
            </a:pPr>
            <a:r>
              <a:rPr lang="zh-CN" altLang="en-US" sz="2000" dirty="0">
                <a:latin typeface="微软雅黑" panose="020B0503020204020204" pitchFamily="34" charset="-122"/>
                <a:ea typeface="微软雅黑" panose="020B0503020204020204" pitchFamily="34" charset="-122"/>
                <a:sym typeface="+mn-ea"/>
              </a:rPr>
              <a:t>档案建立的意义：合同履行档案是完整记录和保存了与合同相关的过程材料，直接形成证据材</a:t>
            </a:r>
            <a:r>
              <a:rPr lang="en-US" altLang="zh-CN" sz="2000" dirty="0">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sym typeface="+mn-ea"/>
              </a:rPr>
              <a:t>料，是履约评价的前提和依据，因此合同主办部门应对主办合同建立合同履行档案。</a:t>
            </a:r>
            <a:endParaRPr lang="zh-CN" altLang="en-US" sz="2000" dirty="0">
              <a:latin typeface="微软雅黑" panose="020B0503020204020204" pitchFamily="34" charset="-122"/>
              <a:ea typeface="微软雅黑" panose="020B0503020204020204" pitchFamily="34" charset="-122"/>
              <a:sym typeface="+mn-ea"/>
            </a:endParaRPr>
          </a:p>
          <a:p>
            <a:pPr lvl="0" indent="457200" algn="l" defTabSz="1088390">
              <a:lnSpc>
                <a:spcPct val="125000"/>
              </a:lnSpc>
              <a:buClrTx/>
              <a:buSzTx/>
              <a:buFontTx/>
            </a:pPr>
            <a:r>
              <a:rPr lang="zh-CN" altLang="en-US" sz="2400" b="1" dirty="0">
                <a:latin typeface="微软雅黑" panose="020B0503020204020204" pitchFamily="34" charset="-122"/>
                <a:ea typeface="微软雅黑" panose="020B0503020204020204" pitchFamily="34" charset="-122"/>
                <a:sym typeface="+mn-ea"/>
              </a:rPr>
              <a:t>（二）</a:t>
            </a:r>
            <a:r>
              <a:rPr lang="zh-CN" altLang="en-US" sz="2400" b="1" dirty="0">
                <a:latin typeface="微软雅黑" panose="020B0503020204020204" pitchFamily="34" charset="-122"/>
                <a:ea typeface="微软雅黑" panose="020B0503020204020204" pitchFamily="34" charset="-122"/>
                <a:sym typeface="+mn-ea"/>
              </a:rPr>
              <a:t>履约档案建立原则</a:t>
            </a:r>
            <a:endParaRPr lang="zh-CN" altLang="en-US" sz="2400" b="1" dirty="0">
              <a:latin typeface="微软雅黑" panose="020B0503020204020204" pitchFamily="34" charset="-122"/>
              <a:ea typeface="微软雅黑" panose="020B0503020204020204" pitchFamily="34" charset="-122"/>
              <a:sym typeface="+mn-ea"/>
            </a:endParaRPr>
          </a:p>
          <a:p>
            <a:pPr marL="800100" lvl="0" indent="-342900" algn="l" defTabSz="1087120" fontAlgn="base">
              <a:lnSpc>
                <a:spcPct val="125000"/>
              </a:lnSpc>
              <a:buClrTx/>
              <a:buSzTx/>
              <a:buFont typeface="Wingdings" panose="05000000000000000000" charset="0"/>
              <a:buChar char="u"/>
              <a:defRPr/>
              <a:extLst>
                <a:ext uri="{35155182-B16C-46BC-9424-99874614C6A1}">
                  <wpsdc:marlchars xmlns:wpsdc="http://www.wps.cn/officeDocument/2017/drawingmlCustomData" val="300" checksum="1723611322"/>
                </a:ext>
              </a:extLst>
            </a:pPr>
            <a:r>
              <a:rPr lang="zh-CN" altLang="en-US" sz="2000" dirty="0">
                <a:latin typeface="微软雅黑" panose="020B0503020204020204" pitchFamily="34" charset="-122"/>
                <a:ea typeface="微软雅黑" panose="020B0503020204020204" pitchFamily="34" charset="-122"/>
                <a:sym typeface="+mn-ea"/>
              </a:rPr>
              <a:t> 完整性原则：主办部门注意及时收集合同履行过程中的相关记录和资料并集中存放，保证不遗漏与合同有关的档案材料，若限于资料过多不便于集中存放，务必对档案资料登记造册建立索引，明 确保存地点和责任人。</a:t>
            </a:r>
            <a:endParaRPr lang="zh-CN" altLang="en-US" sz="2000" dirty="0">
              <a:latin typeface="微软雅黑" panose="020B0503020204020204" pitchFamily="34" charset="-122"/>
              <a:ea typeface="微软雅黑" panose="020B0503020204020204" pitchFamily="34" charset="-122"/>
              <a:sym typeface="+mn-ea"/>
            </a:endParaRPr>
          </a:p>
          <a:p>
            <a:pPr marL="800100" lvl="0" indent="-342900" algn="l" defTabSz="1087120" fontAlgn="base">
              <a:lnSpc>
                <a:spcPct val="125000"/>
              </a:lnSpc>
              <a:buClrTx/>
              <a:buSzTx/>
              <a:buFont typeface="Wingdings" panose="05000000000000000000" charset="0"/>
              <a:buChar char="u"/>
              <a:defRPr/>
              <a:extLst>
                <a:ext uri="{35155182-B16C-46BC-9424-99874614C6A1}">
                  <wpsdc:marlchars xmlns:wpsdc="http://www.wps.cn/officeDocument/2017/drawingmlCustomData" val="300" checksum="1723611322"/>
                </a:ext>
              </a:extLst>
            </a:pPr>
            <a:r>
              <a:rPr lang="zh-CN" altLang="en-US" sz="2000" dirty="0">
                <a:latin typeface="微软雅黑" panose="020B0503020204020204" pitchFamily="34" charset="-122"/>
                <a:ea typeface="微软雅黑" panose="020B0503020204020204" pitchFamily="34" charset="-122"/>
                <a:sym typeface="+mn-ea"/>
              </a:rPr>
              <a:t>书面性原则：在保证双方沟通效率的前提下，合作过程中沟通应尽量采用书面形式，合同履行过程中发生的特殊情况、争议问题要重点做书面记录，便于形成有效证据和后续查阅。</a:t>
            </a:r>
            <a:endParaRPr lang="zh-CN" altLang="en-US" sz="2400" b="1" dirty="0">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525" y="45720"/>
            <a:ext cx="6656705" cy="58356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一</a:t>
            </a:r>
            <a:r>
              <a:rPr lang="zh-CN" altLang="en-US" sz="3200" b="1" dirty="0" smtClean="0">
                <a:solidFill>
                  <a:schemeClr val="bg1"/>
                </a:solidFill>
                <a:latin typeface="微软雅黑" panose="020B0503020204020204" pitchFamily="34" charset="-122"/>
                <a:ea typeface="微软雅黑" panose="020B0503020204020204" pitchFamily="34" charset="-122"/>
              </a:rPr>
              <a:t>、</a:t>
            </a:r>
            <a:r>
              <a:rPr lang="zh-CN" altLang="en-US" sz="3200" b="1" dirty="0" smtClean="0">
                <a:solidFill>
                  <a:schemeClr val="bg1"/>
                </a:solidFill>
                <a:latin typeface="微软雅黑" panose="020B0503020204020204" pitchFamily="34" charset="-122"/>
                <a:ea typeface="微软雅黑" panose="020B0503020204020204" pitchFamily="34" charset="-122"/>
                <a:sym typeface="宋体" panose="02010600030101010101" pitchFamily="2" charset="-122"/>
              </a:rPr>
              <a:t>供应商履约管理</a:t>
            </a:r>
            <a:r>
              <a:rPr lang="zh-CN" altLang="en-US" sz="3200" b="1" dirty="0" smtClean="0">
                <a:solidFill>
                  <a:schemeClr val="bg1"/>
                </a:solidFill>
                <a:latin typeface="微软雅黑" panose="020B0503020204020204" pitchFamily="34" charset="-122"/>
                <a:ea typeface="微软雅黑" panose="020B0503020204020204" pitchFamily="34" charset="-122"/>
                <a:sym typeface="+mn-ea"/>
              </a:rPr>
              <a:t>相关制度要求</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263525" y="1196975"/>
            <a:ext cx="6172835" cy="4861560"/>
          </a:xfrm>
          <a:prstGeom prst="rect">
            <a:avLst/>
          </a:prstGeom>
          <a:noFill/>
        </p:spPr>
        <p:txBody>
          <a:bodyPr wrap="square" rtlCol="0">
            <a:spAutoFit/>
          </a:bodyPr>
          <a:lstStyle/>
          <a:p>
            <a:pPr indent="457200">
              <a:lnSpc>
                <a:spcPct val="125000"/>
              </a:lnSpc>
            </a:pPr>
            <a:r>
              <a:rPr lang="zh-CN" altLang="en-US" sz="2400" b="1" dirty="0">
                <a:latin typeface="微软雅黑" panose="020B0503020204020204" pitchFamily="34" charset="-122"/>
                <a:ea typeface="微软雅黑" panose="020B0503020204020204" pitchFamily="34" charset="-122"/>
              </a:rPr>
              <a:t>（三）履约评价的评价形式、周期</a:t>
            </a:r>
            <a:endParaRPr lang="zh-CN" altLang="en-US" sz="2400" b="1" dirty="0">
              <a:latin typeface="微软雅黑" panose="020B0503020204020204" pitchFamily="34" charset="-122"/>
              <a:ea typeface="微软雅黑" panose="020B0503020204020204" pitchFamily="34" charset="-122"/>
            </a:endParaRPr>
          </a:p>
          <a:p>
            <a:pPr marL="800100" lvl="0" indent="-342900" defTabSz="1087120" fontAlgn="base">
              <a:lnSpc>
                <a:spcPct val="125000"/>
              </a:lnSpc>
              <a:spcBef>
                <a:spcPct val="0"/>
              </a:spcBef>
              <a:spcAft>
                <a:spcPct val="0"/>
              </a:spcAft>
              <a:buFont typeface="Wingdings" panose="05000000000000000000" charset="0"/>
              <a:buChar char="u"/>
              <a:defRPr/>
              <a:extLst>
                <a:ext uri="{35155182-B16C-46BC-9424-99874614C6A1}">
                  <wpsdc:marlchars xmlns:wpsdc="http://www.wps.cn/officeDocument/2017/drawingmlCustomData" val="300" checksum="1723611322"/>
                </a:ext>
              </a:extLst>
            </a:pPr>
            <a:r>
              <a:rPr lang="zh-CN" altLang="en-US" sz="2000" dirty="0">
                <a:latin typeface="微软雅黑" panose="020B0503020204020204" pitchFamily="34" charset="-122"/>
                <a:ea typeface="微软雅黑" panose="020B0503020204020204" pitchFamily="34" charset="-122"/>
                <a:sym typeface="+mn-ea"/>
              </a:rPr>
              <a:t>日常履约评价以季度为评价周期。</a:t>
            </a:r>
            <a:endParaRPr lang="zh-CN" altLang="en-US" sz="2000" dirty="0">
              <a:latin typeface="微软雅黑" panose="020B0503020204020204" pitchFamily="34" charset="-122"/>
              <a:ea typeface="微软雅黑" panose="020B0503020204020204" pitchFamily="34" charset="-122"/>
              <a:sym typeface="+mn-ea"/>
            </a:endParaRPr>
          </a:p>
          <a:p>
            <a:pPr marL="800100" lvl="0" indent="-342900" defTabSz="1087120" fontAlgn="base">
              <a:lnSpc>
                <a:spcPct val="125000"/>
              </a:lnSpc>
              <a:spcBef>
                <a:spcPct val="0"/>
              </a:spcBef>
              <a:spcAft>
                <a:spcPct val="0"/>
              </a:spcAft>
              <a:buFont typeface="Wingdings" panose="05000000000000000000" charset="0"/>
              <a:buChar char="u"/>
              <a:defRPr/>
              <a:extLst>
                <a:ext uri="{35155182-B16C-46BC-9424-99874614C6A1}">
                  <wpsdc:marlchars xmlns:wpsdc="http://www.wps.cn/officeDocument/2017/drawingmlCustomData" val="300" checksum="1723611322"/>
                </a:ext>
              </a:extLst>
            </a:pPr>
            <a:r>
              <a:rPr lang="zh-CN" altLang="en-US" sz="2000" dirty="0">
                <a:latin typeface="微软雅黑" panose="020B0503020204020204" pitchFamily="34" charset="-122"/>
                <a:ea typeface="微软雅黑" panose="020B0503020204020204" pitchFamily="34" charset="-122"/>
                <a:sym typeface="+mn-ea"/>
              </a:rPr>
              <a:t>专项履约评价以季度为评价周期。</a:t>
            </a:r>
            <a:endParaRPr lang="zh-CN" altLang="en-US" sz="2000" dirty="0">
              <a:latin typeface="微软雅黑" panose="020B0503020204020204" pitchFamily="34" charset="-122"/>
              <a:ea typeface="微软雅黑" panose="020B0503020204020204" pitchFamily="34" charset="-122"/>
              <a:sym typeface="+mn-ea"/>
            </a:endParaRPr>
          </a:p>
          <a:p>
            <a:pPr marL="800100" lvl="0" indent="-342900" defTabSz="1087120" fontAlgn="base">
              <a:lnSpc>
                <a:spcPct val="125000"/>
              </a:lnSpc>
              <a:spcBef>
                <a:spcPct val="0"/>
              </a:spcBef>
              <a:spcAft>
                <a:spcPct val="0"/>
              </a:spcAft>
              <a:buFont typeface="Wingdings" panose="05000000000000000000" charset="0"/>
              <a:buChar char="u"/>
              <a:defRPr/>
              <a:extLst>
                <a:ext uri="{35155182-B16C-46BC-9424-99874614C6A1}">
                  <wpsdc:marlchars xmlns:wpsdc="http://www.wps.cn/officeDocument/2017/drawingmlCustomData" val="300" checksum="1723611322"/>
                </a:ext>
              </a:extLst>
            </a:pPr>
            <a:r>
              <a:rPr lang="zh-CN" altLang="en-US" sz="2000" dirty="0">
                <a:latin typeface="微软雅黑" panose="020B0503020204020204" pitchFamily="34" charset="-122"/>
                <a:ea typeface="微软雅黑" panose="020B0503020204020204" pitchFamily="34" charset="-122"/>
                <a:sym typeface="+mn-ea"/>
              </a:rPr>
              <a:t>最终履约评价在单个合同执行完毕、且在合同结算流程之前进行。每份合同评价一次。</a:t>
            </a:r>
            <a:endParaRPr lang="zh-CN" altLang="en-US" sz="2000" dirty="0">
              <a:latin typeface="微软雅黑" panose="020B0503020204020204" pitchFamily="34" charset="-122"/>
              <a:ea typeface="微软雅黑" panose="020B0503020204020204" pitchFamily="34" charset="-122"/>
              <a:sym typeface="+mn-ea"/>
            </a:endParaRPr>
          </a:p>
          <a:p>
            <a:pPr lvl="0" indent="457200" algn="l" defTabSz="1088390">
              <a:lnSpc>
                <a:spcPct val="125000"/>
              </a:lnSpc>
              <a:buClrTx/>
              <a:buSzTx/>
              <a:buFontTx/>
            </a:pPr>
            <a:r>
              <a:rPr lang="zh-CN" altLang="en-US" sz="2400" b="1" dirty="0">
                <a:latin typeface="微软雅黑" panose="020B0503020204020204" pitchFamily="34" charset="-122"/>
                <a:ea typeface="微软雅黑" panose="020B0503020204020204" pitchFamily="34" charset="-122"/>
                <a:sym typeface="+mn-ea"/>
              </a:rPr>
              <a:t>（四）履约评价标准</a:t>
            </a:r>
            <a:endParaRPr lang="zh-CN" altLang="en-US" sz="2400" b="1" dirty="0">
              <a:latin typeface="微软雅黑" panose="020B0503020204020204" pitchFamily="34" charset="-122"/>
              <a:ea typeface="微软雅黑" panose="020B0503020204020204" pitchFamily="34" charset="-122"/>
              <a:sym typeface="+mn-ea"/>
            </a:endParaRPr>
          </a:p>
          <a:p>
            <a:pPr marL="800100" lvl="0" indent="-342900" algn="l" defTabSz="1087120" fontAlgn="base">
              <a:lnSpc>
                <a:spcPct val="125000"/>
              </a:lnSpc>
              <a:buClrTx/>
              <a:buSzTx/>
              <a:buFont typeface="Wingdings" panose="05000000000000000000" charset="0"/>
              <a:buChar char="u"/>
              <a:defRPr/>
              <a:extLst>
                <a:ext uri="{35155182-B16C-46BC-9424-99874614C6A1}">
                  <wpsdc:marlchars xmlns:wpsdc="http://www.wps.cn/officeDocument/2017/drawingmlCustomData" val="300" checksum="1723611322"/>
                </a:ext>
              </a:extLst>
            </a:pPr>
            <a:r>
              <a:rPr lang="zh-CN" altLang="en-US" sz="2000" dirty="0">
                <a:latin typeface="微软雅黑" panose="020B0503020204020204" pitchFamily="34" charset="-122"/>
                <a:ea typeface="微软雅黑" panose="020B0503020204020204" pitchFamily="34" charset="-122"/>
                <a:sym typeface="+mn-ea"/>
              </a:rPr>
              <a:t>日常履约评价标准和专项履约评价实行综合评分制，基准分为100分。</a:t>
            </a:r>
            <a:endParaRPr lang="zh-CN" altLang="en-US" sz="2000" dirty="0">
              <a:latin typeface="微软雅黑" panose="020B0503020204020204" pitchFamily="34" charset="-122"/>
              <a:ea typeface="微软雅黑" panose="020B0503020204020204" pitchFamily="34" charset="-122"/>
              <a:sym typeface="+mn-ea"/>
            </a:endParaRPr>
          </a:p>
          <a:p>
            <a:pPr marL="800100" lvl="0" indent="-342900" algn="l" defTabSz="1087120" fontAlgn="base">
              <a:lnSpc>
                <a:spcPct val="125000"/>
              </a:lnSpc>
              <a:buClrTx/>
              <a:buSzTx/>
              <a:buFont typeface="Wingdings" panose="05000000000000000000" charset="0"/>
              <a:buChar char="u"/>
              <a:defRPr/>
              <a:extLst>
                <a:ext uri="{35155182-B16C-46BC-9424-99874614C6A1}">
                  <wpsdc:marlchars xmlns:wpsdc="http://www.wps.cn/officeDocument/2017/drawingmlCustomData" val="300" checksum="1723611322"/>
                </a:ext>
              </a:extLst>
            </a:pPr>
            <a:r>
              <a:rPr lang="zh-CN" altLang="en-US" sz="2000" dirty="0">
                <a:latin typeface="微软雅黑" panose="020B0503020204020204" pitchFamily="34" charset="-122"/>
                <a:ea typeface="微软雅黑" panose="020B0503020204020204" pitchFamily="34" charset="-122"/>
                <a:sym typeface="+mn-ea"/>
              </a:rPr>
              <a:t>根据具体合同类型参照本办法合同履约评价标准模板进行评价。</a:t>
            </a:r>
            <a:r>
              <a:rPr lang="en-US" altLang="zh-CN" sz="2000" dirty="0">
                <a:latin typeface="微软雅黑" panose="020B0503020204020204" pitchFamily="34" charset="-122"/>
                <a:ea typeface="微软雅黑" panose="020B0503020204020204" pitchFamily="34" charset="-122"/>
                <a:sym typeface="+mn-ea"/>
              </a:rPr>
              <a:t> </a:t>
            </a:r>
            <a:endParaRPr lang="zh-CN" altLang="en-US" sz="2000" dirty="0">
              <a:latin typeface="微软雅黑" panose="020B0503020204020204" pitchFamily="34" charset="-122"/>
              <a:ea typeface="微软雅黑" panose="020B0503020204020204" pitchFamily="34" charset="-122"/>
              <a:sym typeface="+mn-ea"/>
            </a:endParaRPr>
          </a:p>
          <a:p>
            <a:pPr marL="800100" lvl="0" indent="-342900" algn="l" defTabSz="1087120" fontAlgn="base">
              <a:lnSpc>
                <a:spcPct val="125000"/>
              </a:lnSpc>
              <a:buClrTx/>
              <a:buSzTx/>
              <a:buFont typeface="Wingdings" panose="05000000000000000000" charset="0"/>
              <a:buChar char="u"/>
              <a:defRPr/>
              <a:extLst>
                <a:ext uri="{35155182-B16C-46BC-9424-99874614C6A1}">
                  <wpsdc:marlchars xmlns:wpsdc="http://www.wps.cn/officeDocument/2017/drawingmlCustomData" val="300" checksum="1723611322"/>
                </a:ext>
              </a:extLst>
            </a:pPr>
            <a:r>
              <a:rPr lang="zh-CN" altLang="en-US" sz="2000" dirty="0">
                <a:latin typeface="微软雅黑" panose="020B0503020204020204" pitchFamily="34" charset="-122"/>
                <a:ea typeface="微软雅黑" panose="020B0503020204020204" pitchFamily="34" charset="-122"/>
                <a:sym typeface="+mn-ea"/>
              </a:rPr>
              <a:t>原则上同一主办部门主办的同类合同应采用同一评价标准。</a:t>
            </a:r>
            <a:endParaRPr lang="zh-CN" altLang="en-US" sz="2000" dirty="0">
              <a:latin typeface="微软雅黑" panose="020B0503020204020204" pitchFamily="34" charset="-122"/>
              <a:ea typeface="微软雅黑" panose="020B0503020204020204" pitchFamily="34" charset="-122"/>
              <a:sym typeface="+mn-ea"/>
            </a:endParaRPr>
          </a:p>
        </p:txBody>
      </p:sp>
      <p:sp>
        <p:nvSpPr>
          <p:cNvPr id="4" name="TextBox 2"/>
          <p:cNvSpPr txBox="1"/>
          <p:nvPr/>
        </p:nvSpPr>
        <p:spPr>
          <a:xfrm>
            <a:off x="6615430" y="863600"/>
            <a:ext cx="4951095" cy="5026025"/>
          </a:xfrm>
          <a:prstGeom prst="rect">
            <a:avLst/>
          </a:prstGeom>
          <a:noFill/>
        </p:spPr>
        <p:txBody>
          <a:bodyPr wrap="square" rtlCol="0">
            <a:noAutofit/>
          </a:bodyPr>
          <a:p>
            <a:pPr indent="457200">
              <a:lnSpc>
                <a:spcPct val="125000"/>
              </a:lnSpc>
            </a:pPr>
            <a:endParaRPr lang="zh-CN" altLang="en-US" sz="2000" dirty="0">
              <a:latin typeface="微软雅黑" panose="020B0503020204020204" pitchFamily="34" charset="-122"/>
              <a:ea typeface="微软雅黑" panose="020B0503020204020204" pitchFamily="34" charset="-122"/>
              <a:sym typeface="+mn-ea"/>
            </a:endParaRPr>
          </a:p>
        </p:txBody>
      </p:sp>
      <p:pic>
        <p:nvPicPr>
          <p:cNvPr id="5" name="图片 1" descr="IMG_256"/>
          <p:cNvPicPr>
            <a:picLocks noChangeAspect="1"/>
          </p:cNvPicPr>
          <p:nvPr/>
        </p:nvPicPr>
        <p:blipFill>
          <a:blip r:embed="rId1"/>
          <a:stretch>
            <a:fillRect/>
          </a:stretch>
        </p:blipFill>
        <p:spPr>
          <a:xfrm>
            <a:off x="6729095" y="1026795"/>
            <a:ext cx="4761230" cy="5032375"/>
          </a:xfrm>
          <a:prstGeom prst="rect">
            <a:avLst/>
          </a:prstGeom>
          <a:noFill/>
          <a:ln w="9525">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525" y="45720"/>
            <a:ext cx="6656705" cy="58356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一</a:t>
            </a:r>
            <a:r>
              <a:rPr lang="zh-CN" altLang="en-US" sz="3200" b="1" dirty="0" smtClean="0">
                <a:solidFill>
                  <a:schemeClr val="bg1"/>
                </a:solidFill>
                <a:latin typeface="微软雅黑" panose="020B0503020204020204" pitchFamily="34" charset="-122"/>
                <a:ea typeface="微软雅黑" panose="020B0503020204020204" pitchFamily="34" charset="-122"/>
              </a:rPr>
              <a:t>、</a:t>
            </a:r>
            <a:r>
              <a:rPr lang="zh-CN" altLang="en-US" sz="3200" b="1" dirty="0" smtClean="0">
                <a:solidFill>
                  <a:schemeClr val="bg1"/>
                </a:solidFill>
                <a:latin typeface="微软雅黑" panose="020B0503020204020204" pitchFamily="34" charset="-122"/>
                <a:ea typeface="微软雅黑" panose="020B0503020204020204" pitchFamily="34" charset="-122"/>
                <a:sym typeface="宋体" panose="02010600030101010101" pitchFamily="2" charset="-122"/>
              </a:rPr>
              <a:t>供应商履约管理</a:t>
            </a:r>
            <a:r>
              <a:rPr lang="zh-CN" altLang="en-US" sz="3200" b="1" dirty="0" smtClean="0">
                <a:solidFill>
                  <a:schemeClr val="bg1"/>
                </a:solidFill>
                <a:latin typeface="微软雅黑" panose="020B0503020204020204" pitchFamily="34" charset="-122"/>
                <a:ea typeface="微软雅黑" panose="020B0503020204020204" pitchFamily="34" charset="-122"/>
                <a:sym typeface="+mn-ea"/>
              </a:rPr>
              <a:t>相关制度要求</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263390" y="1197085"/>
            <a:ext cx="11519147" cy="2938145"/>
          </a:xfrm>
          <a:prstGeom prst="rect">
            <a:avLst/>
          </a:prstGeom>
          <a:noFill/>
        </p:spPr>
        <p:txBody>
          <a:bodyPr wrap="square" rtlCol="0">
            <a:spAutoFit/>
          </a:bodyPr>
          <a:lstStyle/>
          <a:p>
            <a:pPr indent="457200">
              <a:lnSpc>
                <a:spcPct val="125000"/>
              </a:lnSpc>
            </a:pPr>
            <a:r>
              <a:rPr lang="zh-CN" altLang="en-US" sz="2400" b="1" dirty="0">
                <a:latin typeface="微软雅黑" panose="020B0503020204020204" pitchFamily="34" charset="-122"/>
                <a:ea typeface="微软雅黑" panose="020B0503020204020204" pitchFamily="34" charset="-122"/>
              </a:rPr>
              <a:t>（五）最终履约评价</a:t>
            </a:r>
            <a:endParaRPr lang="zh-CN" altLang="en-US" sz="2400" b="1" dirty="0">
              <a:latin typeface="微软雅黑" panose="020B0503020204020204" pitchFamily="34" charset="-122"/>
              <a:ea typeface="微软雅黑" panose="020B0503020204020204" pitchFamily="34" charset="-122"/>
            </a:endParaRPr>
          </a:p>
          <a:p>
            <a:pPr lvl="0" indent="508000" defTabSz="1087120" fontAlgn="base">
              <a:lnSpc>
                <a:spcPct val="125000"/>
              </a:lnSpc>
              <a:spcBef>
                <a:spcPct val="0"/>
              </a:spcBef>
              <a:spcAft>
                <a:spcPct val="0"/>
              </a:spcAft>
              <a:defRPr/>
              <a:extLst>
                <a:ext uri="{35155182-B16C-46BC-9424-99874614C6A1}">
                  <wpsdc:indentchars xmlns:wpsdc="http://www.wps.cn/officeDocument/2017/drawingmlCustomData" val="200" checksum="282533468"/>
                </a:ext>
              </a:extLst>
            </a:pPr>
            <a:r>
              <a:rPr lang="zh-CN" altLang="en-US" sz="2000" dirty="0">
                <a:latin typeface="微软雅黑" panose="020B0503020204020204" pitchFamily="34" charset="-122"/>
                <a:ea typeface="微软雅黑" panose="020B0503020204020204" pitchFamily="34" charset="-122"/>
                <a:sym typeface="+mn-ea"/>
              </a:rPr>
              <a:t>主办部门在在单个合同执行完毕、且在合同终止流程之前进行最终履约评价，按照最终履约评价标准编制评价报告，评价报告将是合同结算流程的归档材料之一。</a:t>
            </a:r>
            <a:endParaRPr lang="zh-CN" altLang="en-US" sz="2000" dirty="0">
              <a:latin typeface="微软雅黑" panose="020B0503020204020204" pitchFamily="34" charset="-122"/>
              <a:ea typeface="微软雅黑" panose="020B0503020204020204" pitchFamily="34" charset="-122"/>
              <a:sym typeface="+mn-ea"/>
            </a:endParaRPr>
          </a:p>
          <a:p>
            <a:pPr lvl="0" indent="457200" algn="l" defTabSz="1088390">
              <a:lnSpc>
                <a:spcPct val="125000"/>
              </a:lnSpc>
              <a:buClrTx/>
              <a:buSzTx/>
              <a:buFontTx/>
            </a:pPr>
            <a:r>
              <a:rPr lang="zh-CN" altLang="en-US" sz="2400" b="1" dirty="0">
                <a:latin typeface="微软雅黑" panose="020B0503020204020204" pitchFamily="34" charset="-122"/>
                <a:ea typeface="微软雅黑" panose="020B0503020204020204" pitchFamily="34" charset="-122"/>
                <a:sym typeface="+mn-ea"/>
              </a:rPr>
              <a:t>（六）履约评价结果应用</a:t>
            </a:r>
            <a:endParaRPr lang="zh-CN" altLang="en-US" sz="2400" b="1" dirty="0">
              <a:latin typeface="微软雅黑" panose="020B0503020204020204" pitchFamily="34" charset="-122"/>
              <a:ea typeface="微软雅黑" panose="020B0503020204020204" pitchFamily="34" charset="-122"/>
              <a:sym typeface="+mn-ea"/>
            </a:endParaRPr>
          </a:p>
          <a:p>
            <a:pPr marL="800100" lvl="0" indent="-342900" algn="l" defTabSz="1087120" fontAlgn="base">
              <a:lnSpc>
                <a:spcPct val="125000"/>
              </a:lnSpc>
              <a:buClrTx/>
              <a:buSzTx/>
              <a:buFont typeface="Wingdings" panose="05000000000000000000" charset="0"/>
              <a:buChar char="u"/>
              <a:defRPr/>
              <a:extLst>
                <a:ext uri="{35155182-B16C-46BC-9424-99874614C6A1}">
                  <wpsdc:marlchars xmlns:wpsdc="http://www.wps.cn/officeDocument/2017/drawingmlCustomData" val="300" checksum="1723611322"/>
                </a:ext>
              </a:extLst>
            </a:pPr>
            <a:r>
              <a:rPr lang="zh-CN" altLang="en-US" sz="2000" dirty="0">
                <a:latin typeface="微软雅黑" panose="020B0503020204020204" pitchFamily="34" charset="-122"/>
                <a:ea typeface="微软雅黑" panose="020B0503020204020204" pitchFamily="34" charset="-122"/>
                <a:sym typeface="+mn-ea"/>
              </a:rPr>
              <a:t> 合同期内履约评价得分可以作为合同续签的依据。</a:t>
            </a:r>
            <a:endParaRPr lang="zh-CN" altLang="en-US" sz="2000" dirty="0">
              <a:latin typeface="微软雅黑" panose="020B0503020204020204" pitchFamily="34" charset="-122"/>
              <a:ea typeface="微软雅黑" panose="020B0503020204020204" pitchFamily="34" charset="-122"/>
              <a:sym typeface="+mn-ea"/>
            </a:endParaRPr>
          </a:p>
          <a:p>
            <a:pPr marL="800100" lvl="0" indent="-342900" algn="l" defTabSz="1087120" fontAlgn="base">
              <a:lnSpc>
                <a:spcPct val="125000"/>
              </a:lnSpc>
              <a:buClrTx/>
              <a:buSzTx/>
              <a:buFont typeface="Wingdings" panose="05000000000000000000" charset="0"/>
              <a:buChar char="u"/>
              <a:defRPr/>
              <a:extLst>
                <a:ext uri="{35155182-B16C-46BC-9424-99874614C6A1}">
                  <wpsdc:marlchars xmlns:wpsdc="http://www.wps.cn/officeDocument/2017/drawingmlCustomData" val="300" checksum="1723611322"/>
                </a:ext>
              </a:extLst>
            </a:pPr>
            <a:r>
              <a:rPr lang="zh-CN" altLang="en-US" sz="2000" dirty="0">
                <a:latin typeface="微软雅黑" panose="020B0503020204020204" pitchFamily="34" charset="-122"/>
                <a:ea typeface="微软雅黑" panose="020B0503020204020204" pitchFamily="34" charset="-122"/>
                <a:sym typeface="+mn-ea"/>
              </a:rPr>
              <a:t>为强化履约评价结果的应用，加强供应商信用信息管理，促进公司内部供应商信息的公开和共享， 保证合同双方诚信、稳定地合作，公司建立供应商信用体系。</a:t>
            </a:r>
            <a:endParaRPr lang="zh-CN" altLang="en-US" sz="2400" b="1" dirty="0">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525" y="45720"/>
            <a:ext cx="6656705" cy="58356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一</a:t>
            </a:r>
            <a:r>
              <a:rPr lang="zh-CN" altLang="en-US" sz="3200" b="1" dirty="0" smtClean="0">
                <a:solidFill>
                  <a:schemeClr val="bg1"/>
                </a:solidFill>
                <a:latin typeface="微软雅黑" panose="020B0503020204020204" pitchFamily="34" charset="-122"/>
                <a:ea typeface="微软雅黑" panose="020B0503020204020204" pitchFamily="34" charset="-122"/>
              </a:rPr>
              <a:t>、</a:t>
            </a:r>
            <a:r>
              <a:rPr lang="zh-CN" altLang="en-US" sz="3200" b="1" dirty="0" smtClean="0">
                <a:solidFill>
                  <a:schemeClr val="bg1"/>
                </a:solidFill>
                <a:latin typeface="微软雅黑" panose="020B0503020204020204" pitchFamily="34" charset="-122"/>
                <a:ea typeface="微软雅黑" panose="020B0503020204020204" pitchFamily="34" charset="-122"/>
                <a:sym typeface="宋体" panose="02010600030101010101" pitchFamily="2" charset="-122"/>
              </a:rPr>
              <a:t>供应商履约管理</a:t>
            </a:r>
            <a:r>
              <a:rPr lang="zh-CN" altLang="en-US" sz="3200" b="1" dirty="0" smtClean="0">
                <a:solidFill>
                  <a:schemeClr val="bg1"/>
                </a:solidFill>
                <a:latin typeface="微软雅黑" panose="020B0503020204020204" pitchFamily="34" charset="-122"/>
                <a:ea typeface="微软雅黑" panose="020B0503020204020204" pitchFamily="34" charset="-122"/>
                <a:sym typeface="+mn-ea"/>
              </a:rPr>
              <a:t>相关制度要求</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263390" y="766555"/>
            <a:ext cx="11519147" cy="1014730"/>
          </a:xfrm>
          <a:prstGeom prst="rect">
            <a:avLst/>
          </a:prstGeom>
          <a:noFill/>
        </p:spPr>
        <p:txBody>
          <a:bodyPr wrap="square" rtlCol="0">
            <a:spAutoFit/>
          </a:bodyPr>
          <a:lstStyle/>
          <a:p>
            <a:pPr marL="0" marR="0" lvl="0" indent="457200" algn="l" defTabSz="1087120" rtl="0" fontAlgn="base">
              <a:lnSpc>
                <a:spcPct val="125000"/>
              </a:lnSpc>
              <a:spcBef>
                <a:spcPct val="0"/>
              </a:spcBef>
              <a:spcAft>
                <a:spcPct val="0"/>
              </a:spcAft>
              <a:buClrTx/>
              <a:buSzTx/>
              <a:buFont typeface="Arial" panose="020B0604020202020204" pitchFamily="34" charset="0"/>
              <a:buNone/>
              <a:defRPr/>
            </a:pPr>
            <a:r>
              <a:rPr lang="zh-CN" altLang="en-US" sz="2400" b="1" dirty="0">
                <a:latin typeface="微软雅黑" panose="020B0503020204020204" pitchFamily="34" charset="-122"/>
                <a:ea typeface="微软雅黑" panose="020B0503020204020204" pitchFamily="34" charset="-122"/>
                <a:sym typeface="+mn-ea"/>
              </a:rPr>
              <a:t>（七）信用得分的计算方式</a:t>
            </a:r>
            <a:endParaRPr lang="zh-CN" altLang="en-US" sz="2400" b="1" dirty="0">
              <a:latin typeface="微软雅黑" panose="020B0503020204020204" pitchFamily="34" charset="-122"/>
              <a:ea typeface="微软雅黑" panose="020B0503020204020204" pitchFamily="34" charset="-122"/>
              <a:sym typeface="+mn-ea"/>
            </a:endParaRPr>
          </a:p>
          <a:p>
            <a:pPr marL="0" marR="0" lvl="0" indent="457200" algn="l" defTabSz="1087120" rtl="0" fontAlgn="base">
              <a:lnSpc>
                <a:spcPct val="125000"/>
              </a:lnSpc>
              <a:spcBef>
                <a:spcPct val="0"/>
              </a:spcBef>
              <a:spcAft>
                <a:spcPct val="0"/>
              </a:spcAft>
              <a:buClrTx/>
              <a:buSzTx/>
              <a:buFont typeface="Arial" panose="020B0604020202020204" pitchFamily="34" charset="0"/>
              <a:buNone/>
              <a:defRPr/>
            </a:pPr>
            <a:endParaRPr lang="zh-CN" altLang="en-US" sz="2400" b="1" dirty="0">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1"/>
          <a:stretch>
            <a:fillRect/>
          </a:stretch>
        </p:blipFill>
        <p:spPr>
          <a:xfrm>
            <a:off x="982345" y="1415415"/>
            <a:ext cx="10135870" cy="424370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525" y="45720"/>
            <a:ext cx="6656705" cy="58356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一</a:t>
            </a:r>
            <a:r>
              <a:rPr lang="zh-CN" altLang="en-US" sz="3200" b="1" dirty="0" smtClean="0">
                <a:solidFill>
                  <a:schemeClr val="bg1"/>
                </a:solidFill>
                <a:latin typeface="微软雅黑" panose="020B0503020204020204" pitchFamily="34" charset="-122"/>
                <a:ea typeface="微软雅黑" panose="020B0503020204020204" pitchFamily="34" charset="-122"/>
              </a:rPr>
              <a:t>、</a:t>
            </a:r>
            <a:r>
              <a:rPr lang="zh-CN" altLang="en-US" sz="3200" b="1" dirty="0" smtClean="0">
                <a:solidFill>
                  <a:schemeClr val="bg1"/>
                </a:solidFill>
                <a:latin typeface="微软雅黑" panose="020B0503020204020204" pitchFamily="34" charset="-122"/>
                <a:ea typeface="微软雅黑" panose="020B0503020204020204" pitchFamily="34" charset="-122"/>
                <a:sym typeface="宋体" panose="02010600030101010101" pitchFamily="2" charset="-122"/>
              </a:rPr>
              <a:t>供应商履约管理</a:t>
            </a:r>
            <a:r>
              <a:rPr lang="zh-CN" altLang="en-US" sz="3200" b="1" dirty="0" smtClean="0">
                <a:solidFill>
                  <a:schemeClr val="bg1"/>
                </a:solidFill>
                <a:latin typeface="微软雅黑" panose="020B0503020204020204" pitchFamily="34" charset="-122"/>
                <a:ea typeface="微软雅黑" panose="020B0503020204020204" pitchFamily="34" charset="-122"/>
                <a:sym typeface="+mn-ea"/>
              </a:rPr>
              <a:t>相关制度要求</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263390" y="766555"/>
            <a:ext cx="11519147" cy="1014730"/>
          </a:xfrm>
          <a:prstGeom prst="rect">
            <a:avLst/>
          </a:prstGeom>
          <a:noFill/>
        </p:spPr>
        <p:txBody>
          <a:bodyPr wrap="square" rtlCol="0">
            <a:spAutoFit/>
          </a:bodyPr>
          <a:lstStyle/>
          <a:p>
            <a:pPr marL="0" marR="0" lvl="0" indent="457200" algn="l" defTabSz="1087120" rtl="0" fontAlgn="base">
              <a:lnSpc>
                <a:spcPct val="125000"/>
              </a:lnSpc>
              <a:spcBef>
                <a:spcPct val="0"/>
              </a:spcBef>
              <a:spcAft>
                <a:spcPct val="0"/>
              </a:spcAft>
              <a:buClrTx/>
              <a:buSzTx/>
              <a:buFont typeface="Arial" panose="020B0604020202020204" pitchFamily="34" charset="0"/>
              <a:buNone/>
              <a:defRPr/>
            </a:pPr>
            <a:r>
              <a:rPr lang="zh-CN" altLang="en-US" sz="2400" b="1" dirty="0">
                <a:latin typeface="微软雅黑" panose="020B0503020204020204" pitchFamily="34" charset="-122"/>
                <a:ea typeface="微软雅黑" panose="020B0503020204020204" pitchFamily="34" charset="-122"/>
                <a:sym typeface="+mn-ea"/>
              </a:rPr>
              <a:t>（八）信用等级的划分及限制条件</a:t>
            </a:r>
            <a:endParaRPr lang="zh-CN" altLang="en-US" sz="2400" b="1" dirty="0">
              <a:latin typeface="微软雅黑" panose="020B0503020204020204" pitchFamily="34" charset="-122"/>
              <a:ea typeface="微软雅黑" panose="020B0503020204020204" pitchFamily="34" charset="-122"/>
              <a:sym typeface="+mn-ea"/>
            </a:endParaRPr>
          </a:p>
          <a:p>
            <a:pPr marL="0" marR="0" lvl="0" indent="457200" algn="l" defTabSz="1087120" rtl="0" fontAlgn="base">
              <a:lnSpc>
                <a:spcPct val="125000"/>
              </a:lnSpc>
              <a:spcBef>
                <a:spcPct val="0"/>
              </a:spcBef>
              <a:spcAft>
                <a:spcPct val="0"/>
              </a:spcAft>
              <a:buClrTx/>
              <a:buSzTx/>
              <a:buFont typeface="Arial" panose="020B0604020202020204" pitchFamily="34" charset="0"/>
              <a:buNone/>
              <a:defRPr/>
            </a:pPr>
            <a:endParaRPr lang="zh-CN" altLang="en-US" sz="2400" b="1" dirty="0">
              <a:latin typeface="微软雅黑" panose="020B0503020204020204" pitchFamily="34" charset="-122"/>
              <a:ea typeface="微软雅黑" panose="020B0503020204020204" pitchFamily="34" charset="-122"/>
              <a:sym typeface="+mn-ea"/>
            </a:endParaRPr>
          </a:p>
        </p:txBody>
      </p:sp>
      <p:pic>
        <p:nvPicPr>
          <p:cNvPr id="6" name="图片 5"/>
          <p:cNvPicPr>
            <a:picLocks noChangeAspect="1"/>
          </p:cNvPicPr>
          <p:nvPr/>
        </p:nvPicPr>
        <p:blipFill>
          <a:blip r:embed="rId1"/>
          <a:stretch>
            <a:fillRect/>
          </a:stretch>
        </p:blipFill>
        <p:spPr>
          <a:xfrm>
            <a:off x="911860" y="1484630"/>
            <a:ext cx="9531985" cy="4035425"/>
          </a:xfrm>
          <a:prstGeom prst="rect">
            <a:avLst/>
          </a:prstGeom>
        </p:spPr>
      </p:pic>
      <p:sp>
        <p:nvSpPr>
          <p:cNvPr id="4" name="TextBox 2"/>
          <p:cNvSpPr txBox="1"/>
          <p:nvPr/>
        </p:nvSpPr>
        <p:spPr>
          <a:xfrm>
            <a:off x="1000125" y="5593080"/>
            <a:ext cx="9360535" cy="363855"/>
          </a:xfrm>
          <a:prstGeom prst="rect">
            <a:avLst/>
          </a:prstGeom>
          <a:noFill/>
        </p:spPr>
        <p:txBody>
          <a:bodyPr wrap="square" rtlCol="0">
            <a:noAutofit/>
          </a:bodyPr>
          <a:p>
            <a:pPr indent="457200">
              <a:lnSpc>
                <a:spcPct val="125000"/>
              </a:lnSpc>
            </a:pPr>
            <a:r>
              <a:rPr lang="zh-CN" altLang="en-US" sz="1800" b="1" dirty="0">
                <a:latin typeface="微软雅黑" panose="020B0503020204020204" pitchFamily="34" charset="-122"/>
                <a:ea typeface="微软雅黑" panose="020B0503020204020204" pitchFamily="34" charset="-122"/>
                <a:sym typeface="+mn-ea"/>
              </a:rPr>
              <a:t>注：年度信用等级为</a:t>
            </a:r>
            <a:r>
              <a:rPr lang="en-US" altLang="zh-CN" sz="1800" b="1" dirty="0">
                <a:latin typeface="微软雅黑" panose="020B0503020204020204" pitchFamily="34" charset="-122"/>
                <a:ea typeface="微软雅黑" panose="020B0503020204020204" pitchFamily="34" charset="-122"/>
                <a:sym typeface="+mn-ea"/>
              </a:rPr>
              <a:t>B</a:t>
            </a:r>
            <a:r>
              <a:rPr lang="zh-CN" altLang="en-US" sz="1800" b="1" dirty="0">
                <a:latin typeface="微软雅黑" panose="020B0503020204020204" pitchFamily="34" charset="-122"/>
                <a:ea typeface="微软雅黑" panose="020B0503020204020204" pitchFamily="34" charset="-122"/>
                <a:sym typeface="+mn-ea"/>
              </a:rPr>
              <a:t>、</a:t>
            </a:r>
            <a:r>
              <a:rPr lang="en-US" altLang="zh-CN" sz="1800" b="1" dirty="0">
                <a:latin typeface="微软雅黑" panose="020B0503020204020204" pitchFamily="34" charset="-122"/>
                <a:ea typeface="微软雅黑" panose="020B0503020204020204" pitchFamily="34" charset="-122"/>
                <a:sym typeface="+mn-ea"/>
              </a:rPr>
              <a:t>C</a:t>
            </a:r>
            <a:r>
              <a:rPr lang="zh-CN" altLang="en-US" sz="1800" b="1" dirty="0">
                <a:latin typeface="微软雅黑" panose="020B0503020204020204" pitchFamily="34" charset="-122"/>
                <a:ea typeface="微软雅黑" panose="020B0503020204020204" pitchFamily="34" charset="-122"/>
                <a:sym typeface="+mn-ea"/>
              </a:rPr>
              <a:t>、</a:t>
            </a:r>
            <a:r>
              <a:rPr lang="en-US" altLang="zh-CN" sz="1800" b="1" dirty="0">
                <a:latin typeface="微软雅黑" panose="020B0503020204020204" pitchFamily="34" charset="-122"/>
                <a:ea typeface="微软雅黑" panose="020B0503020204020204" pitchFamily="34" charset="-122"/>
                <a:sym typeface="+mn-ea"/>
              </a:rPr>
              <a:t>D</a:t>
            </a:r>
            <a:r>
              <a:rPr lang="zh-CN" altLang="en-US" sz="1800" b="1" dirty="0">
                <a:latin typeface="微软雅黑" panose="020B0503020204020204" pitchFamily="34" charset="-122"/>
                <a:ea typeface="微软雅黑" panose="020B0503020204020204" pitchFamily="34" charset="-122"/>
                <a:sym typeface="+mn-ea"/>
              </a:rPr>
              <a:t>级的，列入黑名单管理</a:t>
            </a:r>
            <a:endParaRPr lang="zh-CN" altLang="en-US" sz="1800" b="1" dirty="0">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525" y="45720"/>
            <a:ext cx="6656705" cy="58356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一</a:t>
            </a:r>
            <a:r>
              <a:rPr lang="zh-CN" altLang="en-US" sz="3200" b="1" dirty="0" smtClean="0">
                <a:solidFill>
                  <a:schemeClr val="bg1"/>
                </a:solidFill>
                <a:latin typeface="微软雅黑" panose="020B0503020204020204" pitchFamily="34" charset="-122"/>
                <a:ea typeface="微软雅黑" panose="020B0503020204020204" pitchFamily="34" charset="-122"/>
              </a:rPr>
              <a:t>、</a:t>
            </a:r>
            <a:r>
              <a:rPr lang="zh-CN" altLang="en-US" sz="3200" b="1" dirty="0" smtClean="0">
                <a:solidFill>
                  <a:schemeClr val="bg1"/>
                </a:solidFill>
                <a:latin typeface="微软雅黑" panose="020B0503020204020204" pitchFamily="34" charset="-122"/>
                <a:ea typeface="微软雅黑" panose="020B0503020204020204" pitchFamily="34" charset="-122"/>
                <a:sym typeface="宋体" panose="02010600030101010101" pitchFamily="2" charset="-122"/>
              </a:rPr>
              <a:t>供应商履约管理</a:t>
            </a:r>
            <a:r>
              <a:rPr lang="zh-CN" altLang="en-US" sz="3200" b="1" dirty="0" smtClean="0">
                <a:solidFill>
                  <a:schemeClr val="bg1"/>
                </a:solidFill>
                <a:latin typeface="微软雅黑" panose="020B0503020204020204" pitchFamily="34" charset="-122"/>
                <a:ea typeface="微软雅黑" panose="020B0503020204020204" pitchFamily="34" charset="-122"/>
                <a:sym typeface="+mn-ea"/>
              </a:rPr>
              <a:t>相关制度要求</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263390" y="766555"/>
            <a:ext cx="11519147" cy="1014730"/>
          </a:xfrm>
          <a:prstGeom prst="rect">
            <a:avLst/>
          </a:prstGeom>
          <a:noFill/>
        </p:spPr>
        <p:txBody>
          <a:bodyPr wrap="square" rtlCol="0">
            <a:spAutoFit/>
          </a:bodyPr>
          <a:lstStyle/>
          <a:p>
            <a:pPr marL="0" marR="0" lvl="0" indent="457200" algn="l" defTabSz="1087120" rtl="0" fontAlgn="base">
              <a:lnSpc>
                <a:spcPct val="125000"/>
              </a:lnSpc>
              <a:spcBef>
                <a:spcPct val="0"/>
              </a:spcBef>
              <a:spcAft>
                <a:spcPct val="0"/>
              </a:spcAft>
              <a:buClrTx/>
              <a:buSzTx/>
              <a:buFont typeface="Arial" panose="020B0604020202020204" pitchFamily="34" charset="0"/>
              <a:buNone/>
              <a:defRPr/>
            </a:pPr>
            <a:r>
              <a:rPr lang="zh-CN" altLang="en-US" sz="2400" b="1" dirty="0">
                <a:latin typeface="微软雅黑" panose="020B0503020204020204" pitchFamily="34" charset="-122"/>
                <a:ea typeface="微软雅黑" panose="020B0503020204020204" pitchFamily="34" charset="-122"/>
                <a:sym typeface="+mn-ea"/>
              </a:rPr>
              <a:t>（九）供应商参与非招标项目资格权限标准</a:t>
            </a:r>
            <a:endParaRPr lang="zh-CN" altLang="en-US" sz="2400" b="1" dirty="0">
              <a:latin typeface="微软雅黑" panose="020B0503020204020204" pitchFamily="34" charset="-122"/>
              <a:ea typeface="微软雅黑" panose="020B0503020204020204" pitchFamily="34" charset="-122"/>
              <a:sym typeface="+mn-ea"/>
            </a:endParaRPr>
          </a:p>
          <a:p>
            <a:pPr marL="0" marR="0" lvl="0" indent="457200" algn="l" defTabSz="1087120" rtl="0" fontAlgn="base">
              <a:lnSpc>
                <a:spcPct val="125000"/>
              </a:lnSpc>
              <a:spcBef>
                <a:spcPct val="0"/>
              </a:spcBef>
              <a:spcAft>
                <a:spcPct val="0"/>
              </a:spcAft>
              <a:buClrTx/>
              <a:buSzTx/>
              <a:buFont typeface="Arial" panose="020B0604020202020204" pitchFamily="34" charset="0"/>
              <a:buNone/>
              <a:defRPr/>
            </a:pPr>
            <a:endParaRPr lang="zh-CN" altLang="en-US" sz="2400" b="1" dirty="0">
              <a:latin typeface="微软雅黑" panose="020B0503020204020204" pitchFamily="34" charset="-122"/>
              <a:ea typeface="微软雅黑" panose="020B0503020204020204" pitchFamily="34" charset="-122"/>
              <a:sym typeface="+mn-ea"/>
            </a:endParaRPr>
          </a:p>
        </p:txBody>
      </p:sp>
      <p:sp>
        <p:nvSpPr>
          <p:cNvPr id="7" name="TextBox 2"/>
          <p:cNvSpPr txBox="1"/>
          <p:nvPr/>
        </p:nvSpPr>
        <p:spPr>
          <a:xfrm>
            <a:off x="263390" y="1340595"/>
            <a:ext cx="11519147" cy="5477510"/>
          </a:xfrm>
          <a:prstGeom prst="rect">
            <a:avLst/>
          </a:prstGeom>
          <a:noFill/>
        </p:spPr>
        <p:txBody>
          <a:bodyPr wrap="square" rtlCol="0">
            <a:spAutoFit/>
          </a:bodyPr>
          <a:p>
            <a:pPr lvl="0" indent="508000" defTabSz="1087120" fontAlgn="base">
              <a:lnSpc>
                <a:spcPct val="125000"/>
              </a:lnSpc>
              <a:spcBef>
                <a:spcPct val="0"/>
              </a:spcBef>
              <a:spcAft>
                <a:spcPct val="0"/>
              </a:spcAft>
              <a:defRPr/>
              <a:extLst>
                <a:ext uri="{35155182-B16C-46BC-9424-99874614C6A1}">
                  <wpsdc:indentchars xmlns:wpsdc="http://www.wps.cn/officeDocument/2017/drawingmlCustomData" val="200" checksum="282533468"/>
                </a:ext>
              </a:extLst>
            </a:pPr>
            <a:r>
              <a:rPr lang="en-US" altLang="zh-CN" sz="2000" dirty="0">
                <a:solidFill>
                  <a:srgbClr val="FF0000"/>
                </a:solidFill>
                <a:latin typeface="微软雅黑" panose="020B0503020204020204" pitchFamily="34" charset="-122"/>
                <a:ea typeface="微软雅黑" panose="020B0503020204020204" pitchFamily="34" charset="-122"/>
                <a:sym typeface="+mn-ea"/>
              </a:rPr>
              <a:t>1.S </a:t>
            </a:r>
            <a:r>
              <a:rPr lang="zh-CN" altLang="en-US" sz="2000" dirty="0">
                <a:solidFill>
                  <a:srgbClr val="FF0000"/>
                </a:solidFill>
                <a:latin typeface="微软雅黑" panose="020B0503020204020204" pitchFamily="34" charset="-122"/>
                <a:ea typeface="微软雅黑" panose="020B0503020204020204" pitchFamily="34" charset="-122"/>
                <a:sym typeface="+mn-ea"/>
              </a:rPr>
              <a:t>级及以上供应商的参与公司非招标项目资格权限标准为：无权限限制，并可依据招采项目的</a:t>
            </a:r>
            <a:r>
              <a:rPr lang="en-US" altLang="zh-CN" sz="2000" dirty="0">
                <a:solidFill>
                  <a:srgbClr val="FF0000"/>
                </a:solidFill>
                <a:latin typeface="微软雅黑" panose="020B0503020204020204" pitchFamily="34" charset="-122"/>
                <a:ea typeface="微软雅黑" panose="020B0503020204020204" pitchFamily="34" charset="-122"/>
                <a:sym typeface="+mn-ea"/>
              </a:rPr>
              <a:t> </a:t>
            </a:r>
            <a:r>
              <a:rPr lang="zh-CN" altLang="en-US" sz="2000" dirty="0">
                <a:solidFill>
                  <a:srgbClr val="FF0000"/>
                </a:solidFill>
                <a:latin typeface="微软雅黑" panose="020B0503020204020204" pitchFamily="34" charset="-122"/>
                <a:ea typeface="微软雅黑" panose="020B0503020204020204" pitchFamily="34" charset="-122"/>
                <a:sym typeface="+mn-ea"/>
              </a:rPr>
              <a:t>实际情况给予适当的加分。</a:t>
            </a:r>
            <a:endParaRPr lang="zh-CN" altLang="en-US" sz="2000" dirty="0">
              <a:solidFill>
                <a:srgbClr val="FF0000"/>
              </a:solidFill>
              <a:latin typeface="微软雅黑" panose="020B0503020204020204" pitchFamily="34" charset="-122"/>
              <a:ea typeface="微软雅黑" panose="020B0503020204020204" pitchFamily="34" charset="-122"/>
              <a:sym typeface="+mn-ea"/>
            </a:endParaRPr>
          </a:p>
          <a:p>
            <a:pPr lvl="0" indent="457200" algn="l" defTabSz="1088390">
              <a:lnSpc>
                <a:spcPct val="125000"/>
              </a:lnSpc>
              <a:buClrTx/>
              <a:buSzTx/>
              <a:buFontTx/>
            </a:pPr>
            <a:r>
              <a:rPr lang="zh-CN" altLang="en-US" sz="2000" dirty="0">
                <a:solidFill>
                  <a:srgbClr val="FF0000"/>
                </a:solidFill>
                <a:latin typeface="微软雅黑" panose="020B0503020204020204" pitchFamily="34" charset="-122"/>
                <a:ea typeface="微软雅黑" panose="020B0503020204020204" pitchFamily="34" charset="-122"/>
                <a:sym typeface="+mn-ea"/>
              </a:rPr>
              <a:t>2.A级供应商的参与公司非招标项目资格权限标准为：无权限限制。</a:t>
            </a:r>
            <a:endParaRPr lang="zh-CN" altLang="en-US" sz="2400" b="1" dirty="0">
              <a:solidFill>
                <a:srgbClr val="FF0000"/>
              </a:solidFill>
              <a:latin typeface="微软雅黑" panose="020B0503020204020204" pitchFamily="34" charset="-122"/>
              <a:ea typeface="微软雅黑" panose="020B0503020204020204" pitchFamily="34" charset="-122"/>
              <a:sym typeface="+mn-ea"/>
            </a:endParaRPr>
          </a:p>
          <a:p>
            <a:pPr lvl="0" indent="457200" algn="l" defTabSz="1088390">
              <a:lnSpc>
                <a:spcPct val="125000"/>
              </a:lnSpc>
              <a:buClrTx/>
              <a:buSzTx/>
              <a:buFontTx/>
              <a:buNone/>
            </a:pPr>
            <a:r>
              <a:rPr lang="zh-CN" altLang="en-US" sz="2000" dirty="0">
                <a:solidFill>
                  <a:srgbClr val="FF0000"/>
                </a:solidFill>
                <a:latin typeface="微软雅黑" panose="020B0503020204020204" pitchFamily="34" charset="-122"/>
                <a:ea typeface="微软雅黑" panose="020B0503020204020204" pitchFamily="34" charset="-122"/>
                <a:sym typeface="+mn-ea"/>
              </a:rPr>
              <a:t>3.黑名单供应商参与公司非招标项目资格权限标准如下</a:t>
            </a:r>
            <a:r>
              <a:rPr lang="en-US" altLang="zh-CN" sz="2000" dirty="0">
                <a:solidFill>
                  <a:srgbClr val="FF0000"/>
                </a:solidFill>
                <a:latin typeface="微软雅黑" panose="020B0503020204020204" pitchFamily="34" charset="-122"/>
                <a:ea typeface="微软雅黑" panose="020B0503020204020204" pitchFamily="34" charset="-122"/>
                <a:sym typeface="+mn-ea"/>
              </a:rPr>
              <a:t>(</a:t>
            </a:r>
            <a:r>
              <a:rPr lang="zh-CN" altLang="en-US" sz="2000" dirty="0">
                <a:solidFill>
                  <a:srgbClr val="FF0000"/>
                </a:solidFill>
                <a:latin typeface="微软雅黑" panose="020B0503020204020204" pitchFamily="34" charset="-122"/>
                <a:ea typeface="微软雅黑" panose="020B0503020204020204" pitchFamily="34" charset="-122"/>
                <a:sym typeface="+mn-ea"/>
              </a:rPr>
              <a:t>同时发生</a:t>
            </a:r>
            <a:r>
              <a:rPr lang="en-US" altLang="zh-CN" sz="2000" dirty="0">
                <a:solidFill>
                  <a:srgbClr val="FF0000"/>
                </a:solidFill>
                <a:latin typeface="微软雅黑" panose="020B0503020204020204" pitchFamily="34" charset="-122"/>
                <a:ea typeface="微软雅黑" panose="020B0503020204020204" pitchFamily="34" charset="-122"/>
                <a:sym typeface="+mn-ea"/>
              </a:rPr>
              <a:t>2</a:t>
            </a:r>
            <a:r>
              <a:rPr lang="zh-CN" altLang="en-US" sz="2000" dirty="0">
                <a:solidFill>
                  <a:srgbClr val="FF0000"/>
                </a:solidFill>
                <a:latin typeface="微软雅黑" panose="020B0503020204020204" pitchFamily="34" charset="-122"/>
                <a:ea typeface="微软雅黑" panose="020B0503020204020204" pitchFamily="34" charset="-122"/>
                <a:sym typeface="+mn-ea"/>
              </a:rPr>
              <a:t>种及以上情形的，按照限制期限最长的执行）</a:t>
            </a:r>
            <a:endParaRPr lang="zh-CN" altLang="en-US" sz="2000" dirty="0">
              <a:latin typeface="微软雅黑" panose="020B0503020204020204" pitchFamily="34" charset="-122"/>
              <a:ea typeface="微软雅黑" panose="020B0503020204020204" pitchFamily="34" charset="-122"/>
              <a:sym typeface="+mn-ea"/>
            </a:endParaRPr>
          </a:p>
          <a:p>
            <a:pPr marL="800100" lvl="0" indent="-342900" algn="l" defTabSz="1088390" fontAlgn="auto">
              <a:lnSpc>
                <a:spcPct val="125000"/>
              </a:lnSpc>
              <a:buClrTx/>
              <a:buSzTx/>
              <a:buFont typeface="Wingdings" panose="05000000000000000000" charset="0"/>
              <a:buChar char="u"/>
              <a:extLst>
                <a:ext uri="{35155182-B16C-46BC-9424-99874614C6A1}">
                  <wpsdc:marlchars xmlns:wpsdc="http://www.wps.cn/officeDocument/2017/drawingmlCustomData" val="300" checksum="1723611322"/>
                </a:ext>
              </a:extLst>
            </a:pPr>
            <a:r>
              <a:rPr lang="zh-CN" altLang="en-US" sz="2000" dirty="0">
                <a:latin typeface="微软雅黑" panose="020B0503020204020204" pitchFamily="34" charset="-122"/>
                <a:ea typeface="微软雅黑" panose="020B0503020204020204" pitchFamily="34" charset="-122"/>
                <a:sym typeface="+mn-ea"/>
              </a:rPr>
              <a:t>限制参与公司非招标项目资格半年的情形</a:t>
            </a:r>
            <a:r>
              <a:rPr lang="en-US" altLang="zh-CN" sz="2000" dirty="0">
                <a:latin typeface="微软雅黑" panose="020B0503020204020204" pitchFamily="34" charset="-122"/>
                <a:ea typeface="微软雅黑" panose="020B0503020204020204" pitchFamily="34" charset="-122"/>
                <a:sym typeface="+mn-ea"/>
              </a:rPr>
              <a:t> </a:t>
            </a:r>
            <a:endParaRPr lang="en-US" altLang="zh-CN" sz="2000" dirty="0">
              <a:latin typeface="微软雅黑" panose="020B0503020204020204" pitchFamily="34" charset="-122"/>
              <a:ea typeface="微软雅黑" panose="020B0503020204020204" pitchFamily="34" charset="-122"/>
              <a:sym typeface="+mn-ea"/>
            </a:endParaRPr>
          </a:p>
          <a:p>
            <a:pPr marL="457200" lvl="0" indent="0" algn="l" defTabSz="1088390" fontAlgn="auto">
              <a:lnSpc>
                <a:spcPct val="125000"/>
              </a:lnSpc>
              <a:buClrTx/>
              <a:buSzTx/>
              <a:buFont typeface="Wingdings" panose="05000000000000000000" charset="0"/>
              <a:buNone/>
            </a:pPr>
            <a:r>
              <a:rPr lang="en-US" altLang="zh-CN" sz="2000" dirty="0">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sym typeface="+mn-ea"/>
              </a:rPr>
              <a:t>年度信用等级评价为</a:t>
            </a:r>
            <a:r>
              <a:rPr lang="en-US" altLang="zh-CN" sz="2000" dirty="0">
                <a:latin typeface="微软雅黑" panose="020B0503020204020204" pitchFamily="34" charset="-122"/>
                <a:ea typeface="微软雅黑" panose="020B0503020204020204" pitchFamily="34" charset="-122"/>
                <a:sym typeface="+mn-ea"/>
              </a:rPr>
              <a:t>B </a:t>
            </a:r>
            <a:r>
              <a:rPr lang="zh-CN" altLang="en-US" sz="2000" dirty="0">
                <a:latin typeface="微软雅黑" panose="020B0503020204020204" pitchFamily="34" charset="-122"/>
                <a:ea typeface="微软雅黑" panose="020B0503020204020204" pitchFamily="34" charset="-122"/>
                <a:sym typeface="+mn-ea"/>
              </a:rPr>
              <a:t>级</a:t>
            </a:r>
            <a:endParaRPr lang="zh-CN" altLang="en-US" sz="2000" dirty="0">
              <a:latin typeface="微软雅黑" panose="020B0503020204020204" pitchFamily="34" charset="-122"/>
              <a:ea typeface="微软雅黑" panose="020B0503020204020204" pitchFamily="34" charset="-122"/>
              <a:sym typeface="+mn-ea"/>
            </a:endParaRPr>
          </a:p>
          <a:p>
            <a:pPr marL="800100" lvl="0" indent="-342900" algn="l" defTabSz="1088390" fontAlgn="auto">
              <a:lnSpc>
                <a:spcPct val="125000"/>
              </a:lnSpc>
              <a:buClrTx/>
              <a:buSzTx/>
              <a:buFont typeface="Wingdings" panose="05000000000000000000" charset="0"/>
              <a:buChar char="u"/>
              <a:extLst>
                <a:ext uri="{35155182-B16C-46BC-9424-99874614C6A1}">
                  <wpsdc:marlchars xmlns:wpsdc="http://www.wps.cn/officeDocument/2017/drawingmlCustomData" val="300" checksum="1723611322"/>
                </a:ext>
              </a:extLst>
            </a:pPr>
            <a:r>
              <a:rPr lang="zh-CN" altLang="en-US" sz="2000" dirty="0">
                <a:latin typeface="微软雅黑" panose="020B0503020204020204" pitchFamily="34" charset="-122"/>
                <a:ea typeface="微软雅黑" panose="020B0503020204020204" pitchFamily="34" charset="-122"/>
                <a:sym typeface="+mn-ea"/>
              </a:rPr>
              <a:t>限制参与公司非招标项目资格一年的情形</a:t>
            </a:r>
            <a:r>
              <a:rPr lang="en-US" altLang="zh-CN" sz="2000" dirty="0">
                <a:latin typeface="微软雅黑" panose="020B0503020204020204" pitchFamily="34" charset="-122"/>
                <a:ea typeface="微软雅黑" panose="020B0503020204020204" pitchFamily="34" charset="-122"/>
                <a:sym typeface="+mn-ea"/>
              </a:rPr>
              <a:t> </a:t>
            </a:r>
            <a:endParaRPr lang="en-US" altLang="zh-CN" sz="2000" dirty="0">
              <a:latin typeface="微软雅黑" panose="020B0503020204020204" pitchFamily="34" charset="-122"/>
              <a:ea typeface="微软雅黑" panose="020B0503020204020204" pitchFamily="34" charset="-122"/>
              <a:sym typeface="+mn-ea"/>
            </a:endParaRPr>
          </a:p>
          <a:p>
            <a:pPr marL="457200" lvl="0" indent="0" algn="l" defTabSz="1088390" fontAlgn="auto">
              <a:lnSpc>
                <a:spcPct val="125000"/>
              </a:lnSpc>
              <a:buClrTx/>
              <a:buSzTx/>
              <a:buFont typeface="Wingdings" panose="05000000000000000000" charset="0"/>
              <a:buNone/>
            </a:pPr>
            <a:r>
              <a:rPr lang="en-US" altLang="zh-CN" sz="2000" dirty="0">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sym typeface="+mn-ea"/>
              </a:rPr>
              <a:t>年度信用等级评价为</a:t>
            </a:r>
            <a:r>
              <a:rPr lang="en-US" altLang="zh-CN" sz="2000" dirty="0">
                <a:latin typeface="微软雅黑" panose="020B0503020204020204" pitchFamily="34" charset="-122"/>
                <a:ea typeface="微软雅黑" panose="020B0503020204020204" pitchFamily="34" charset="-122"/>
                <a:sym typeface="+mn-ea"/>
              </a:rPr>
              <a:t>C </a:t>
            </a:r>
            <a:r>
              <a:rPr lang="zh-CN" altLang="en-US" sz="2000" dirty="0">
                <a:latin typeface="微软雅黑" panose="020B0503020204020204" pitchFamily="34" charset="-122"/>
                <a:ea typeface="微软雅黑" panose="020B0503020204020204" pitchFamily="34" charset="-122"/>
                <a:sym typeface="+mn-ea"/>
              </a:rPr>
              <a:t>级</a:t>
            </a:r>
            <a:endParaRPr lang="zh-CN" altLang="en-US" sz="2000" dirty="0">
              <a:latin typeface="微软雅黑" panose="020B0503020204020204" pitchFamily="34" charset="-122"/>
              <a:ea typeface="微软雅黑" panose="020B0503020204020204" pitchFamily="34" charset="-122"/>
              <a:sym typeface="+mn-ea"/>
            </a:endParaRPr>
          </a:p>
          <a:p>
            <a:pPr marL="800100" lvl="0" indent="-342900" algn="l" defTabSz="1088390" fontAlgn="auto">
              <a:lnSpc>
                <a:spcPct val="125000"/>
              </a:lnSpc>
              <a:buClrTx/>
              <a:buSzTx/>
              <a:buFont typeface="Wingdings" panose="05000000000000000000" charset="0"/>
              <a:buChar char="u"/>
              <a:extLst>
                <a:ext uri="{35155182-B16C-46BC-9424-99874614C6A1}">
                  <wpsdc:marlchars xmlns:wpsdc="http://www.wps.cn/officeDocument/2017/drawingmlCustomData" val="300" checksum="1723611322"/>
                </a:ext>
              </a:extLst>
            </a:pPr>
            <a:r>
              <a:rPr lang="zh-CN" altLang="en-US" sz="2000" dirty="0">
                <a:latin typeface="微软雅黑" panose="020B0503020204020204" pitchFamily="34" charset="-122"/>
                <a:ea typeface="微软雅黑" panose="020B0503020204020204" pitchFamily="34" charset="-122"/>
                <a:sym typeface="+mn-ea"/>
              </a:rPr>
              <a:t>限制参与公司非招标项目资格一年半的情形</a:t>
            </a:r>
            <a:endParaRPr lang="zh-CN" altLang="en-US" sz="2000" dirty="0">
              <a:latin typeface="微软雅黑" panose="020B0503020204020204" pitchFamily="34" charset="-122"/>
              <a:ea typeface="微软雅黑" panose="020B0503020204020204" pitchFamily="34" charset="-122"/>
              <a:sym typeface="+mn-ea"/>
            </a:endParaRPr>
          </a:p>
          <a:p>
            <a:pPr marL="1066800" lvl="0" indent="-457200" algn="l" defTabSz="1088390" fontAlgn="auto">
              <a:lnSpc>
                <a:spcPct val="125000"/>
              </a:lnSpc>
              <a:buClrTx/>
              <a:buSzTx/>
              <a:buFont typeface="+mj-ea"/>
              <a:buAutoNum type="circleNumDbPlain"/>
              <a:extLst>
                <a:ext uri="{35155182-B16C-46BC-9424-99874614C6A1}">
                  <wpsdc:marlchars xmlns:wpsdc="http://www.wps.cn/officeDocument/2017/drawingmlCustomData" val="400" checksum="1944200795"/>
                </a:ext>
              </a:extLst>
            </a:pPr>
            <a:r>
              <a:rPr lang="zh-CN" altLang="en-US" sz="2000" dirty="0">
                <a:latin typeface="微软雅黑" panose="020B0503020204020204" pitchFamily="34" charset="-122"/>
                <a:ea typeface="微软雅黑" panose="020B0503020204020204" pitchFamily="34" charset="-122"/>
                <a:sym typeface="+mn-ea"/>
              </a:rPr>
              <a:t>年度信用等级评价为</a:t>
            </a:r>
            <a:r>
              <a:rPr lang="en-US" altLang="zh-CN" sz="2000" dirty="0">
                <a:latin typeface="微软雅黑" panose="020B0503020204020204" pitchFamily="34" charset="-122"/>
                <a:ea typeface="微软雅黑" panose="020B0503020204020204" pitchFamily="34" charset="-122"/>
                <a:sym typeface="+mn-ea"/>
              </a:rPr>
              <a:t>D </a:t>
            </a:r>
            <a:r>
              <a:rPr lang="zh-CN" altLang="en-US" sz="2000" dirty="0">
                <a:latin typeface="微软雅黑" panose="020B0503020204020204" pitchFamily="34" charset="-122"/>
                <a:ea typeface="微软雅黑" panose="020B0503020204020204" pitchFamily="34" charset="-122"/>
                <a:sym typeface="+mn-ea"/>
              </a:rPr>
              <a:t>级</a:t>
            </a:r>
            <a:endParaRPr lang="zh-CN" altLang="en-US" sz="2000" dirty="0">
              <a:latin typeface="微软雅黑" panose="020B0503020204020204" pitchFamily="34" charset="-122"/>
              <a:ea typeface="微软雅黑" panose="020B0503020204020204" pitchFamily="34" charset="-122"/>
              <a:sym typeface="+mn-ea"/>
            </a:endParaRPr>
          </a:p>
          <a:p>
            <a:pPr marL="1066800" lvl="0" indent="-457200" algn="l" defTabSz="1088390" fontAlgn="auto">
              <a:lnSpc>
                <a:spcPct val="125000"/>
              </a:lnSpc>
              <a:buClrTx/>
              <a:buSzTx/>
              <a:buFont typeface="+mj-ea"/>
              <a:buAutoNum type="circleNumDbPlain"/>
              <a:extLst>
                <a:ext uri="{35155182-B16C-46BC-9424-99874614C6A1}">
                  <wpsdc:marlchars xmlns:wpsdc="http://www.wps.cn/officeDocument/2017/drawingmlCustomData" val="400" checksum="1944200795"/>
                </a:ext>
              </a:extLst>
            </a:pPr>
            <a:r>
              <a:rPr lang="zh-CN" altLang="en-US" sz="2000" dirty="0">
                <a:latin typeface="微软雅黑" panose="020B0503020204020204" pitchFamily="34" charset="-122"/>
                <a:ea typeface="微软雅黑" panose="020B0503020204020204" pitchFamily="34" charset="-122"/>
                <a:sym typeface="+mn-ea"/>
              </a:rPr>
              <a:t>获取项目中选资格无正当理由拒不签订合同的</a:t>
            </a:r>
            <a:endParaRPr lang="zh-CN" altLang="en-US" sz="2000" dirty="0">
              <a:latin typeface="微软雅黑" panose="020B0503020204020204" pitchFamily="34" charset="-122"/>
              <a:ea typeface="微软雅黑" panose="020B0503020204020204" pitchFamily="34" charset="-122"/>
              <a:sym typeface="+mn-ea"/>
            </a:endParaRPr>
          </a:p>
          <a:p>
            <a:pPr lvl="0" indent="457200" algn="l" defTabSz="1088390">
              <a:lnSpc>
                <a:spcPct val="125000"/>
              </a:lnSpc>
              <a:buClrTx/>
              <a:buSzTx/>
              <a:buFontTx/>
              <a:buNone/>
            </a:pPr>
            <a:endParaRPr lang="zh-CN" altLang="en-US" sz="2000" dirty="0">
              <a:latin typeface="微软雅黑" panose="020B0503020204020204" pitchFamily="34" charset="-122"/>
              <a:ea typeface="微软雅黑" panose="020B0503020204020204" pitchFamily="34" charset="-122"/>
              <a:sym typeface="+mn-ea"/>
            </a:endParaRPr>
          </a:p>
          <a:p>
            <a:pPr lvl="0" indent="457200" algn="l" defTabSz="1088390">
              <a:lnSpc>
                <a:spcPct val="125000"/>
              </a:lnSpc>
              <a:buClrTx/>
              <a:buSzTx/>
              <a:buFontTx/>
              <a:buNone/>
            </a:pPr>
            <a:endParaRPr lang="zh-CN" altLang="en-US" sz="2000" dirty="0">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525" y="45720"/>
            <a:ext cx="6656705" cy="58356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一</a:t>
            </a:r>
            <a:r>
              <a:rPr lang="zh-CN" altLang="en-US" sz="3200" b="1" dirty="0" smtClean="0">
                <a:solidFill>
                  <a:schemeClr val="bg1"/>
                </a:solidFill>
                <a:latin typeface="微软雅黑" panose="020B0503020204020204" pitchFamily="34" charset="-122"/>
                <a:ea typeface="微软雅黑" panose="020B0503020204020204" pitchFamily="34" charset="-122"/>
              </a:rPr>
              <a:t>、</a:t>
            </a:r>
            <a:r>
              <a:rPr lang="zh-CN" altLang="en-US" sz="3200" b="1" dirty="0" smtClean="0">
                <a:solidFill>
                  <a:schemeClr val="bg1"/>
                </a:solidFill>
                <a:latin typeface="微软雅黑" panose="020B0503020204020204" pitchFamily="34" charset="-122"/>
                <a:ea typeface="微软雅黑" panose="020B0503020204020204" pitchFamily="34" charset="-122"/>
                <a:sym typeface="宋体" panose="02010600030101010101" pitchFamily="2" charset="-122"/>
              </a:rPr>
              <a:t>供应商履约管理</a:t>
            </a:r>
            <a:r>
              <a:rPr lang="zh-CN" altLang="en-US" sz="3200" b="1" dirty="0" smtClean="0">
                <a:solidFill>
                  <a:schemeClr val="bg1"/>
                </a:solidFill>
                <a:latin typeface="微软雅黑" panose="020B0503020204020204" pitchFamily="34" charset="-122"/>
                <a:ea typeface="微软雅黑" panose="020B0503020204020204" pitchFamily="34" charset="-122"/>
                <a:sym typeface="+mn-ea"/>
              </a:rPr>
              <a:t>相关制度要求</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263390" y="766555"/>
            <a:ext cx="11519147" cy="1014730"/>
          </a:xfrm>
          <a:prstGeom prst="rect">
            <a:avLst/>
          </a:prstGeom>
          <a:noFill/>
        </p:spPr>
        <p:txBody>
          <a:bodyPr wrap="square" rtlCol="0">
            <a:spAutoFit/>
          </a:bodyPr>
          <a:lstStyle/>
          <a:p>
            <a:pPr marL="0" marR="0" lvl="0" indent="457200" algn="l" defTabSz="1087120" rtl="0" fontAlgn="base">
              <a:lnSpc>
                <a:spcPct val="125000"/>
              </a:lnSpc>
              <a:spcBef>
                <a:spcPct val="0"/>
              </a:spcBef>
              <a:spcAft>
                <a:spcPct val="0"/>
              </a:spcAft>
              <a:buClrTx/>
              <a:buSzTx/>
              <a:buFont typeface="Arial" panose="020B0604020202020204" pitchFamily="34" charset="0"/>
              <a:buNone/>
              <a:defRPr/>
            </a:pPr>
            <a:r>
              <a:rPr lang="zh-CN" altLang="en-US" sz="2400" b="1" dirty="0">
                <a:latin typeface="微软雅黑" panose="020B0503020204020204" pitchFamily="34" charset="-122"/>
                <a:ea typeface="微软雅黑" panose="020B0503020204020204" pitchFamily="34" charset="-122"/>
                <a:sym typeface="+mn-ea"/>
              </a:rPr>
              <a:t>（九）供应商参与非招标项目资格权限标准</a:t>
            </a:r>
            <a:endParaRPr lang="zh-CN" altLang="en-US" sz="2400" b="1" dirty="0">
              <a:latin typeface="微软雅黑" panose="020B0503020204020204" pitchFamily="34" charset="-122"/>
              <a:ea typeface="微软雅黑" panose="020B0503020204020204" pitchFamily="34" charset="-122"/>
              <a:sym typeface="+mn-ea"/>
            </a:endParaRPr>
          </a:p>
          <a:p>
            <a:pPr marL="0" marR="0" lvl="0" indent="457200" algn="l" defTabSz="1087120" rtl="0" fontAlgn="base">
              <a:lnSpc>
                <a:spcPct val="125000"/>
              </a:lnSpc>
              <a:spcBef>
                <a:spcPct val="0"/>
              </a:spcBef>
              <a:spcAft>
                <a:spcPct val="0"/>
              </a:spcAft>
              <a:buClrTx/>
              <a:buSzTx/>
              <a:buFont typeface="Arial" panose="020B0604020202020204" pitchFamily="34" charset="0"/>
              <a:buNone/>
              <a:defRPr/>
            </a:pPr>
            <a:endParaRPr lang="zh-CN" altLang="en-US" sz="2400" b="1" dirty="0">
              <a:latin typeface="微软雅黑" panose="020B0503020204020204" pitchFamily="34" charset="-122"/>
              <a:ea typeface="微软雅黑" panose="020B0503020204020204" pitchFamily="34" charset="-122"/>
              <a:sym typeface="+mn-ea"/>
            </a:endParaRPr>
          </a:p>
        </p:txBody>
      </p:sp>
      <p:sp>
        <p:nvSpPr>
          <p:cNvPr id="7" name="TextBox 2"/>
          <p:cNvSpPr txBox="1"/>
          <p:nvPr/>
        </p:nvSpPr>
        <p:spPr>
          <a:xfrm>
            <a:off x="263390" y="1340595"/>
            <a:ext cx="11519147" cy="3169285"/>
          </a:xfrm>
          <a:prstGeom prst="rect">
            <a:avLst/>
          </a:prstGeom>
          <a:noFill/>
        </p:spPr>
        <p:txBody>
          <a:bodyPr wrap="square" rtlCol="0">
            <a:spAutoFit/>
          </a:bodyPr>
          <a:p>
            <a:pPr marL="800100" lvl="0" indent="-342900" algn="l" defTabSz="1088390" fontAlgn="auto">
              <a:lnSpc>
                <a:spcPct val="125000"/>
              </a:lnSpc>
              <a:buClrTx/>
              <a:buSzTx/>
              <a:buFont typeface="Wingdings" panose="05000000000000000000" charset="0"/>
              <a:buChar char="u"/>
              <a:extLst>
                <a:ext uri="{35155182-B16C-46BC-9424-99874614C6A1}">
                  <wpsdc:marlchars xmlns:wpsdc="http://www.wps.cn/officeDocument/2017/drawingmlCustomData" val="300" checksum="1723611322"/>
                </a:ext>
              </a:extLst>
            </a:pPr>
            <a:r>
              <a:rPr lang="zh-CN" altLang="en-US" sz="2000" dirty="0">
                <a:latin typeface="微软雅黑" panose="020B0503020204020204" pitchFamily="34" charset="-122"/>
                <a:ea typeface="微软雅黑" panose="020B0503020204020204" pitchFamily="34" charset="-122"/>
                <a:sym typeface="+mn-ea"/>
              </a:rPr>
              <a:t>限制参与公司非招标项目资格两年的情形</a:t>
            </a:r>
            <a:endParaRPr lang="zh-CN" altLang="en-US" sz="2000" dirty="0">
              <a:latin typeface="微软雅黑" panose="020B0503020204020204" pitchFamily="34" charset="-122"/>
              <a:ea typeface="微软雅黑" panose="020B0503020204020204" pitchFamily="34" charset="-122"/>
              <a:sym typeface="+mn-ea"/>
            </a:endParaRPr>
          </a:p>
          <a:p>
            <a:pPr marL="1066800" lvl="0" indent="-457200" algn="l" defTabSz="1088390" fontAlgn="auto">
              <a:lnSpc>
                <a:spcPct val="125000"/>
              </a:lnSpc>
              <a:buClrTx/>
              <a:buSzTx/>
              <a:buFont typeface="+mj-ea"/>
              <a:buAutoNum type="circleNumDbPlain"/>
              <a:extLst>
                <a:ext uri="{35155182-B16C-46BC-9424-99874614C6A1}">
                  <wpsdc:marlchars xmlns:wpsdc="http://www.wps.cn/officeDocument/2017/drawingmlCustomData" val="400" checksum="1944200795"/>
                </a:ext>
              </a:extLst>
            </a:pPr>
            <a:r>
              <a:rPr lang="en-US" altLang="zh-CN" sz="2000" dirty="0">
                <a:latin typeface="微软雅黑" panose="020B0503020204020204" pitchFamily="34" charset="-122"/>
                <a:ea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sym typeface="+mn-ea"/>
              </a:rPr>
              <a:t>项目参与过程中以他人名义报价、串通报价的；</a:t>
            </a:r>
            <a:endParaRPr lang="zh-CN" altLang="en-US" sz="2000" dirty="0">
              <a:latin typeface="微软雅黑" panose="020B0503020204020204" pitchFamily="34" charset="-122"/>
              <a:ea typeface="微软雅黑" panose="020B0503020204020204" pitchFamily="34" charset="-122"/>
              <a:sym typeface="+mn-ea"/>
            </a:endParaRPr>
          </a:p>
          <a:p>
            <a:pPr marL="1066800" lvl="0" indent="-457200" algn="l" defTabSz="1088390" fontAlgn="auto">
              <a:lnSpc>
                <a:spcPct val="125000"/>
              </a:lnSpc>
              <a:buClrTx/>
              <a:buSzTx/>
              <a:buFont typeface="+mj-ea"/>
              <a:buAutoNum type="circleNumDbPlain"/>
              <a:extLst>
                <a:ext uri="{35155182-B16C-46BC-9424-99874614C6A1}">
                  <wpsdc:marlchars xmlns:wpsdc="http://www.wps.cn/officeDocument/2017/drawingmlCustomData" val="400" checksum="1944200795"/>
                </a:ext>
              </a:extLst>
            </a:pPr>
            <a:r>
              <a:rPr lang="en-US" altLang="zh-CN" sz="2000" dirty="0">
                <a:latin typeface="微软雅黑" panose="020B0503020204020204" pitchFamily="34" charset="-122"/>
                <a:ea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sym typeface="+mn-ea"/>
              </a:rPr>
              <a:t>以弄虚作假、行贿或其它违法形式谋取中选资格的；</a:t>
            </a:r>
            <a:endParaRPr lang="zh-CN" altLang="en-US" sz="2000" dirty="0">
              <a:latin typeface="微软雅黑" panose="020B0503020204020204" pitchFamily="34" charset="-122"/>
              <a:ea typeface="微软雅黑" panose="020B0503020204020204" pitchFamily="34" charset="-122"/>
              <a:sym typeface="+mn-ea"/>
            </a:endParaRPr>
          </a:p>
          <a:p>
            <a:pPr marL="1066800" lvl="0" indent="-457200" algn="l" defTabSz="1088390" fontAlgn="auto">
              <a:lnSpc>
                <a:spcPct val="125000"/>
              </a:lnSpc>
              <a:buClrTx/>
              <a:buSzTx/>
              <a:buFont typeface="+mj-ea"/>
              <a:buAutoNum type="circleNumDbPlain"/>
              <a:extLst>
                <a:ext uri="{35155182-B16C-46BC-9424-99874614C6A1}">
                  <wpsdc:marlchars xmlns:wpsdc="http://www.wps.cn/officeDocument/2017/drawingmlCustomData" val="400" checksum="1944200795"/>
                </a:ext>
              </a:extLst>
            </a:pPr>
            <a:r>
              <a:rPr lang="en-US" altLang="zh-CN" sz="2000" dirty="0">
                <a:latin typeface="微软雅黑" panose="020B0503020204020204" pitchFamily="34" charset="-122"/>
                <a:ea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sym typeface="+mn-ea"/>
              </a:rPr>
              <a:t>采取不正当手段诋毁、排挤其他供应商的；</a:t>
            </a:r>
            <a:endParaRPr lang="zh-CN" altLang="en-US" sz="2000" dirty="0">
              <a:latin typeface="微软雅黑" panose="020B0503020204020204" pitchFamily="34" charset="-122"/>
              <a:ea typeface="微软雅黑" panose="020B0503020204020204" pitchFamily="34" charset="-122"/>
              <a:sym typeface="+mn-ea"/>
            </a:endParaRPr>
          </a:p>
          <a:p>
            <a:pPr marL="1066800" lvl="0" indent="-457200" algn="l" defTabSz="1088390" fontAlgn="auto">
              <a:lnSpc>
                <a:spcPct val="125000"/>
              </a:lnSpc>
              <a:buClrTx/>
              <a:buSzTx/>
              <a:buFont typeface="+mj-ea"/>
              <a:buAutoNum type="circleNumDbPlain"/>
              <a:extLst>
                <a:ext uri="{35155182-B16C-46BC-9424-99874614C6A1}">
                  <wpsdc:marlchars xmlns:wpsdc="http://www.wps.cn/officeDocument/2017/drawingmlCustomData" val="400" checksum="1944200795"/>
                </a:ext>
              </a:extLst>
            </a:pPr>
            <a:r>
              <a:rPr lang="en-US" altLang="zh-CN" sz="2000" dirty="0">
                <a:latin typeface="微软雅黑" panose="020B0503020204020204" pitchFamily="34" charset="-122"/>
                <a:ea typeface="微软雅黑" panose="020B0503020204020204" pitchFamily="34" charset="-122"/>
                <a:sym typeface="+mn-ea"/>
              </a:rPr>
              <a:t>4)</a:t>
            </a:r>
            <a:r>
              <a:rPr lang="zh-CN" altLang="en-US" sz="2000" dirty="0">
                <a:latin typeface="微软雅黑" panose="020B0503020204020204" pitchFamily="34" charset="-122"/>
                <a:ea typeface="微软雅黑" panose="020B0503020204020204" pitchFamily="34" charset="-122"/>
                <a:sym typeface="+mn-ea"/>
              </a:rPr>
              <a:t>签订合同后拒不履行合同的；</a:t>
            </a:r>
            <a:endParaRPr lang="zh-CN" altLang="en-US" sz="2000" dirty="0">
              <a:latin typeface="微软雅黑" panose="020B0503020204020204" pitchFamily="34" charset="-122"/>
              <a:ea typeface="微软雅黑" panose="020B0503020204020204" pitchFamily="34" charset="-122"/>
              <a:sym typeface="+mn-ea"/>
            </a:endParaRPr>
          </a:p>
          <a:p>
            <a:pPr marL="1066800" lvl="0" indent="-457200" algn="l" defTabSz="1088390" fontAlgn="auto">
              <a:lnSpc>
                <a:spcPct val="125000"/>
              </a:lnSpc>
              <a:buClrTx/>
              <a:buSzTx/>
              <a:buFont typeface="+mj-ea"/>
              <a:buAutoNum type="circleNumDbPlain"/>
              <a:extLst>
                <a:ext uri="{35155182-B16C-46BC-9424-99874614C6A1}">
                  <wpsdc:marlchars xmlns:wpsdc="http://www.wps.cn/officeDocument/2017/drawingmlCustomData" val="400" checksum="1944200795"/>
                </a:ext>
              </a:extLst>
            </a:pPr>
            <a:r>
              <a:rPr lang="zh-CN" altLang="en-US" sz="2000" dirty="0">
                <a:latin typeface="微软雅黑" panose="020B0503020204020204" pitchFamily="34" charset="-122"/>
                <a:ea typeface="微软雅黑" panose="020B0503020204020204" pitchFamily="34" charset="-122"/>
                <a:sym typeface="+mn-ea"/>
              </a:rPr>
              <a:t>项目质量存在缺陷的经整改无效</a:t>
            </a:r>
            <a:r>
              <a:rPr lang="en-US" altLang="zh-CN" sz="2000" dirty="0">
                <a:latin typeface="微软雅黑" panose="020B0503020204020204" pitchFamily="34" charset="-122"/>
                <a:ea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sym typeface="+mn-ea"/>
              </a:rPr>
              <a:t>造成后果</a:t>
            </a:r>
            <a:r>
              <a:rPr lang="en-US" altLang="zh-CN" sz="2000" dirty="0">
                <a:latin typeface="微软雅黑" panose="020B0503020204020204" pitchFamily="34" charset="-122"/>
                <a:ea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sym typeface="+mn-ea"/>
              </a:rPr>
              <a:t>或返工费用巨大，降标准使用的。</a:t>
            </a:r>
            <a:endParaRPr lang="zh-CN" altLang="en-US" sz="2000" dirty="0">
              <a:latin typeface="微软雅黑" panose="020B0503020204020204" pitchFamily="34" charset="-122"/>
              <a:ea typeface="微软雅黑" panose="020B0503020204020204" pitchFamily="34" charset="-122"/>
              <a:sym typeface="+mn-ea"/>
            </a:endParaRPr>
          </a:p>
          <a:p>
            <a:pPr marL="1066800" lvl="0" indent="-457200" algn="l" defTabSz="1088390" fontAlgn="auto">
              <a:lnSpc>
                <a:spcPct val="125000"/>
              </a:lnSpc>
              <a:buClrTx/>
              <a:buSzTx/>
              <a:buFont typeface="+mj-ea"/>
              <a:buAutoNum type="circleNumDbPlain"/>
              <a:extLst>
                <a:ext uri="{35155182-B16C-46BC-9424-99874614C6A1}">
                  <wpsdc:marlchars xmlns:wpsdc="http://www.wps.cn/officeDocument/2017/drawingmlCustomData" val="400" checksum="1944200795"/>
                </a:ext>
              </a:extLst>
            </a:pPr>
            <a:r>
              <a:rPr lang="zh-CN" altLang="en-US" sz="2000" dirty="0">
                <a:latin typeface="微软雅黑" panose="020B0503020204020204" pitchFamily="34" charset="-122"/>
                <a:ea typeface="微软雅黑" panose="020B0503020204020204" pitchFamily="34" charset="-122"/>
                <a:sym typeface="+mn-ea"/>
              </a:rPr>
              <a:t>在签订合同、履行合同过程中，存在弄虚作假、行贿或其它违法情形的。</a:t>
            </a:r>
            <a:endParaRPr lang="zh-CN" altLang="en-US" sz="2000" dirty="0">
              <a:latin typeface="微软雅黑" panose="020B0503020204020204" pitchFamily="34" charset="-122"/>
              <a:ea typeface="微软雅黑" panose="020B0503020204020204" pitchFamily="34" charset="-122"/>
              <a:sym typeface="+mn-ea"/>
            </a:endParaRPr>
          </a:p>
          <a:p>
            <a:pPr lvl="0" indent="457200" algn="l" defTabSz="1088390">
              <a:lnSpc>
                <a:spcPct val="125000"/>
              </a:lnSpc>
              <a:buClrTx/>
              <a:buSzTx/>
              <a:buFontTx/>
              <a:buNone/>
            </a:pPr>
            <a:endParaRPr lang="zh-CN" altLang="en-US" sz="2000" dirty="0">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525" y="45720"/>
            <a:ext cx="6656705" cy="583565"/>
          </a:xfrm>
          <a:prstGeom prst="rect">
            <a:avLst/>
          </a:prstGeom>
          <a:noFill/>
        </p:spPr>
        <p:txBody>
          <a:bodyPr wrap="squar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一</a:t>
            </a:r>
            <a:r>
              <a:rPr lang="zh-CN" altLang="en-US" sz="3200" b="1" dirty="0" smtClean="0">
                <a:solidFill>
                  <a:schemeClr val="bg1"/>
                </a:solidFill>
                <a:latin typeface="微软雅黑" panose="020B0503020204020204" pitchFamily="34" charset="-122"/>
                <a:ea typeface="微软雅黑" panose="020B0503020204020204" pitchFamily="34" charset="-122"/>
              </a:rPr>
              <a:t>、</a:t>
            </a:r>
            <a:r>
              <a:rPr lang="zh-CN" altLang="en-US" sz="3200" b="1" dirty="0" smtClean="0">
                <a:solidFill>
                  <a:schemeClr val="bg1"/>
                </a:solidFill>
                <a:latin typeface="微软雅黑" panose="020B0503020204020204" pitchFamily="34" charset="-122"/>
                <a:ea typeface="微软雅黑" panose="020B0503020204020204" pitchFamily="34" charset="-122"/>
                <a:sym typeface="宋体" panose="02010600030101010101" pitchFamily="2" charset="-122"/>
              </a:rPr>
              <a:t>供应商履约管理</a:t>
            </a:r>
            <a:r>
              <a:rPr lang="zh-CN" altLang="en-US" sz="3200" b="1" dirty="0" smtClean="0">
                <a:solidFill>
                  <a:schemeClr val="bg1"/>
                </a:solidFill>
                <a:latin typeface="微软雅黑" panose="020B0503020204020204" pitchFamily="34" charset="-122"/>
                <a:ea typeface="微软雅黑" panose="020B0503020204020204" pitchFamily="34" charset="-122"/>
                <a:sym typeface="+mn-ea"/>
              </a:rPr>
              <a:t>相关制度要求</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263390" y="766555"/>
            <a:ext cx="11519147" cy="1014730"/>
          </a:xfrm>
          <a:prstGeom prst="rect">
            <a:avLst/>
          </a:prstGeom>
          <a:noFill/>
        </p:spPr>
        <p:txBody>
          <a:bodyPr wrap="square" rtlCol="0">
            <a:spAutoFit/>
          </a:bodyPr>
          <a:lstStyle/>
          <a:p>
            <a:pPr marL="0" marR="0" lvl="0" indent="457200" algn="l" defTabSz="1087120" rtl="0" fontAlgn="base">
              <a:lnSpc>
                <a:spcPct val="125000"/>
              </a:lnSpc>
              <a:spcBef>
                <a:spcPct val="0"/>
              </a:spcBef>
              <a:spcAft>
                <a:spcPct val="0"/>
              </a:spcAft>
              <a:buClrTx/>
              <a:buSzTx/>
              <a:buFont typeface="Arial" panose="020B0604020202020204" pitchFamily="34" charset="0"/>
              <a:buNone/>
              <a:defRPr/>
            </a:pPr>
            <a:r>
              <a:rPr lang="zh-CN" altLang="en-US" sz="2400" b="1" dirty="0">
                <a:latin typeface="微软雅黑" panose="020B0503020204020204" pitchFamily="34" charset="-122"/>
                <a:ea typeface="微软雅黑" panose="020B0503020204020204" pitchFamily="34" charset="-122"/>
                <a:sym typeface="+mn-ea"/>
              </a:rPr>
              <a:t>（九）供应商参与非招标项目资格权限标准</a:t>
            </a:r>
            <a:endParaRPr lang="zh-CN" altLang="en-US" sz="2400" b="1" dirty="0">
              <a:latin typeface="微软雅黑" panose="020B0503020204020204" pitchFamily="34" charset="-122"/>
              <a:ea typeface="微软雅黑" panose="020B0503020204020204" pitchFamily="34" charset="-122"/>
              <a:sym typeface="+mn-ea"/>
            </a:endParaRPr>
          </a:p>
          <a:p>
            <a:pPr marL="0" marR="0" lvl="0" indent="457200" algn="l" defTabSz="1087120" rtl="0" fontAlgn="base">
              <a:lnSpc>
                <a:spcPct val="125000"/>
              </a:lnSpc>
              <a:spcBef>
                <a:spcPct val="0"/>
              </a:spcBef>
              <a:spcAft>
                <a:spcPct val="0"/>
              </a:spcAft>
              <a:buClrTx/>
              <a:buSzTx/>
              <a:buFont typeface="Arial" panose="020B0604020202020204" pitchFamily="34" charset="0"/>
              <a:buNone/>
              <a:defRPr/>
            </a:pPr>
            <a:endParaRPr lang="zh-CN" altLang="en-US" sz="2400" b="1" dirty="0">
              <a:latin typeface="微软雅黑" panose="020B0503020204020204" pitchFamily="34" charset="-122"/>
              <a:ea typeface="微软雅黑" panose="020B0503020204020204" pitchFamily="34" charset="-122"/>
              <a:sym typeface="+mn-ea"/>
            </a:endParaRPr>
          </a:p>
        </p:txBody>
      </p:sp>
      <p:sp>
        <p:nvSpPr>
          <p:cNvPr id="7" name="TextBox 2"/>
          <p:cNvSpPr txBox="1"/>
          <p:nvPr/>
        </p:nvSpPr>
        <p:spPr>
          <a:xfrm>
            <a:off x="263390" y="1340595"/>
            <a:ext cx="11519147" cy="4707890"/>
          </a:xfrm>
          <a:prstGeom prst="rect">
            <a:avLst/>
          </a:prstGeom>
          <a:noFill/>
        </p:spPr>
        <p:txBody>
          <a:bodyPr wrap="square" rtlCol="0">
            <a:spAutoFit/>
          </a:bodyPr>
          <a:p>
            <a:pPr marL="800100" lvl="0" indent="-342900" algn="l" defTabSz="1088390" fontAlgn="auto">
              <a:lnSpc>
                <a:spcPct val="125000"/>
              </a:lnSpc>
              <a:buClrTx/>
              <a:buSzTx/>
              <a:buFont typeface="Wingdings" panose="05000000000000000000" charset="0"/>
              <a:buChar char="u"/>
              <a:extLst>
                <a:ext uri="{35155182-B16C-46BC-9424-99874614C6A1}">
                  <wpsdc:marlchars xmlns:wpsdc="http://www.wps.cn/officeDocument/2017/drawingmlCustomData" val="300" checksum="1723611322"/>
                </a:ext>
              </a:extLst>
            </a:pPr>
            <a:r>
              <a:rPr lang="en-US" altLang="zh-CN" sz="2000" dirty="0">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sym typeface="+mn-ea"/>
              </a:rPr>
              <a:t>限制参与公司非招标项目资格三年的情形</a:t>
            </a:r>
            <a:endParaRPr lang="zh-CN" altLang="en-US" sz="2000" dirty="0">
              <a:latin typeface="微软雅黑" panose="020B0503020204020204" pitchFamily="34" charset="-122"/>
              <a:ea typeface="微软雅黑" panose="020B0503020204020204" pitchFamily="34" charset="-122"/>
              <a:sym typeface="+mn-ea"/>
            </a:endParaRPr>
          </a:p>
          <a:p>
            <a:pPr marL="1066800" lvl="0" indent="-457200" algn="l" defTabSz="1088390" fontAlgn="auto">
              <a:lnSpc>
                <a:spcPct val="125000"/>
              </a:lnSpc>
              <a:buClrTx/>
              <a:buSzTx/>
              <a:buFont typeface="+mj-ea"/>
              <a:buAutoNum type="circleNumDbPlain"/>
              <a:extLst>
                <a:ext uri="{35155182-B16C-46BC-9424-99874614C6A1}">
                  <wpsdc:marlchars xmlns:wpsdc="http://www.wps.cn/officeDocument/2017/drawingmlCustomData" val="400" checksum="1944200795"/>
                </a:ext>
              </a:extLst>
            </a:pPr>
            <a:r>
              <a:rPr lang="zh-CN" altLang="en-US" sz="2000" dirty="0">
                <a:latin typeface="微软雅黑" panose="020B0503020204020204" pitchFamily="34" charset="-122"/>
                <a:ea typeface="微软雅黑" panose="020B0503020204020204" pitchFamily="34" charset="-122"/>
                <a:sym typeface="+mn-ea"/>
              </a:rPr>
              <a:t>供应商处于责令停产、停业、投标资格取消状态的；</a:t>
            </a:r>
            <a:endParaRPr lang="zh-CN" altLang="en-US" sz="2000" dirty="0">
              <a:latin typeface="微软雅黑" panose="020B0503020204020204" pitchFamily="34" charset="-122"/>
              <a:ea typeface="微软雅黑" panose="020B0503020204020204" pitchFamily="34" charset="-122"/>
              <a:sym typeface="+mn-ea"/>
            </a:endParaRPr>
          </a:p>
          <a:p>
            <a:pPr marL="1066800" lvl="0" indent="-457200" algn="l" defTabSz="1088390" fontAlgn="auto">
              <a:lnSpc>
                <a:spcPct val="125000"/>
              </a:lnSpc>
              <a:buClrTx/>
              <a:buSzTx/>
              <a:buFont typeface="+mj-ea"/>
              <a:buAutoNum type="circleNumDbPlain"/>
              <a:extLst>
                <a:ext uri="{35155182-B16C-46BC-9424-99874614C6A1}">
                  <wpsdc:marlchars xmlns:wpsdc="http://www.wps.cn/officeDocument/2017/drawingmlCustomData" val="400" checksum="1944200795"/>
                </a:ext>
              </a:extLst>
            </a:pPr>
            <a:r>
              <a:rPr lang="zh-CN" altLang="en-US" sz="2000" dirty="0">
                <a:latin typeface="微软雅黑" panose="020B0503020204020204" pitchFamily="34" charset="-122"/>
                <a:ea typeface="微软雅黑" panose="020B0503020204020204" pitchFamily="34" charset="-122"/>
                <a:sym typeface="+mn-ea"/>
              </a:rPr>
              <a:t>供应商被列入失信被执行人名单、重大税收违法案件当事人名单或政府采购严重违法失信行为记</a:t>
            </a:r>
            <a:r>
              <a:rPr lang="en-US" altLang="zh-CN" sz="2000" dirty="0">
                <a:latin typeface="微软雅黑" panose="020B0503020204020204" pitchFamily="34" charset="-122"/>
                <a:ea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sym typeface="+mn-ea"/>
              </a:rPr>
              <a:t>录名单等相关不良企业名单的；</a:t>
            </a:r>
            <a:endParaRPr lang="zh-CN" altLang="en-US" sz="2000" dirty="0">
              <a:latin typeface="微软雅黑" panose="020B0503020204020204" pitchFamily="34" charset="-122"/>
              <a:ea typeface="微软雅黑" panose="020B0503020204020204" pitchFamily="34" charset="-122"/>
              <a:sym typeface="+mn-ea"/>
            </a:endParaRPr>
          </a:p>
          <a:p>
            <a:pPr marL="1066800" lvl="0" indent="-457200" algn="l" defTabSz="1088390" fontAlgn="auto">
              <a:lnSpc>
                <a:spcPct val="125000"/>
              </a:lnSpc>
              <a:buClrTx/>
              <a:buSzTx/>
              <a:buFont typeface="+mj-ea"/>
              <a:buAutoNum type="circleNumDbPlain"/>
              <a:extLst>
                <a:ext uri="{35155182-B16C-46BC-9424-99874614C6A1}">
                  <wpsdc:marlchars xmlns:wpsdc="http://www.wps.cn/officeDocument/2017/drawingmlCustomData" val="400" checksum="1944200795"/>
                </a:ext>
              </a:extLst>
            </a:pPr>
            <a:r>
              <a:rPr lang="zh-CN" altLang="en-US" sz="2000" dirty="0">
                <a:latin typeface="微软雅黑" panose="020B0503020204020204" pitchFamily="34" charset="-122"/>
                <a:ea typeface="微软雅黑" panose="020B0503020204020204" pitchFamily="34" charset="-122"/>
                <a:sym typeface="+mn-ea"/>
              </a:rPr>
              <a:t>依据公司相关方安全管理，相关方</a:t>
            </a:r>
            <a:r>
              <a:rPr lang="en-US" altLang="zh-CN" sz="2000" dirty="0">
                <a:latin typeface="微软雅黑" panose="020B0503020204020204" pitchFamily="34" charset="-122"/>
                <a:ea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sym typeface="+mn-ea"/>
              </a:rPr>
              <a:t>供应商</a:t>
            </a:r>
            <a:r>
              <a:rPr lang="en-US" altLang="zh-CN" sz="2000" dirty="0">
                <a:latin typeface="微软雅黑" panose="020B0503020204020204" pitchFamily="34" charset="-122"/>
                <a:ea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sym typeface="+mn-ea"/>
              </a:rPr>
              <a:t>连续两年安全评价结果为差的情形。</a:t>
            </a:r>
            <a:endParaRPr lang="zh-CN" altLang="en-US" sz="2000" dirty="0">
              <a:latin typeface="微软雅黑" panose="020B0503020204020204" pitchFamily="34" charset="-122"/>
              <a:ea typeface="微软雅黑" panose="020B0503020204020204" pitchFamily="34" charset="-122"/>
              <a:sym typeface="+mn-ea"/>
            </a:endParaRPr>
          </a:p>
          <a:p>
            <a:pPr marL="1066800" lvl="0" indent="-457200" algn="l" defTabSz="1088390" fontAlgn="auto">
              <a:lnSpc>
                <a:spcPct val="125000"/>
              </a:lnSpc>
              <a:buClrTx/>
              <a:buSzTx/>
              <a:buFont typeface="+mj-ea"/>
              <a:buAutoNum type="circleNumDbPlain"/>
              <a:extLst>
                <a:ext uri="{35155182-B16C-46BC-9424-99874614C6A1}">
                  <wpsdc:marlchars xmlns:wpsdc="http://www.wps.cn/officeDocument/2017/drawingmlCustomData" val="400" checksum="1944200795"/>
                </a:ext>
              </a:extLst>
            </a:pPr>
            <a:r>
              <a:rPr lang="zh-CN" altLang="en-US" sz="2000" dirty="0">
                <a:latin typeface="微软雅黑" panose="020B0503020204020204" pitchFamily="34" charset="-122"/>
                <a:ea typeface="微软雅黑" panose="020B0503020204020204" pitchFamily="34" charset="-122"/>
                <a:sym typeface="+mn-ea"/>
              </a:rPr>
              <a:t>合同双方协商无果，供应商单方面终止合同的；</a:t>
            </a:r>
            <a:endParaRPr lang="zh-CN" altLang="en-US" sz="2000" dirty="0">
              <a:latin typeface="微软雅黑" panose="020B0503020204020204" pitchFamily="34" charset="-122"/>
              <a:ea typeface="微软雅黑" panose="020B0503020204020204" pitchFamily="34" charset="-122"/>
              <a:sym typeface="+mn-ea"/>
            </a:endParaRPr>
          </a:p>
          <a:p>
            <a:pPr marL="1066800" lvl="0" indent="-457200" algn="l" defTabSz="1088390" fontAlgn="auto">
              <a:lnSpc>
                <a:spcPct val="125000"/>
              </a:lnSpc>
              <a:buClrTx/>
              <a:buSzTx/>
              <a:buFont typeface="+mj-ea"/>
              <a:buAutoNum type="circleNumDbPlain"/>
              <a:extLst>
                <a:ext uri="{35155182-B16C-46BC-9424-99874614C6A1}">
                  <wpsdc:marlchars xmlns:wpsdc="http://www.wps.cn/officeDocument/2017/drawingmlCustomData" val="400" checksum="1944200795"/>
                </a:ext>
              </a:extLst>
            </a:pPr>
            <a:r>
              <a:rPr lang="zh-CN" altLang="en-US" sz="2000" dirty="0">
                <a:latin typeface="微软雅黑" panose="020B0503020204020204" pitchFamily="34" charset="-122"/>
                <a:ea typeface="微软雅黑" panose="020B0503020204020204" pitchFamily="34" charset="-122"/>
                <a:sym typeface="+mn-ea"/>
              </a:rPr>
              <a:t>违反合同要求，将承包的项目转包或分包的；</a:t>
            </a:r>
            <a:endParaRPr lang="zh-CN" altLang="en-US" sz="2000" dirty="0">
              <a:latin typeface="微软雅黑" panose="020B0503020204020204" pitchFamily="34" charset="-122"/>
              <a:ea typeface="微软雅黑" panose="020B0503020204020204" pitchFamily="34" charset="-122"/>
              <a:sym typeface="+mn-ea"/>
            </a:endParaRPr>
          </a:p>
          <a:p>
            <a:pPr marL="1066800" lvl="0" indent="-457200" algn="l" defTabSz="1088390" fontAlgn="auto">
              <a:lnSpc>
                <a:spcPct val="125000"/>
              </a:lnSpc>
              <a:buClrTx/>
              <a:buSzTx/>
              <a:buFont typeface="+mj-ea"/>
              <a:buAutoNum type="circleNumDbPlain"/>
              <a:extLst>
                <a:ext uri="{35155182-B16C-46BC-9424-99874614C6A1}">
                  <wpsdc:marlchars xmlns:wpsdc="http://www.wps.cn/officeDocument/2017/drawingmlCustomData" val="400" checksum="1944200795"/>
                </a:ext>
              </a:extLst>
            </a:pPr>
            <a:r>
              <a:rPr lang="zh-CN" altLang="en-US" sz="2000" dirty="0">
                <a:latin typeface="微软雅黑" panose="020B0503020204020204" pitchFamily="34" charset="-122"/>
                <a:ea typeface="微软雅黑" panose="020B0503020204020204" pitchFamily="34" charset="-122"/>
                <a:sym typeface="+mn-ea"/>
              </a:rPr>
              <a:t>因供应商责任对公司形象造成严重负面社会影响的。</a:t>
            </a:r>
            <a:endParaRPr lang="zh-CN" altLang="en-US" sz="2000" dirty="0">
              <a:latin typeface="微软雅黑" panose="020B0503020204020204" pitchFamily="34" charset="-122"/>
              <a:ea typeface="微软雅黑" panose="020B0503020204020204" pitchFamily="34" charset="-122"/>
              <a:sym typeface="+mn-ea"/>
            </a:endParaRPr>
          </a:p>
          <a:p>
            <a:pPr marL="533400" lvl="0" indent="0" algn="l" defTabSz="1088390" fontAlgn="auto">
              <a:lnSpc>
                <a:spcPct val="125000"/>
              </a:lnSpc>
              <a:buClrTx/>
              <a:buSzTx/>
              <a:buFont typeface="+mj-ea"/>
              <a:buNone/>
              <a:extLst>
                <a:ext uri="{35155182-B16C-46BC-9424-99874614C6A1}">
                  <wpsdc:marlchars xmlns:wpsdc="http://www.wps.cn/officeDocument/2017/drawingmlCustomData" val="200" checksum="3119584122"/>
                </a:ext>
              </a:extLst>
            </a:pPr>
            <a:r>
              <a:rPr lang="en-US" altLang="zh-CN" sz="2000" dirty="0">
                <a:solidFill>
                  <a:srgbClr val="FF0000"/>
                </a:solidFill>
                <a:latin typeface="微软雅黑" panose="020B0503020204020204" pitchFamily="34" charset="-122"/>
                <a:ea typeface="微软雅黑" panose="020B0503020204020204" pitchFamily="34" charset="-122"/>
                <a:sym typeface="+mn-ea"/>
              </a:rPr>
              <a:t>4.</a:t>
            </a:r>
            <a:r>
              <a:rPr lang="zh-CN" altLang="en-US" sz="2000" dirty="0">
                <a:solidFill>
                  <a:srgbClr val="FF0000"/>
                </a:solidFill>
                <a:latin typeface="微软雅黑" panose="020B0503020204020204" pitchFamily="34" charset="-122"/>
                <a:ea typeface="微软雅黑" panose="020B0503020204020204" pitchFamily="34" charset="-122"/>
                <a:sym typeface="+mn-ea"/>
              </a:rPr>
              <a:t>限制参与公司非招标项目资格的起始时间要求为：</a:t>
            </a:r>
            <a:endParaRPr lang="zh-CN" altLang="en-US" sz="2000" dirty="0">
              <a:latin typeface="微软雅黑" panose="020B0503020204020204" pitchFamily="34" charset="-122"/>
              <a:ea typeface="微软雅黑" panose="020B0503020204020204" pitchFamily="34" charset="-122"/>
              <a:sym typeface="+mn-ea"/>
            </a:endParaRPr>
          </a:p>
          <a:p>
            <a:pPr marL="800100" lvl="0" indent="-342900" algn="l" defTabSz="1088390" fontAlgn="auto">
              <a:lnSpc>
                <a:spcPct val="125000"/>
              </a:lnSpc>
              <a:buClrTx/>
              <a:buSzTx/>
              <a:buFont typeface="Wingdings" panose="05000000000000000000" charset="0"/>
              <a:buChar char="u"/>
              <a:extLst>
                <a:ext uri="{35155182-B16C-46BC-9424-99874614C6A1}">
                  <wpsdc:marlchars xmlns:wpsdc="http://www.wps.cn/officeDocument/2017/drawingmlCustomData" val="300" checksum="1723611322"/>
                </a:ext>
              </a:extLst>
            </a:pPr>
            <a:r>
              <a:rPr lang="zh-CN" altLang="en-US" sz="2000" dirty="0">
                <a:latin typeface="微软雅黑" panose="020B0503020204020204" pitchFamily="34" charset="-122"/>
                <a:ea typeface="微软雅黑" panose="020B0503020204020204" pitchFamily="34" charset="-122"/>
                <a:sym typeface="+mn-ea"/>
              </a:rPr>
              <a:t>有明确不良履约行为的，以《供应商不良行为认定表》签署之日为起始日期；</a:t>
            </a:r>
            <a:endParaRPr lang="zh-CN" altLang="en-US" sz="2000" dirty="0">
              <a:latin typeface="微软雅黑" panose="020B0503020204020204" pitchFamily="34" charset="-122"/>
              <a:ea typeface="微软雅黑" panose="020B0503020204020204" pitchFamily="34" charset="-122"/>
              <a:sym typeface="+mn-ea"/>
            </a:endParaRPr>
          </a:p>
          <a:p>
            <a:pPr marL="800100" lvl="0" indent="-342900" algn="l" defTabSz="1088390" fontAlgn="auto">
              <a:lnSpc>
                <a:spcPct val="125000"/>
              </a:lnSpc>
              <a:buClrTx/>
              <a:buSzTx/>
              <a:buFont typeface="Wingdings" panose="05000000000000000000" charset="0"/>
              <a:buChar char="u"/>
              <a:extLst>
                <a:ext uri="{35155182-B16C-46BC-9424-99874614C6A1}">
                  <wpsdc:marlchars xmlns:wpsdc="http://www.wps.cn/officeDocument/2017/drawingmlCustomData" val="300" checksum="1723611322"/>
                </a:ext>
              </a:extLst>
            </a:pPr>
            <a:r>
              <a:rPr lang="zh-CN" altLang="en-US" sz="2000" dirty="0">
                <a:latin typeface="微软雅黑" panose="020B0503020204020204" pitchFamily="34" charset="-122"/>
                <a:ea typeface="微软雅黑" panose="020B0503020204020204" pitchFamily="34" charset="-122"/>
                <a:sym typeface="+mn-ea"/>
              </a:rPr>
              <a:t>无明确不良履约行为的，以供应商年度信用等级发布之日为起始日期。</a:t>
            </a:r>
            <a:endParaRPr lang="zh-CN" altLang="en-US" sz="2000" dirty="0">
              <a:latin typeface="微软雅黑" panose="020B0503020204020204" pitchFamily="34" charset="-122"/>
              <a:ea typeface="微软雅黑" panose="020B0503020204020204" pitchFamily="34" charset="-122"/>
              <a:sym typeface="+mn-ea"/>
            </a:endParaRPr>
          </a:p>
          <a:p>
            <a:pPr lvl="0" indent="457200" algn="l" defTabSz="1088390">
              <a:lnSpc>
                <a:spcPct val="125000"/>
              </a:lnSpc>
              <a:buClrTx/>
              <a:buSzTx/>
              <a:buFontTx/>
              <a:buNone/>
            </a:pPr>
            <a:endParaRPr lang="zh-CN" altLang="en-US" sz="2000" dirty="0">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390" y="45410"/>
            <a:ext cx="4751648" cy="583565"/>
          </a:xfrm>
          <a:prstGeom prst="rect">
            <a:avLst/>
          </a:prstGeom>
          <a:noFill/>
        </p:spPr>
        <p:txBody>
          <a:bodyPr wrap="square" rtlCol="0">
            <a:spAutoFit/>
          </a:bodyPr>
          <a:lstStyle/>
          <a:p>
            <a:r>
              <a:rPr lang="zh-CN" altLang="en-US" sz="3200" b="1" dirty="0">
                <a:solidFill>
                  <a:prstClr val="white"/>
                </a:solidFill>
                <a:latin typeface="微软雅黑" panose="020B0503020204020204" pitchFamily="34" charset="-122"/>
                <a:ea typeface="微软雅黑" panose="020B0503020204020204" pitchFamily="34" charset="-122"/>
              </a:rPr>
              <a:t>二、系统操作实务</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8" name="Rectangle 1"/>
          <p:cNvSpPr>
            <a:spLocks noChangeArrowheads="1"/>
          </p:cNvSpPr>
          <p:nvPr/>
        </p:nvSpPr>
        <p:spPr bwMode="auto">
          <a:xfrm>
            <a:off x="1596024" y="2229038"/>
            <a:ext cx="308610" cy="367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23" tIns="45711" rIns="91423" bIns="45711"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 name="文本框 2"/>
          <p:cNvSpPr txBox="1"/>
          <p:nvPr/>
        </p:nvSpPr>
        <p:spPr>
          <a:xfrm>
            <a:off x="622300" y="908685"/>
            <a:ext cx="6096000" cy="460375"/>
          </a:xfrm>
          <a:prstGeom prst="rect">
            <a:avLst/>
          </a:prstGeom>
          <a:noFill/>
        </p:spPr>
        <p:txBody>
          <a:bodyPr wrap="square" rtlCol="0" anchor="t">
            <a:spAutoFit/>
          </a:bodyPr>
          <a:p>
            <a:r>
              <a:rPr lang="zh-CN" altLang="en-US" sz="2400" b="1" dirty="0">
                <a:latin typeface="微软雅黑" panose="020B0503020204020204" pitchFamily="34" charset="-122"/>
                <a:ea typeface="微软雅黑" panose="020B0503020204020204" pitchFamily="34" charset="-122"/>
                <a:sym typeface="+mn-ea"/>
              </a:rPr>
              <a:t>（一）系统内供应商录入与导入</a:t>
            </a:r>
            <a:endParaRPr lang="en-US" altLang="zh-CN" sz="2400" b="1" dirty="0">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1"/>
          <a:stretch>
            <a:fillRect/>
          </a:stretch>
        </p:blipFill>
        <p:spPr>
          <a:xfrm>
            <a:off x="262255" y="1772920"/>
            <a:ext cx="2355850" cy="4279900"/>
          </a:xfrm>
          <a:prstGeom prst="rect">
            <a:avLst/>
          </a:prstGeom>
        </p:spPr>
      </p:pic>
      <p:sp>
        <p:nvSpPr>
          <p:cNvPr id="6" name="右箭头 5"/>
          <p:cNvSpPr/>
          <p:nvPr/>
        </p:nvSpPr>
        <p:spPr>
          <a:xfrm>
            <a:off x="2566035" y="3500755"/>
            <a:ext cx="432435" cy="2139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TextBox 2"/>
          <p:cNvSpPr txBox="1"/>
          <p:nvPr/>
        </p:nvSpPr>
        <p:spPr>
          <a:xfrm>
            <a:off x="3430270" y="2197735"/>
            <a:ext cx="7958455" cy="2820035"/>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p>
            <a:pPr lvl="0" indent="508000" defTabSz="1087120" fontAlgn="base">
              <a:lnSpc>
                <a:spcPct val="125000"/>
              </a:lnSpc>
              <a:spcBef>
                <a:spcPct val="0"/>
              </a:spcBef>
              <a:spcAft>
                <a:spcPct val="0"/>
              </a:spcAft>
              <a:defRPr/>
              <a:extLst>
                <a:ext uri="{35155182-B16C-46BC-9424-99874614C6A1}">
                  <wpsdc:indentchars xmlns:wpsdc="http://www.wps.cn/officeDocument/2017/drawingmlCustomData" val="200" checksum="282533468"/>
                </a:ext>
              </a:extLst>
            </a:pPr>
            <a:r>
              <a:rPr lang="en-US" altLang="zh-CN" sz="2000" dirty="0">
                <a:latin typeface="微软雅黑" panose="020B0503020204020204" pitchFamily="34" charset="-122"/>
                <a:ea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sym typeface="+mn-ea"/>
              </a:rPr>
              <a:t>点击新建。</a:t>
            </a:r>
            <a:endParaRPr lang="zh-CN" altLang="en-US" sz="2000" dirty="0">
              <a:latin typeface="微软雅黑" panose="020B0503020204020204" pitchFamily="34" charset="-122"/>
              <a:ea typeface="微软雅黑" panose="020B0503020204020204" pitchFamily="34" charset="-122"/>
              <a:sym typeface="+mn-ea"/>
            </a:endParaRPr>
          </a:p>
          <a:p>
            <a:pPr lvl="0" indent="508000" defTabSz="1087120" fontAlgn="base">
              <a:lnSpc>
                <a:spcPct val="125000"/>
              </a:lnSpc>
              <a:spcBef>
                <a:spcPct val="0"/>
              </a:spcBef>
              <a:spcAft>
                <a:spcPct val="0"/>
              </a:spcAft>
              <a:defRPr/>
              <a:extLst>
                <a:ext uri="{35155182-B16C-46BC-9424-99874614C6A1}">
                  <wpsdc:indentchars xmlns:wpsdc="http://www.wps.cn/officeDocument/2017/drawingmlCustomData" val="200" checksum="282533468"/>
                </a:ext>
              </a:extLst>
            </a:pPr>
            <a:r>
              <a:rPr lang="en-US" altLang="zh-CN" sz="2000" dirty="0">
                <a:latin typeface="微软雅黑" panose="020B0503020204020204" pitchFamily="34" charset="-122"/>
                <a:ea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sym typeface="+mn-ea"/>
              </a:rPr>
              <a:t>录入关键信息，包括但不限于供应商名称、营业执照号、注册资金等。</a:t>
            </a:r>
            <a:endParaRPr lang="zh-CN" altLang="en-US" sz="2000" dirty="0">
              <a:latin typeface="微软雅黑" panose="020B0503020204020204" pitchFamily="34" charset="-122"/>
              <a:ea typeface="微软雅黑" panose="020B0503020204020204" pitchFamily="34" charset="-122"/>
              <a:sym typeface="+mn-ea"/>
            </a:endParaRPr>
          </a:p>
          <a:p>
            <a:pPr lvl="0" indent="508000" defTabSz="1087120" fontAlgn="base">
              <a:lnSpc>
                <a:spcPct val="125000"/>
              </a:lnSpc>
              <a:spcBef>
                <a:spcPct val="0"/>
              </a:spcBef>
              <a:spcAft>
                <a:spcPct val="0"/>
              </a:spcAft>
              <a:defRPr/>
              <a:extLst>
                <a:ext uri="{35155182-B16C-46BC-9424-99874614C6A1}">
                  <wpsdc:indentchars xmlns:wpsdc="http://www.wps.cn/officeDocument/2017/drawingmlCustomData" val="200" checksum="282533468"/>
                </a:ext>
              </a:extLst>
            </a:pPr>
            <a:r>
              <a:rPr lang="en-US" altLang="zh-CN" sz="2000" dirty="0">
                <a:latin typeface="微软雅黑" panose="020B0503020204020204" pitchFamily="34" charset="-122"/>
                <a:ea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sym typeface="+mn-ea"/>
              </a:rPr>
              <a:t>维护地址及银行账号信息。</a:t>
            </a:r>
            <a:endParaRPr lang="zh-CN" altLang="en-US" sz="2000" dirty="0">
              <a:latin typeface="微软雅黑" panose="020B0503020204020204" pitchFamily="34" charset="-122"/>
              <a:ea typeface="微软雅黑" panose="020B0503020204020204" pitchFamily="34" charset="-122"/>
              <a:sym typeface="+mn-ea"/>
            </a:endParaRPr>
          </a:p>
          <a:p>
            <a:pPr lvl="0" indent="508000" defTabSz="1087120" fontAlgn="base">
              <a:lnSpc>
                <a:spcPct val="125000"/>
              </a:lnSpc>
              <a:spcBef>
                <a:spcPct val="0"/>
              </a:spcBef>
              <a:spcAft>
                <a:spcPct val="0"/>
              </a:spcAft>
              <a:defRPr/>
              <a:extLst>
                <a:ext uri="{35155182-B16C-46BC-9424-99874614C6A1}">
                  <wpsdc:indentchars xmlns:wpsdc="http://www.wps.cn/officeDocument/2017/drawingmlCustomData" val="200" checksum="282533468"/>
                </a:ext>
              </a:extLst>
            </a:pPr>
            <a:r>
              <a:rPr lang="en-US" altLang="zh-CN" sz="2000" dirty="0">
                <a:latin typeface="微软雅黑" panose="020B0503020204020204" pitchFamily="34" charset="-122"/>
                <a:ea typeface="微软雅黑" panose="020B0503020204020204" pitchFamily="34" charset="-122"/>
                <a:sym typeface="+mn-ea"/>
              </a:rPr>
              <a:t>4.</a:t>
            </a:r>
            <a:r>
              <a:rPr lang="zh-CN" altLang="en-US" sz="2000" dirty="0">
                <a:latin typeface="微软雅黑" panose="020B0503020204020204" pitchFamily="34" charset="-122"/>
                <a:ea typeface="微软雅黑" panose="020B0503020204020204" pitchFamily="34" charset="-122"/>
                <a:sym typeface="+mn-ea"/>
              </a:rPr>
              <a:t>提交审批。</a:t>
            </a:r>
            <a:endParaRPr lang="zh-CN" altLang="en-US" sz="2000" dirty="0">
              <a:latin typeface="微软雅黑" panose="020B0503020204020204" pitchFamily="34" charset="-122"/>
              <a:ea typeface="微软雅黑" panose="020B0503020204020204" pitchFamily="34" charset="-122"/>
              <a:sym typeface="+mn-ea"/>
            </a:endParaRPr>
          </a:p>
          <a:p>
            <a:pPr lvl="0" indent="508000" defTabSz="1087120" fontAlgn="base">
              <a:lnSpc>
                <a:spcPct val="125000"/>
              </a:lnSpc>
              <a:spcBef>
                <a:spcPct val="0"/>
              </a:spcBef>
              <a:spcAft>
                <a:spcPct val="0"/>
              </a:spcAft>
              <a:defRPr/>
              <a:extLst>
                <a:ext uri="{35155182-B16C-46BC-9424-99874614C6A1}">
                  <wpsdc:indentchars xmlns:wpsdc="http://www.wps.cn/officeDocument/2017/drawingmlCustomData" val="200" checksum="282533468"/>
                </a:ext>
              </a:extLst>
            </a:pPr>
            <a:r>
              <a:rPr lang="en-US" altLang="zh-CN" sz="2000" dirty="0">
                <a:latin typeface="微软雅黑" panose="020B0503020204020204" pitchFamily="34" charset="-122"/>
                <a:ea typeface="微软雅黑" panose="020B0503020204020204" pitchFamily="34" charset="-122"/>
                <a:sym typeface="+mn-ea"/>
              </a:rPr>
              <a:t>5.</a:t>
            </a:r>
            <a:r>
              <a:rPr lang="zh-CN" altLang="en-US" sz="2000" dirty="0">
                <a:latin typeface="微软雅黑" panose="020B0503020204020204" pitchFamily="34" charset="-122"/>
                <a:ea typeface="微软雅黑" panose="020B0503020204020204" pitchFamily="34" charset="-122"/>
                <a:sym typeface="+mn-ea"/>
              </a:rPr>
              <a:t>系统审批完成后，重新进入，点击导入。</a:t>
            </a:r>
            <a:endParaRPr lang="en-US" sz="2400" b="1" dirty="0">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390" y="45410"/>
            <a:ext cx="4751648" cy="583565"/>
          </a:xfrm>
          <a:prstGeom prst="rect">
            <a:avLst/>
          </a:prstGeom>
          <a:noFill/>
        </p:spPr>
        <p:txBody>
          <a:bodyPr wrap="square" rtlCol="0">
            <a:spAutoFit/>
          </a:bodyPr>
          <a:lstStyle/>
          <a:p>
            <a:r>
              <a:rPr lang="zh-CN" altLang="en-US" sz="3200" b="1" dirty="0">
                <a:solidFill>
                  <a:prstClr val="white"/>
                </a:solidFill>
                <a:latin typeface="微软雅黑" panose="020B0503020204020204" pitchFamily="34" charset="-122"/>
                <a:ea typeface="微软雅黑" panose="020B0503020204020204" pitchFamily="34" charset="-122"/>
              </a:rPr>
              <a:t>二、系统操作实务</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8" name="Rectangle 1"/>
          <p:cNvSpPr>
            <a:spLocks noChangeArrowheads="1"/>
          </p:cNvSpPr>
          <p:nvPr/>
        </p:nvSpPr>
        <p:spPr bwMode="auto">
          <a:xfrm>
            <a:off x="1596024" y="2229038"/>
            <a:ext cx="308610" cy="367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23" tIns="45711" rIns="91423" bIns="45711"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 name="文本框 2"/>
          <p:cNvSpPr txBox="1"/>
          <p:nvPr/>
        </p:nvSpPr>
        <p:spPr>
          <a:xfrm>
            <a:off x="622300" y="908685"/>
            <a:ext cx="6096000" cy="460375"/>
          </a:xfrm>
          <a:prstGeom prst="rect">
            <a:avLst/>
          </a:prstGeom>
          <a:noFill/>
        </p:spPr>
        <p:txBody>
          <a:bodyPr wrap="square" rtlCol="0" anchor="t">
            <a:spAutoFit/>
          </a:bodyPr>
          <a:p>
            <a:r>
              <a:rPr lang="zh-CN" altLang="en-US" sz="2400" b="1" dirty="0">
                <a:latin typeface="微软雅黑" panose="020B0503020204020204" pitchFamily="34" charset="-122"/>
                <a:ea typeface="微软雅黑" panose="020B0503020204020204" pitchFamily="34" charset="-122"/>
                <a:sym typeface="+mn-ea"/>
              </a:rPr>
              <a:t>（二）系统内奖惩录入</a:t>
            </a:r>
            <a:endParaRPr lang="en-US" altLang="zh-CN" sz="2400" b="1" dirty="0">
              <a:latin typeface="微软雅黑" panose="020B0503020204020204" pitchFamily="34" charset="-122"/>
              <a:ea typeface="微软雅黑" panose="020B0503020204020204" pitchFamily="34" charset="-122"/>
              <a:sym typeface="+mn-ea"/>
            </a:endParaRPr>
          </a:p>
        </p:txBody>
      </p:sp>
      <p:pic>
        <p:nvPicPr>
          <p:cNvPr id="4" name="图片 3"/>
          <p:cNvPicPr>
            <a:picLocks noChangeAspect="1"/>
          </p:cNvPicPr>
          <p:nvPr/>
        </p:nvPicPr>
        <p:blipFill>
          <a:blip r:embed="rId1"/>
          <a:stretch>
            <a:fillRect/>
          </a:stretch>
        </p:blipFill>
        <p:spPr>
          <a:xfrm>
            <a:off x="263525" y="1916430"/>
            <a:ext cx="2448560" cy="2660650"/>
          </a:xfrm>
          <a:prstGeom prst="rect">
            <a:avLst/>
          </a:prstGeom>
        </p:spPr>
      </p:pic>
      <p:pic>
        <p:nvPicPr>
          <p:cNvPr id="9" name="图片 8"/>
          <p:cNvPicPr>
            <a:picLocks noChangeAspect="1"/>
          </p:cNvPicPr>
          <p:nvPr/>
        </p:nvPicPr>
        <p:blipFill>
          <a:blip r:embed="rId2"/>
          <a:stretch>
            <a:fillRect/>
          </a:stretch>
        </p:blipFill>
        <p:spPr>
          <a:xfrm>
            <a:off x="2926080" y="1556385"/>
            <a:ext cx="8648700" cy="35179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390" y="45410"/>
            <a:ext cx="4751648" cy="583565"/>
          </a:xfrm>
          <a:prstGeom prst="rect">
            <a:avLst/>
          </a:prstGeom>
          <a:noFill/>
        </p:spPr>
        <p:txBody>
          <a:bodyPr wrap="square" rtlCol="0">
            <a:spAutoFit/>
          </a:bodyPr>
          <a:lstStyle/>
          <a:p>
            <a:r>
              <a:rPr lang="zh-CN" altLang="en-US" sz="3200" b="1" dirty="0">
                <a:solidFill>
                  <a:prstClr val="white"/>
                </a:solidFill>
                <a:latin typeface="微软雅黑" panose="020B0503020204020204" pitchFamily="34" charset="-122"/>
                <a:ea typeface="微软雅黑" panose="020B0503020204020204" pitchFamily="34" charset="-122"/>
              </a:rPr>
              <a:t>二、系统操作实务</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8" name="Rectangle 1"/>
          <p:cNvSpPr>
            <a:spLocks noChangeArrowheads="1"/>
          </p:cNvSpPr>
          <p:nvPr/>
        </p:nvSpPr>
        <p:spPr bwMode="auto">
          <a:xfrm>
            <a:off x="1596024" y="2229038"/>
            <a:ext cx="308610" cy="367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23" tIns="45711" rIns="91423" bIns="45711"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 name="文本框 2"/>
          <p:cNvSpPr txBox="1"/>
          <p:nvPr/>
        </p:nvSpPr>
        <p:spPr>
          <a:xfrm>
            <a:off x="622300" y="908685"/>
            <a:ext cx="6096000" cy="460375"/>
          </a:xfrm>
          <a:prstGeom prst="rect">
            <a:avLst/>
          </a:prstGeom>
          <a:noFill/>
        </p:spPr>
        <p:txBody>
          <a:bodyPr wrap="square" rtlCol="0" anchor="t">
            <a:spAutoFit/>
          </a:bodyPr>
          <a:p>
            <a:r>
              <a:rPr lang="zh-CN" altLang="en-US" sz="2400" b="1" dirty="0">
                <a:latin typeface="微软雅黑" panose="020B0503020204020204" pitchFamily="34" charset="-122"/>
                <a:ea typeface="微软雅黑" panose="020B0503020204020204" pitchFamily="34" charset="-122"/>
                <a:sym typeface="+mn-ea"/>
              </a:rPr>
              <a:t>（二）系统内奖惩录入</a:t>
            </a:r>
            <a:endParaRPr lang="en-US" altLang="zh-CN" sz="2400" b="1" dirty="0">
              <a:latin typeface="微软雅黑" panose="020B0503020204020204" pitchFamily="34" charset="-122"/>
              <a:ea typeface="微软雅黑" panose="020B0503020204020204" pitchFamily="34" charset="-122"/>
              <a:sym typeface="+mn-ea"/>
            </a:endParaRPr>
          </a:p>
        </p:txBody>
      </p:sp>
      <p:pic>
        <p:nvPicPr>
          <p:cNvPr id="4" name="图片 3"/>
          <p:cNvPicPr>
            <a:picLocks noChangeAspect="1"/>
          </p:cNvPicPr>
          <p:nvPr/>
        </p:nvPicPr>
        <p:blipFill>
          <a:blip r:embed="rId1"/>
          <a:stretch>
            <a:fillRect/>
          </a:stretch>
        </p:blipFill>
        <p:spPr>
          <a:xfrm>
            <a:off x="621665" y="1412875"/>
            <a:ext cx="10925175" cy="4400550"/>
          </a:xfrm>
          <a:prstGeom prst="rect">
            <a:avLst/>
          </a:prstGeom>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TEMPLATE_TOPIC_ID" val="2869567"/>
  <p:tag name="KSO_WM_TEMPLATE_OUTLINE_ID" val="14"/>
  <p:tag name="KSO_WM_TEMPLATE_SCENE_ID" val="1"/>
  <p:tag name="KSO_WM_TEMPLATE_JOB_ID" val="14"/>
  <p:tag name="KSO_WM_TEMPLATE_TOPIC_DEFAULT" val="0"/>
</p:tagLst>
</file>

<file path=ppt/tags/tag2.xml><?xml version="1.0" encoding="utf-8"?>
<p:tagLst xmlns:p="http://schemas.openxmlformats.org/presentationml/2006/main">
  <p:tag name="COMMONDATA" val="eyJoZGlkIjoiZTQ4ZmU3YThlNTU3MWJiNmU3ODZhZWFiM2RiMWMzM2IifQ=="/>
  <p:tag name="KSO_WPP_MARK_KEY" val="18fa5c32-f35d-4a2b-9889-c6bbf5b3dd4a"/>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1764</Words>
  <Application>WPS 演示</Application>
  <PresentationFormat>自定义</PresentationFormat>
  <Paragraphs>113</Paragraphs>
  <Slides>13</Slides>
  <Notes>12</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13</vt:i4>
      </vt:variant>
    </vt:vector>
  </HeadingPairs>
  <TitlesOfParts>
    <vt:vector size="24" baseType="lpstr">
      <vt:lpstr>Arial</vt:lpstr>
      <vt:lpstr>宋体</vt:lpstr>
      <vt:lpstr>Wingdings</vt:lpstr>
      <vt:lpstr>Calibri</vt:lpstr>
      <vt:lpstr>微软雅黑</vt:lpstr>
      <vt:lpstr>方正粗宋简体</vt:lpstr>
      <vt:lpstr>Wingdings</vt:lpstr>
      <vt:lpstr>Arial Unicode MS</vt:lpstr>
      <vt:lpstr>1_Office 主题​​</vt:lpstr>
      <vt:lpstr>5_Office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高学洁</dc:creator>
  <cp:lastModifiedBy>孟德斯鸠</cp:lastModifiedBy>
  <cp:revision>235</cp:revision>
  <dcterms:created xsi:type="dcterms:W3CDTF">2017-03-20T05:25:00Z</dcterms:created>
  <dcterms:modified xsi:type="dcterms:W3CDTF">2026-06-30T06:52:42Z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KSORubyTemplateID">
    <vt:lpwstr>2</vt:lpwstr>
  </property>
  <property fmtid="{D5CDD505-2E9C-101B-9397-08002B2CF9AE}" pid="4" name="ICV">
    <vt:lpwstr>3D8294D41EAB494CBEFF6E5C86DAD683_13</vt:lpwstr>
  </property>
  <property fmtid="{D5CDD505-2E9C-101B-9397-08002B2CF9AE}" pid="5" name="commondata">
    <vt:lpwstr>eyJoZGlkIjoiZjA3NWVhOGQ5YTA2NjAwYjZkMWI2ZTcyMTdmOWFiZTcifQ==</vt:lpwstr>
  </property>
</Properties>
</file>